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62"/>
  </p:notesMasterIdLst>
  <p:handoutMasterIdLst>
    <p:handoutMasterId r:id="rId63"/>
  </p:handout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341">
          <p15:clr>
            <a:srgbClr val="A4A3A4"/>
          </p15:clr>
        </p15:guide>
      </p15:sldGuideLst>
    </p:ext>
    <p:ext uri="{2D200454-40CA-4A62-9FC3-DE9A4176ACB9}">
      <p15:notesGuideLst xmlns:p15="http://schemas.microsoft.com/office/powerpoint/2012/main">
        <p15:guide id="1" orient="horz">
          <p15:clr>
            <a:srgbClr val="A4A3A4"/>
          </p15:clr>
        </p15:guide>
        <p15:guide id="2" pos="214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anglinruizjhw (Leroy)" initials="Z(" lastIdx="1" clrIdx="0"/>
  <p:cmAuthor id="2" name="Changchenchenzjhw (chenchen, chang )" initials="C(c)" lastIdx="55"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FFD17D"/>
    <a:srgbClr val="BDE7F6"/>
    <a:srgbClr val="F4FBFE"/>
    <a:srgbClr val="F3FBFE"/>
    <a:srgbClr val="99DFF9"/>
    <a:srgbClr val="FFF2CC"/>
    <a:srgbClr val="EC7061"/>
    <a:srgbClr val="151515"/>
    <a:srgbClr val="C700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833802-FEF1-4C79-8D5D-14CF1EAF98D9}">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501" autoAdjust="0"/>
  </p:normalViewPr>
  <p:slideViewPr>
    <p:cSldViewPr snapToGrid="0" snapToObjects="1">
      <p:cViewPr varScale="1">
        <p:scale>
          <a:sx n="106" d="100"/>
          <a:sy n="106" d="100"/>
        </p:scale>
        <p:origin x="390" y="108"/>
      </p:cViewPr>
      <p:guideLst>
        <p:guide pos="3840"/>
        <p:guide orient="horz" pos="2341"/>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0"/>
    </p:cViewPr>
  </p:sorterViewPr>
  <p:notesViewPr>
    <p:cSldViewPr snapToGrid="0" snapToObjects="1">
      <p:cViewPr varScale="1">
        <p:scale>
          <a:sx n="76" d="100"/>
          <a:sy n="76" d="100"/>
        </p:scale>
        <p:origin x="2184" y="108"/>
      </p:cViewPr>
      <p:guideLst>
        <p:guide orient="horz"/>
        <p:guide pos="2141"/>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8CF71B8-DF2A-2E41-BE66-2E18A767DA8A}" type="datetimeFigureOut">
              <a:rPr lang="en-US" smtClean="0"/>
              <a:t>12/20/2025</a:t>
            </a:fld>
            <a:endParaRPr lang="en-US"/>
          </a:p>
        </p:txBody>
      </p:sp>
      <p:sp>
        <p:nvSpPr>
          <p:cNvPr id="4" name="Footer Placehold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2437" y="779463"/>
            <a:ext cx="5932800" cy="333774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32437" y="4596397"/>
            <a:ext cx="5932800" cy="510840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 bg1="lt1" tx1="dk1" bg2="lt2" tx2="dk2" accent1="accent1" accent2="accent2" accent3="accent3" accent4="accent4" accent5="accent5" accent6="accent6" hlink="hlink" folHlink="folHlink"/>
  <p:notesStyle>
    <a:lvl1pPr marL="179705" indent="-179705" algn="l" defTabSz="1219200"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1pPr>
    <a:lvl2pPr marL="539750" indent="-179705" algn="l" defTabSz="1219200" rtl="0" eaLnBrk="1" latinLnBrk="0" hangingPunct="1">
      <a:lnSpc>
        <a:spcPct val="125000"/>
      </a:lnSpc>
      <a:spcAft>
        <a:spcPts val="600"/>
      </a:spcAft>
      <a:buClrTx/>
      <a:buFont typeface="Huawei Sans" panose="020C0503030203020204" pitchFamily="34" charset="0"/>
      <a:buChar char="▫"/>
      <a:defRPr sz="1100" kern="1200">
        <a:solidFill>
          <a:schemeClr val="tx1"/>
        </a:solidFill>
        <a:latin typeface="+mn-lt"/>
        <a:ea typeface="+mn-ea"/>
        <a:cs typeface="+mn-cs"/>
      </a:defRPr>
    </a:lvl2pPr>
    <a:lvl3pPr marL="899795" indent="-179705" algn="l" defTabSz="1219200" rtl="0" eaLnBrk="1" latinLnBrk="0" hangingPunct="1">
      <a:lnSpc>
        <a:spcPct val="125000"/>
      </a:lnSpc>
      <a:spcAft>
        <a:spcPts val="600"/>
      </a:spcAft>
      <a:buFont typeface="微软雅黑" panose="020B0503020204020204" pitchFamily="34" charset="-122"/>
      <a:buChar char="▪"/>
      <a:defRPr sz="1100" kern="1200">
        <a:solidFill>
          <a:schemeClr val="tx1"/>
        </a:solidFill>
        <a:latin typeface="+mn-lt"/>
        <a:ea typeface="+mn-ea"/>
        <a:cs typeface="+mn-cs"/>
      </a:defRPr>
    </a:lvl3pPr>
    <a:lvl4pPr marL="1259840" indent="-179705" algn="l" defTabSz="1219200"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4pPr>
    <a:lvl5pPr marL="1619885" indent="-179705" algn="l" defTabSz="1219200"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随着局域网规模的不断扩大，越来越多的交换机被用来实现主机之间的互连。如图，</a:t>
            </a:r>
            <a:r>
              <a:rPr lang="zh-CN" altLang="zh-CN"/>
              <a:t>接入层交换机单链路上联，则存在单链路故障，也就是如果这根上联链路发生故障，</a:t>
            </a:r>
            <a:r>
              <a:rPr lang="zh-CN" altLang="en-US"/>
              <a:t>交换机</a:t>
            </a:r>
            <a:r>
              <a:rPr lang="zh-CN" altLang="zh-CN"/>
              <a:t>下联用户就断网了。另一个问题的单点故障，也就是</a:t>
            </a:r>
            <a:r>
              <a:rPr lang="zh-CN" altLang="en-US"/>
              <a:t>交换机</a:t>
            </a:r>
            <a:r>
              <a:rPr lang="zh-CN" altLang="zh-CN"/>
              <a:t>如果宕机，</a:t>
            </a:r>
            <a:r>
              <a:rPr lang="zh-CN" altLang="en-US"/>
              <a:t>交换机</a:t>
            </a:r>
            <a:r>
              <a:rPr lang="zh-CN" altLang="zh-CN"/>
              <a:t>下联用户也就断网了。</a:t>
            </a:r>
          </a:p>
          <a:p>
            <a:pPr lvl="0"/>
            <a:r>
              <a:rPr lang="zh-CN" altLang="en-US"/>
              <a:t>为了解决此类问题，交换机在互连时一般都会使用冗余链路来实现备份。冗余链路虽然增强了网络的可靠性，但是也会产生环路，而环路会带来一系列的问题，继而导致通信质量下降和通信业务中断等问题。</a:t>
            </a:r>
          </a:p>
          <a:p>
            <a:endParaRPr lang="zh-CN" altLang="en-US" dirty="0"/>
          </a:p>
        </p:txBody>
      </p:sp>
      <p:sp>
        <p:nvSpPr>
          <p:cNvPr id="7" name="幻灯片图像占位符 6"/>
          <p:cNvSpPr>
            <a:spLocks noGrp="1" noRot="1" noChangeAspect="1"/>
          </p:cNvSpPr>
          <p:nvPr>
            <p:ph type="sldImg"/>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在现实中，除了冗余链路会引起环路，还有一些人为错误导致的环路。</a:t>
            </a:r>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问题一：广播风暴</a:t>
            </a:r>
            <a:endParaRPr lang="en-US" altLang="zh-CN"/>
          </a:p>
          <a:p>
            <a:pPr lvl="1"/>
            <a:r>
              <a:rPr lang="zh-CN" altLang="en-US"/>
              <a:t>根据交换机的转发原则，如果交换机从一个端口上接收到的是一个广播帧，或者是一个目的</a:t>
            </a:r>
            <a:r>
              <a:rPr lang="en-US" altLang="zh-CN"/>
              <a:t>MAC</a:t>
            </a:r>
            <a:r>
              <a:rPr lang="zh-CN" altLang="en-US"/>
              <a:t>地址未知的单播帧，则会将这个帧向除源端口之外的所有其他端口转发。如果交换网络中有环路，则这个帧会被无限转发，此时便会形成广播风暴，网络中也会充斥着重复的数据帧。</a:t>
            </a:r>
            <a:endParaRPr lang="en-US" altLang="zh-CN"/>
          </a:p>
          <a:p>
            <a:pPr lvl="1"/>
            <a:r>
              <a:rPr lang="zh-CN" altLang="en-US"/>
              <a:t>本例中，</a:t>
            </a:r>
            <a:r>
              <a:rPr lang="en-US" altLang="zh-CN"/>
              <a:t>SW3</a:t>
            </a:r>
            <a:r>
              <a:rPr lang="zh-CN" altLang="en-US"/>
              <a:t>收到了一个广播帧将其进行泛洪，</a:t>
            </a:r>
            <a:r>
              <a:rPr lang="en-US" altLang="zh-CN"/>
              <a:t>SW1</a:t>
            </a:r>
            <a:r>
              <a:rPr lang="zh-CN" altLang="en-US"/>
              <a:t>和</a:t>
            </a:r>
            <a:r>
              <a:rPr lang="en-US" altLang="zh-CN"/>
              <a:t>SW2</a:t>
            </a:r>
            <a:r>
              <a:rPr lang="zh-CN" altLang="en-US"/>
              <a:t>也会将此帧转发到除了接收此帧的其他所有端口，结果此帧又会被再次转发给</a:t>
            </a:r>
            <a:r>
              <a:rPr lang="en-US" altLang="zh-CN"/>
              <a:t>SW3</a:t>
            </a:r>
            <a:r>
              <a:rPr lang="zh-CN" altLang="en-US"/>
              <a:t>，</a:t>
            </a:r>
            <a:r>
              <a:rPr lang="zh-CN" altLang="zh-CN"/>
              <a:t>这种循环</a:t>
            </a:r>
            <a:r>
              <a:rPr lang="zh-CN" altLang="en-US"/>
              <a:t>会</a:t>
            </a:r>
            <a:r>
              <a:rPr lang="zh-CN" altLang="zh-CN"/>
              <a:t>一直持续</a:t>
            </a:r>
            <a:r>
              <a:rPr lang="zh-CN" altLang="en-US"/>
              <a:t>，于是便产生了广播风暴。交换机性能会因此急速下降，并会导致业务中断。</a:t>
            </a:r>
          </a:p>
          <a:p>
            <a:r>
              <a:rPr lang="zh-CN" altLang="en-US"/>
              <a:t>问题二：</a:t>
            </a:r>
            <a:r>
              <a:rPr lang="en-US" altLang="zh-CN"/>
              <a:t>MAC</a:t>
            </a:r>
            <a:r>
              <a:rPr lang="zh-CN" altLang="en-US"/>
              <a:t>地址表漂移</a:t>
            </a:r>
            <a:endParaRPr lang="en-US" altLang="zh-CN"/>
          </a:p>
          <a:p>
            <a:pPr lvl="1"/>
            <a:r>
              <a:rPr lang="zh-CN" altLang="en-US"/>
              <a:t>交换机是根据所接收到的数据帧的源地址和接收端口生成</a:t>
            </a:r>
            <a:r>
              <a:rPr lang="en-US" altLang="zh-CN"/>
              <a:t>MAC</a:t>
            </a:r>
            <a:r>
              <a:rPr lang="zh-CN" altLang="en-US"/>
              <a:t>地址表项的。</a:t>
            </a:r>
          </a:p>
          <a:p>
            <a:pPr lvl="1"/>
            <a:r>
              <a:rPr lang="zh-CN" altLang="en-US"/>
              <a:t>本例中，</a:t>
            </a:r>
            <a:r>
              <a:rPr lang="en-US" altLang="zh-CN"/>
              <a:t>SW3</a:t>
            </a:r>
            <a:r>
              <a:rPr lang="zh-CN" altLang="en-US"/>
              <a:t>收到一个广播帧泛洪，</a:t>
            </a:r>
            <a:r>
              <a:rPr lang="en-US" altLang="zh-CN"/>
              <a:t>SW1</a:t>
            </a:r>
            <a:r>
              <a:rPr lang="zh-CN" altLang="en-US"/>
              <a:t>从</a:t>
            </a:r>
            <a:r>
              <a:rPr lang="en-US" altLang="zh-CN"/>
              <a:t>GE0/0/1</a:t>
            </a:r>
            <a:r>
              <a:rPr lang="zh-CN" altLang="en-US"/>
              <a:t>接口接收到广播帧后学习且泛洪，形成</a:t>
            </a:r>
            <a:r>
              <a:rPr lang="en-US" altLang="zh-CN"/>
              <a:t>MAC</a:t>
            </a:r>
            <a:r>
              <a:rPr lang="zh-CN" altLang="en-US"/>
              <a:t>地址</a:t>
            </a:r>
            <a:r>
              <a:rPr lang="en-US" altLang="zh-CN"/>
              <a:t>5489-98EE-788A</a:t>
            </a:r>
            <a:r>
              <a:rPr lang="zh-CN" altLang="en-US"/>
              <a:t>与</a:t>
            </a:r>
            <a:r>
              <a:rPr lang="en-US" altLang="zh-CN"/>
              <a:t>GE0/0/1</a:t>
            </a:r>
            <a:r>
              <a:rPr lang="zh-CN" altLang="en-US"/>
              <a:t>的映射；</a:t>
            </a:r>
            <a:r>
              <a:rPr lang="en-US" altLang="zh-CN"/>
              <a:t>SW2</a:t>
            </a:r>
            <a:r>
              <a:rPr lang="zh-CN" altLang="en-US"/>
              <a:t>收到广播帧后学习且泛洪，</a:t>
            </a:r>
            <a:r>
              <a:rPr lang="en-US" altLang="zh-CN"/>
              <a:t>SW1</a:t>
            </a:r>
            <a:r>
              <a:rPr lang="zh-CN" altLang="en-US"/>
              <a:t>再次从</a:t>
            </a:r>
            <a:r>
              <a:rPr lang="en-US" altLang="zh-CN"/>
              <a:t>GE0/0/2</a:t>
            </a:r>
            <a:r>
              <a:rPr lang="zh-CN" altLang="en-US"/>
              <a:t>收到源</a:t>
            </a:r>
            <a:r>
              <a:rPr lang="en-US" altLang="zh-CN"/>
              <a:t>MAC</a:t>
            </a:r>
            <a:r>
              <a:rPr lang="zh-CN" altLang="en-US"/>
              <a:t>地址为</a:t>
            </a:r>
            <a:r>
              <a:rPr lang="en-US" altLang="zh-CN"/>
              <a:t>5489-98EE-788A</a:t>
            </a:r>
            <a:r>
              <a:rPr lang="zh-CN" altLang="en-US"/>
              <a:t>的广播帧并进行学习，</a:t>
            </a:r>
            <a:r>
              <a:rPr lang="en-US" altLang="zh-CN"/>
              <a:t>5489-98EE-788A</a:t>
            </a:r>
            <a:r>
              <a:rPr lang="zh-CN" altLang="en-US"/>
              <a:t>会不断地在</a:t>
            </a:r>
            <a:r>
              <a:rPr lang="en-US" altLang="zh-CN"/>
              <a:t>GE0/0/1</a:t>
            </a:r>
            <a:r>
              <a:rPr lang="zh-CN" altLang="en-US"/>
              <a:t>与</a:t>
            </a:r>
            <a:r>
              <a:rPr lang="en-US" altLang="zh-CN"/>
              <a:t>GE0/0/2</a:t>
            </a:r>
            <a:r>
              <a:rPr lang="zh-CN" altLang="en-US"/>
              <a:t>接口之间来回切换，这被称为</a:t>
            </a:r>
            <a:r>
              <a:rPr lang="en-US" altLang="zh-CN"/>
              <a:t>MAC</a:t>
            </a:r>
            <a:r>
              <a:rPr lang="zh-CN" altLang="en-US"/>
              <a:t>地址漂移现象。</a:t>
            </a:r>
          </a:p>
          <a:p>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在以太网中，二层网络的环路会带来广播风暴，</a:t>
            </a:r>
            <a:r>
              <a:rPr lang="en-US" altLang="zh-CN"/>
              <a:t>MAC</a:t>
            </a:r>
            <a:r>
              <a:rPr lang="zh-CN" altLang="en-US"/>
              <a:t>地址表震荡，重复数据帧等问题，为解决交换网络中的环路问题，提出了</a:t>
            </a:r>
            <a:r>
              <a:rPr lang="en-US" altLang="zh-CN"/>
              <a:t>STP</a:t>
            </a:r>
            <a:r>
              <a:rPr lang="zh-CN" altLang="en-US"/>
              <a:t>。</a:t>
            </a:r>
            <a:endParaRPr lang="en-US" altLang="zh-CN"/>
          </a:p>
          <a:p>
            <a:r>
              <a:rPr lang="en-US" altLang="zh-CN"/>
              <a:t>STP</a:t>
            </a:r>
            <a:r>
              <a:rPr lang="zh-CN" altLang="en-US"/>
              <a:t>通过构造一棵树来消除交换网络中的环路。</a:t>
            </a:r>
            <a:endParaRPr lang="en-US" altLang="zh-CN"/>
          </a:p>
          <a:p>
            <a:r>
              <a:rPr lang="zh-CN" altLang="en-US"/>
              <a:t>运行</a:t>
            </a:r>
            <a:r>
              <a:rPr lang="en-US" altLang="zh-CN"/>
              <a:t>STP</a:t>
            </a:r>
            <a:r>
              <a:rPr lang="zh-CN" altLang="en-US"/>
              <a:t>算法，判断网络中存在环路的地方并阻断冗余链路，将环路网络修剪成无环路的树型网络，从而避免了数据帧在环路网络中的增生和无穷循环。 </a:t>
            </a:r>
            <a:endParaRPr lang="en-US" altLang="zh-CN"/>
          </a:p>
          <a:p>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如图，交换机上运行</a:t>
            </a:r>
            <a:r>
              <a:rPr lang="en-US" altLang="zh-CN"/>
              <a:t>STP</a:t>
            </a:r>
            <a:r>
              <a:rPr lang="zh-CN" altLang="en-US"/>
              <a:t>协议，会通过报文监控网络的拓扑结构，正常情况下是将</a:t>
            </a:r>
            <a:r>
              <a:rPr lang="en-US" altLang="zh-CN"/>
              <a:t>SW3</a:t>
            </a:r>
            <a:r>
              <a:rPr lang="zh-CN" altLang="en-US"/>
              <a:t>上的一个接口进行阻塞（</a:t>
            </a:r>
            <a:r>
              <a:rPr lang="en-US" altLang="zh-CN"/>
              <a:t>Block</a:t>
            </a:r>
            <a:r>
              <a:rPr lang="zh-CN" altLang="en-US"/>
              <a:t>），从而打破环路，当监控到</a:t>
            </a:r>
            <a:r>
              <a:rPr lang="en-US" altLang="zh-CN"/>
              <a:t>SW1</a:t>
            </a:r>
            <a:r>
              <a:rPr lang="zh-CN" altLang="en-US"/>
              <a:t>与</a:t>
            </a:r>
            <a:r>
              <a:rPr lang="en-US" altLang="zh-CN"/>
              <a:t>SW3</a:t>
            </a:r>
            <a:r>
              <a:rPr lang="zh-CN" altLang="en-US"/>
              <a:t>之间出现链路故障，则恢复阻塞端口进入转发状态。</a:t>
            </a:r>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常见环路主要分为二层环路和三层环路。</a:t>
            </a:r>
            <a:endParaRPr lang="en-US" altLang="zh-CN"/>
          </a:p>
          <a:p>
            <a:pPr lvl="1"/>
            <a:r>
              <a:rPr lang="zh-CN" altLang="en-US"/>
              <a:t>二层环路主要因为网络中部署了二层冗余环境，或人为的误接线缆导致，可以通过借助特定的协议或机制实现二层防环；</a:t>
            </a:r>
            <a:endParaRPr lang="en-US" altLang="zh-CN"/>
          </a:p>
          <a:p>
            <a:pPr lvl="1"/>
            <a:r>
              <a:rPr lang="zh-CN" altLang="en-US"/>
              <a:t>三层环路主要因为路由环路，可以通过动态路由协议防环和</a:t>
            </a:r>
            <a:r>
              <a:rPr lang="en-US" altLang="zh-CN"/>
              <a:t>IP</a:t>
            </a:r>
            <a:r>
              <a:rPr lang="zh-CN" altLang="en-US"/>
              <a:t>报文头部中的</a:t>
            </a:r>
            <a:r>
              <a:rPr lang="en-US" altLang="zh-CN"/>
              <a:t>TTL</a:t>
            </a:r>
            <a:r>
              <a:rPr lang="zh-CN" altLang="en-US"/>
              <a:t>字段用于防止报文被无止尽地转发。</a:t>
            </a:r>
          </a:p>
          <a:p>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生成树协议应用于园区网络的二层网络中，进行链路备份和消除环路。</a:t>
            </a:r>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zh-CN"/>
              <a:t>在</a:t>
            </a:r>
            <a:r>
              <a:rPr lang="en-US" altLang="zh-CN"/>
              <a:t>STP</a:t>
            </a:r>
            <a:r>
              <a:rPr lang="zh-CN" altLang="zh-CN"/>
              <a:t>中，每一台交换机都有一个标示符，叫做</a:t>
            </a:r>
            <a:r>
              <a:rPr lang="en-US" altLang="zh-CN"/>
              <a:t>Bridge ID</a:t>
            </a:r>
            <a:r>
              <a:rPr lang="zh-CN" altLang="en-US"/>
              <a:t>或者</a:t>
            </a:r>
            <a:r>
              <a:rPr lang="zh-CN" altLang="zh-CN"/>
              <a:t>桥</a:t>
            </a:r>
            <a:r>
              <a:rPr lang="en-US" altLang="zh-CN"/>
              <a:t>ID</a:t>
            </a:r>
            <a:r>
              <a:rPr lang="zh-CN" altLang="zh-CN"/>
              <a:t>，</a:t>
            </a:r>
            <a:r>
              <a:rPr lang="zh-CN" altLang="en-US"/>
              <a:t>桥</a:t>
            </a:r>
            <a:r>
              <a:rPr lang="en-US" altLang="zh-CN"/>
              <a:t>ID</a:t>
            </a:r>
            <a:r>
              <a:rPr lang="zh-CN" altLang="en-US"/>
              <a:t>由</a:t>
            </a:r>
            <a:r>
              <a:rPr lang="en-US" altLang="zh-CN"/>
              <a:t>16</a:t>
            </a:r>
            <a:r>
              <a:rPr lang="zh-CN" altLang="en-US"/>
              <a:t>位的桥优先级（</a:t>
            </a:r>
            <a:r>
              <a:rPr lang="en-US" altLang="zh-CN"/>
              <a:t>Bridge Priority</a:t>
            </a:r>
            <a:r>
              <a:rPr lang="zh-CN" altLang="en-US"/>
              <a:t>）和</a:t>
            </a:r>
            <a:r>
              <a:rPr lang="en-US" altLang="zh-CN"/>
              <a:t>48</a:t>
            </a:r>
            <a:r>
              <a:rPr lang="zh-CN" altLang="en-US"/>
              <a:t>位的</a:t>
            </a:r>
            <a:r>
              <a:rPr lang="en-US" altLang="zh-CN"/>
              <a:t>MAC</a:t>
            </a:r>
            <a:r>
              <a:rPr lang="zh-CN" altLang="en-US"/>
              <a:t>地址构成。在</a:t>
            </a:r>
            <a:r>
              <a:rPr lang="en-US" altLang="zh-CN"/>
              <a:t>STP</a:t>
            </a:r>
            <a:r>
              <a:rPr lang="zh-CN" altLang="en-US"/>
              <a:t>网络中，桥优先级是可以配置的，取值范围是</a:t>
            </a:r>
            <a:r>
              <a:rPr lang="en-US" altLang="zh-CN"/>
              <a:t>0</a:t>
            </a:r>
            <a:r>
              <a:rPr lang="zh-CN" altLang="en-US"/>
              <a:t>～</a:t>
            </a:r>
            <a:r>
              <a:rPr lang="en-US" altLang="zh-CN"/>
              <a:t>65535</a:t>
            </a:r>
            <a:r>
              <a:rPr lang="zh-CN" altLang="en-US"/>
              <a:t>，默认值为</a:t>
            </a:r>
            <a:r>
              <a:rPr lang="en-US" altLang="zh-CN"/>
              <a:t>32768,</a:t>
            </a:r>
            <a:r>
              <a:rPr lang="zh-CN" altLang="en-US"/>
              <a:t>可以修改但是修改值必须为</a:t>
            </a:r>
            <a:r>
              <a:rPr lang="en-US" altLang="zh-CN"/>
              <a:t>4096</a:t>
            </a:r>
            <a:r>
              <a:rPr lang="zh-CN" altLang="en-US"/>
              <a:t>的倍数。优先级最高的设备（数值越小越优先）会被选举为根桥。如果优先级相同，则会比较</a:t>
            </a:r>
            <a:r>
              <a:rPr lang="en-US" altLang="zh-CN"/>
              <a:t>MAC</a:t>
            </a:r>
            <a:r>
              <a:rPr lang="zh-CN" altLang="en-US"/>
              <a:t>地址，</a:t>
            </a:r>
            <a:r>
              <a:rPr lang="en-US" altLang="zh-CN"/>
              <a:t>MAC</a:t>
            </a:r>
            <a:r>
              <a:rPr lang="zh-CN" altLang="en-US"/>
              <a:t>地址越小则越优先。</a:t>
            </a:r>
            <a:endParaRPr lang="en-US" altLang="zh-CN"/>
          </a:p>
          <a:p>
            <a:r>
              <a:rPr lang="zh-CN" altLang="en-US"/>
              <a:t>如图，需要在该网络中选举根桥，首先比较三台交换机的桥优先级，桥优先级都为</a:t>
            </a:r>
            <a:r>
              <a:rPr lang="en-US" altLang="zh-CN"/>
              <a:t>4096</a:t>
            </a:r>
            <a:r>
              <a:rPr lang="zh-CN" altLang="en-US"/>
              <a:t>，再比较三台交换机的</a:t>
            </a:r>
            <a:r>
              <a:rPr lang="en-US" altLang="zh-CN"/>
              <a:t>MAC</a:t>
            </a:r>
            <a:r>
              <a:rPr lang="zh-CN" altLang="en-US"/>
              <a:t>地址，谁小谁优先，最终选择</a:t>
            </a:r>
            <a:r>
              <a:rPr lang="en-US" altLang="zh-CN"/>
              <a:t>SW1</a:t>
            </a:r>
            <a:r>
              <a:rPr lang="zh-CN" altLang="en-US"/>
              <a:t>为根桥。</a:t>
            </a:r>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树形的网络结构必须有树根，于是</a:t>
            </a:r>
            <a:r>
              <a:rPr lang="en-US" altLang="zh-CN"/>
              <a:t>STP</a:t>
            </a:r>
            <a:r>
              <a:rPr lang="zh-CN" altLang="en-US"/>
              <a:t>引入了根桥（</a:t>
            </a:r>
            <a:r>
              <a:rPr lang="en-US" altLang="zh-CN"/>
              <a:t>Root Bridge</a:t>
            </a:r>
            <a:r>
              <a:rPr lang="zh-CN" altLang="en-US"/>
              <a:t>）概念。</a:t>
            </a:r>
          </a:p>
          <a:p>
            <a:r>
              <a:rPr lang="zh-CN" altLang="en-US"/>
              <a:t>对于一个</a:t>
            </a:r>
            <a:r>
              <a:rPr lang="en-US" altLang="zh-CN"/>
              <a:t>STP</a:t>
            </a:r>
            <a:r>
              <a:rPr lang="zh-CN" altLang="en-US"/>
              <a:t>网络，根桥在全网中只有一个，它是整个网络的逻辑中心，但不一定是物理中心。根桥会根据网络拓扑的变化而动态变化。</a:t>
            </a:r>
          </a:p>
          <a:p>
            <a:r>
              <a:rPr lang="zh-CN" altLang="en-US"/>
              <a:t>网络收敛后，根桥会按照一定的时间间隔产生并向外发送配置</a:t>
            </a:r>
            <a:r>
              <a:rPr lang="en-US" altLang="zh-CN"/>
              <a:t>BPDU</a:t>
            </a:r>
            <a:r>
              <a:rPr lang="zh-CN" altLang="en-US"/>
              <a:t>，其他设备仅对该报文进行处理，传达拓扑变化记录，从而保证拓扑的稳定。</a:t>
            </a:r>
          </a:p>
          <a:p>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交换机的每个端口都有一个端口开销（</a:t>
            </a:r>
            <a:r>
              <a:rPr lang="en-US" altLang="zh-CN"/>
              <a:t>Port Cost</a:t>
            </a:r>
            <a:r>
              <a:rPr lang="zh-CN" altLang="en-US"/>
              <a:t>）参数，此参数表示该端口在</a:t>
            </a:r>
            <a:r>
              <a:rPr lang="en-US" altLang="zh-CN"/>
              <a:t>STP</a:t>
            </a:r>
            <a:r>
              <a:rPr lang="zh-CN" altLang="en-US"/>
              <a:t>中的开销值。默认情况下端口的开销和端口的带宽有关，带宽越高，开销越小。</a:t>
            </a:r>
            <a:endParaRPr lang="en-US" altLang="zh-CN"/>
          </a:p>
          <a:p>
            <a:r>
              <a:rPr lang="zh-CN" altLang="en-US"/>
              <a:t>华为交换机支持多种</a:t>
            </a:r>
            <a:r>
              <a:rPr lang="en-US" altLang="zh-CN"/>
              <a:t>STP</a:t>
            </a:r>
            <a:r>
              <a:rPr lang="zh-CN" altLang="en-US"/>
              <a:t>的路径开销计算标准，提供多厂商场景下最大程度的兼容性。缺省情况下，华为交换机使用</a:t>
            </a:r>
            <a:r>
              <a:rPr lang="en-US" altLang="zh-CN"/>
              <a:t>IEEE 802.1t</a:t>
            </a:r>
            <a:r>
              <a:rPr lang="zh-CN" altLang="en-US"/>
              <a:t>标准来计算路径开销。</a:t>
            </a:r>
          </a:p>
          <a:p>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从一个非根桥到达根桥的路径可能有多条，每一条路径都有一个总的开销值，此开销值是该路径上所有接收</a:t>
            </a:r>
            <a:r>
              <a:rPr lang="en-US" altLang="zh-CN"/>
              <a:t>BPDU</a:t>
            </a:r>
            <a:r>
              <a:rPr lang="zh-CN" altLang="en-US"/>
              <a:t>端口的端口开销总和（即</a:t>
            </a:r>
            <a:r>
              <a:rPr lang="en-US" altLang="zh-CN"/>
              <a:t>BPDU</a:t>
            </a:r>
            <a:r>
              <a:rPr lang="zh-CN" altLang="en-US"/>
              <a:t>的入方向端口），称为路径开销。非根桥通过对比多条路径的路径开销，选出到达根桥的最短路径，这条最短路径的路径开销被称为</a:t>
            </a:r>
            <a:r>
              <a:rPr lang="en-US" altLang="zh-CN"/>
              <a:t>RPC</a:t>
            </a:r>
            <a:r>
              <a:rPr lang="zh-CN" altLang="en-US"/>
              <a:t>，并生成无环树状网络。根桥的根路径开销是</a:t>
            </a:r>
            <a:r>
              <a:rPr lang="en-US" altLang="zh-CN"/>
              <a:t>0</a:t>
            </a:r>
            <a:r>
              <a:rPr lang="zh-CN" altLang="en-US"/>
              <a:t>。</a:t>
            </a:r>
          </a:p>
          <a:p>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运行</a:t>
            </a:r>
            <a:r>
              <a:rPr lang="en-US" altLang="zh-CN"/>
              <a:t>STP</a:t>
            </a:r>
            <a:r>
              <a:rPr lang="zh-CN" altLang="en-US"/>
              <a:t>交换机的每个端口都有一个端口</a:t>
            </a:r>
            <a:r>
              <a:rPr lang="en-US" altLang="zh-CN"/>
              <a:t>ID</a:t>
            </a:r>
            <a:r>
              <a:rPr lang="zh-CN" altLang="en-US"/>
              <a:t>，端口</a:t>
            </a:r>
            <a:r>
              <a:rPr lang="en-US" altLang="zh-CN"/>
              <a:t>ID</a:t>
            </a:r>
            <a:r>
              <a:rPr lang="zh-CN" altLang="en-US"/>
              <a:t>由端口优先级和端口号构成。端口优先级取值范围是</a:t>
            </a:r>
            <a:r>
              <a:rPr lang="en-US" altLang="zh-CN"/>
              <a:t>0</a:t>
            </a:r>
            <a:r>
              <a:rPr lang="zh-CN" altLang="en-US"/>
              <a:t>到</a:t>
            </a:r>
            <a:r>
              <a:rPr lang="en-US" altLang="zh-CN"/>
              <a:t>240</a:t>
            </a:r>
            <a:r>
              <a:rPr lang="zh-CN" altLang="en-US"/>
              <a:t>，步长为</a:t>
            </a:r>
            <a:r>
              <a:rPr lang="en-US" altLang="zh-CN"/>
              <a:t>16</a:t>
            </a:r>
            <a:r>
              <a:rPr lang="zh-CN" altLang="en-US"/>
              <a:t>，即取值必须为</a:t>
            </a:r>
            <a:r>
              <a:rPr lang="en-US" altLang="zh-CN"/>
              <a:t>16</a:t>
            </a:r>
            <a:r>
              <a:rPr lang="zh-CN" altLang="en-US"/>
              <a:t>的整数倍。缺省情况下，端口优先级是</a:t>
            </a:r>
            <a:r>
              <a:rPr lang="en-US" altLang="zh-CN"/>
              <a:t>128。</a:t>
            </a:r>
            <a:r>
              <a:rPr lang="zh-CN" altLang="en-US"/>
              <a:t>端口</a:t>
            </a:r>
            <a:r>
              <a:rPr lang="en-US" altLang="zh-CN"/>
              <a:t>ID</a:t>
            </a:r>
            <a:r>
              <a:rPr lang="zh-CN" altLang="en-US"/>
              <a:t>可以用来确定端口角色。</a:t>
            </a:r>
            <a:endParaRPr lang="en-US" altLang="zh-CN"/>
          </a:p>
          <a:p>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r>
              <a:rPr lang="zh-CN" altLang="en-US"/>
              <a:t>为了计算生成树，交换机之间需要交换相关的信息和参数，这些信息和参数被封装在</a:t>
            </a:r>
            <a:r>
              <a:rPr lang="en-US" altLang="zh-CN"/>
              <a:t>BPDU</a:t>
            </a:r>
            <a:r>
              <a:rPr lang="zh-CN" altLang="en-US"/>
              <a:t>中。</a:t>
            </a:r>
            <a:endParaRPr lang="en-US" altLang="zh-CN"/>
          </a:p>
          <a:p>
            <a:r>
              <a:rPr lang="en-US" altLang="zh-CN"/>
              <a:t>BPDU</a:t>
            </a:r>
            <a:r>
              <a:rPr lang="zh-CN" altLang="en-US"/>
              <a:t>有两种类型：配置</a:t>
            </a:r>
            <a:r>
              <a:rPr lang="en-US" altLang="zh-CN"/>
              <a:t>BPDU</a:t>
            </a:r>
            <a:r>
              <a:rPr lang="zh-CN" altLang="en-US"/>
              <a:t>和</a:t>
            </a:r>
            <a:r>
              <a:rPr lang="en-US" altLang="zh-CN"/>
              <a:t>TCN BPDU</a:t>
            </a:r>
            <a:r>
              <a:rPr lang="zh-CN" altLang="en-US"/>
              <a:t>。</a:t>
            </a:r>
            <a:endParaRPr lang="en-US" altLang="zh-CN"/>
          </a:p>
          <a:p>
            <a:r>
              <a:rPr lang="zh-CN" altLang="en-US"/>
              <a:t>配置</a:t>
            </a:r>
            <a:r>
              <a:rPr lang="en-US" altLang="zh-CN"/>
              <a:t>BPDU</a:t>
            </a:r>
            <a:r>
              <a:rPr lang="zh-CN" altLang="en-US"/>
              <a:t>包含了桥</a:t>
            </a:r>
            <a:r>
              <a:rPr lang="en-US" altLang="zh-CN"/>
              <a:t>ID</a:t>
            </a:r>
            <a:r>
              <a:rPr lang="zh-CN" altLang="en-US"/>
              <a:t>、路径开销和端口</a:t>
            </a:r>
            <a:r>
              <a:rPr lang="en-US" altLang="zh-CN"/>
              <a:t>ID</a:t>
            </a:r>
            <a:r>
              <a:rPr lang="zh-CN" altLang="en-US"/>
              <a:t>等参数。</a:t>
            </a:r>
            <a:r>
              <a:rPr lang="en-US" altLang="zh-CN"/>
              <a:t>STP</a:t>
            </a:r>
            <a:r>
              <a:rPr lang="zh-CN" altLang="en-US"/>
              <a:t>协议通过在交换机之间传递配置</a:t>
            </a:r>
            <a:r>
              <a:rPr lang="en-US" altLang="zh-CN"/>
              <a:t>BPDU</a:t>
            </a:r>
            <a:r>
              <a:rPr lang="zh-CN" altLang="en-US"/>
              <a:t>来选举根交换机，以及确定每个交换机端口的角色和状态。在初始化过程中，每个桥都主动发送配置</a:t>
            </a:r>
            <a:r>
              <a:rPr lang="en-US" altLang="zh-CN"/>
              <a:t>BPDU</a:t>
            </a:r>
            <a:r>
              <a:rPr lang="zh-CN" altLang="en-US"/>
              <a:t>。在网络拓扑稳定以后，只有根桥主动发送配置</a:t>
            </a:r>
            <a:r>
              <a:rPr lang="en-US" altLang="zh-CN"/>
              <a:t>BPDU</a:t>
            </a:r>
            <a:r>
              <a:rPr lang="zh-CN" altLang="en-US"/>
              <a:t>，其他交换机在收到上游传来的配置</a:t>
            </a:r>
            <a:r>
              <a:rPr lang="en-US" altLang="zh-CN"/>
              <a:t>BPDU</a:t>
            </a:r>
            <a:r>
              <a:rPr lang="zh-CN" altLang="en-US"/>
              <a:t>后，才会发送自己的配置</a:t>
            </a:r>
            <a:r>
              <a:rPr lang="en-US" altLang="zh-CN"/>
              <a:t>BPDU</a:t>
            </a:r>
            <a:r>
              <a:rPr lang="zh-CN" altLang="en-US"/>
              <a:t>。</a:t>
            </a:r>
            <a:endParaRPr lang="en-US" altLang="zh-CN"/>
          </a:p>
          <a:p>
            <a:r>
              <a:rPr lang="en-US" altLang="zh-CN"/>
              <a:t>TCN BPDU</a:t>
            </a:r>
            <a:r>
              <a:rPr lang="zh-CN" altLang="en-US"/>
              <a:t>是指下游交换机感知到拓扑发生变化时向上游发送的拓扑变化通知。</a:t>
            </a:r>
            <a:endParaRPr lang="en-US" altLang="zh-CN"/>
          </a:p>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STP</a:t>
            </a:r>
            <a:r>
              <a:rPr lang="zh-CN" altLang="en-US"/>
              <a:t>操作：</a:t>
            </a:r>
            <a:endParaRPr lang="en-US" altLang="zh-CN"/>
          </a:p>
          <a:p>
            <a:pPr marL="588645" lvl="1" indent="-228600">
              <a:buFont typeface="+mj-lt"/>
              <a:buAutoNum type="arabicPeriod"/>
            </a:pPr>
            <a:r>
              <a:rPr lang="zh-CN" altLang="en-US"/>
              <a:t>选举一个根桥。</a:t>
            </a:r>
            <a:endParaRPr lang="en-US" altLang="zh-CN"/>
          </a:p>
          <a:p>
            <a:pPr marL="588645" lvl="1" indent="-228600">
              <a:buFont typeface="+mj-lt"/>
              <a:buAutoNum type="arabicPeriod"/>
            </a:pPr>
            <a:r>
              <a:rPr lang="zh-CN" altLang="en-US"/>
              <a:t>每个非根交换机选举一个根端口。</a:t>
            </a:r>
            <a:endParaRPr lang="en-US" altLang="zh-CN"/>
          </a:p>
          <a:p>
            <a:pPr marL="588645" lvl="1" indent="-228600">
              <a:buFont typeface="+mj-lt"/>
              <a:buAutoNum type="arabicPeriod"/>
            </a:pPr>
            <a:r>
              <a:rPr lang="zh-CN" altLang="en-US"/>
              <a:t>每个网段选举一个指定端口。</a:t>
            </a:r>
            <a:endParaRPr lang="en-US" altLang="zh-CN"/>
          </a:p>
          <a:p>
            <a:pPr marL="588645" lvl="1" indent="-228600">
              <a:buFont typeface="+mj-lt"/>
              <a:buAutoNum type="arabicPeriod"/>
            </a:pPr>
            <a:r>
              <a:rPr lang="zh-CN" altLang="en-US"/>
              <a:t>阻塞非根、非指定端口。</a:t>
            </a:r>
            <a:endParaRPr lang="en-US" altLang="zh-CN"/>
          </a:p>
          <a:p>
            <a:r>
              <a:rPr lang="en-US" altLang="zh-CN"/>
              <a:t>STP</a:t>
            </a:r>
            <a:r>
              <a:rPr lang="zh-CN" altLang="en-US"/>
              <a:t>中定义了三种端口角色：指定端口，根端口和预备端口。</a:t>
            </a:r>
            <a:endParaRPr lang="en-US" altLang="zh-CN"/>
          </a:p>
          <a:p>
            <a:pPr lvl="1"/>
            <a:r>
              <a:rPr lang="zh-CN" altLang="en-US"/>
              <a:t>指定端口是交换机向所连网段转发配置</a:t>
            </a:r>
            <a:r>
              <a:rPr lang="en-US" altLang="zh-CN"/>
              <a:t>BPDU</a:t>
            </a:r>
            <a:r>
              <a:rPr lang="zh-CN" altLang="en-US"/>
              <a:t>的端口，每个网段有且只能有一个指定端口。一般情况下，根桥的每个端口总是指定端口。</a:t>
            </a:r>
            <a:endParaRPr lang="en-US" altLang="zh-CN"/>
          </a:p>
          <a:p>
            <a:pPr lvl="1"/>
            <a:r>
              <a:rPr lang="zh-CN" altLang="en-US"/>
              <a:t>根端口是非根交换机去往根桥路径最优的端口。在一个运行</a:t>
            </a:r>
            <a:r>
              <a:rPr lang="en-US" altLang="zh-CN"/>
              <a:t>STP</a:t>
            </a:r>
            <a:r>
              <a:rPr lang="zh-CN" altLang="en-US"/>
              <a:t>协议的交换机上最多只有一个根端口，但根桥上没有根端口。</a:t>
            </a:r>
            <a:endParaRPr lang="en-US" altLang="zh-CN"/>
          </a:p>
          <a:p>
            <a:pPr lvl="1"/>
            <a:r>
              <a:rPr lang="zh-CN" altLang="en-US"/>
              <a:t>如果一个端口既不是指定端口也不是根端口，则此端口为预备端口。预备端口将被阻塞。</a:t>
            </a:r>
            <a:endParaRPr lang="en-US" altLang="zh-CN"/>
          </a:p>
          <a:p>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交换机在刚启动时都认为自己是根桥，互相发送配置</a:t>
            </a:r>
            <a:r>
              <a:rPr lang="en-US" altLang="zh-CN"/>
              <a:t>BPDU</a:t>
            </a:r>
            <a:r>
              <a:rPr lang="zh-CN" altLang="en-US"/>
              <a:t>进行</a:t>
            </a:r>
            <a:r>
              <a:rPr lang="en-US" altLang="zh-CN"/>
              <a:t>STP</a:t>
            </a:r>
            <a:r>
              <a:rPr lang="zh-CN" altLang="en-US"/>
              <a:t>运算。</a:t>
            </a:r>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什么是根桥？</a:t>
            </a:r>
          </a:p>
          <a:p>
            <a:pPr lvl="1"/>
            <a:r>
              <a:rPr lang="zh-CN" altLang="en-US"/>
              <a:t>根桥是</a:t>
            </a:r>
            <a:r>
              <a:rPr lang="en-US" altLang="zh-CN"/>
              <a:t>STP</a:t>
            </a:r>
            <a:r>
              <a:rPr lang="zh-CN" altLang="en-US"/>
              <a:t>树的根节点。</a:t>
            </a:r>
          </a:p>
          <a:p>
            <a:pPr lvl="1"/>
            <a:r>
              <a:rPr lang="zh-CN" altLang="en-US"/>
              <a:t>要生成一棵</a:t>
            </a:r>
            <a:r>
              <a:rPr lang="en-US" altLang="zh-CN"/>
              <a:t>STP</a:t>
            </a:r>
            <a:r>
              <a:rPr lang="zh-CN" altLang="en-US"/>
              <a:t>树，首先要确定出一个根桥。</a:t>
            </a:r>
          </a:p>
          <a:p>
            <a:pPr lvl="1"/>
            <a:r>
              <a:rPr lang="zh-CN" altLang="en-US"/>
              <a:t>根桥是整个交换网络的逻辑中心，但不一定是它的物理中心。</a:t>
            </a:r>
          </a:p>
          <a:p>
            <a:pPr lvl="1"/>
            <a:r>
              <a:rPr lang="zh-CN" altLang="en-US"/>
              <a:t>当网络的拓扑发生变化时，根桥也可能发生变化。（抢占）</a:t>
            </a:r>
          </a:p>
          <a:p>
            <a:r>
              <a:rPr lang="zh-CN" altLang="en-US"/>
              <a:t>选举过程：</a:t>
            </a:r>
          </a:p>
          <a:p>
            <a:pPr lvl="1"/>
            <a:r>
              <a:rPr lang="en-US" altLang="zh-CN"/>
              <a:t>STP</a:t>
            </a:r>
            <a:r>
              <a:rPr lang="zh-CN" altLang="en-US"/>
              <a:t>交换机初始启动之后，都会认为自己是根桥，并在发送给其他交换机的</a:t>
            </a:r>
            <a:r>
              <a:rPr lang="en-US" altLang="zh-CN"/>
              <a:t>BPDU</a:t>
            </a:r>
            <a:r>
              <a:rPr lang="zh-CN" altLang="en-US"/>
              <a:t>中宣告自己为根桥。因此，此时</a:t>
            </a:r>
            <a:r>
              <a:rPr lang="en-US" altLang="zh-CN"/>
              <a:t>BPDU</a:t>
            </a:r>
            <a:r>
              <a:rPr lang="zh-CN" altLang="en-US"/>
              <a:t>中的根桥</a:t>
            </a:r>
            <a:r>
              <a:rPr lang="en-US" altLang="zh-CN"/>
              <a:t>ID</a:t>
            </a:r>
            <a:r>
              <a:rPr lang="zh-CN" altLang="en-US"/>
              <a:t>为各自设备的网桥</a:t>
            </a:r>
            <a:r>
              <a:rPr lang="en-US" altLang="zh-CN"/>
              <a:t>ID</a:t>
            </a:r>
            <a:r>
              <a:rPr lang="zh-CN" altLang="en-US"/>
              <a:t>。</a:t>
            </a:r>
          </a:p>
          <a:p>
            <a:pPr lvl="1"/>
            <a:r>
              <a:rPr lang="zh-CN" altLang="en-US"/>
              <a:t>当交换机收到网络中其他设备发送来的</a:t>
            </a:r>
            <a:r>
              <a:rPr lang="en-US" altLang="zh-CN"/>
              <a:t>BPDU</a:t>
            </a:r>
            <a:r>
              <a:rPr lang="zh-CN" altLang="en-US"/>
              <a:t>后，会比较</a:t>
            </a:r>
            <a:r>
              <a:rPr lang="en-US" altLang="zh-CN"/>
              <a:t>BPDU</a:t>
            </a:r>
            <a:r>
              <a:rPr lang="zh-CN" altLang="en-US"/>
              <a:t>中的根桥</a:t>
            </a:r>
            <a:r>
              <a:rPr lang="en-US" altLang="zh-CN"/>
              <a:t>ID</a:t>
            </a:r>
            <a:r>
              <a:rPr lang="zh-CN" altLang="en-US"/>
              <a:t>和自己的</a:t>
            </a:r>
            <a:r>
              <a:rPr lang="en-US" altLang="zh-CN"/>
              <a:t>BID</a:t>
            </a:r>
            <a:r>
              <a:rPr lang="zh-CN" altLang="en-US"/>
              <a:t>。</a:t>
            </a:r>
          </a:p>
          <a:p>
            <a:pPr lvl="1"/>
            <a:r>
              <a:rPr lang="zh-CN" altLang="en-US"/>
              <a:t>交换机不断交互</a:t>
            </a:r>
            <a:r>
              <a:rPr lang="en-US" altLang="zh-CN"/>
              <a:t>BPDU</a:t>
            </a:r>
            <a:r>
              <a:rPr lang="zh-CN" altLang="en-US"/>
              <a:t>，同时对</a:t>
            </a:r>
            <a:r>
              <a:rPr lang="en-US" altLang="zh-CN"/>
              <a:t>BID</a:t>
            </a:r>
            <a:r>
              <a:rPr lang="zh-CN" altLang="en-US"/>
              <a:t>进行比较，最终选举一台</a:t>
            </a:r>
            <a:r>
              <a:rPr lang="en-US" altLang="zh-CN"/>
              <a:t>BID</a:t>
            </a:r>
            <a:r>
              <a:rPr lang="zh-CN" altLang="en-US"/>
              <a:t>最小的交换机作为根桥，其他的则为非根桥。</a:t>
            </a:r>
          </a:p>
          <a:p>
            <a:pPr lvl="1"/>
            <a:r>
              <a:rPr lang="zh-CN" altLang="en-US"/>
              <a:t>如图：根桥的选举先比较优先级，交换机</a:t>
            </a:r>
            <a:r>
              <a:rPr lang="en-US" altLang="zh-CN"/>
              <a:t>SW1</a:t>
            </a:r>
            <a:r>
              <a:rPr lang="zh-CN" altLang="en-US"/>
              <a:t>、</a:t>
            </a:r>
            <a:r>
              <a:rPr lang="en-US" altLang="zh-CN"/>
              <a:t>2</a:t>
            </a:r>
            <a:r>
              <a:rPr lang="zh-CN" altLang="en-US"/>
              <a:t>、</a:t>
            </a:r>
            <a:r>
              <a:rPr lang="en-US" altLang="zh-CN"/>
              <a:t>3</a:t>
            </a:r>
            <a:r>
              <a:rPr lang="zh-CN" altLang="en-US"/>
              <a:t>的优先级相等，则比较</a:t>
            </a:r>
            <a:r>
              <a:rPr lang="en-US" altLang="zh-CN"/>
              <a:t>MAC</a:t>
            </a:r>
            <a:r>
              <a:rPr lang="zh-CN" altLang="en-US"/>
              <a:t>地址，也优选最小的，所以</a:t>
            </a:r>
            <a:r>
              <a:rPr lang="en-US" altLang="zh-CN"/>
              <a:t>SW1</a:t>
            </a:r>
            <a:r>
              <a:rPr lang="zh-CN" altLang="en-US"/>
              <a:t>的</a:t>
            </a:r>
            <a:r>
              <a:rPr lang="en-US" altLang="zh-CN"/>
              <a:t>BID</a:t>
            </a:r>
            <a:r>
              <a:rPr lang="zh-CN" altLang="en-US"/>
              <a:t>最小，因此</a:t>
            </a:r>
            <a:r>
              <a:rPr lang="en-US" altLang="zh-CN"/>
              <a:t>SW1</a:t>
            </a:r>
            <a:r>
              <a:rPr lang="zh-CN" altLang="en-US"/>
              <a:t>为根桥，</a:t>
            </a:r>
            <a:r>
              <a:rPr lang="en-US" altLang="zh-CN"/>
              <a:t>SW2</a:t>
            </a:r>
            <a:r>
              <a:rPr lang="zh-CN" altLang="en-US"/>
              <a:t>和</a:t>
            </a:r>
            <a:r>
              <a:rPr lang="en-US" altLang="zh-CN"/>
              <a:t>SW3</a:t>
            </a:r>
            <a:r>
              <a:rPr lang="zh-CN" altLang="en-US"/>
              <a:t>为非根桥。</a:t>
            </a:r>
          </a:p>
          <a:p>
            <a:r>
              <a:rPr lang="zh-CN" altLang="en-US"/>
              <a:t>注意：</a:t>
            </a:r>
          </a:p>
          <a:p>
            <a:pPr lvl="1"/>
            <a:r>
              <a:rPr lang="zh-CN" altLang="en-US"/>
              <a:t>根桥的角色可抢占。当有更优的</a:t>
            </a:r>
            <a:r>
              <a:rPr lang="en-US" altLang="zh-CN"/>
              <a:t>BID</a:t>
            </a:r>
            <a:r>
              <a:rPr lang="zh-CN" altLang="en-US"/>
              <a:t>的交换机加入网络时，网络会重新进行</a:t>
            </a:r>
            <a:r>
              <a:rPr lang="en-US" altLang="zh-CN"/>
              <a:t>STP</a:t>
            </a:r>
            <a:r>
              <a:rPr lang="zh-CN" altLang="en-US"/>
              <a:t>计算，选出新的根桥。</a:t>
            </a:r>
          </a:p>
          <a:p>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a:lnSpc>
                <a:spcPct val="100000"/>
              </a:lnSpc>
            </a:pPr>
            <a:r>
              <a:rPr lang="zh-CN" altLang="en-US"/>
              <a:t>什么是根端口？</a:t>
            </a:r>
          </a:p>
          <a:p>
            <a:pPr lvl="1">
              <a:lnSpc>
                <a:spcPct val="100000"/>
              </a:lnSpc>
            </a:pPr>
            <a:r>
              <a:rPr lang="zh-CN" altLang="en-US"/>
              <a:t>一个非根桥设备上会有多个端口与网络相连，为了保证从某台非根桥设备到根桥设备的工作路径是最优且唯一的，就必须从该非根桥设备的端口中确定出一个被称为“根端口”的端口，由根端口来作为该非根桥设备与根桥设备之间进行报文交互的端口。</a:t>
            </a:r>
          </a:p>
          <a:p>
            <a:pPr lvl="1">
              <a:lnSpc>
                <a:spcPct val="100000"/>
              </a:lnSpc>
            </a:pPr>
            <a:r>
              <a:rPr lang="zh-CN" altLang="en-US"/>
              <a:t>在选举出根桥后，根桥仍然持续发送</a:t>
            </a:r>
            <a:r>
              <a:rPr lang="en-US" altLang="zh-CN"/>
              <a:t>BPDU</a:t>
            </a:r>
            <a:r>
              <a:rPr lang="zh-CN" altLang="en-US"/>
              <a:t>，而非根桥将持续不断的收到根桥发送的</a:t>
            </a:r>
            <a:r>
              <a:rPr lang="en-US" altLang="zh-CN"/>
              <a:t>BPDU</a:t>
            </a:r>
            <a:r>
              <a:rPr lang="zh-CN" altLang="en-US"/>
              <a:t>。因此，在所有非根桥上选举一个距离根桥“最近”的端口（根端口），在网络收敛后，根端口将不断的收到来自根桥的</a:t>
            </a:r>
            <a:r>
              <a:rPr lang="en-US" altLang="zh-CN"/>
              <a:t>BPDU</a:t>
            </a:r>
            <a:r>
              <a:rPr lang="zh-CN" altLang="en-US"/>
              <a:t>。</a:t>
            </a:r>
          </a:p>
          <a:p>
            <a:pPr lvl="1">
              <a:lnSpc>
                <a:spcPct val="100000"/>
              </a:lnSpc>
            </a:pPr>
            <a:r>
              <a:rPr lang="zh-CN" altLang="en-US"/>
              <a:t>即：根端口保证了交换机与根桥之间工作路径的唯一性和最优性。</a:t>
            </a:r>
          </a:p>
          <a:p>
            <a:pPr>
              <a:lnSpc>
                <a:spcPct val="100000"/>
              </a:lnSpc>
            </a:pPr>
            <a:r>
              <a:rPr lang="zh-CN" altLang="en-US"/>
              <a:t>注意：一个非根桥设备上，最多只能有一个根端口。</a:t>
            </a:r>
          </a:p>
          <a:p>
            <a:pPr>
              <a:lnSpc>
                <a:spcPct val="100000"/>
              </a:lnSpc>
            </a:pPr>
            <a:r>
              <a:rPr lang="zh-CN" altLang="en-US"/>
              <a:t>选举过程：</a:t>
            </a:r>
          </a:p>
          <a:p>
            <a:pPr marL="588645" lvl="1" indent="-228600">
              <a:lnSpc>
                <a:spcPct val="100000"/>
              </a:lnSpc>
              <a:buFont typeface="+mj-lt"/>
              <a:buAutoNum type="arabicPeriod"/>
            </a:pPr>
            <a:r>
              <a:rPr lang="zh-CN" altLang="en-US"/>
              <a:t>交换机有多个端口接入网络，各个端口都会收到</a:t>
            </a:r>
            <a:r>
              <a:rPr lang="en-US" altLang="zh-CN"/>
              <a:t>BPDU</a:t>
            </a:r>
            <a:r>
              <a:rPr lang="zh-CN" altLang="en-US"/>
              <a:t>报文，报文中会携带“</a:t>
            </a:r>
            <a:r>
              <a:rPr lang="en-US" altLang="zh-CN"/>
              <a:t>RootID</a:t>
            </a:r>
            <a:r>
              <a:rPr lang="zh-CN" altLang="en-US"/>
              <a:t>、</a:t>
            </a:r>
            <a:r>
              <a:rPr lang="en-US" altLang="zh-CN"/>
              <a:t>RPC</a:t>
            </a:r>
            <a:r>
              <a:rPr lang="zh-CN" altLang="en-US"/>
              <a:t>、</a:t>
            </a:r>
            <a:r>
              <a:rPr lang="en-US" altLang="zh-CN"/>
              <a:t>BID</a:t>
            </a:r>
            <a:r>
              <a:rPr lang="zh-CN" altLang="en-US"/>
              <a:t>、</a:t>
            </a:r>
            <a:r>
              <a:rPr lang="en-US" altLang="zh-CN"/>
              <a:t>PID”</a:t>
            </a:r>
            <a:r>
              <a:rPr lang="zh-CN" altLang="en-US"/>
              <a:t>等关键字段，端口会针对这些字段进行</a:t>
            </a:r>
            <a:r>
              <a:rPr lang="en-US" altLang="zh-CN"/>
              <a:t>PK</a:t>
            </a:r>
            <a:r>
              <a:rPr lang="zh-CN" altLang="en-US"/>
              <a:t>。</a:t>
            </a:r>
          </a:p>
          <a:p>
            <a:pPr marL="588645" lvl="1" indent="-228600">
              <a:lnSpc>
                <a:spcPct val="100000"/>
              </a:lnSpc>
              <a:buFont typeface="+mj-lt"/>
              <a:buAutoNum type="arabicPeriod"/>
            </a:pPr>
            <a:r>
              <a:rPr lang="zh-CN" altLang="en-US"/>
              <a:t>首先比较根路径开销（</a:t>
            </a:r>
            <a:r>
              <a:rPr lang="en-US" altLang="zh-CN"/>
              <a:t>RPC</a:t>
            </a:r>
            <a:r>
              <a:rPr lang="zh-CN" altLang="en-US"/>
              <a:t>），</a:t>
            </a:r>
            <a:r>
              <a:rPr lang="en-US" altLang="zh-CN"/>
              <a:t>STP</a:t>
            </a:r>
            <a:r>
              <a:rPr lang="zh-CN" altLang="en-US"/>
              <a:t>协议把根路径开销作为确定根端口的重要依据。</a:t>
            </a:r>
            <a:r>
              <a:rPr lang="en-US" altLang="zh-CN"/>
              <a:t>RPC</a:t>
            </a:r>
            <a:r>
              <a:rPr lang="zh-CN" altLang="en-US"/>
              <a:t>值越小，越优选，因此交换机会选</a:t>
            </a:r>
            <a:r>
              <a:rPr lang="en-US" altLang="zh-CN"/>
              <a:t>RPC</a:t>
            </a:r>
            <a:r>
              <a:rPr lang="zh-CN" altLang="en-US"/>
              <a:t>最小的端口作为根端口。</a:t>
            </a:r>
          </a:p>
          <a:p>
            <a:pPr marL="588645" lvl="1" indent="-228600">
              <a:lnSpc>
                <a:spcPct val="100000"/>
              </a:lnSpc>
              <a:buFont typeface="+mj-lt"/>
              <a:buAutoNum type="arabicPeriod"/>
            </a:pPr>
            <a:r>
              <a:rPr lang="zh-CN" altLang="en-US"/>
              <a:t>当</a:t>
            </a:r>
            <a:r>
              <a:rPr lang="en-US" altLang="zh-CN"/>
              <a:t>RPC</a:t>
            </a:r>
            <a:r>
              <a:rPr lang="zh-CN" altLang="en-US"/>
              <a:t>相同时，比较上行交换机的</a:t>
            </a:r>
            <a:r>
              <a:rPr lang="en-US" altLang="zh-CN"/>
              <a:t>BID</a:t>
            </a:r>
            <a:r>
              <a:rPr lang="zh-CN" altLang="en-US"/>
              <a:t>，</a:t>
            </a:r>
            <a:r>
              <a:rPr lang="zh-CN" altLang="zh-CN"/>
              <a:t>即比较交换机各个端口收到的</a:t>
            </a:r>
            <a:r>
              <a:rPr lang="en-US" altLang="zh-CN"/>
              <a:t>BPDU</a:t>
            </a:r>
            <a:r>
              <a:rPr lang="zh-CN" altLang="zh-CN"/>
              <a:t>中的</a:t>
            </a:r>
            <a:r>
              <a:rPr lang="en-US" altLang="zh-CN"/>
              <a:t>BID</a:t>
            </a:r>
            <a:r>
              <a:rPr lang="zh-CN" altLang="zh-CN"/>
              <a:t>，值越小，越优选，因此交换机会选上行设备</a:t>
            </a:r>
            <a:r>
              <a:rPr lang="en-US" altLang="zh-CN"/>
              <a:t>BID</a:t>
            </a:r>
            <a:r>
              <a:rPr lang="zh-CN" altLang="zh-CN"/>
              <a:t>最小的端口作为根端口</a:t>
            </a:r>
            <a:r>
              <a:rPr lang="zh-CN" altLang="en-US"/>
              <a:t>。</a:t>
            </a:r>
            <a:endParaRPr lang="en-US" altLang="zh-CN"/>
          </a:p>
          <a:p>
            <a:pPr marL="588645" lvl="1" indent="-228600">
              <a:lnSpc>
                <a:spcPct val="100000"/>
              </a:lnSpc>
              <a:buFont typeface="+mj-lt"/>
              <a:buAutoNum type="arabicPeriod"/>
            </a:pPr>
            <a:r>
              <a:rPr lang="zh-CN" altLang="zh-CN"/>
              <a:t>当上行交换机</a:t>
            </a:r>
            <a:r>
              <a:rPr lang="en-US" altLang="zh-CN"/>
              <a:t>BID</a:t>
            </a:r>
            <a:r>
              <a:rPr lang="zh-CN" altLang="zh-CN"/>
              <a:t>相同时，比较上行交换机的</a:t>
            </a:r>
            <a:r>
              <a:rPr lang="en-US" altLang="zh-CN"/>
              <a:t>PID</a:t>
            </a:r>
            <a:r>
              <a:rPr lang="zh-CN" altLang="en-US"/>
              <a:t>，</a:t>
            </a:r>
            <a:r>
              <a:rPr lang="zh-CN" altLang="zh-CN"/>
              <a:t>即比较交换机各个端口收到的</a:t>
            </a:r>
            <a:r>
              <a:rPr lang="en-US" altLang="zh-CN"/>
              <a:t>BPDU</a:t>
            </a:r>
            <a:r>
              <a:rPr lang="zh-CN" altLang="zh-CN"/>
              <a:t>中的</a:t>
            </a:r>
            <a:r>
              <a:rPr lang="en-US" altLang="zh-CN"/>
              <a:t>PID</a:t>
            </a:r>
            <a:r>
              <a:rPr lang="zh-CN" altLang="zh-CN"/>
              <a:t>，值越小，越优先，因此交换机会选上行设备</a:t>
            </a:r>
            <a:r>
              <a:rPr lang="en-US" altLang="zh-CN"/>
              <a:t>PID</a:t>
            </a:r>
            <a:r>
              <a:rPr lang="zh-CN" altLang="zh-CN"/>
              <a:t>最小的端口作为根端口</a:t>
            </a:r>
            <a:r>
              <a:rPr lang="zh-CN" altLang="en-US"/>
              <a:t>。</a:t>
            </a:r>
            <a:endParaRPr lang="en-US" altLang="zh-CN"/>
          </a:p>
          <a:p>
            <a:pPr marL="588645" lvl="1" indent="-228600">
              <a:lnSpc>
                <a:spcPct val="100000"/>
              </a:lnSpc>
              <a:buFont typeface="+mj-lt"/>
              <a:buAutoNum type="arabicPeriod"/>
            </a:pPr>
            <a:r>
              <a:rPr lang="zh-CN" altLang="zh-CN"/>
              <a:t>当上行交换机的</a:t>
            </a:r>
            <a:r>
              <a:rPr lang="en-US" altLang="zh-CN"/>
              <a:t>PID</a:t>
            </a:r>
            <a:r>
              <a:rPr lang="zh-CN" altLang="zh-CN"/>
              <a:t>相同时，则比较本地交换机的</a:t>
            </a:r>
            <a:r>
              <a:rPr lang="en-US" altLang="zh-CN"/>
              <a:t>PID</a:t>
            </a:r>
            <a:r>
              <a:rPr lang="zh-CN" altLang="en-US"/>
              <a:t>，即</a:t>
            </a:r>
            <a:r>
              <a:rPr lang="zh-CN" altLang="zh-CN"/>
              <a:t>比较本端交换机各个端口各自的</a:t>
            </a:r>
            <a:r>
              <a:rPr lang="en-US" altLang="zh-CN"/>
              <a:t>PID</a:t>
            </a:r>
            <a:r>
              <a:rPr lang="zh-CN" altLang="zh-CN"/>
              <a:t>，值越小，越优先，因此交换机会选端口</a:t>
            </a:r>
            <a:r>
              <a:rPr lang="en-US" altLang="zh-CN"/>
              <a:t>PID</a:t>
            </a:r>
            <a:r>
              <a:rPr lang="zh-CN" altLang="zh-CN"/>
              <a:t>最小的端口作为根端口</a:t>
            </a:r>
            <a:r>
              <a:rPr lang="zh-CN" altLang="en-US"/>
              <a:t>。</a:t>
            </a:r>
          </a:p>
          <a:p>
            <a:pPr>
              <a:lnSpc>
                <a:spcPct val="100000"/>
              </a:lnSpc>
            </a:pPr>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84200" y="765175"/>
            <a:ext cx="5930900" cy="3336925"/>
          </a:xfrm>
        </p:spPr>
      </p:sp>
      <p:sp>
        <p:nvSpPr>
          <p:cNvPr id="3" name="备注占位符 2"/>
          <p:cNvSpPr>
            <a:spLocks noGrp="1"/>
          </p:cNvSpPr>
          <p:nvPr>
            <p:ph type="body" idx="1"/>
          </p:nvPr>
        </p:nvSpPr>
        <p:spPr/>
        <p:txBody>
          <a:bodyPr/>
          <a:lstStyle/>
          <a:p>
            <a:r>
              <a:rPr lang="zh-CN" altLang="en-US" dirty="0"/>
              <a:t>什么是指定端口？</a:t>
            </a:r>
          </a:p>
          <a:p>
            <a:pPr lvl="1"/>
            <a:r>
              <a:rPr lang="zh-CN" altLang="en-US" dirty="0"/>
              <a:t>网络中的每个链路与根桥之间的工作路径必须是唯一的且最优的。当一个链路有两条及以上的路径通往根桥时（该链路连接了不同的交换机，或者该链路连接了同一台交换机的不同端口），与该链路相连的交换机（可能不止一台）就必须确定出一个唯一的指定端口。</a:t>
            </a:r>
          </a:p>
          <a:p>
            <a:pPr lvl="1"/>
            <a:r>
              <a:rPr lang="zh-CN" altLang="en-US" dirty="0"/>
              <a:t>因此，每个链路（</a:t>
            </a:r>
            <a:r>
              <a:rPr lang="en-US" altLang="zh-CN" dirty="0"/>
              <a:t>Link</a:t>
            </a:r>
            <a:r>
              <a:rPr lang="zh-CN" altLang="en-US" dirty="0"/>
              <a:t>）选举一个指定端口，用于向这个链路发送</a:t>
            </a:r>
            <a:r>
              <a:rPr lang="en-US" altLang="zh-CN" dirty="0"/>
              <a:t>BPDU</a:t>
            </a:r>
            <a:r>
              <a:rPr lang="zh-CN" altLang="en-US" dirty="0"/>
              <a:t>。</a:t>
            </a:r>
          </a:p>
          <a:p>
            <a:r>
              <a:rPr lang="zh-CN" altLang="en-US" dirty="0"/>
              <a:t>注意：一般情况下，根桥上不存在任何根端口，只存在指定端口。</a:t>
            </a:r>
          </a:p>
          <a:p>
            <a:r>
              <a:rPr lang="zh-CN" altLang="en-US" dirty="0"/>
              <a:t>选举过程：</a:t>
            </a:r>
          </a:p>
          <a:p>
            <a:pPr marL="360045" lvl="1" indent="0">
              <a:buNone/>
            </a:pPr>
            <a:r>
              <a:rPr lang="zh-CN" altLang="en-US" dirty="0"/>
              <a:t>指定端口也是通过比较</a:t>
            </a:r>
            <a:r>
              <a:rPr lang="en-US" altLang="zh-CN" dirty="0"/>
              <a:t>RPC</a:t>
            </a:r>
            <a:r>
              <a:rPr lang="zh-CN" altLang="en-US" dirty="0"/>
              <a:t>来确定的，选择</a:t>
            </a:r>
            <a:r>
              <a:rPr lang="en-US" altLang="zh-CN" dirty="0"/>
              <a:t>RPC</a:t>
            </a:r>
            <a:r>
              <a:rPr lang="zh-CN" altLang="en-US" dirty="0"/>
              <a:t>最小的作为指定端口，如果</a:t>
            </a:r>
            <a:r>
              <a:rPr lang="en-US" altLang="zh-CN" dirty="0"/>
              <a:t>RPC</a:t>
            </a:r>
            <a:r>
              <a:rPr lang="zh-CN" altLang="en-US" dirty="0"/>
              <a:t>相同，则比较</a:t>
            </a:r>
            <a:r>
              <a:rPr lang="en-US" altLang="zh-CN" dirty="0"/>
              <a:t>BID</a:t>
            </a:r>
            <a:r>
              <a:rPr lang="zh-CN" altLang="en-US" dirty="0"/>
              <a:t>和</a:t>
            </a:r>
            <a:r>
              <a:rPr lang="en-US" altLang="zh-CN" dirty="0"/>
              <a:t>PID</a:t>
            </a:r>
            <a:r>
              <a:rPr lang="zh-CN" altLang="en-US" dirty="0"/>
              <a:t>。</a:t>
            </a:r>
          </a:p>
          <a:p>
            <a:pPr marL="589280" lvl="1" indent="-228600">
              <a:buSzPct val="100000"/>
              <a:buFont typeface="+mj-lt"/>
              <a:buAutoNum type="arabicPeriod"/>
            </a:pPr>
            <a:r>
              <a:rPr lang="zh-CN" altLang="en-US" dirty="0"/>
              <a:t>首先比较根路径开销（</a:t>
            </a:r>
            <a:r>
              <a:rPr lang="en-US" altLang="zh-CN"/>
              <a:t>RPC</a:t>
            </a:r>
            <a:r>
              <a:rPr lang="zh-CN" altLang="en-US"/>
              <a:t>），值</a:t>
            </a:r>
            <a:r>
              <a:rPr lang="zh-CN" altLang="en-US" dirty="0"/>
              <a:t>越小，越优选，因此交换机会选</a:t>
            </a:r>
            <a:r>
              <a:rPr lang="en-US" altLang="zh-CN" dirty="0"/>
              <a:t>RPC</a:t>
            </a:r>
            <a:r>
              <a:rPr lang="zh-CN" altLang="en-US" dirty="0"/>
              <a:t>最小的端口作为指定端口。</a:t>
            </a:r>
          </a:p>
          <a:p>
            <a:pPr marL="589280" lvl="1" indent="-228600">
              <a:buSzPct val="100000"/>
              <a:buFont typeface="+mj-lt"/>
              <a:buAutoNum type="arabicPeriod"/>
            </a:pPr>
            <a:r>
              <a:rPr lang="zh-CN" altLang="en-US" dirty="0"/>
              <a:t>若</a:t>
            </a:r>
            <a:r>
              <a:rPr lang="en-US" altLang="zh-CN" dirty="0"/>
              <a:t>RPC</a:t>
            </a:r>
            <a:r>
              <a:rPr lang="zh-CN" altLang="en-US" dirty="0"/>
              <a:t>相等，则比较链路两端交换机的</a:t>
            </a:r>
            <a:r>
              <a:rPr lang="en-US" altLang="zh-CN" dirty="0"/>
              <a:t>BID</a:t>
            </a:r>
            <a:r>
              <a:rPr lang="zh-CN" altLang="en-US" dirty="0"/>
              <a:t>，值越小，越优选，因此交换机会选</a:t>
            </a:r>
            <a:r>
              <a:rPr lang="en-US" altLang="zh-CN" dirty="0"/>
              <a:t>BID</a:t>
            </a:r>
            <a:r>
              <a:rPr lang="zh-CN" altLang="en-US" dirty="0"/>
              <a:t>最小的交换机的端口作为指定端口。</a:t>
            </a:r>
          </a:p>
          <a:p>
            <a:pPr marL="589280" lvl="1" indent="-228600">
              <a:buSzPct val="100000"/>
              <a:buFont typeface="+mj-lt"/>
              <a:buAutoNum type="arabicPeriod"/>
            </a:pPr>
            <a:r>
              <a:rPr lang="zh-CN" altLang="en-US" dirty="0"/>
              <a:t>若</a:t>
            </a:r>
            <a:r>
              <a:rPr lang="en-US" altLang="zh-CN" dirty="0"/>
              <a:t>BID</a:t>
            </a:r>
            <a:r>
              <a:rPr lang="zh-CN" altLang="en-US" dirty="0"/>
              <a:t>相等，则比较链路两端端口的</a:t>
            </a:r>
            <a:r>
              <a:rPr lang="en-US" altLang="zh-CN" dirty="0"/>
              <a:t>PID</a:t>
            </a:r>
            <a:r>
              <a:rPr lang="zh-CN" altLang="en-US" dirty="0"/>
              <a:t>，值越小，越优选，因此交换机会选</a:t>
            </a:r>
            <a:r>
              <a:rPr lang="en-US" altLang="zh-CN" dirty="0"/>
              <a:t>PID</a:t>
            </a:r>
            <a:r>
              <a:rPr lang="zh-CN" altLang="en-US" dirty="0"/>
              <a:t>最小的交换机的端口作为指定端口。</a:t>
            </a:r>
          </a:p>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什么是非指定端口（预备端口）？</a:t>
            </a:r>
          </a:p>
          <a:p>
            <a:pPr lvl="0"/>
            <a:r>
              <a:rPr lang="zh-CN" altLang="en-US"/>
              <a:t>在确定了根端口和指定端口之后，交换机上所有剩余的非根端口和非指定端口统称为预备端口。</a:t>
            </a:r>
            <a:endParaRPr lang="en-US" altLang="zh-CN"/>
          </a:p>
          <a:p>
            <a:pPr lvl="0"/>
            <a:r>
              <a:rPr lang="zh-CN" altLang="zh-CN"/>
              <a:t>阻塞</a:t>
            </a:r>
            <a:r>
              <a:rPr lang="zh-CN" altLang="en-US"/>
              <a:t>非指定</a:t>
            </a:r>
            <a:r>
              <a:rPr lang="zh-CN" altLang="zh-CN"/>
              <a:t>端口</a:t>
            </a:r>
          </a:p>
          <a:p>
            <a:pPr lvl="1"/>
            <a:r>
              <a:rPr lang="en-US" altLang="zh-CN"/>
              <a:t>STP</a:t>
            </a:r>
            <a:r>
              <a:rPr lang="zh-CN" altLang="zh-CN"/>
              <a:t>会对这些</a:t>
            </a:r>
            <a:r>
              <a:rPr lang="zh-CN" altLang="en-US"/>
              <a:t>非指定</a:t>
            </a:r>
            <a:r>
              <a:rPr lang="zh-CN" altLang="zh-CN"/>
              <a:t>端口进行逻辑阻塞，即这些端口不能转发由终端计算机产生并发送的帧（用户数据帧）。</a:t>
            </a:r>
          </a:p>
          <a:p>
            <a:pPr lvl="1"/>
            <a:r>
              <a:rPr lang="zh-CN" altLang="zh-CN"/>
              <a:t>一旦</a:t>
            </a:r>
            <a:r>
              <a:rPr lang="zh-CN" altLang="en-US"/>
              <a:t>非指定</a:t>
            </a:r>
            <a:r>
              <a:rPr lang="zh-CN" altLang="zh-CN"/>
              <a:t>端口被逻辑阻塞后，</a:t>
            </a:r>
            <a:r>
              <a:rPr lang="en-US" altLang="zh-CN"/>
              <a:t>STP</a:t>
            </a:r>
            <a:r>
              <a:rPr lang="zh-CN" altLang="zh-CN"/>
              <a:t>树（无环路工作拓扑）就生成了。</a:t>
            </a:r>
          </a:p>
          <a:p>
            <a:pPr lvl="0"/>
            <a:r>
              <a:rPr lang="zh-CN" altLang="zh-CN"/>
              <a:t>注意：</a:t>
            </a:r>
          </a:p>
          <a:p>
            <a:pPr lvl="1"/>
            <a:r>
              <a:rPr lang="zh-CN" altLang="en-US"/>
              <a:t>非指定</a:t>
            </a:r>
            <a:r>
              <a:rPr lang="zh-CN" altLang="zh-CN"/>
              <a:t>端口可以接收并处理</a:t>
            </a:r>
            <a:r>
              <a:rPr lang="en-US" altLang="zh-CN"/>
              <a:t>BPDU</a:t>
            </a:r>
            <a:r>
              <a:rPr lang="zh-CN" altLang="zh-CN"/>
              <a:t>。</a:t>
            </a:r>
          </a:p>
          <a:p>
            <a:pPr lvl="1"/>
            <a:r>
              <a:rPr lang="zh-CN" altLang="zh-CN"/>
              <a:t>根端口和指定端口既可以接收和发送</a:t>
            </a:r>
            <a:r>
              <a:rPr lang="en-US" altLang="zh-CN"/>
              <a:t>BPDU</a:t>
            </a:r>
            <a:r>
              <a:rPr lang="zh-CN" altLang="zh-CN"/>
              <a:t>，也可以转发用户数据帧。</a:t>
            </a:r>
            <a:endParaRPr lang="zh-CN" altLang="en-US"/>
          </a:p>
          <a:p>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如图，首先选举根桥，三台交换机的桥优先级相同，则比较桥</a:t>
            </a:r>
            <a:r>
              <a:rPr lang="en-US" altLang="zh-CN"/>
              <a:t>MAC</a:t>
            </a:r>
            <a:r>
              <a:rPr lang="zh-CN" altLang="en-US"/>
              <a:t>地址，谁小谁优先，最终选举</a:t>
            </a:r>
            <a:r>
              <a:rPr lang="en-US" altLang="zh-CN"/>
              <a:t>SW1</a:t>
            </a:r>
            <a:r>
              <a:rPr lang="zh-CN" altLang="en-US"/>
              <a:t>为根桥；</a:t>
            </a:r>
            <a:endParaRPr lang="en-US" altLang="zh-CN"/>
          </a:p>
          <a:p>
            <a:r>
              <a:rPr lang="zh-CN" altLang="en-US"/>
              <a:t>其次选举根端口，</a:t>
            </a:r>
            <a:r>
              <a:rPr lang="en-US" altLang="zh-CN"/>
              <a:t>SW2</a:t>
            </a:r>
            <a:r>
              <a:rPr lang="zh-CN" altLang="en-US"/>
              <a:t>上</a:t>
            </a:r>
            <a:r>
              <a:rPr lang="en-US" altLang="zh-CN"/>
              <a:t>GE0/0/1</a:t>
            </a:r>
            <a:r>
              <a:rPr lang="zh-CN" altLang="en-US"/>
              <a:t>距离根桥最近，</a:t>
            </a:r>
            <a:r>
              <a:rPr lang="en-US" altLang="zh-CN"/>
              <a:t>RPC</a:t>
            </a:r>
            <a:r>
              <a:rPr lang="zh-CN" altLang="en-US"/>
              <a:t>最小，所以</a:t>
            </a:r>
            <a:r>
              <a:rPr lang="en-US" altLang="zh-CN"/>
              <a:t>SW2</a:t>
            </a:r>
            <a:r>
              <a:rPr lang="zh-CN" altLang="en-US"/>
              <a:t>的</a:t>
            </a:r>
            <a:r>
              <a:rPr lang="en-US" altLang="zh-CN"/>
              <a:t>GE0/0/1</a:t>
            </a:r>
            <a:r>
              <a:rPr lang="zh-CN" altLang="en-US"/>
              <a:t>为根端口，同理</a:t>
            </a:r>
            <a:r>
              <a:rPr lang="en-US" altLang="zh-CN"/>
              <a:t>SW3</a:t>
            </a:r>
            <a:r>
              <a:rPr lang="zh-CN" altLang="en-US"/>
              <a:t>的</a:t>
            </a:r>
            <a:r>
              <a:rPr lang="en-US" altLang="zh-CN"/>
              <a:t>GE0/0/1</a:t>
            </a:r>
            <a:r>
              <a:rPr lang="zh-CN" altLang="en-US"/>
              <a:t>也为根端口；</a:t>
            </a:r>
            <a:endParaRPr lang="en-US" altLang="zh-CN"/>
          </a:p>
          <a:p>
            <a:r>
              <a:rPr lang="zh-CN" altLang="en-US"/>
              <a:t>然后选举指定端口，</a:t>
            </a:r>
            <a:r>
              <a:rPr lang="en-US" altLang="zh-CN"/>
              <a:t>SW1</a:t>
            </a:r>
            <a:r>
              <a:rPr lang="zh-CN" altLang="en-US"/>
              <a:t>为根桥，所以</a:t>
            </a:r>
            <a:r>
              <a:rPr lang="en-US" altLang="zh-CN"/>
              <a:t>SW1</a:t>
            </a:r>
            <a:r>
              <a:rPr lang="zh-CN" altLang="en-US"/>
              <a:t>上的</a:t>
            </a:r>
            <a:r>
              <a:rPr lang="en-US" altLang="zh-CN"/>
              <a:t>GE0/0/0</a:t>
            </a:r>
            <a:r>
              <a:rPr lang="zh-CN" altLang="en-US"/>
              <a:t>和</a:t>
            </a:r>
            <a:r>
              <a:rPr lang="en-US" altLang="zh-CN"/>
              <a:t>GE0/0/1</a:t>
            </a:r>
            <a:r>
              <a:rPr lang="zh-CN" altLang="en-US"/>
              <a:t>端口为指定端口，</a:t>
            </a:r>
            <a:r>
              <a:rPr lang="en-US" altLang="zh-CN"/>
              <a:t>SW2</a:t>
            </a:r>
            <a:r>
              <a:rPr lang="zh-CN" altLang="en-US"/>
              <a:t>的</a:t>
            </a:r>
            <a:r>
              <a:rPr lang="en-US" altLang="zh-CN"/>
              <a:t>GE0/0/2</a:t>
            </a:r>
            <a:r>
              <a:rPr lang="zh-CN" altLang="en-US"/>
              <a:t>端口接收到</a:t>
            </a:r>
            <a:r>
              <a:rPr lang="en-US" altLang="zh-CN"/>
              <a:t>SW3</a:t>
            </a:r>
            <a:r>
              <a:rPr lang="zh-CN" altLang="en-US"/>
              <a:t>的配置</a:t>
            </a:r>
            <a:r>
              <a:rPr lang="en-US" altLang="zh-CN"/>
              <a:t>BPDU</a:t>
            </a:r>
            <a:r>
              <a:rPr lang="zh-CN" altLang="en-US"/>
              <a:t>，比较</a:t>
            </a:r>
            <a:r>
              <a:rPr lang="en-US" altLang="zh-CN"/>
              <a:t>BID</a:t>
            </a:r>
            <a:r>
              <a:rPr lang="zh-CN" altLang="en-US"/>
              <a:t>，</a:t>
            </a:r>
            <a:r>
              <a:rPr lang="en-US" altLang="zh-CN"/>
              <a:t>SW2</a:t>
            </a:r>
            <a:r>
              <a:rPr lang="zh-CN" altLang="en-US"/>
              <a:t>比</a:t>
            </a:r>
            <a:r>
              <a:rPr lang="en-US" altLang="zh-CN"/>
              <a:t>SW3</a:t>
            </a:r>
            <a:r>
              <a:rPr lang="zh-CN" altLang="en-US"/>
              <a:t>的</a:t>
            </a:r>
            <a:r>
              <a:rPr lang="en-US" altLang="zh-CN"/>
              <a:t>BID</a:t>
            </a:r>
            <a:r>
              <a:rPr lang="zh-CN" altLang="en-US"/>
              <a:t>更优，所以</a:t>
            </a:r>
            <a:r>
              <a:rPr lang="en-US" altLang="zh-CN"/>
              <a:t>SW2</a:t>
            </a:r>
            <a:r>
              <a:rPr lang="zh-CN" altLang="en-US"/>
              <a:t>的</a:t>
            </a:r>
            <a:r>
              <a:rPr lang="en-US" altLang="zh-CN"/>
              <a:t>GE0/0/2</a:t>
            </a:r>
            <a:r>
              <a:rPr lang="zh-CN" altLang="en-US"/>
              <a:t>端口为指定端口；</a:t>
            </a:r>
            <a:endParaRPr lang="en-US" altLang="zh-CN"/>
          </a:p>
          <a:p>
            <a:r>
              <a:rPr lang="zh-CN" altLang="en-US"/>
              <a:t>最终非根端口，非指定端口的</a:t>
            </a:r>
            <a:r>
              <a:rPr lang="en-US" altLang="zh-CN"/>
              <a:t>SW3</a:t>
            </a:r>
            <a:r>
              <a:rPr lang="zh-CN" altLang="en-US"/>
              <a:t>的</a:t>
            </a:r>
            <a:r>
              <a:rPr lang="en-US" altLang="zh-CN"/>
              <a:t>GE0/0/2</a:t>
            </a:r>
            <a:r>
              <a:rPr lang="zh-CN" altLang="en-US"/>
              <a:t>端口为预备端口。</a:t>
            </a:r>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如图，首先选举根桥，四台交换机的桥优先级相同，则比较桥</a:t>
            </a:r>
            <a:r>
              <a:rPr lang="en-US" altLang="zh-CN" dirty="0"/>
              <a:t>MAC</a:t>
            </a:r>
            <a:r>
              <a:rPr lang="zh-CN" altLang="en-US" dirty="0"/>
              <a:t>地址，谁小谁优先，最终选举</a:t>
            </a:r>
            <a:r>
              <a:rPr lang="en-US" altLang="zh-CN" dirty="0"/>
              <a:t>SW1</a:t>
            </a:r>
            <a:r>
              <a:rPr lang="zh-CN" altLang="en-US" dirty="0"/>
              <a:t>为根桥；</a:t>
            </a:r>
            <a:endParaRPr lang="en-US" altLang="zh-CN" dirty="0"/>
          </a:p>
          <a:p>
            <a:pPr lvl="0"/>
            <a:r>
              <a:rPr lang="zh-CN" altLang="en-US" dirty="0"/>
              <a:t>其次选举根端口，</a:t>
            </a:r>
            <a:r>
              <a:rPr lang="en-US" altLang="zh-CN" dirty="0"/>
              <a:t>SW2</a:t>
            </a:r>
            <a:r>
              <a:rPr lang="zh-CN" altLang="en-US" dirty="0"/>
              <a:t>上</a:t>
            </a:r>
            <a:r>
              <a:rPr lang="en-US" altLang="zh-CN" dirty="0"/>
              <a:t>GE0/0/1</a:t>
            </a:r>
            <a:r>
              <a:rPr lang="zh-CN" altLang="en-US" dirty="0"/>
              <a:t>距离根桥最近，</a:t>
            </a:r>
            <a:r>
              <a:rPr lang="en-US" altLang="zh-CN" dirty="0"/>
              <a:t>RPC</a:t>
            </a:r>
            <a:r>
              <a:rPr lang="zh-CN" altLang="en-US" dirty="0"/>
              <a:t>最小，所以</a:t>
            </a:r>
            <a:r>
              <a:rPr lang="en-US" altLang="zh-CN" dirty="0"/>
              <a:t>SW2</a:t>
            </a:r>
            <a:r>
              <a:rPr lang="zh-CN" altLang="en-US" dirty="0"/>
              <a:t>的</a:t>
            </a:r>
            <a:r>
              <a:rPr lang="en-US" altLang="zh-CN" dirty="0"/>
              <a:t>GE0/0/1</a:t>
            </a:r>
            <a:r>
              <a:rPr lang="zh-CN" altLang="en-US" dirty="0"/>
              <a:t>为根端口，同理</a:t>
            </a:r>
            <a:r>
              <a:rPr lang="en-US" altLang="zh-CN" dirty="0"/>
              <a:t>SW3</a:t>
            </a:r>
            <a:r>
              <a:rPr lang="zh-CN" altLang="en-US" dirty="0"/>
              <a:t>的</a:t>
            </a:r>
            <a:r>
              <a:rPr lang="en-US" altLang="zh-CN" dirty="0"/>
              <a:t>GE0/0/2</a:t>
            </a:r>
            <a:r>
              <a:rPr lang="zh-CN" altLang="en-US" dirty="0"/>
              <a:t>也为根端口，</a:t>
            </a:r>
            <a:r>
              <a:rPr lang="en-US" altLang="zh-CN" dirty="0"/>
              <a:t>SW4</a:t>
            </a:r>
            <a:r>
              <a:rPr lang="zh-CN" altLang="en-US" dirty="0"/>
              <a:t>的两个端口</a:t>
            </a:r>
            <a:r>
              <a:rPr lang="en-US" altLang="zh-CN" dirty="0"/>
              <a:t>RPC</a:t>
            </a:r>
            <a:r>
              <a:rPr lang="zh-CN" altLang="en-US" dirty="0"/>
              <a:t>相同，然后比较</a:t>
            </a:r>
            <a:r>
              <a:rPr lang="en-US" altLang="zh-CN" dirty="0"/>
              <a:t>SW4</a:t>
            </a:r>
            <a:r>
              <a:rPr lang="zh-CN" altLang="en-US" dirty="0"/>
              <a:t>的</a:t>
            </a:r>
            <a:r>
              <a:rPr lang="en-US" altLang="zh-CN" dirty="0"/>
              <a:t>G0/0/1</a:t>
            </a:r>
            <a:r>
              <a:rPr lang="zh-CN" altLang="en-US" dirty="0"/>
              <a:t>对应的交换机</a:t>
            </a:r>
            <a:r>
              <a:rPr lang="en-US" altLang="zh-CN" dirty="0"/>
              <a:t>SW2</a:t>
            </a:r>
            <a:r>
              <a:rPr lang="zh-CN" altLang="en-US" dirty="0"/>
              <a:t>的</a:t>
            </a:r>
            <a:r>
              <a:rPr lang="en-US" altLang="zh-CN" dirty="0"/>
              <a:t>BID</a:t>
            </a:r>
            <a:r>
              <a:rPr lang="zh-CN" altLang="en-US" dirty="0"/>
              <a:t>与</a:t>
            </a:r>
            <a:r>
              <a:rPr lang="en-US" altLang="zh-CN" dirty="0"/>
              <a:t>G0/0/2</a:t>
            </a:r>
            <a:r>
              <a:rPr lang="zh-CN" altLang="en-US" dirty="0"/>
              <a:t>对应的交换机</a:t>
            </a:r>
            <a:r>
              <a:rPr lang="en-US" altLang="zh-CN" dirty="0"/>
              <a:t>SW3</a:t>
            </a:r>
            <a:r>
              <a:rPr lang="zh-CN" altLang="en-US" dirty="0"/>
              <a:t>的</a:t>
            </a:r>
            <a:r>
              <a:rPr lang="en-US" altLang="zh-CN" dirty="0"/>
              <a:t>BID</a:t>
            </a:r>
            <a:r>
              <a:rPr lang="zh-CN" altLang="en-US" dirty="0"/>
              <a:t>，谁小谁优先，最终选举出</a:t>
            </a:r>
            <a:r>
              <a:rPr lang="en-US" altLang="zh-CN" dirty="0"/>
              <a:t>SW4</a:t>
            </a:r>
            <a:r>
              <a:rPr lang="zh-CN" altLang="en-US" dirty="0"/>
              <a:t>的</a:t>
            </a:r>
            <a:r>
              <a:rPr lang="en-US" altLang="zh-CN" dirty="0"/>
              <a:t>GE0/0/1</a:t>
            </a:r>
            <a:r>
              <a:rPr lang="zh-CN" altLang="en-US" dirty="0"/>
              <a:t>端口为根端口；</a:t>
            </a:r>
            <a:endParaRPr lang="en-US" altLang="zh-CN" dirty="0"/>
          </a:p>
          <a:p>
            <a:pPr lvl="0"/>
            <a:r>
              <a:rPr lang="zh-CN" altLang="en-US" dirty="0"/>
              <a:t>然后选举指定端口，</a:t>
            </a:r>
            <a:r>
              <a:rPr lang="en-US" altLang="zh-CN" dirty="0"/>
              <a:t>SW1</a:t>
            </a:r>
            <a:r>
              <a:rPr lang="zh-CN" altLang="en-US" dirty="0"/>
              <a:t>为根桥，所以</a:t>
            </a:r>
            <a:r>
              <a:rPr lang="en-US" altLang="zh-CN" dirty="0"/>
              <a:t>SW1</a:t>
            </a:r>
            <a:r>
              <a:rPr lang="zh-CN" altLang="en-US" dirty="0"/>
              <a:t>上的</a:t>
            </a:r>
            <a:r>
              <a:rPr lang="en-US" altLang="zh-CN" dirty="0"/>
              <a:t>GE0/0/0</a:t>
            </a:r>
            <a:r>
              <a:rPr lang="zh-CN" altLang="en-US" dirty="0"/>
              <a:t>和</a:t>
            </a:r>
            <a:r>
              <a:rPr lang="en-US" altLang="zh-CN" dirty="0"/>
              <a:t>GE0/0/1</a:t>
            </a:r>
            <a:r>
              <a:rPr lang="zh-CN" altLang="en-US" dirty="0"/>
              <a:t>端口为指定端口，</a:t>
            </a:r>
            <a:r>
              <a:rPr lang="en-US" altLang="zh-CN" dirty="0"/>
              <a:t>SW2</a:t>
            </a:r>
            <a:r>
              <a:rPr lang="zh-CN" altLang="en-US" dirty="0"/>
              <a:t>的</a:t>
            </a:r>
            <a:r>
              <a:rPr lang="en-US" altLang="zh-CN" dirty="0"/>
              <a:t>GE0/0/2</a:t>
            </a:r>
            <a:r>
              <a:rPr lang="zh-CN" altLang="en-US" dirty="0"/>
              <a:t>端口接收到</a:t>
            </a:r>
            <a:r>
              <a:rPr lang="en-US" altLang="zh-CN" dirty="0"/>
              <a:t>SW4</a:t>
            </a:r>
            <a:r>
              <a:rPr lang="zh-CN" altLang="en-US" dirty="0"/>
              <a:t>的配置</a:t>
            </a:r>
            <a:r>
              <a:rPr lang="en-US" altLang="zh-CN" dirty="0"/>
              <a:t>BPDU</a:t>
            </a:r>
            <a:r>
              <a:rPr lang="zh-CN" altLang="en-US" dirty="0"/>
              <a:t>，比较</a:t>
            </a:r>
            <a:r>
              <a:rPr lang="en-US" altLang="zh-CN" dirty="0"/>
              <a:t>BID</a:t>
            </a:r>
            <a:r>
              <a:rPr lang="zh-CN" altLang="en-US" dirty="0"/>
              <a:t>，</a:t>
            </a:r>
            <a:r>
              <a:rPr lang="en-US" altLang="zh-CN" dirty="0"/>
              <a:t>SW2</a:t>
            </a:r>
            <a:r>
              <a:rPr lang="zh-CN" altLang="en-US" dirty="0"/>
              <a:t>比</a:t>
            </a:r>
            <a:r>
              <a:rPr lang="en-US" altLang="zh-CN" dirty="0"/>
              <a:t>SW4</a:t>
            </a:r>
            <a:r>
              <a:rPr lang="zh-CN" altLang="en-US" dirty="0"/>
              <a:t>的</a:t>
            </a:r>
            <a:r>
              <a:rPr lang="en-US" altLang="zh-CN" dirty="0"/>
              <a:t>BID</a:t>
            </a:r>
            <a:r>
              <a:rPr lang="zh-CN" altLang="en-US" dirty="0"/>
              <a:t>更优，所以</a:t>
            </a:r>
            <a:r>
              <a:rPr lang="en-US" altLang="zh-CN" dirty="0"/>
              <a:t>SW2</a:t>
            </a:r>
            <a:r>
              <a:rPr lang="zh-CN" altLang="en-US" dirty="0"/>
              <a:t>的</a:t>
            </a:r>
            <a:r>
              <a:rPr lang="en-US" altLang="zh-CN" dirty="0"/>
              <a:t>GE0/0/2</a:t>
            </a:r>
            <a:r>
              <a:rPr lang="zh-CN" altLang="en-US" dirty="0"/>
              <a:t>端口为指定端口，同理可得</a:t>
            </a:r>
            <a:r>
              <a:rPr lang="en-US" altLang="zh-CN" dirty="0"/>
              <a:t>SW3</a:t>
            </a:r>
            <a:r>
              <a:rPr lang="zh-CN" altLang="en-US" dirty="0"/>
              <a:t>的</a:t>
            </a:r>
            <a:r>
              <a:rPr lang="en-US" altLang="zh-CN" dirty="0"/>
              <a:t>GE0/0/1</a:t>
            </a:r>
            <a:r>
              <a:rPr lang="zh-CN" altLang="en-US" dirty="0"/>
              <a:t>端口为指定端口；</a:t>
            </a:r>
            <a:endParaRPr lang="en-US" altLang="zh-CN" dirty="0"/>
          </a:p>
          <a:p>
            <a:pPr lvl="0"/>
            <a:r>
              <a:rPr lang="zh-CN" altLang="en-US" dirty="0"/>
              <a:t>最终非根端口，非指定端口的</a:t>
            </a:r>
            <a:r>
              <a:rPr lang="en-US" altLang="zh-CN" dirty="0"/>
              <a:t>SW4</a:t>
            </a:r>
            <a:r>
              <a:rPr lang="zh-CN" altLang="en-US" dirty="0"/>
              <a:t>的</a:t>
            </a:r>
            <a:r>
              <a:rPr lang="en-US" altLang="zh-CN" dirty="0"/>
              <a:t>GE0/0/2</a:t>
            </a:r>
            <a:r>
              <a:rPr lang="zh-CN" altLang="en-US" dirty="0"/>
              <a:t>端口为预备端口。</a:t>
            </a:r>
          </a:p>
        </p:txBody>
      </p:sp>
      <p:sp>
        <p:nvSpPr>
          <p:cNvPr id="5" name="幻灯片图像占位符 4"/>
          <p:cNvSpPr>
            <a:spLocks noGrp="1" noRot="1" noChangeAspect="1"/>
          </p:cNvSpPr>
          <p:nvPr>
            <p:ph type="sldImg"/>
          </p:nvPr>
        </p:nvSpPr>
        <p:spPr>
          <a:xfrm>
            <a:off x="431800" y="779463"/>
            <a:ext cx="5934075" cy="3338512"/>
          </a:xfr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如图，首先选举根桥，两台交换机的桥优先级相同，则比较桥</a:t>
            </a:r>
            <a:r>
              <a:rPr lang="en-US" altLang="zh-CN"/>
              <a:t>MAC</a:t>
            </a:r>
            <a:r>
              <a:rPr lang="zh-CN" altLang="en-US"/>
              <a:t>地址，谁小谁优先，最终选举</a:t>
            </a:r>
            <a:r>
              <a:rPr lang="en-US" altLang="zh-CN"/>
              <a:t>SW1</a:t>
            </a:r>
            <a:r>
              <a:rPr lang="zh-CN" altLang="en-US"/>
              <a:t>为根桥；</a:t>
            </a:r>
            <a:endParaRPr lang="en-US" altLang="zh-CN"/>
          </a:p>
          <a:p>
            <a:pPr lvl="0"/>
            <a:r>
              <a:rPr lang="zh-CN" altLang="en-US"/>
              <a:t>其次选举根端口，</a:t>
            </a:r>
            <a:r>
              <a:rPr lang="en-US" altLang="zh-CN"/>
              <a:t>SW2</a:t>
            </a:r>
            <a:r>
              <a:rPr lang="zh-CN" altLang="en-US"/>
              <a:t>上两个端口</a:t>
            </a:r>
            <a:r>
              <a:rPr lang="en-US" altLang="zh-CN"/>
              <a:t>RPC</a:t>
            </a:r>
            <a:r>
              <a:rPr lang="zh-CN" altLang="en-US"/>
              <a:t>相同，再比较两个接口对端的</a:t>
            </a:r>
            <a:r>
              <a:rPr lang="en-US" altLang="zh-CN"/>
              <a:t>BID</a:t>
            </a:r>
            <a:r>
              <a:rPr lang="zh-CN" altLang="en-US"/>
              <a:t>也相同，然后比较两个端口对端的</a:t>
            </a:r>
            <a:r>
              <a:rPr lang="en-US" altLang="zh-CN"/>
              <a:t>PID</a:t>
            </a:r>
            <a:r>
              <a:rPr lang="zh-CN" altLang="en-US"/>
              <a:t>，</a:t>
            </a:r>
            <a:r>
              <a:rPr lang="en-US" altLang="zh-CN"/>
              <a:t>SW2</a:t>
            </a:r>
            <a:r>
              <a:rPr lang="zh-CN" altLang="en-US"/>
              <a:t>的</a:t>
            </a:r>
            <a:r>
              <a:rPr lang="en-US" altLang="zh-CN"/>
              <a:t>G0/0/1</a:t>
            </a:r>
            <a:r>
              <a:rPr lang="zh-CN" altLang="en-US"/>
              <a:t>的对端</a:t>
            </a:r>
            <a:r>
              <a:rPr lang="en-US" altLang="zh-CN"/>
              <a:t>PID</a:t>
            </a:r>
            <a:r>
              <a:rPr lang="zh-CN" altLang="en-US"/>
              <a:t>：</a:t>
            </a:r>
            <a:r>
              <a:rPr lang="en-US" altLang="zh-CN"/>
              <a:t>128.1</a:t>
            </a:r>
            <a:r>
              <a:rPr lang="zh-CN" altLang="en-US"/>
              <a:t>，</a:t>
            </a:r>
            <a:r>
              <a:rPr lang="en-US" altLang="zh-CN"/>
              <a:t>SW2</a:t>
            </a:r>
            <a:r>
              <a:rPr lang="zh-CN" altLang="en-US"/>
              <a:t>的</a:t>
            </a:r>
            <a:r>
              <a:rPr lang="en-US" altLang="zh-CN"/>
              <a:t>G0/0/2</a:t>
            </a:r>
            <a:r>
              <a:rPr lang="zh-CN" altLang="en-US"/>
              <a:t>的对端</a:t>
            </a:r>
            <a:r>
              <a:rPr lang="en-US" altLang="zh-CN"/>
              <a:t>PID</a:t>
            </a:r>
            <a:r>
              <a:rPr lang="zh-CN" altLang="en-US"/>
              <a:t>：</a:t>
            </a:r>
            <a:r>
              <a:rPr lang="en-US" altLang="zh-CN"/>
              <a:t>128.2</a:t>
            </a:r>
            <a:r>
              <a:rPr lang="zh-CN" altLang="en-US"/>
              <a:t>，越小越优先，所以</a:t>
            </a:r>
            <a:r>
              <a:rPr lang="en-US" altLang="zh-CN"/>
              <a:t>SW2</a:t>
            </a:r>
            <a:r>
              <a:rPr lang="zh-CN" altLang="en-US"/>
              <a:t>的</a:t>
            </a:r>
            <a:r>
              <a:rPr lang="en-US" altLang="zh-CN"/>
              <a:t>G0/0/1</a:t>
            </a:r>
            <a:r>
              <a:rPr lang="zh-CN" altLang="en-US"/>
              <a:t>为根端口；</a:t>
            </a:r>
            <a:endParaRPr lang="en-US" altLang="zh-CN"/>
          </a:p>
          <a:p>
            <a:pPr lvl="0"/>
            <a:r>
              <a:rPr lang="zh-CN" altLang="en-US"/>
              <a:t>然后选举指定端口，</a:t>
            </a:r>
            <a:r>
              <a:rPr lang="en-US" altLang="zh-CN"/>
              <a:t>SW1</a:t>
            </a:r>
            <a:r>
              <a:rPr lang="zh-CN" altLang="en-US"/>
              <a:t>为根桥，所以</a:t>
            </a:r>
            <a:r>
              <a:rPr lang="en-US" altLang="zh-CN"/>
              <a:t>SW1</a:t>
            </a:r>
            <a:r>
              <a:rPr lang="zh-CN" altLang="en-US"/>
              <a:t>上的</a:t>
            </a:r>
            <a:r>
              <a:rPr lang="en-US" altLang="zh-CN"/>
              <a:t>GE0/0/1</a:t>
            </a:r>
            <a:r>
              <a:rPr lang="zh-CN" altLang="en-US"/>
              <a:t>和</a:t>
            </a:r>
            <a:r>
              <a:rPr lang="en-US" altLang="zh-CN"/>
              <a:t>GE0/0/2</a:t>
            </a:r>
            <a:r>
              <a:rPr lang="zh-CN" altLang="en-US"/>
              <a:t>端口为指定端口；</a:t>
            </a:r>
            <a:endParaRPr lang="en-US" altLang="zh-CN"/>
          </a:p>
          <a:p>
            <a:pPr lvl="0"/>
            <a:r>
              <a:rPr lang="zh-CN" altLang="en-US"/>
              <a:t>最终非根端口，非指定端口的</a:t>
            </a:r>
            <a:r>
              <a:rPr lang="en-US" altLang="zh-CN"/>
              <a:t>SW2</a:t>
            </a:r>
            <a:r>
              <a:rPr lang="zh-CN" altLang="en-US"/>
              <a:t>的</a:t>
            </a:r>
            <a:r>
              <a:rPr lang="en-US" altLang="zh-CN"/>
              <a:t>GE0/0/2</a:t>
            </a:r>
            <a:r>
              <a:rPr lang="zh-CN" altLang="en-US"/>
              <a:t>端口为预备端口。</a:t>
            </a:r>
          </a:p>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图中所示为</a:t>
            </a:r>
            <a:r>
              <a:rPr lang="en-US" altLang="zh-CN"/>
              <a:t>STP</a:t>
            </a:r>
            <a:r>
              <a:rPr lang="zh-CN" altLang="en-US"/>
              <a:t>的端口状态迁移机制，运行</a:t>
            </a:r>
            <a:r>
              <a:rPr lang="en-US" altLang="zh-CN"/>
              <a:t>STP</a:t>
            </a:r>
            <a:r>
              <a:rPr lang="zh-CN" altLang="en-US"/>
              <a:t>协议的设备上端口状态有</a:t>
            </a:r>
            <a:r>
              <a:rPr lang="en-US" altLang="zh-CN"/>
              <a:t>5</a:t>
            </a:r>
            <a:r>
              <a:rPr lang="zh-CN" altLang="en-US"/>
              <a:t>种：</a:t>
            </a:r>
            <a:endParaRPr lang="en-US" altLang="zh-CN"/>
          </a:p>
          <a:p>
            <a:pPr lvl="1"/>
            <a:r>
              <a:rPr lang="en-US" altLang="zh-CN"/>
              <a:t>Forwarding</a:t>
            </a:r>
            <a:r>
              <a:rPr lang="zh-CN" altLang="en-US"/>
              <a:t>：转发状态。端口既可转发用户流量也可转发</a:t>
            </a:r>
            <a:r>
              <a:rPr lang="en-US" altLang="zh-CN"/>
              <a:t>BPDU</a:t>
            </a:r>
            <a:r>
              <a:rPr lang="zh-CN" altLang="en-US"/>
              <a:t>报文，只有根端口或指定端口才能进入</a:t>
            </a:r>
            <a:r>
              <a:rPr lang="en-US" altLang="zh-CN"/>
              <a:t>Forwarding</a:t>
            </a:r>
            <a:r>
              <a:rPr lang="zh-CN" altLang="en-US"/>
              <a:t>状态。</a:t>
            </a:r>
            <a:endParaRPr lang="en-US" altLang="zh-CN"/>
          </a:p>
          <a:p>
            <a:pPr lvl="1"/>
            <a:r>
              <a:rPr lang="en-US" altLang="zh-CN"/>
              <a:t>Learning</a:t>
            </a:r>
            <a:r>
              <a:rPr lang="zh-CN" altLang="en-US"/>
              <a:t>：学习状态。端口可根据收到的用户流量构建</a:t>
            </a:r>
            <a:r>
              <a:rPr lang="en-US" altLang="zh-CN"/>
              <a:t>MAC</a:t>
            </a:r>
            <a:r>
              <a:rPr lang="zh-CN" altLang="en-US"/>
              <a:t>地址表，但不转发用户流量。增加</a:t>
            </a:r>
            <a:r>
              <a:rPr lang="en-US" altLang="zh-CN"/>
              <a:t>Learning</a:t>
            </a:r>
            <a:r>
              <a:rPr lang="zh-CN" altLang="en-US"/>
              <a:t>状态是为了防止临时环路。</a:t>
            </a:r>
            <a:endParaRPr lang="en-US" altLang="zh-CN"/>
          </a:p>
          <a:p>
            <a:pPr lvl="1"/>
            <a:r>
              <a:rPr lang="en-US" altLang="zh-CN"/>
              <a:t>Listening</a:t>
            </a:r>
            <a:r>
              <a:rPr lang="zh-CN" altLang="en-US"/>
              <a:t>：侦听状态。端口可以转发</a:t>
            </a:r>
            <a:r>
              <a:rPr lang="en-US" altLang="zh-CN"/>
              <a:t>BPDU</a:t>
            </a:r>
            <a:r>
              <a:rPr lang="zh-CN" altLang="en-US"/>
              <a:t>报文，但不能转发用户流量。</a:t>
            </a:r>
            <a:endParaRPr lang="en-US" altLang="zh-CN"/>
          </a:p>
          <a:p>
            <a:pPr lvl="1"/>
            <a:r>
              <a:rPr lang="en-US" altLang="zh-CN"/>
              <a:t>Blocking</a:t>
            </a:r>
            <a:r>
              <a:rPr lang="zh-CN" altLang="en-US"/>
              <a:t>：阻塞状态。端口仅仅能接收并处理</a:t>
            </a:r>
            <a:r>
              <a:rPr lang="en-US" altLang="zh-CN"/>
              <a:t>BPDU</a:t>
            </a:r>
            <a:r>
              <a:rPr lang="zh-CN" altLang="en-US"/>
              <a:t>，不能转发</a:t>
            </a:r>
            <a:r>
              <a:rPr lang="en-US" altLang="zh-CN"/>
              <a:t>BPDU</a:t>
            </a:r>
            <a:r>
              <a:rPr lang="zh-CN" altLang="en-US"/>
              <a:t>，也不能转发用户流量。此状态是预备端口的最终状态。</a:t>
            </a:r>
            <a:endParaRPr lang="en-US" altLang="zh-CN"/>
          </a:p>
          <a:p>
            <a:pPr lvl="1"/>
            <a:r>
              <a:rPr lang="en-US" altLang="zh-CN"/>
              <a:t>Disabled</a:t>
            </a:r>
            <a:r>
              <a:rPr lang="zh-CN" altLang="en-US"/>
              <a:t>：禁用状态。端口既不处理和转发</a:t>
            </a:r>
            <a:r>
              <a:rPr lang="en-US" altLang="zh-CN"/>
              <a:t>BPDU</a:t>
            </a:r>
            <a:r>
              <a:rPr lang="zh-CN" altLang="en-US"/>
              <a:t>报文，也不转发用户流量。</a:t>
            </a:r>
          </a:p>
          <a:p>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根桥故障：</a:t>
            </a:r>
            <a:endParaRPr lang="en-US" altLang="zh-CN"/>
          </a:p>
          <a:p>
            <a:pPr lvl="1"/>
            <a:r>
              <a:rPr lang="zh-CN" altLang="en-US"/>
              <a:t>在稳定的</a:t>
            </a:r>
            <a:r>
              <a:rPr lang="en-US" altLang="zh-CN"/>
              <a:t>STP</a:t>
            </a:r>
            <a:r>
              <a:rPr lang="zh-CN" altLang="en-US"/>
              <a:t>网络，非根桥会定期收到来自根桥的</a:t>
            </a:r>
            <a:r>
              <a:rPr lang="en-US" altLang="zh-CN"/>
              <a:t>BPDU</a:t>
            </a:r>
            <a:r>
              <a:rPr lang="zh-CN" altLang="en-US"/>
              <a:t>报文。</a:t>
            </a:r>
          </a:p>
          <a:p>
            <a:pPr lvl="1"/>
            <a:r>
              <a:rPr lang="zh-CN" altLang="en-US"/>
              <a:t>如果根桥发生了故障，停止发送</a:t>
            </a:r>
            <a:r>
              <a:rPr lang="en-US" altLang="zh-CN"/>
              <a:t>BPDU</a:t>
            </a:r>
            <a:r>
              <a:rPr lang="zh-CN" altLang="en-US"/>
              <a:t>，下游交换机就无法收到来自根桥的</a:t>
            </a:r>
            <a:r>
              <a:rPr lang="en-US" altLang="zh-CN"/>
              <a:t>BPDU</a:t>
            </a:r>
            <a:r>
              <a:rPr lang="zh-CN" altLang="en-US"/>
              <a:t>报文。</a:t>
            </a:r>
          </a:p>
          <a:p>
            <a:pPr lvl="1"/>
            <a:r>
              <a:rPr lang="zh-CN" altLang="en-US"/>
              <a:t>如果下游交换机一直收不到</a:t>
            </a:r>
            <a:r>
              <a:rPr lang="en-US" altLang="zh-CN"/>
              <a:t>BPDU</a:t>
            </a:r>
            <a:r>
              <a:rPr lang="zh-CN" altLang="en-US"/>
              <a:t>报文，</a:t>
            </a:r>
            <a:r>
              <a:rPr lang="en-US" altLang="zh-CN"/>
              <a:t>Max Age</a:t>
            </a:r>
            <a:r>
              <a:rPr lang="zh-CN" altLang="en-US"/>
              <a:t>计时器（缺省</a:t>
            </a:r>
            <a:r>
              <a:rPr lang="en-US" altLang="zh-CN"/>
              <a:t>: 20s</a:t>
            </a:r>
            <a:r>
              <a:rPr lang="zh-CN" altLang="en-US"/>
              <a:t>）就会超时，从而导致已经收到的</a:t>
            </a:r>
            <a:r>
              <a:rPr lang="en-US" altLang="zh-CN"/>
              <a:t>BPDU</a:t>
            </a:r>
            <a:r>
              <a:rPr lang="zh-CN" altLang="en-US"/>
              <a:t>报文失效，此时，非根桥会互相发送配置</a:t>
            </a:r>
            <a:r>
              <a:rPr lang="en-US" altLang="zh-CN"/>
              <a:t>BPDU</a:t>
            </a:r>
            <a:r>
              <a:rPr lang="zh-CN" altLang="en-US"/>
              <a:t>，重新选举新的根桥。</a:t>
            </a:r>
          </a:p>
          <a:p>
            <a:r>
              <a:rPr lang="zh-CN" altLang="en-US"/>
              <a:t>端口状态：</a:t>
            </a:r>
            <a:endParaRPr lang="en-US" altLang="zh-CN"/>
          </a:p>
          <a:p>
            <a:pPr lvl="1"/>
            <a:r>
              <a:rPr lang="en-US" altLang="zh-CN"/>
              <a:t>SW3</a:t>
            </a:r>
            <a:r>
              <a:rPr lang="zh-CN" altLang="en-US"/>
              <a:t>的预备端口，</a:t>
            </a:r>
            <a:r>
              <a:rPr lang="en-US" altLang="zh-CN"/>
              <a:t>20s</a:t>
            </a:r>
            <a:r>
              <a:rPr lang="zh-CN" altLang="en-US"/>
              <a:t>后会从</a:t>
            </a:r>
            <a:r>
              <a:rPr lang="en-US" altLang="zh-CN"/>
              <a:t>Blocking</a:t>
            </a:r>
            <a:r>
              <a:rPr lang="zh-CN" altLang="en-US"/>
              <a:t>状态进入到</a:t>
            </a:r>
            <a:r>
              <a:rPr lang="en-US" altLang="zh-CN"/>
              <a:t>Listening</a:t>
            </a:r>
            <a:r>
              <a:rPr lang="zh-CN" altLang="en-US"/>
              <a:t>状态，再进入</a:t>
            </a:r>
            <a:r>
              <a:rPr lang="en-US" altLang="zh-CN"/>
              <a:t>Learning</a:t>
            </a:r>
            <a:r>
              <a:rPr lang="zh-CN" altLang="en-US"/>
              <a:t>状态，最终进入到</a:t>
            </a:r>
            <a:r>
              <a:rPr lang="en-US" altLang="zh-CN"/>
              <a:t>Forwarding</a:t>
            </a:r>
            <a:r>
              <a:rPr lang="zh-CN" altLang="en-US"/>
              <a:t>状态，进行用户流量的转发。</a:t>
            </a:r>
          </a:p>
          <a:p>
            <a:r>
              <a:rPr lang="zh-CN" altLang="en-US"/>
              <a:t>收敛时间：</a:t>
            </a:r>
            <a:endParaRPr lang="en-US" altLang="zh-CN"/>
          </a:p>
          <a:p>
            <a:pPr lvl="1"/>
            <a:r>
              <a:rPr lang="zh-CN" altLang="en-US"/>
              <a:t>根桥故障会导致</a:t>
            </a:r>
            <a:r>
              <a:rPr lang="en-US" altLang="zh-CN"/>
              <a:t>50s</a:t>
            </a:r>
            <a:r>
              <a:rPr lang="zh-CN" altLang="en-US"/>
              <a:t>左右的恢复时间，等于</a:t>
            </a:r>
            <a:r>
              <a:rPr lang="en-US" altLang="zh-CN"/>
              <a:t>Max Age</a:t>
            </a:r>
            <a:r>
              <a:rPr lang="zh-CN" altLang="en-US"/>
              <a:t>加上</a:t>
            </a:r>
            <a:r>
              <a:rPr lang="en-US" altLang="zh-CN"/>
              <a:t>2</a:t>
            </a:r>
            <a:r>
              <a:rPr lang="zh-CN" altLang="en-US"/>
              <a:t>倍的</a:t>
            </a:r>
            <a:r>
              <a:rPr lang="en-US" altLang="zh-CN"/>
              <a:t>Forward Delay</a:t>
            </a:r>
            <a:r>
              <a:rPr lang="zh-CN" altLang="en-US"/>
              <a:t>收敛时间。</a:t>
            </a:r>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直连链路故障：</a:t>
            </a:r>
          </a:p>
          <a:p>
            <a:pPr lvl="1"/>
            <a:r>
              <a:rPr lang="zh-CN" altLang="en-US"/>
              <a:t>当两台交换机间用两条链路互连时，其中一条是主用链路，另一条为备用链路。</a:t>
            </a:r>
          </a:p>
          <a:p>
            <a:pPr lvl="1"/>
            <a:r>
              <a:rPr lang="zh-CN" altLang="en-US"/>
              <a:t>当网络稳定时，交换机</a:t>
            </a:r>
            <a:r>
              <a:rPr lang="en-US" altLang="zh-CN"/>
              <a:t>SWB</a:t>
            </a:r>
            <a:r>
              <a:rPr lang="zh-CN" altLang="en-US"/>
              <a:t>检测到根端口的链路发生故障，则其备用端口会进入用户流量转发状态。</a:t>
            </a:r>
          </a:p>
          <a:p>
            <a:r>
              <a:rPr lang="zh-CN" altLang="en-US"/>
              <a:t>端口状态：</a:t>
            </a:r>
          </a:p>
          <a:p>
            <a:pPr lvl="1"/>
            <a:r>
              <a:rPr lang="zh-CN" altLang="en-US"/>
              <a:t>备用端口会从</a:t>
            </a:r>
            <a:r>
              <a:rPr lang="en-US" altLang="zh-CN"/>
              <a:t>Blocking</a:t>
            </a:r>
            <a:r>
              <a:rPr lang="zh-CN" altLang="en-US"/>
              <a:t>状态，迁移到</a:t>
            </a:r>
            <a:r>
              <a:rPr lang="en-US" altLang="zh-CN"/>
              <a:t>Listening-Learning-Forwarding</a:t>
            </a:r>
            <a:r>
              <a:rPr lang="zh-CN" altLang="en-US"/>
              <a:t>状态。</a:t>
            </a:r>
          </a:p>
          <a:p>
            <a:pPr lvl="1"/>
            <a:r>
              <a:rPr lang="zh-CN" altLang="en-US"/>
              <a:t>收敛时间：</a:t>
            </a:r>
          </a:p>
          <a:p>
            <a:pPr lvl="1"/>
            <a:r>
              <a:rPr lang="zh-CN" altLang="en-US"/>
              <a:t>直连链路故障，备用端口会经过</a:t>
            </a:r>
            <a:r>
              <a:rPr lang="en-US" altLang="zh-CN"/>
              <a:t>30s</a:t>
            </a:r>
            <a:r>
              <a:rPr lang="zh-CN" altLang="en-US"/>
              <a:t>后恢复转发状态。</a:t>
            </a:r>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非直连故障</a:t>
            </a:r>
            <a:endParaRPr lang="en-US" altLang="zh-CN"/>
          </a:p>
          <a:p>
            <a:pPr lvl="1"/>
            <a:r>
              <a:rPr lang="zh-CN" altLang="zh-CN"/>
              <a:t>在稳定的</a:t>
            </a:r>
            <a:r>
              <a:rPr lang="en-US" altLang="zh-CN"/>
              <a:t>STP</a:t>
            </a:r>
            <a:r>
              <a:rPr lang="zh-CN" altLang="zh-CN"/>
              <a:t>网络，非根桥会定期收到来自根桥的</a:t>
            </a:r>
            <a:r>
              <a:rPr lang="en-US" altLang="zh-CN"/>
              <a:t>BPDU</a:t>
            </a:r>
            <a:r>
              <a:rPr lang="zh-CN" altLang="zh-CN"/>
              <a:t>报文。</a:t>
            </a:r>
          </a:p>
          <a:p>
            <a:pPr lvl="1"/>
            <a:r>
              <a:rPr lang="zh-CN" altLang="zh-CN"/>
              <a:t>若</a:t>
            </a:r>
            <a:r>
              <a:rPr lang="en-US" altLang="zh-CN"/>
              <a:t>SW1</a:t>
            </a:r>
            <a:r>
              <a:rPr lang="zh-CN" altLang="zh-CN"/>
              <a:t>与</a:t>
            </a:r>
            <a:r>
              <a:rPr lang="en-US" altLang="zh-CN"/>
              <a:t>SW2</a:t>
            </a:r>
            <a:r>
              <a:rPr lang="zh-CN" altLang="zh-CN"/>
              <a:t>之间的链路发生了某种故障（非物理故障），因此</a:t>
            </a:r>
            <a:r>
              <a:rPr lang="en-US" altLang="zh-CN"/>
              <a:t>SW2</a:t>
            </a:r>
            <a:r>
              <a:rPr lang="zh-CN" altLang="zh-CN"/>
              <a:t>一直收不到来自根桥</a:t>
            </a:r>
            <a:r>
              <a:rPr lang="en-US" altLang="zh-CN"/>
              <a:t>SW1</a:t>
            </a:r>
            <a:r>
              <a:rPr lang="zh-CN" altLang="zh-CN"/>
              <a:t>的</a:t>
            </a:r>
            <a:r>
              <a:rPr lang="en-US" altLang="zh-CN"/>
              <a:t>BPDU</a:t>
            </a:r>
            <a:r>
              <a:rPr lang="zh-CN" altLang="zh-CN"/>
              <a:t>报文，</a:t>
            </a:r>
            <a:r>
              <a:rPr lang="en-US" altLang="zh-CN"/>
              <a:t>Max Age</a:t>
            </a:r>
            <a:r>
              <a:rPr lang="zh-CN" altLang="zh-CN"/>
              <a:t>计时器（缺省</a:t>
            </a:r>
            <a:r>
              <a:rPr lang="en-US" altLang="zh-CN"/>
              <a:t>: 20 s</a:t>
            </a:r>
            <a:r>
              <a:rPr lang="zh-CN" altLang="zh-CN"/>
              <a:t>）就会超时，从而导致已经收到的</a:t>
            </a:r>
            <a:r>
              <a:rPr lang="en-US" altLang="zh-CN"/>
              <a:t>BPDU</a:t>
            </a:r>
            <a:r>
              <a:rPr lang="zh-CN" altLang="zh-CN"/>
              <a:t>报文失效。</a:t>
            </a:r>
          </a:p>
          <a:p>
            <a:pPr lvl="1"/>
            <a:r>
              <a:rPr lang="zh-CN" altLang="zh-CN"/>
              <a:t>此时，非根桥</a:t>
            </a:r>
            <a:r>
              <a:rPr lang="en-US" altLang="zh-CN"/>
              <a:t>SW2</a:t>
            </a:r>
            <a:r>
              <a:rPr lang="zh-CN" altLang="zh-CN"/>
              <a:t>会认为根桥失效，并且认为自己是根桥，从而发送自己的配置</a:t>
            </a:r>
            <a:r>
              <a:rPr lang="en-US" altLang="zh-CN"/>
              <a:t>BPDU</a:t>
            </a:r>
            <a:r>
              <a:rPr lang="zh-CN" altLang="zh-CN"/>
              <a:t>给</a:t>
            </a:r>
            <a:r>
              <a:rPr lang="en-US" altLang="zh-CN"/>
              <a:t>SW3</a:t>
            </a:r>
            <a:r>
              <a:rPr lang="zh-CN" altLang="zh-CN"/>
              <a:t>，通知</a:t>
            </a:r>
            <a:r>
              <a:rPr lang="en-US" altLang="zh-CN"/>
              <a:t>SW3</a:t>
            </a:r>
            <a:r>
              <a:rPr lang="zh-CN" altLang="zh-CN"/>
              <a:t>自己是新的根桥。</a:t>
            </a:r>
          </a:p>
          <a:p>
            <a:pPr lvl="1"/>
            <a:r>
              <a:rPr lang="zh-CN" altLang="zh-CN"/>
              <a:t>在此期间，</a:t>
            </a:r>
            <a:r>
              <a:rPr lang="en-US" altLang="zh-CN"/>
              <a:t>SW3</a:t>
            </a:r>
            <a:r>
              <a:rPr lang="zh-CN" altLang="zh-CN"/>
              <a:t>的</a:t>
            </a:r>
            <a:r>
              <a:rPr lang="zh-CN" altLang="en-US"/>
              <a:t>预备</a:t>
            </a:r>
            <a:r>
              <a:rPr lang="zh-CN" altLang="zh-CN"/>
              <a:t>端口一直收不到包含根桥</a:t>
            </a:r>
            <a:r>
              <a:rPr lang="en-US" altLang="zh-CN"/>
              <a:t>ID</a:t>
            </a:r>
            <a:r>
              <a:rPr lang="zh-CN" altLang="zh-CN"/>
              <a:t>的</a:t>
            </a:r>
            <a:r>
              <a:rPr lang="en-US" altLang="zh-CN"/>
              <a:t>BPDU</a:t>
            </a:r>
            <a:r>
              <a:rPr lang="zh-CN" altLang="zh-CN"/>
              <a:t>，</a:t>
            </a:r>
            <a:r>
              <a:rPr lang="en-US" altLang="zh-CN"/>
              <a:t>Max Age</a:t>
            </a:r>
            <a:r>
              <a:rPr lang="zh-CN" altLang="zh-CN"/>
              <a:t>计时器超时后，端口进入到</a:t>
            </a:r>
            <a:r>
              <a:rPr lang="en-US" altLang="zh-CN"/>
              <a:t>Listening</a:t>
            </a:r>
            <a:r>
              <a:rPr lang="zh-CN" altLang="zh-CN"/>
              <a:t>状态，开始向</a:t>
            </a:r>
            <a:r>
              <a:rPr lang="en-US" altLang="zh-CN"/>
              <a:t>SW2</a:t>
            </a:r>
            <a:r>
              <a:rPr lang="zh-CN" altLang="zh-CN"/>
              <a:t>“转发”从上游发来的包含根桥</a:t>
            </a:r>
            <a:r>
              <a:rPr lang="en-US" altLang="zh-CN"/>
              <a:t>ID</a:t>
            </a:r>
            <a:r>
              <a:rPr lang="zh-CN" altLang="zh-CN"/>
              <a:t>的</a:t>
            </a:r>
            <a:r>
              <a:rPr lang="en-US" altLang="zh-CN"/>
              <a:t>BPDU</a:t>
            </a:r>
            <a:r>
              <a:rPr lang="zh-CN" altLang="zh-CN"/>
              <a:t>。</a:t>
            </a:r>
          </a:p>
          <a:p>
            <a:pPr lvl="1"/>
            <a:r>
              <a:rPr lang="zh-CN" altLang="zh-CN"/>
              <a:t>因此，</a:t>
            </a:r>
            <a:r>
              <a:rPr lang="en-US" altLang="zh-CN"/>
              <a:t>Max Age</a:t>
            </a:r>
            <a:r>
              <a:rPr lang="zh-CN" altLang="zh-CN"/>
              <a:t>定时器超时后，</a:t>
            </a:r>
            <a:r>
              <a:rPr lang="en-US" altLang="zh-CN"/>
              <a:t>SW2</a:t>
            </a:r>
            <a:r>
              <a:rPr lang="zh-CN" altLang="zh-CN"/>
              <a:t>和</a:t>
            </a:r>
            <a:r>
              <a:rPr lang="en-US" altLang="zh-CN"/>
              <a:t>SW3</a:t>
            </a:r>
            <a:r>
              <a:rPr lang="zh-CN" altLang="zh-CN"/>
              <a:t>几乎同时收到对方发来的</a:t>
            </a:r>
            <a:r>
              <a:rPr lang="en-US" altLang="zh-CN"/>
              <a:t>BPDU</a:t>
            </a:r>
            <a:r>
              <a:rPr lang="zh-CN" altLang="zh-CN"/>
              <a:t>，再进行</a:t>
            </a:r>
            <a:r>
              <a:rPr lang="en-US" altLang="zh-CN"/>
              <a:t>STP</a:t>
            </a:r>
            <a:r>
              <a:rPr lang="zh-CN" altLang="zh-CN"/>
              <a:t>重新计算，</a:t>
            </a:r>
            <a:r>
              <a:rPr lang="en-US" altLang="zh-CN"/>
              <a:t>SW2</a:t>
            </a:r>
            <a:r>
              <a:rPr lang="zh-CN" altLang="zh-CN"/>
              <a:t>发现</a:t>
            </a:r>
            <a:r>
              <a:rPr lang="en-US" altLang="zh-CN"/>
              <a:t>SW3</a:t>
            </a:r>
            <a:r>
              <a:rPr lang="zh-CN" altLang="zh-CN"/>
              <a:t>发来的</a:t>
            </a:r>
            <a:r>
              <a:rPr lang="en-US" altLang="zh-CN"/>
              <a:t>BPDU</a:t>
            </a:r>
            <a:r>
              <a:rPr lang="zh-CN" altLang="zh-CN"/>
              <a:t>更优，就放弃宣称自己是根桥并重新确定端口角色。</a:t>
            </a:r>
          </a:p>
          <a:p>
            <a:r>
              <a:rPr lang="zh-CN" altLang="zh-CN"/>
              <a:t>端口状态：</a:t>
            </a:r>
            <a:endParaRPr lang="en-US" altLang="zh-CN"/>
          </a:p>
          <a:p>
            <a:pPr lvl="1"/>
            <a:r>
              <a:rPr lang="en-US" altLang="zh-CN"/>
              <a:t>SW3</a:t>
            </a:r>
            <a:r>
              <a:rPr lang="zh-CN" altLang="en-US"/>
              <a:t>预备</a:t>
            </a:r>
            <a:r>
              <a:rPr lang="zh-CN" altLang="zh-CN"/>
              <a:t>端口</a:t>
            </a:r>
            <a:r>
              <a:rPr lang="en-US" altLang="zh-CN"/>
              <a:t>20s</a:t>
            </a:r>
            <a:r>
              <a:rPr lang="zh-CN" altLang="zh-CN"/>
              <a:t>后会从</a:t>
            </a:r>
            <a:r>
              <a:rPr lang="en-US" altLang="zh-CN"/>
              <a:t>Blocking</a:t>
            </a:r>
            <a:r>
              <a:rPr lang="zh-CN" altLang="zh-CN"/>
              <a:t>状态进入到</a:t>
            </a:r>
            <a:r>
              <a:rPr lang="en-US" altLang="zh-CN"/>
              <a:t>Listening</a:t>
            </a:r>
            <a:r>
              <a:rPr lang="zh-CN" altLang="zh-CN"/>
              <a:t>状态，再进入</a:t>
            </a:r>
            <a:r>
              <a:rPr lang="en-US" altLang="zh-CN"/>
              <a:t>Learning</a:t>
            </a:r>
            <a:r>
              <a:rPr lang="zh-CN" altLang="zh-CN"/>
              <a:t>状态，最终进入到</a:t>
            </a:r>
            <a:r>
              <a:rPr lang="en-US" altLang="zh-CN"/>
              <a:t>Forwarding</a:t>
            </a:r>
            <a:r>
              <a:rPr lang="zh-CN" altLang="zh-CN"/>
              <a:t>状态，进行用户流量的转发。</a:t>
            </a:r>
            <a:endParaRPr lang="en-US" altLang="zh-CN"/>
          </a:p>
          <a:p>
            <a:r>
              <a:rPr lang="zh-CN" altLang="en-US"/>
              <a:t>收敛时间：</a:t>
            </a:r>
            <a:endParaRPr lang="en-US" altLang="zh-CN"/>
          </a:p>
          <a:p>
            <a:pPr lvl="1"/>
            <a:r>
              <a:rPr lang="zh-CN" altLang="en-US"/>
              <a:t>非直连故障会导致</a:t>
            </a:r>
            <a:r>
              <a:rPr lang="en-US" altLang="zh-CN"/>
              <a:t>50s</a:t>
            </a:r>
            <a:r>
              <a:rPr lang="zh-CN" altLang="en-US"/>
              <a:t>左右的恢复时间，等于</a:t>
            </a:r>
            <a:r>
              <a:rPr lang="en-US" altLang="zh-CN"/>
              <a:t>Max Age</a:t>
            </a:r>
            <a:r>
              <a:rPr lang="zh-CN" altLang="en-US"/>
              <a:t>加上</a:t>
            </a:r>
            <a:r>
              <a:rPr lang="en-US" altLang="zh-CN"/>
              <a:t>2</a:t>
            </a:r>
            <a:r>
              <a:rPr lang="zh-CN" altLang="en-US"/>
              <a:t>倍的</a:t>
            </a:r>
            <a:r>
              <a:rPr lang="en-US" altLang="zh-CN"/>
              <a:t>Forward Delay</a:t>
            </a:r>
            <a:r>
              <a:rPr lang="zh-CN" altLang="en-US"/>
              <a:t>收敛时间。</a:t>
            </a:r>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在交换网络中，交换机依赖</a:t>
            </a:r>
            <a:r>
              <a:rPr lang="en-US" altLang="zh-CN"/>
              <a:t>MAC</a:t>
            </a:r>
            <a:r>
              <a:rPr lang="zh-CN" altLang="en-US"/>
              <a:t>地址表转发数据帧。缺省情况下，</a:t>
            </a:r>
            <a:r>
              <a:rPr lang="en-US" altLang="zh-CN"/>
              <a:t>MAC</a:t>
            </a:r>
            <a:r>
              <a:rPr lang="zh-CN" altLang="en-US"/>
              <a:t>地址表项的老化时间是</a:t>
            </a:r>
            <a:r>
              <a:rPr lang="en-US" altLang="zh-CN"/>
              <a:t>300</a:t>
            </a:r>
            <a:r>
              <a:rPr lang="zh-CN" altLang="en-US"/>
              <a:t>秒。如果生成树拓扑发生变化，交换机转发数据的路径也会随着发生改变，此时</a:t>
            </a:r>
            <a:r>
              <a:rPr lang="en-US" altLang="zh-CN"/>
              <a:t>MAC</a:t>
            </a:r>
            <a:r>
              <a:rPr lang="zh-CN" altLang="en-US"/>
              <a:t>地址表中未及时老化掉的表项会导致数据转发错误，因此在拓扑发生变化后需要及时更新</a:t>
            </a:r>
            <a:r>
              <a:rPr lang="en-US" altLang="zh-CN"/>
              <a:t>MAC</a:t>
            </a:r>
            <a:r>
              <a:rPr lang="zh-CN" altLang="en-US"/>
              <a:t>地址表项。</a:t>
            </a:r>
            <a:endParaRPr lang="en-US" altLang="zh-CN"/>
          </a:p>
          <a:p>
            <a:r>
              <a:rPr lang="zh-CN" altLang="en-US"/>
              <a:t>本例中，</a:t>
            </a:r>
            <a:r>
              <a:rPr lang="en-US" altLang="zh-CN"/>
              <a:t>SW2</a:t>
            </a:r>
            <a:r>
              <a:rPr lang="zh-CN" altLang="en-US"/>
              <a:t>中的</a:t>
            </a:r>
            <a:r>
              <a:rPr lang="en-US" altLang="zh-CN"/>
              <a:t>MAC</a:t>
            </a:r>
            <a:r>
              <a:rPr lang="zh-CN" altLang="en-US"/>
              <a:t>地址表项定义了通过端口</a:t>
            </a:r>
            <a:r>
              <a:rPr lang="en-US" altLang="zh-CN"/>
              <a:t>GigabitEthernet 0/0/1</a:t>
            </a:r>
            <a:r>
              <a:rPr lang="zh-CN" altLang="en-US"/>
              <a:t>可以到达主机</a:t>
            </a:r>
            <a:r>
              <a:rPr lang="en-US" altLang="zh-CN"/>
              <a:t>A</a:t>
            </a:r>
            <a:r>
              <a:rPr lang="zh-CN" altLang="en-US"/>
              <a:t>，通过端口</a:t>
            </a:r>
            <a:r>
              <a:rPr lang="en-US" altLang="zh-CN"/>
              <a:t>GigabitEthernet 0/0/3</a:t>
            </a:r>
            <a:r>
              <a:rPr lang="zh-CN" altLang="en-US"/>
              <a:t>可以到达主机</a:t>
            </a:r>
            <a:r>
              <a:rPr lang="en-US" altLang="zh-CN"/>
              <a:t>B</a:t>
            </a:r>
            <a:r>
              <a:rPr lang="zh-CN" altLang="en-US"/>
              <a:t>。由于</a:t>
            </a:r>
            <a:r>
              <a:rPr lang="en-US" altLang="zh-CN"/>
              <a:t>SW3</a:t>
            </a:r>
            <a:r>
              <a:rPr lang="zh-CN" altLang="en-US"/>
              <a:t>的根端口产生故障，导致生成树拓扑重新收敛，在生成树拓扑完成收敛之后，从主机</a:t>
            </a:r>
            <a:r>
              <a:rPr lang="en-US" altLang="zh-CN"/>
              <a:t>A</a:t>
            </a:r>
            <a:r>
              <a:rPr lang="zh-CN" altLang="en-US"/>
              <a:t>到主机</a:t>
            </a:r>
            <a:r>
              <a:rPr lang="en-US" altLang="zh-CN"/>
              <a:t>B</a:t>
            </a:r>
            <a:r>
              <a:rPr lang="zh-CN" altLang="en-US"/>
              <a:t>的帧仍然不能到达目的地。这是因为</a:t>
            </a:r>
            <a:r>
              <a:rPr lang="en-US" altLang="zh-CN"/>
              <a:t>MAC</a:t>
            </a:r>
            <a:r>
              <a:rPr lang="zh-CN" altLang="en-US"/>
              <a:t>地址表项老化时间是</a:t>
            </a:r>
            <a:r>
              <a:rPr lang="en-US" altLang="zh-CN"/>
              <a:t>300</a:t>
            </a:r>
            <a:r>
              <a:rPr lang="zh-CN" altLang="en-US"/>
              <a:t>秒，主机</a:t>
            </a:r>
            <a:r>
              <a:rPr lang="en-US" altLang="zh-CN"/>
              <a:t>A</a:t>
            </a:r>
            <a:r>
              <a:rPr lang="zh-CN" altLang="en-US"/>
              <a:t>发往主机</a:t>
            </a:r>
            <a:r>
              <a:rPr lang="en-US" altLang="zh-CN"/>
              <a:t>B</a:t>
            </a:r>
            <a:r>
              <a:rPr lang="zh-CN" altLang="en-US"/>
              <a:t>的帧到达</a:t>
            </a:r>
            <a:r>
              <a:rPr lang="en-US" altLang="zh-CN"/>
              <a:t>SW2</a:t>
            </a:r>
            <a:r>
              <a:rPr lang="zh-CN" altLang="en-US"/>
              <a:t>后，</a:t>
            </a:r>
            <a:r>
              <a:rPr lang="en-US" altLang="zh-CN"/>
              <a:t>SW2</a:t>
            </a:r>
            <a:r>
              <a:rPr lang="zh-CN" altLang="en-US"/>
              <a:t>会继续通过端口</a:t>
            </a:r>
            <a:r>
              <a:rPr lang="en-US" altLang="zh-CN"/>
              <a:t>GigabitEthernet 0/0/3</a:t>
            </a:r>
            <a:r>
              <a:rPr lang="zh-CN" altLang="en-US"/>
              <a:t>转发该数据帧。</a:t>
            </a:r>
          </a:p>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拓扑变化过程中，根桥通过</a:t>
            </a:r>
            <a:r>
              <a:rPr lang="en-US" altLang="zh-CN"/>
              <a:t>TCN BPDU</a:t>
            </a:r>
            <a:r>
              <a:rPr lang="zh-CN" altLang="en-US"/>
              <a:t>报文获知生成树拓扑里发生了故障。根桥生成</a:t>
            </a:r>
            <a:r>
              <a:rPr lang="en-US" altLang="zh-CN"/>
              <a:t>TC</a:t>
            </a:r>
            <a:r>
              <a:rPr lang="zh-CN" altLang="en-US"/>
              <a:t>用来通知其他交换机加速老化现有的</a:t>
            </a:r>
            <a:r>
              <a:rPr lang="en-US" altLang="zh-CN"/>
              <a:t>MAC</a:t>
            </a:r>
            <a:r>
              <a:rPr lang="zh-CN" altLang="en-US"/>
              <a:t>地址表项。</a:t>
            </a:r>
            <a:endParaRPr lang="en-US" altLang="zh-CN"/>
          </a:p>
          <a:p>
            <a:r>
              <a:rPr lang="zh-CN" altLang="en-US"/>
              <a:t>拓扑变更以及</a:t>
            </a:r>
            <a:r>
              <a:rPr lang="en-US" altLang="zh-CN"/>
              <a:t>MAC</a:t>
            </a:r>
            <a:r>
              <a:rPr lang="zh-CN" altLang="en-US"/>
              <a:t>地址表项更新的具体过程如下：</a:t>
            </a:r>
            <a:endParaRPr lang="en-US" altLang="zh-CN"/>
          </a:p>
          <a:p>
            <a:pPr lvl="1"/>
            <a:r>
              <a:rPr lang="en-US" altLang="zh-CN"/>
              <a:t>SW3</a:t>
            </a:r>
            <a:r>
              <a:rPr lang="zh-CN" altLang="en-US"/>
              <a:t>感知到网络拓扑发生变化后，会不间断地向</a:t>
            </a:r>
            <a:r>
              <a:rPr lang="en-US" altLang="zh-CN"/>
              <a:t>SWB</a:t>
            </a:r>
            <a:r>
              <a:rPr lang="zh-CN" altLang="en-US"/>
              <a:t>发送</a:t>
            </a:r>
            <a:r>
              <a:rPr lang="en-US" altLang="zh-CN"/>
              <a:t>TCN BPDU</a:t>
            </a:r>
            <a:r>
              <a:rPr lang="zh-CN" altLang="en-US"/>
              <a:t>报文。</a:t>
            </a:r>
          </a:p>
          <a:p>
            <a:pPr lvl="1"/>
            <a:r>
              <a:rPr lang="en-US" altLang="zh-CN"/>
              <a:t>SW2</a:t>
            </a:r>
            <a:r>
              <a:rPr lang="zh-CN" altLang="en-US"/>
              <a:t>收到</a:t>
            </a:r>
            <a:r>
              <a:rPr lang="en-US" altLang="zh-CN"/>
              <a:t>SW3</a:t>
            </a:r>
            <a:r>
              <a:rPr lang="zh-CN" altLang="en-US"/>
              <a:t>发来的</a:t>
            </a:r>
            <a:r>
              <a:rPr lang="en-US" altLang="zh-CN"/>
              <a:t>TCN BPDU</a:t>
            </a:r>
            <a:r>
              <a:rPr lang="zh-CN" altLang="en-US"/>
              <a:t>报文后，会把配置</a:t>
            </a:r>
            <a:r>
              <a:rPr lang="en-US" altLang="zh-CN"/>
              <a:t>BPDU</a:t>
            </a:r>
            <a:r>
              <a:rPr lang="zh-CN" altLang="en-US"/>
              <a:t>报文中的</a:t>
            </a:r>
            <a:r>
              <a:rPr lang="en-US" altLang="zh-CN"/>
              <a:t>Flags</a:t>
            </a:r>
            <a:r>
              <a:rPr lang="zh-CN" altLang="en-US"/>
              <a:t>的</a:t>
            </a:r>
            <a:r>
              <a:rPr lang="en-US" altLang="zh-CN"/>
              <a:t>TCA</a:t>
            </a:r>
            <a:r>
              <a:rPr lang="zh-CN" altLang="en-US"/>
              <a:t>位设置</a:t>
            </a:r>
            <a:r>
              <a:rPr lang="en-US" altLang="zh-CN"/>
              <a:t>1</a:t>
            </a:r>
            <a:r>
              <a:rPr lang="zh-CN" altLang="en-US"/>
              <a:t>，然后发送给</a:t>
            </a:r>
            <a:r>
              <a:rPr lang="en-US" altLang="zh-CN"/>
              <a:t>SW3</a:t>
            </a:r>
            <a:r>
              <a:rPr lang="zh-CN" altLang="en-US"/>
              <a:t>，告知</a:t>
            </a:r>
            <a:r>
              <a:rPr lang="en-US" altLang="zh-CN"/>
              <a:t>SW3</a:t>
            </a:r>
            <a:r>
              <a:rPr lang="zh-CN" altLang="en-US"/>
              <a:t>停止发送</a:t>
            </a:r>
            <a:r>
              <a:rPr lang="en-US" altLang="zh-CN"/>
              <a:t>TCN BPDU</a:t>
            </a:r>
            <a:r>
              <a:rPr lang="zh-CN" altLang="en-US"/>
              <a:t>报文。</a:t>
            </a:r>
          </a:p>
          <a:p>
            <a:pPr lvl="1"/>
            <a:r>
              <a:rPr lang="en-US" altLang="zh-CN"/>
              <a:t>SW2</a:t>
            </a:r>
            <a:r>
              <a:rPr lang="zh-CN" altLang="en-US"/>
              <a:t>向根桥转发</a:t>
            </a:r>
            <a:r>
              <a:rPr lang="en-US" altLang="zh-CN"/>
              <a:t>TCN BPDU</a:t>
            </a:r>
            <a:r>
              <a:rPr lang="zh-CN" altLang="en-US"/>
              <a:t>报文。</a:t>
            </a:r>
          </a:p>
          <a:p>
            <a:pPr lvl="1"/>
            <a:r>
              <a:rPr lang="en-US" altLang="zh-CN"/>
              <a:t>SW1</a:t>
            </a:r>
            <a:r>
              <a:rPr lang="zh-CN" altLang="en-US"/>
              <a:t>把配置</a:t>
            </a:r>
            <a:r>
              <a:rPr lang="en-US" altLang="zh-CN"/>
              <a:t>BPDU</a:t>
            </a:r>
            <a:r>
              <a:rPr lang="zh-CN" altLang="en-US"/>
              <a:t>报文中的</a:t>
            </a:r>
            <a:r>
              <a:rPr lang="en-US" altLang="zh-CN"/>
              <a:t>Flags</a:t>
            </a:r>
            <a:r>
              <a:rPr lang="zh-CN" altLang="en-US"/>
              <a:t>的</a:t>
            </a:r>
            <a:r>
              <a:rPr lang="en-US" altLang="zh-CN"/>
              <a:t>TC</a:t>
            </a:r>
            <a:r>
              <a:rPr lang="zh-CN" altLang="en-US"/>
              <a:t>位设置为</a:t>
            </a:r>
            <a:r>
              <a:rPr lang="en-US" altLang="zh-CN"/>
              <a:t>1</a:t>
            </a:r>
            <a:r>
              <a:rPr lang="zh-CN" altLang="en-US"/>
              <a:t>后发送，通知下游设备把</a:t>
            </a:r>
            <a:r>
              <a:rPr lang="en-US" altLang="zh-CN"/>
              <a:t>MAC</a:t>
            </a:r>
            <a:r>
              <a:rPr lang="zh-CN" altLang="en-US"/>
              <a:t>地址表项的老化时间由默认的</a:t>
            </a:r>
            <a:r>
              <a:rPr lang="en-US" altLang="zh-CN"/>
              <a:t>300</a:t>
            </a:r>
            <a:r>
              <a:rPr lang="zh-CN" altLang="en-US"/>
              <a:t> </a:t>
            </a:r>
            <a:r>
              <a:rPr lang="en-US" altLang="zh-CN"/>
              <a:t>s</a:t>
            </a:r>
            <a:r>
              <a:rPr lang="zh-CN" altLang="en-US"/>
              <a:t>修改为</a:t>
            </a:r>
            <a:r>
              <a:rPr lang="en-US" altLang="zh-CN"/>
              <a:t>Forward Delay</a:t>
            </a:r>
            <a:r>
              <a:rPr lang="zh-CN" altLang="en-US"/>
              <a:t>的时间（默认为</a:t>
            </a:r>
            <a:r>
              <a:rPr lang="en-US" altLang="zh-CN"/>
              <a:t>15</a:t>
            </a:r>
            <a:r>
              <a:rPr lang="zh-CN" altLang="en-US"/>
              <a:t> </a:t>
            </a:r>
            <a:r>
              <a:rPr lang="en-US" altLang="zh-CN"/>
              <a:t>s</a:t>
            </a:r>
            <a:r>
              <a:rPr lang="zh-CN" altLang="en-US"/>
              <a:t>）。</a:t>
            </a:r>
            <a:endParaRPr lang="en-US" altLang="zh-CN"/>
          </a:p>
          <a:p>
            <a:pPr lvl="1"/>
            <a:r>
              <a:rPr lang="zh-CN" altLang="en-US"/>
              <a:t>最多等待</a:t>
            </a:r>
            <a:r>
              <a:rPr lang="en-US" altLang="zh-CN"/>
              <a:t>15</a:t>
            </a:r>
            <a:r>
              <a:rPr lang="zh-CN" altLang="en-US"/>
              <a:t> </a:t>
            </a:r>
            <a:r>
              <a:rPr lang="en-US" altLang="zh-CN"/>
              <a:t>s</a:t>
            </a:r>
            <a:r>
              <a:rPr lang="zh-CN" altLang="en-US"/>
              <a:t>之后，</a:t>
            </a:r>
            <a:r>
              <a:rPr lang="en-US" altLang="zh-CN"/>
              <a:t>SW2</a:t>
            </a:r>
            <a:r>
              <a:rPr lang="zh-CN" altLang="en-US"/>
              <a:t>中的错误</a:t>
            </a:r>
            <a:r>
              <a:rPr lang="en-US" altLang="zh-CN"/>
              <a:t>MAC</a:t>
            </a:r>
            <a:r>
              <a:rPr lang="zh-CN" altLang="en-US"/>
              <a:t>地址表项会被自动清除。此后，</a:t>
            </a:r>
            <a:r>
              <a:rPr lang="en-US" altLang="zh-CN"/>
              <a:t>SW2</a:t>
            </a:r>
            <a:r>
              <a:rPr lang="zh-CN" altLang="en-US"/>
              <a:t>就能重新开始</a:t>
            </a:r>
            <a:r>
              <a:rPr lang="en-US" altLang="zh-CN"/>
              <a:t>MAC</a:t>
            </a:r>
            <a:r>
              <a:rPr lang="zh-CN" altLang="en-US"/>
              <a:t>表项的学习及转发操作。</a:t>
            </a:r>
          </a:p>
          <a:p>
            <a:endParaRPr lang="zh-CN" altLang="en-US"/>
          </a:p>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IEEE</a:t>
            </a:r>
            <a:r>
              <a:rPr lang="zh-CN" altLang="en-US"/>
              <a:t>于</a:t>
            </a:r>
            <a:r>
              <a:rPr lang="en-US" altLang="zh-CN"/>
              <a:t>2001</a:t>
            </a:r>
            <a:r>
              <a:rPr lang="zh-CN" altLang="en-US"/>
              <a:t>年发布的</a:t>
            </a:r>
            <a:r>
              <a:rPr lang="en-US" altLang="zh-CN"/>
              <a:t>802.1w</a:t>
            </a:r>
            <a:r>
              <a:rPr lang="zh-CN" altLang="en-US"/>
              <a:t>标准定义了快速生成树协议</a:t>
            </a:r>
            <a:r>
              <a:rPr lang="en-US" altLang="zh-CN"/>
              <a:t>RSTP</a:t>
            </a:r>
            <a:r>
              <a:rPr lang="zh-CN" altLang="en-US"/>
              <a:t>（</a:t>
            </a:r>
            <a:r>
              <a:rPr lang="en-US" altLang="zh-CN"/>
              <a:t>Rapid Spanning-Tree Protocol</a:t>
            </a:r>
            <a:r>
              <a:rPr lang="zh-CN" altLang="en-US"/>
              <a:t>），</a:t>
            </a:r>
            <a:r>
              <a:rPr lang="en-US" altLang="zh-CN"/>
              <a:t>RSTP</a:t>
            </a:r>
            <a:r>
              <a:rPr lang="zh-CN" altLang="en-US"/>
              <a:t>在</a:t>
            </a:r>
            <a:r>
              <a:rPr lang="en-US" altLang="zh-CN"/>
              <a:t>STP</a:t>
            </a:r>
            <a:r>
              <a:rPr lang="zh-CN" altLang="en-US"/>
              <a:t>基础上进行了改进，实现了网络拓扑快速收敛。</a:t>
            </a:r>
          </a:p>
          <a:p>
            <a:r>
              <a:rPr lang="en-US" altLang="zh-CN"/>
              <a:t>RSTP</a:t>
            </a:r>
            <a:r>
              <a:rPr lang="zh-CN" altLang="en-US"/>
              <a:t>（快速生成树）是从</a:t>
            </a:r>
            <a:r>
              <a:rPr lang="en-US" altLang="zh-CN"/>
              <a:t>STP</a:t>
            </a:r>
            <a:r>
              <a:rPr lang="zh-CN" altLang="en-US"/>
              <a:t>演化而来的，基本思想一样；当交换网络拓扑结构发生变化时， </a:t>
            </a:r>
            <a:r>
              <a:rPr lang="en-US" altLang="zh-CN"/>
              <a:t>RSTP</a:t>
            </a:r>
            <a:r>
              <a:rPr lang="zh-CN" altLang="en-US"/>
              <a:t>可以通过</a:t>
            </a:r>
            <a:r>
              <a:rPr lang="en-US" altLang="zh-CN"/>
              <a:t>Proposal/Agreement</a:t>
            </a:r>
            <a:r>
              <a:rPr lang="zh-CN" altLang="en-US"/>
              <a:t>机制更快地恢复网络的连通性。</a:t>
            </a:r>
          </a:p>
          <a:p>
            <a:r>
              <a:rPr lang="zh-CN" altLang="en-US"/>
              <a:t>根据</a:t>
            </a:r>
            <a:r>
              <a:rPr lang="en-US" altLang="zh-CN"/>
              <a:t>STP</a:t>
            </a:r>
            <a:r>
              <a:rPr lang="zh-CN" altLang="en-US"/>
              <a:t>的不足，</a:t>
            </a:r>
            <a:r>
              <a:rPr lang="en-US" altLang="zh-CN"/>
              <a:t>RSTP</a:t>
            </a:r>
            <a:r>
              <a:rPr lang="zh-CN" altLang="en-US"/>
              <a:t>删除了</a:t>
            </a:r>
            <a:r>
              <a:rPr lang="en-US" altLang="zh-CN"/>
              <a:t>3</a:t>
            </a:r>
            <a:r>
              <a:rPr lang="zh-CN" altLang="en-US"/>
              <a:t>种端口状态，新增加了</a:t>
            </a:r>
            <a:r>
              <a:rPr lang="en-US" altLang="zh-CN"/>
              <a:t>2</a:t>
            </a:r>
            <a:r>
              <a:rPr lang="zh-CN" altLang="en-US"/>
              <a:t>种端口角色，并且把端口属性充分的按照状态和角色解耦；此外，</a:t>
            </a:r>
            <a:r>
              <a:rPr lang="en-US" altLang="zh-CN"/>
              <a:t>RSTP</a:t>
            </a:r>
            <a:r>
              <a:rPr lang="zh-CN" altLang="en-US"/>
              <a:t>还增加了相应的一些增强特性和保护措施，实现网络的稳定和快速收敛。</a:t>
            </a:r>
          </a:p>
          <a:p>
            <a:r>
              <a:rPr lang="en-US" altLang="zh-CN"/>
              <a:t>RSTP</a:t>
            </a:r>
            <a:r>
              <a:rPr lang="zh-CN" altLang="en-US"/>
              <a:t>是可以与</a:t>
            </a:r>
            <a:r>
              <a:rPr lang="en-US" altLang="zh-CN"/>
              <a:t>STP</a:t>
            </a:r>
            <a:r>
              <a:rPr lang="zh-CN" altLang="en-US"/>
              <a:t>实现后向兼容的，但在实际中，并不推荐这样的做法，原因是</a:t>
            </a:r>
            <a:r>
              <a:rPr lang="en-US" altLang="zh-CN"/>
              <a:t>RSTP</a:t>
            </a:r>
            <a:r>
              <a:rPr lang="zh-CN" altLang="en-US"/>
              <a:t>会失去其快速收敛的优势，而</a:t>
            </a:r>
            <a:r>
              <a:rPr lang="en-US" altLang="zh-CN"/>
              <a:t>STP</a:t>
            </a:r>
            <a:r>
              <a:rPr lang="zh-CN" altLang="en-US"/>
              <a:t>慢速收敛的缺点会暴露出来。</a:t>
            </a:r>
          </a:p>
          <a:p>
            <a:r>
              <a:rPr lang="en-US" altLang="zh-CN"/>
              <a:t>RSTP</a:t>
            </a:r>
            <a:r>
              <a:rPr lang="zh-CN" altLang="en-US"/>
              <a:t>对</a:t>
            </a:r>
            <a:r>
              <a:rPr lang="en-US" altLang="zh-CN"/>
              <a:t>STP</a:t>
            </a:r>
            <a:r>
              <a:rPr lang="zh-CN" altLang="en-US"/>
              <a:t>的其他改进</a:t>
            </a:r>
            <a:r>
              <a:rPr lang="en-US" altLang="zh-CN"/>
              <a:t>:</a:t>
            </a:r>
          </a:p>
          <a:p>
            <a:pPr lvl="1"/>
            <a:r>
              <a:rPr lang="zh-CN" altLang="en-US"/>
              <a:t>配置</a:t>
            </a:r>
            <a:r>
              <a:rPr lang="en-US" altLang="zh-CN"/>
              <a:t>BPDU</a:t>
            </a:r>
            <a:r>
              <a:rPr lang="zh-CN" altLang="en-US"/>
              <a:t>的处理发生变化：</a:t>
            </a:r>
          </a:p>
          <a:p>
            <a:pPr lvl="2"/>
            <a:r>
              <a:rPr lang="zh-CN" altLang="en-US"/>
              <a:t>拓扑稳定后，配置</a:t>
            </a:r>
            <a:r>
              <a:rPr lang="en-US" altLang="zh-CN"/>
              <a:t>BPDU</a:t>
            </a:r>
            <a:r>
              <a:rPr lang="zh-CN" altLang="en-US"/>
              <a:t>报文的发送方式进行了优化；</a:t>
            </a:r>
          </a:p>
          <a:p>
            <a:pPr lvl="2"/>
            <a:r>
              <a:rPr lang="zh-CN" altLang="en-US"/>
              <a:t>使用更短的</a:t>
            </a:r>
            <a:r>
              <a:rPr lang="en-US" altLang="zh-CN"/>
              <a:t>BPDU</a:t>
            </a:r>
            <a:r>
              <a:rPr lang="zh-CN" altLang="en-US"/>
              <a:t>超时计时；</a:t>
            </a:r>
          </a:p>
          <a:p>
            <a:pPr lvl="2"/>
            <a:r>
              <a:rPr lang="zh-CN" altLang="en-US"/>
              <a:t>对处理次等</a:t>
            </a:r>
            <a:r>
              <a:rPr lang="en-US" altLang="zh-CN"/>
              <a:t>BPDU</a:t>
            </a:r>
            <a:r>
              <a:rPr lang="zh-CN" altLang="en-US"/>
              <a:t>的方式进行了优化；</a:t>
            </a:r>
          </a:p>
          <a:p>
            <a:pPr lvl="1"/>
            <a:r>
              <a:rPr lang="zh-CN" altLang="en-US"/>
              <a:t>配置</a:t>
            </a:r>
            <a:r>
              <a:rPr lang="en-US" altLang="zh-CN"/>
              <a:t>BPDU</a:t>
            </a:r>
            <a:r>
              <a:rPr lang="zh-CN" altLang="en-US"/>
              <a:t>格式的改变，充分利用了</a:t>
            </a:r>
            <a:r>
              <a:rPr lang="en-US" altLang="zh-CN"/>
              <a:t>STP</a:t>
            </a:r>
            <a:r>
              <a:rPr lang="zh-CN" altLang="en-US"/>
              <a:t>协议报文中的</a:t>
            </a:r>
            <a:r>
              <a:rPr lang="en-US" altLang="zh-CN"/>
              <a:t>Flag</a:t>
            </a:r>
            <a:r>
              <a:rPr lang="zh-CN" altLang="en-US"/>
              <a:t>字段，明确了接口角色。</a:t>
            </a:r>
          </a:p>
          <a:p>
            <a:pPr lvl="1"/>
            <a:r>
              <a:rPr lang="en-US" altLang="zh-CN"/>
              <a:t>RSTP</a:t>
            </a:r>
            <a:r>
              <a:rPr lang="zh-CN" altLang="en-US"/>
              <a:t>拓扑变化处理：相比于</a:t>
            </a:r>
            <a:r>
              <a:rPr lang="en-US" altLang="zh-CN"/>
              <a:t>STP</a:t>
            </a:r>
            <a:r>
              <a:rPr lang="zh-CN" altLang="en-US"/>
              <a:t>进行了优化，加速针对拓扑变更的反应速度。</a:t>
            </a:r>
          </a:p>
          <a:p>
            <a:pPr lvl="1"/>
            <a:endParaRPr lang="zh-CN" altLang="en-US" dirty="0"/>
          </a:p>
        </p:txBody>
      </p:sp>
      <p:sp>
        <p:nvSpPr>
          <p:cNvPr id="7" name="幻灯片图像占位符 6"/>
          <p:cNvSpPr>
            <a:spLocks noGrp="1" noRot="1" noChangeAspect="1"/>
          </p:cNvSpPr>
          <p:nvPr>
            <p:ph type="sldImg"/>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从配置</a:t>
            </a:r>
            <a:r>
              <a:rPr lang="en-US" altLang="zh-CN"/>
              <a:t>BPDU</a:t>
            </a:r>
            <a:r>
              <a:rPr lang="zh-CN" altLang="en-US"/>
              <a:t>报文发送角度来看：</a:t>
            </a:r>
          </a:p>
          <a:p>
            <a:pPr lvl="1"/>
            <a:r>
              <a:rPr lang="zh-CN" altLang="en-US"/>
              <a:t>预备（</a:t>
            </a:r>
            <a:r>
              <a:rPr lang="en-US" altLang="zh-CN"/>
              <a:t>Alternate</a:t>
            </a:r>
            <a:r>
              <a:rPr lang="zh-CN" altLang="en-US"/>
              <a:t>）接口就是由于学习到其它网桥发送的配置</a:t>
            </a:r>
            <a:r>
              <a:rPr lang="en-US" altLang="zh-CN"/>
              <a:t>BPDU</a:t>
            </a:r>
            <a:r>
              <a:rPr lang="zh-CN" altLang="en-US"/>
              <a:t>报文而阻塞的接口。</a:t>
            </a:r>
          </a:p>
          <a:p>
            <a:pPr lvl="1"/>
            <a:r>
              <a:rPr lang="zh-CN" altLang="en-US"/>
              <a:t>备份（</a:t>
            </a:r>
            <a:r>
              <a:rPr lang="en-US" altLang="zh-CN"/>
              <a:t>Backup</a:t>
            </a:r>
            <a:r>
              <a:rPr lang="zh-CN" altLang="en-US"/>
              <a:t>）接口就是由于学习到自己发送的配置</a:t>
            </a:r>
            <a:r>
              <a:rPr lang="en-US" altLang="zh-CN"/>
              <a:t>BPDU</a:t>
            </a:r>
            <a:r>
              <a:rPr lang="zh-CN" altLang="en-US"/>
              <a:t>报文而阻塞的接口。</a:t>
            </a:r>
          </a:p>
          <a:p>
            <a:r>
              <a:rPr lang="zh-CN" altLang="en-US"/>
              <a:t>从用户流量角度来看：</a:t>
            </a:r>
          </a:p>
          <a:p>
            <a:pPr lvl="1"/>
            <a:r>
              <a:rPr lang="en-US" altLang="zh-CN"/>
              <a:t>Alternate</a:t>
            </a:r>
            <a:r>
              <a:rPr lang="zh-CN" altLang="en-US"/>
              <a:t>接口提供了从指定桥到根的另一条可切换路径，作为根接口的备份接口。</a:t>
            </a:r>
          </a:p>
          <a:p>
            <a:pPr lvl="1"/>
            <a:r>
              <a:rPr lang="en-US" altLang="zh-CN"/>
              <a:t>Backup</a:t>
            </a:r>
            <a:r>
              <a:rPr lang="zh-CN" altLang="en-US"/>
              <a:t>接口作为指定接口的备份，提供了另一条从根桥到相应网段的备份通路。</a:t>
            </a:r>
          </a:p>
          <a:p>
            <a:endParaRPr lang="zh-CN" altLang="en-US" dirty="0"/>
          </a:p>
        </p:txBody>
      </p:sp>
      <p:sp>
        <p:nvSpPr>
          <p:cNvPr id="4" name="幻灯片图像占位符 3"/>
          <p:cNvSpPr>
            <a:spLocks noGrp="1" noRot="1" noChangeAspect="1"/>
          </p:cNvSpPr>
          <p:nvPr>
            <p:ph type="sldImg"/>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在</a:t>
            </a:r>
            <a:r>
              <a:rPr lang="en-US" altLang="zh-CN"/>
              <a:t>STP</a:t>
            </a:r>
            <a:r>
              <a:rPr lang="zh-CN" altLang="en-US"/>
              <a:t>中用户终端接入交换设备端口状态由</a:t>
            </a:r>
            <a:r>
              <a:rPr lang="en-US" altLang="zh-CN"/>
              <a:t>Disabled</a:t>
            </a:r>
            <a:r>
              <a:rPr lang="zh-CN" altLang="en-US"/>
              <a:t>状态转到</a:t>
            </a:r>
            <a:r>
              <a:rPr lang="en-US" altLang="zh-CN"/>
              <a:t>Forwarding</a:t>
            </a:r>
            <a:r>
              <a:rPr lang="zh-CN" altLang="en-US"/>
              <a:t>状态需要经过</a:t>
            </a:r>
            <a:r>
              <a:rPr lang="en-US" altLang="zh-CN"/>
              <a:t>15s</a:t>
            </a:r>
            <a:r>
              <a:rPr lang="zh-CN" altLang="en-US"/>
              <a:t>，那么用户在这段时间无法上网，如果网络频繁变化，用户上网状态非常不稳定，时断时续。</a:t>
            </a:r>
            <a:endParaRPr lang="en-US" altLang="zh-CN"/>
          </a:p>
          <a:p>
            <a:pPr lvl="0"/>
            <a:r>
              <a:rPr lang="zh-CN" altLang="en-US"/>
              <a:t>边缘端口一般与用户终端设备直接连接，不与任何交换设备连接。边缘端口正常情况下接收不到配置</a:t>
            </a:r>
            <a:r>
              <a:rPr lang="en-US" altLang="zh-CN"/>
              <a:t>BPDU</a:t>
            </a:r>
            <a:r>
              <a:rPr lang="zh-CN" altLang="en-US"/>
              <a:t>报文，不参与</a:t>
            </a:r>
            <a:r>
              <a:rPr lang="en-US" altLang="zh-CN"/>
              <a:t>RSTP</a:t>
            </a:r>
            <a:r>
              <a:rPr lang="zh-CN" altLang="en-US"/>
              <a:t>运算，可以由</a:t>
            </a:r>
            <a:r>
              <a:rPr lang="en-US" altLang="zh-CN"/>
              <a:t>Disabled</a:t>
            </a:r>
            <a:r>
              <a:rPr lang="zh-CN" altLang="en-US"/>
              <a:t>状态直接转到</a:t>
            </a:r>
            <a:r>
              <a:rPr lang="en-US" altLang="zh-CN"/>
              <a:t>Forwarding</a:t>
            </a:r>
            <a:r>
              <a:rPr lang="zh-CN" altLang="en-US"/>
              <a:t>状态，且不经历时延，就像在端口上将</a:t>
            </a:r>
            <a:r>
              <a:rPr lang="en-US" altLang="zh-CN"/>
              <a:t>STP</a:t>
            </a:r>
            <a:r>
              <a:rPr lang="zh-CN" altLang="en-US"/>
              <a:t>禁用了一样。但是，一旦边缘端口收到配置</a:t>
            </a:r>
            <a:r>
              <a:rPr lang="en-US" altLang="zh-CN"/>
              <a:t>BPDU</a:t>
            </a:r>
            <a:r>
              <a:rPr lang="zh-CN" altLang="en-US"/>
              <a:t>报文，就丧失了边缘端口属性，成为普通</a:t>
            </a:r>
            <a:r>
              <a:rPr lang="en-US" altLang="zh-CN"/>
              <a:t>STP</a:t>
            </a:r>
            <a:r>
              <a:rPr lang="zh-CN" altLang="en-US"/>
              <a:t>端口，并重新进行生成树计算，从而引起网络震荡。</a:t>
            </a:r>
          </a:p>
          <a:p>
            <a:endParaRPr lang="zh-CN" altLang="en-US" dirty="0"/>
          </a:p>
        </p:txBody>
      </p:sp>
      <p:sp>
        <p:nvSpPr>
          <p:cNvPr id="5" name="幻灯片图像占位符 4"/>
          <p:cNvSpPr>
            <a:spLocks noGrp="1" noRot="1" noChangeAspect="1"/>
          </p:cNvSpPr>
          <p:nvPr>
            <p:ph type="sldImg"/>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RSTP</a:t>
            </a:r>
            <a:r>
              <a:rPr lang="zh-CN" altLang="en-US"/>
              <a:t>把原来</a:t>
            </a:r>
            <a:r>
              <a:rPr lang="en-US" altLang="zh-CN"/>
              <a:t>STP</a:t>
            </a:r>
            <a:r>
              <a:rPr lang="zh-CN" altLang="en-US"/>
              <a:t>的</a:t>
            </a:r>
            <a:r>
              <a:rPr lang="en-US" altLang="zh-CN"/>
              <a:t>5</a:t>
            </a:r>
            <a:r>
              <a:rPr lang="zh-CN" altLang="en-US"/>
              <a:t>种端口状态简化成了</a:t>
            </a:r>
            <a:r>
              <a:rPr lang="en-US" altLang="zh-CN"/>
              <a:t>3</a:t>
            </a:r>
            <a:r>
              <a:rPr lang="zh-CN" altLang="en-US"/>
              <a:t>种。</a:t>
            </a:r>
            <a:endParaRPr lang="en-US" altLang="zh-CN"/>
          </a:p>
          <a:p>
            <a:pPr lvl="1"/>
            <a:r>
              <a:rPr lang="en-US" altLang="zh-CN"/>
              <a:t>Discarding</a:t>
            </a:r>
            <a:r>
              <a:rPr lang="zh-CN" altLang="en-US"/>
              <a:t>状态，端口既不转发用户流量也不学习</a:t>
            </a:r>
            <a:r>
              <a:rPr lang="en-US" altLang="zh-CN"/>
              <a:t>MAC</a:t>
            </a:r>
            <a:r>
              <a:rPr lang="zh-CN" altLang="en-US"/>
              <a:t>地址。 </a:t>
            </a:r>
            <a:endParaRPr lang="en-US" altLang="zh-CN"/>
          </a:p>
          <a:p>
            <a:pPr lvl="1"/>
            <a:r>
              <a:rPr lang="en-US" altLang="zh-CN"/>
              <a:t>Learning</a:t>
            </a:r>
            <a:r>
              <a:rPr lang="zh-CN" altLang="en-US"/>
              <a:t>状态，端口不转发用户流量但是学习</a:t>
            </a:r>
            <a:r>
              <a:rPr lang="en-US" altLang="zh-CN"/>
              <a:t>MAC</a:t>
            </a:r>
            <a:r>
              <a:rPr lang="zh-CN" altLang="en-US"/>
              <a:t>地址。 </a:t>
            </a:r>
            <a:endParaRPr lang="en-US" altLang="zh-CN"/>
          </a:p>
          <a:p>
            <a:pPr lvl="1"/>
            <a:r>
              <a:rPr lang="en-US" altLang="zh-CN"/>
              <a:t>Forwarding</a:t>
            </a:r>
            <a:r>
              <a:rPr lang="zh-CN" altLang="en-US"/>
              <a:t>状态，端口既转发用户流量又学习</a:t>
            </a:r>
            <a:r>
              <a:rPr lang="en-US" altLang="zh-CN"/>
              <a:t>MAC</a:t>
            </a:r>
            <a:r>
              <a:rPr lang="zh-CN" altLang="en-US"/>
              <a:t>地址。</a:t>
            </a:r>
          </a:p>
          <a:p>
            <a:endParaRPr lang="zh-CN" altLang="en-US" dirty="0"/>
          </a:p>
        </p:txBody>
      </p:sp>
      <p:sp>
        <p:nvSpPr>
          <p:cNvPr id="4" name="幻灯片图像占位符 3"/>
          <p:cNvSpPr>
            <a:spLocks noGrp="1" noRot="1" noChangeAspect="1"/>
          </p:cNvSpPr>
          <p:nvPr>
            <p:ph type="sldImg"/>
          </p:nvPr>
        </p:nvSpPr>
        <p:spPr>
          <a:xfrm>
            <a:off x="431800" y="779463"/>
            <a:ext cx="5934075" cy="3338512"/>
          </a:xfr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企业网中部署</a:t>
            </a:r>
            <a:r>
              <a:rPr lang="en-US" altLang="zh-CN"/>
              <a:t>VBST</a:t>
            </a:r>
            <a:r>
              <a:rPr lang="zh-CN" altLang="en-US"/>
              <a:t>：</a:t>
            </a:r>
            <a:endParaRPr lang="en-US" altLang="zh-CN"/>
          </a:p>
          <a:p>
            <a:pPr lvl="1"/>
            <a:r>
              <a:rPr lang="zh-CN" altLang="en-US"/>
              <a:t>可消除网络中可能存在的通信环路。</a:t>
            </a:r>
          </a:p>
          <a:p>
            <a:pPr lvl="1"/>
            <a:r>
              <a:rPr lang="zh-CN" altLang="en-US"/>
              <a:t>可实现链路的复用和流量的负载分担，进而有效地提高链路带宽的利用率。</a:t>
            </a:r>
          </a:p>
          <a:p>
            <a:pPr lvl="1"/>
            <a:r>
              <a:rPr lang="zh-CN" altLang="en-US"/>
              <a:t>配置和维护简单，进而可降低配置和维护成本。</a:t>
            </a:r>
            <a:endParaRPr lang="en-US" altLang="zh-CN"/>
          </a:p>
          <a:p>
            <a:pPr lvl="0"/>
            <a:r>
              <a:rPr lang="zh-CN" altLang="en-US"/>
              <a:t>但是如果网络中</a:t>
            </a:r>
            <a:r>
              <a:rPr lang="en-US" altLang="zh-CN"/>
              <a:t>VLAN</a:t>
            </a:r>
            <a:r>
              <a:rPr lang="zh-CN" altLang="en-US"/>
              <a:t>的数量较多，为每个</a:t>
            </a:r>
            <a:r>
              <a:rPr lang="en-US" altLang="zh-CN"/>
              <a:t>VLAN</a:t>
            </a:r>
            <a:r>
              <a:rPr lang="zh-CN" altLang="en-US"/>
              <a:t>执行独立的生成树计算将耗费交换机大量的资源。</a:t>
            </a:r>
          </a:p>
        </p:txBody>
      </p:sp>
      <p:sp>
        <p:nvSpPr>
          <p:cNvPr id="4" name="幻灯片图像占位符 3"/>
          <p:cNvSpPr>
            <a:spLocks noGrp="1" noRot="1" noChangeAspect="1"/>
          </p:cNvSpPr>
          <p:nvPr>
            <p:ph type="sldImg"/>
          </p:nvPr>
        </p:nvSpPr>
        <p:spPr>
          <a:xfrm>
            <a:off x="431800" y="779463"/>
            <a:ext cx="5934075" cy="3338512"/>
          </a:xfr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堆叠</a:t>
            </a:r>
            <a:r>
              <a:rPr lang="en-US" altLang="zh-CN"/>
              <a:t>iStack</a:t>
            </a:r>
            <a:r>
              <a:rPr lang="zh-CN" altLang="en-US"/>
              <a:t>（</a:t>
            </a:r>
            <a:r>
              <a:rPr lang="en-US" altLang="zh-CN"/>
              <a:t>Intelligent Stack</a:t>
            </a:r>
            <a:r>
              <a:rPr lang="zh-CN" altLang="en-US"/>
              <a:t>），是指将多台支持堆叠特性的交换机设备组合在一起，从逻辑上组合成一台整体交换设备。</a:t>
            </a:r>
          </a:p>
          <a:p>
            <a:r>
              <a:rPr lang="zh-CN" altLang="en-US"/>
              <a:t>堆叠系统建立之前，每台交换机都是单独的实体，有自己独立的</a:t>
            </a:r>
            <a:r>
              <a:rPr lang="en-US" altLang="zh-CN"/>
              <a:t>IP</a:t>
            </a:r>
            <a:r>
              <a:rPr lang="zh-CN" altLang="en-US"/>
              <a:t>地址和</a:t>
            </a:r>
            <a:r>
              <a:rPr lang="en-US" altLang="zh-CN"/>
              <a:t>MAC</a:t>
            </a:r>
            <a:r>
              <a:rPr lang="zh-CN" altLang="en-US"/>
              <a:t>地址，对外体现为多台交换机，用户需要独立的管理所有的交换机；堆叠建立后堆叠成员对外体现为一个统一的逻辑实体，用户使用一个</a:t>
            </a:r>
            <a:r>
              <a:rPr lang="en-US" altLang="zh-CN"/>
              <a:t>IP</a:t>
            </a:r>
            <a:r>
              <a:rPr lang="zh-CN" altLang="en-US"/>
              <a:t>地址对堆叠中的所有交换机进行管理和维护，如图所示。通过交换机堆叠，可以实现网络大数据量转发和网络高可靠性，同时简化网络管理。</a:t>
            </a:r>
          </a:p>
          <a:p>
            <a:endParaRPr lang="zh-CN" altLang="en-US" dirty="0"/>
          </a:p>
        </p:txBody>
      </p:sp>
      <p:sp>
        <p:nvSpPr>
          <p:cNvPr id="4" name="幻灯片图像占位符 3"/>
          <p:cNvSpPr>
            <a:spLocks noGrp="1" noRot="1" noChangeAspect="1"/>
          </p:cNvSpPr>
          <p:nvPr>
            <p:ph type="sldImg"/>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如图所示</a:t>
            </a:r>
            <a:r>
              <a:rPr lang="en-US" altLang="zh-CN"/>
              <a:t>Switch3</a:t>
            </a:r>
            <a:r>
              <a:rPr lang="zh-CN" altLang="en-US"/>
              <a:t>采用双上行方式分别连接到</a:t>
            </a:r>
            <a:r>
              <a:rPr lang="en-US" altLang="zh-CN"/>
              <a:t>FW1</a:t>
            </a:r>
            <a:r>
              <a:rPr lang="zh-CN" altLang="en-US"/>
              <a:t>和</a:t>
            </a:r>
            <a:r>
              <a:rPr lang="en-US" altLang="zh-CN"/>
              <a:t>FW2</a:t>
            </a:r>
            <a:r>
              <a:rPr lang="zh-CN" altLang="en-US"/>
              <a:t>，这样</a:t>
            </a:r>
            <a:r>
              <a:rPr lang="en-US" altLang="zh-CN"/>
              <a:t>Switch3</a:t>
            </a:r>
            <a:r>
              <a:rPr lang="zh-CN" altLang="en-US"/>
              <a:t>到达上行的链路就可以有两条。在</a:t>
            </a:r>
            <a:r>
              <a:rPr lang="en-US" altLang="zh-CN"/>
              <a:t>Switch3</a:t>
            </a:r>
            <a:r>
              <a:rPr lang="zh-CN" altLang="en-US"/>
              <a:t>上配置</a:t>
            </a:r>
            <a:r>
              <a:rPr lang="en-US" altLang="zh-CN"/>
              <a:t>Smart Link</a:t>
            </a:r>
            <a:r>
              <a:rPr lang="zh-CN" altLang="en-US"/>
              <a:t>，正常情况下，可实现</a:t>
            </a:r>
            <a:r>
              <a:rPr lang="en-US" altLang="zh-CN"/>
              <a:t>Port2</a:t>
            </a:r>
            <a:r>
              <a:rPr lang="zh-CN" altLang="en-US"/>
              <a:t>所在链路作为</a:t>
            </a:r>
            <a:r>
              <a:rPr lang="en-US" altLang="zh-CN"/>
              <a:t>Port1</a:t>
            </a:r>
            <a:r>
              <a:rPr lang="zh-CN" altLang="en-US"/>
              <a:t>所在链路的备份。若</a:t>
            </a:r>
            <a:r>
              <a:rPr lang="en-US" altLang="zh-CN"/>
              <a:t>Port1</a:t>
            </a:r>
            <a:r>
              <a:rPr lang="zh-CN" altLang="en-US"/>
              <a:t>所在的链路发生故障，</a:t>
            </a:r>
            <a:r>
              <a:rPr lang="en-US" altLang="zh-CN"/>
              <a:t>Smart Link</a:t>
            </a:r>
            <a:r>
              <a:rPr lang="zh-CN" altLang="en-US"/>
              <a:t>会自动将数据流量切换到</a:t>
            </a:r>
            <a:r>
              <a:rPr lang="en-US" altLang="zh-CN"/>
              <a:t>Port2</a:t>
            </a:r>
            <a:r>
              <a:rPr lang="zh-CN" altLang="en-US"/>
              <a:t>所在链路，保证业务不中断。</a:t>
            </a:r>
          </a:p>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en-US" altLang="zh-CN"/>
              <a:t>A</a:t>
            </a:r>
            <a:endParaRPr lang="en-US" altLang="zh-CN" dirty="0"/>
          </a:p>
        </p:txBody>
      </p:sp>
      <p:sp>
        <p:nvSpPr>
          <p:cNvPr id="4" name="幻灯片图像占位符 3"/>
          <p:cNvSpPr>
            <a:spLocks noGrp="1" noRot="1" noChangeAspect="1"/>
          </p:cNvSpPr>
          <p:nvPr>
            <p:ph type="sldImg"/>
          </p:nvPr>
        </p:nvSpPr>
        <p:spPr>
          <a:xfrm>
            <a:off x="431800" y="779463"/>
            <a:ext cx="5934075" cy="3338512"/>
          </a:xfr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254490"/>
          <a:ext cx="10460715"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351079">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mn-lt"/>
                          <a:ea typeface="+mn-ea"/>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mn-lt"/>
                          <a:ea typeface="+mn-ea"/>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mn-lt"/>
                          <a:ea typeface="+mn-ea"/>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mn-lt"/>
                          <a:ea typeface="+mn-ea"/>
                        </a:rPr>
                        <a:t>课程版本</a:t>
                      </a:r>
                      <a:endParaRPr kumimoji="1" lang="en-US" altLang="zh-CN" sz="1800" b="1" i="0" u="none" strike="noStrike" cap="none" normalizeH="0" baseline="0" dirty="0">
                        <a:ln>
                          <a:noFill/>
                        </a:ln>
                        <a:solidFill>
                          <a:schemeClr val="tx1"/>
                        </a:solidFill>
                        <a:effectLst/>
                        <a:latin typeface="+mn-lt"/>
                        <a:ea typeface="+mn-ea"/>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nvGraphicFramePr>
        <p:xfrm>
          <a:off x="1007140" y="2776902"/>
          <a:ext cx="10460714" cy="303847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351079">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mn-lt"/>
                          <a:ea typeface="+mn-ea"/>
                        </a:rPr>
                        <a:t>作者</a:t>
                      </a:r>
                      <a:r>
                        <a:rPr kumimoji="1" lang="en-US" altLang="zh-CN" sz="1800" b="1" i="0" u="none" strike="noStrike" cap="none" normalizeH="0" baseline="0" dirty="0">
                          <a:ln>
                            <a:noFill/>
                          </a:ln>
                          <a:solidFill>
                            <a:schemeClr val="tx1"/>
                          </a:solidFill>
                          <a:effectLst/>
                          <a:latin typeface="+mn-lt"/>
                          <a:ea typeface="+mn-ea"/>
                        </a:rPr>
                        <a:t>/</a:t>
                      </a:r>
                      <a:r>
                        <a:rPr kumimoji="1" lang="zh-CN" altLang="en-US" sz="1800" b="1" i="0" u="none" strike="noStrike" cap="none" normalizeH="0" baseline="0" dirty="0">
                          <a:ln>
                            <a:noFill/>
                          </a:ln>
                          <a:solidFill>
                            <a:schemeClr val="tx1"/>
                          </a:solidFill>
                          <a:effectLst/>
                          <a:latin typeface="+mn-lt"/>
                          <a:ea typeface="+mn-ea"/>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mn-lt"/>
                          <a:ea typeface="+mn-ea"/>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mn-lt"/>
                          <a:ea typeface="+mn-ea"/>
                        </a:rPr>
                        <a:t>审核人</a:t>
                      </a:r>
                      <a:r>
                        <a:rPr kumimoji="1" lang="en-US" altLang="zh-CN" sz="1800" b="1" i="0" u="none" strike="noStrike" cap="none" normalizeH="0" baseline="0" dirty="0">
                          <a:ln>
                            <a:noFill/>
                          </a:ln>
                          <a:solidFill>
                            <a:schemeClr val="tx1"/>
                          </a:solidFill>
                          <a:effectLst/>
                          <a:latin typeface="+mn-lt"/>
                          <a:ea typeface="+mn-ea"/>
                        </a:rPr>
                        <a:t>/</a:t>
                      </a:r>
                      <a:r>
                        <a:rPr kumimoji="1" lang="zh-CN" altLang="en-US" sz="1800" b="1" i="0" u="none" strike="noStrike" cap="none" normalizeH="0" baseline="0" dirty="0">
                          <a:ln>
                            <a:noFill/>
                          </a:ln>
                          <a:solidFill>
                            <a:schemeClr val="tx1"/>
                          </a:solidFill>
                          <a:effectLst/>
                          <a:latin typeface="+mn-lt"/>
                          <a:ea typeface="+mn-ea"/>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zh-CN" sz="1800" b="1" i="0" u="none" strike="noStrike" cap="none" normalizeH="0" baseline="0" dirty="0">
                          <a:ln>
                            <a:noFill/>
                          </a:ln>
                          <a:solidFill>
                            <a:schemeClr val="tx1"/>
                          </a:solidFill>
                          <a:effectLst/>
                          <a:latin typeface="+mn-lt"/>
                          <a:ea typeface="+mn-ea"/>
                        </a:rPr>
                        <a:t>新开发/优化</a:t>
                      </a:r>
                      <a:endParaRPr kumimoji="1" lang="zh-CN" altLang="en-US" sz="1800" b="1" i="0" u="none" strike="noStrike" cap="none" normalizeH="0" baseline="0" dirty="0">
                        <a:ln>
                          <a:noFill/>
                        </a:ln>
                        <a:solidFill>
                          <a:schemeClr val="tx1"/>
                        </a:solidFill>
                        <a:effectLst/>
                        <a:latin typeface="+mn-lt"/>
                        <a:ea typeface="+mn-ea"/>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文本占位符 7"/>
          <p:cNvSpPr>
            <a:spLocks noGrp="1"/>
          </p:cNvSpPr>
          <p:nvPr>
            <p:ph type="body" sz="quarter" idx="17" hasCustomPrompt="1"/>
          </p:nvPr>
        </p:nvSpPr>
        <p:spPr>
          <a:xfrm>
            <a:off x="1007139" y="1825692"/>
            <a:ext cx="3119030" cy="504887"/>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825692"/>
            <a:ext cx="1967450" cy="504887"/>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825692"/>
            <a:ext cx="3023155" cy="504887"/>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825692"/>
            <a:ext cx="2351079" cy="504887"/>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373862"/>
            <a:ext cx="3119128"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373862"/>
            <a:ext cx="1967450"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11" name="文本占位符 7"/>
          <p:cNvSpPr>
            <a:spLocks noGrp="1"/>
          </p:cNvSpPr>
          <p:nvPr>
            <p:ph type="body" sz="quarter" idx="15" hasCustomPrompt="1"/>
          </p:nvPr>
        </p:nvSpPr>
        <p:spPr>
          <a:xfrm>
            <a:off x="6093619" y="3373862"/>
            <a:ext cx="3023155"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337858"/>
            <a:ext cx="2351342" cy="504056"/>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ln>
        </p:spPr>
        <p:txBody>
          <a:bodyPr lIns="78227" tIns="39112" rIns="78227" bIns="39112" anchor="ctr"/>
          <a:lstStyle/>
          <a:p>
            <a:pPr algn="l" defTabSz="1001395" rtl="0" eaLnBrk="0" fontAlgn="t" hangingPunct="0">
              <a:spcBef>
                <a:spcPct val="0"/>
              </a:spcBef>
              <a:spcAft>
                <a:spcPct val="0"/>
              </a:spcAft>
            </a:pPr>
            <a:r>
              <a:rPr lang="zh-CN" altLang="en-US" sz="3500" b="1" kern="1200">
                <a:solidFill>
                  <a:schemeClr val="tx1">
                    <a:lumMod val="75000"/>
                    <a:lumOff val="25000"/>
                  </a:schemeClr>
                </a:solidFill>
                <a:latin typeface="+mn-lt"/>
                <a:ea typeface="+mn-ea"/>
                <a:cs typeface="Arial" panose="020B0604020202020204" pitchFamily="34" charset="0"/>
              </a:rPr>
              <a:t>修订记录</a:t>
            </a:r>
            <a:endParaRPr lang="zh-CN" altLang="en-US" sz="3500" b="1" kern="1200" dirty="0">
              <a:solidFill>
                <a:schemeClr val="tx1">
                  <a:lumMod val="75000"/>
                  <a:lumOff val="25000"/>
                </a:schemeClr>
              </a:solidFill>
              <a:latin typeface="+mn-lt"/>
              <a:ea typeface="+mn-ea"/>
              <a:cs typeface="Arial" panose="020B0604020202020204" pitchFamily="34" charset="0"/>
            </a:endParaRP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ln>
        </p:spPr>
        <p:txBody>
          <a:bodyPr wrap="square">
            <a:spAutoFit/>
          </a:bodyPr>
          <a:lstStyle/>
          <a:p>
            <a:pPr>
              <a:spcBef>
                <a:spcPct val="50000"/>
              </a:spcBef>
            </a:pPr>
            <a:r>
              <a:rPr lang="zh-CN" altLang="en-US" sz="4000" i="0">
                <a:solidFill>
                  <a:schemeClr val="bg2">
                    <a:lumMod val="50000"/>
                  </a:schemeClr>
                </a:solidFill>
                <a:latin typeface="+mn-lt"/>
                <a:ea typeface="+mn-ea"/>
                <a:cs typeface="Arial" panose="020B0604020202020204" pitchFamily="34" charset="0"/>
              </a:rPr>
              <a:t>本页</a:t>
            </a:r>
            <a:r>
              <a:rPr lang="zh-CN" altLang="en-US" sz="4000" i="0" dirty="0">
                <a:solidFill>
                  <a:schemeClr val="bg2">
                    <a:lumMod val="50000"/>
                  </a:schemeClr>
                </a:solidFill>
                <a:latin typeface="+mn-lt"/>
                <a:ea typeface="+mn-ea"/>
                <a:cs typeface="Arial" panose="020B0604020202020204" pitchFamily="34" charset="0"/>
              </a:rPr>
              <a:t>不打印</a:t>
            </a:r>
          </a:p>
        </p:txBody>
      </p:sp>
      <p:sp>
        <p:nvSpPr>
          <p:cNvPr id="15" name="文本占位符 7"/>
          <p:cNvSpPr>
            <a:spLocks noGrp="1"/>
          </p:cNvSpPr>
          <p:nvPr>
            <p:ph type="body" sz="quarter" idx="21" hasCustomPrompt="1"/>
          </p:nvPr>
        </p:nvSpPr>
        <p:spPr>
          <a:xfrm>
            <a:off x="1007042" y="3877918"/>
            <a:ext cx="3119128"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3877918"/>
            <a:ext cx="1967450"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17" name="文本占位符 7"/>
          <p:cNvSpPr>
            <a:spLocks noGrp="1"/>
          </p:cNvSpPr>
          <p:nvPr>
            <p:ph type="body" sz="quarter" idx="23" hasCustomPrompt="1"/>
          </p:nvPr>
        </p:nvSpPr>
        <p:spPr>
          <a:xfrm>
            <a:off x="6093619" y="3877918"/>
            <a:ext cx="3023155"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841914"/>
            <a:ext cx="2351342" cy="504056"/>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345970"/>
            <a:ext cx="3119128"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345970"/>
            <a:ext cx="1967450"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21" name="文本占位符 7"/>
          <p:cNvSpPr>
            <a:spLocks noGrp="1"/>
          </p:cNvSpPr>
          <p:nvPr>
            <p:ph type="body" sz="quarter" idx="27" hasCustomPrompt="1"/>
          </p:nvPr>
        </p:nvSpPr>
        <p:spPr>
          <a:xfrm>
            <a:off x="6093619" y="4345970"/>
            <a:ext cx="3023155"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345970"/>
            <a:ext cx="2351342"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886030"/>
            <a:ext cx="3119128"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886030"/>
            <a:ext cx="1967450"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25" name="文本占位符 7"/>
          <p:cNvSpPr>
            <a:spLocks noGrp="1"/>
          </p:cNvSpPr>
          <p:nvPr>
            <p:ph type="body" sz="quarter" idx="31" hasCustomPrompt="1"/>
          </p:nvPr>
        </p:nvSpPr>
        <p:spPr>
          <a:xfrm>
            <a:off x="6093619" y="4886030"/>
            <a:ext cx="3023155"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886030"/>
            <a:ext cx="2351342"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354082"/>
            <a:ext cx="3119128"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354082"/>
            <a:ext cx="1967450"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en-US" altLang="zh-CN" dirty="0"/>
              <a:t>2015.01.25</a:t>
            </a:r>
            <a:endParaRPr lang="zh-CN" altLang="en-US" dirty="0"/>
          </a:p>
        </p:txBody>
      </p:sp>
      <p:sp>
        <p:nvSpPr>
          <p:cNvPr id="29" name="文本占位符 7"/>
          <p:cNvSpPr>
            <a:spLocks noGrp="1"/>
          </p:cNvSpPr>
          <p:nvPr>
            <p:ph type="body" sz="quarter" idx="35" hasCustomPrompt="1"/>
          </p:nvPr>
        </p:nvSpPr>
        <p:spPr>
          <a:xfrm>
            <a:off x="6093619" y="5354082"/>
            <a:ext cx="3023155"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354082"/>
            <a:ext cx="2351342" cy="468052"/>
          </a:xfrm>
          <a:prstGeom prst="rect">
            <a:avLst/>
          </a:prstGeom>
        </p:spPr>
        <p:txBody>
          <a:bodyPr anchor="ctr"/>
          <a:lstStyle>
            <a:lvl1pPr algn="ctr">
              <a:lnSpc>
                <a:spcPct val="100000"/>
              </a:lnSpc>
              <a:buNone/>
              <a:defRPr sz="1600">
                <a:latin typeface="+mn-lt"/>
                <a:ea typeface="+mn-ea"/>
                <a:cs typeface="Arial" panose="020B0604020202020204" pitchFamily="34" charset="0"/>
              </a:defRPr>
            </a:lvl1pPr>
          </a:lstStyle>
          <a:p>
            <a:pPr lvl="0"/>
            <a:r>
              <a:rPr lang="zh-CN" altLang="en-US" dirty="0"/>
              <a:t>优化</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总标题">
    <p:spTree>
      <p:nvGrpSpPr>
        <p:cNvPr id="1" name=""/>
        <p:cNvGrpSpPr/>
        <p:nvPr/>
      </p:nvGrpSpPr>
      <p:grpSpPr>
        <a:xfrm>
          <a:off x="0" y="0"/>
          <a:ext cx="0" cy="0"/>
          <a:chOff x="0" y="0"/>
          <a:chExt cx="0" cy="0"/>
        </a:xfrm>
      </p:grpSpPr>
      <p:pic>
        <p:nvPicPr>
          <p:cNvPr id="8" name="Picture 4"/>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3542"/>
          <a:stretch>
            <a:fillRect/>
          </a:stretch>
        </p:blipFill>
        <p:spPr bwMode="auto">
          <a:xfrm>
            <a:off x="0" y="42"/>
            <a:ext cx="12187239" cy="685791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41"/>
          <p:cNvSpPr>
            <a:spLocks noGrp="1" noChangeArrowheads="1"/>
          </p:cNvSpPr>
          <p:nvPr>
            <p:ph type="ctrTitle" sz="quarter"/>
          </p:nvPr>
        </p:nvSpPr>
        <p:spPr>
          <a:xfrm>
            <a:off x="1030893" y="4957156"/>
            <a:ext cx="10437489" cy="831600"/>
          </a:xfrm>
          <a:ln algn="ctr"/>
        </p:spPr>
        <p:txBody>
          <a:bodyPr lIns="87802" tIns="43901" rIns="87802" bIns="43901"/>
          <a:lstStyle>
            <a:lvl1pPr algn="l" defTabSz="801370" rtl="0" eaLnBrk="0" fontAlgn="auto" hangingPunct="0">
              <a:spcBef>
                <a:spcPct val="0"/>
              </a:spcBef>
              <a:spcAft>
                <a:spcPct val="0"/>
              </a:spcAft>
              <a:defRPr lang="zh-CN" altLang="en-US" sz="4300" b="1" kern="1200" dirty="0">
                <a:solidFill>
                  <a:srgbClr val="0070C0"/>
                </a:solidFill>
                <a:latin typeface="+mn-lt"/>
                <a:ea typeface="+mn-ea"/>
                <a:cs typeface="Arial" panose="020B0604020202020204" pitchFamily="34" charset="0"/>
              </a:defRPr>
            </a:lvl1pPr>
          </a:lstStyle>
          <a:p>
            <a:r>
              <a:rPr lang="zh-CN" altLang="en-US" dirty="0"/>
              <a:t>单击此处编辑母版标题样式</a:t>
            </a:r>
          </a:p>
        </p:txBody>
      </p:sp>
      <p:sp>
        <p:nvSpPr>
          <p:cNvPr id="10" name="文本占位符 29"/>
          <p:cNvSpPr>
            <a:spLocks noGrp="1"/>
          </p:cNvSpPr>
          <p:nvPr>
            <p:ph type="body" sz="quarter" idx="10"/>
          </p:nvPr>
        </p:nvSpPr>
        <p:spPr>
          <a:xfrm>
            <a:off x="1030892" y="5816120"/>
            <a:ext cx="6909301" cy="493200"/>
          </a:xfrm>
        </p:spPr>
        <p:txBody>
          <a:bodyPr/>
          <a:lstStyle>
            <a:lvl1pPr marL="0" indent="0" algn="l" defTabSz="801370" rtl="0" eaLnBrk="0" fontAlgn="base" hangingPunct="0">
              <a:spcBef>
                <a:spcPct val="0"/>
              </a:spcBef>
              <a:spcAft>
                <a:spcPct val="0"/>
              </a:spcAft>
              <a:buNone/>
              <a:defRPr lang="zh-CN" altLang="en-US" sz="2000" kern="1200" dirty="0" smtClean="0">
                <a:solidFill>
                  <a:srgbClr val="0070C0"/>
                </a:solidFill>
                <a:latin typeface="+mn-lt"/>
                <a:ea typeface="+mn-ea"/>
                <a:cs typeface="Arial" panose="020B0604020202020204" pitchFamily="34" charset="0"/>
              </a:defRPr>
            </a:lvl1pPr>
          </a:lstStyle>
          <a:p>
            <a:pPr lvl="0"/>
            <a:r>
              <a:rPr lang="zh-CN" altLang="en-US" dirty="0"/>
              <a:t>单击此处编辑母版文本样式</a:t>
            </a:r>
          </a:p>
        </p:txBody>
      </p:sp>
      <p:sp>
        <p:nvSpPr>
          <p:cNvPr id="11" name="Rectangle 54"/>
          <p:cNvSpPr>
            <a:spLocks noChangeArrowheads="1"/>
          </p:cNvSpPr>
          <p:nvPr userDrawn="1"/>
        </p:nvSpPr>
        <p:spPr bwMode="auto">
          <a:xfrm>
            <a:off x="947058" y="6500581"/>
            <a:ext cx="2572620" cy="265520"/>
          </a:xfrm>
          <a:prstGeom prst="rect">
            <a:avLst/>
          </a:prstGeom>
          <a:noFill/>
          <a:ln w="9525" algn="ctr">
            <a:noFill/>
            <a:miter lim="800000"/>
          </a:ln>
          <a:effectLst/>
        </p:spPr>
        <p:txBody>
          <a:bodyPr wrap="none" lIns="80070" tIns="40036" rIns="80070" bIns="40036">
            <a:spAutoFit/>
          </a:bodyPr>
          <a:lstStyle/>
          <a:p>
            <a:pPr defTabSz="801370" eaLnBrk="0" fontAlgn="base" hangingPunct="0">
              <a:defRPr/>
            </a:pPr>
            <a:r>
              <a:rPr lang="zh-CN" altLang="en-US" sz="1200" baseline="0" dirty="0">
                <a:latin typeface="+mn-lt"/>
                <a:ea typeface="+mn-ea"/>
                <a:cs typeface="Arial" panose="020B0604020202020204" pitchFamily="34" charset="0"/>
              </a:rPr>
              <a:t>版权所有</a:t>
            </a:r>
            <a:r>
              <a:rPr lang="en-US" altLang="zh-CN" sz="1200" baseline="0">
                <a:latin typeface="+mn-lt"/>
                <a:ea typeface="+mn-ea"/>
                <a:cs typeface="Arial" panose="020B0604020202020204" pitchFamily="34" charset="0"/>
              </a:rPr>
              <a:t>© 2020 </a:t>
            </a:r>
            <a:r>
              <a:rPr lang="zh-CN" altLang="en-US" sz="1200" baseline="0" dirty="0">
                <a:latin typeface="+mn-lt"/>
                <a:ea typeface="+mn-ea"/>
                <a:cs typeface="Arial" panose="020B0604020202020204" pitchFamily="34" charset="0"/>
              </a:rPr>
              <a:t>华为技术有限公司</a:t>
            </a: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8026" y="251069"/>
            <a:ext cx="1964832" cy="43010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前言">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469565" y="1233488"/>
            <a:ext cx="11274935" cy="4679788"/>
          </a:xfrm>
        </p:spPr>
        <p:txBody>
          <a:bodyPr/>
          <a:lstStyle>
            <a:lvl1pPr algn="just" fontAlgn="auto">
              <a:buClrTx/>
              <a:defRPr>
                <a:latin typeface="+mn-lt"/>
                <a:ea typeface="+mn-ea"/>
                <a:cs typeface="Arial" panose="020B0604020202020204" pitchFamily="34" charset="0"/>
              </a:defRPr>
            </a:lvl1pPr>
            <a:lvl2pPr marL="654685" indent="-252095" fontAlgn="auto">
              <a:buClrTx/>
              <a:buSzPct val="100000"/>
              <a:buFont typeface="Huawei Sans" panose="020C0503030203020204" pitchFamily="34" charset="0"/>
              <a:buChar char="▫"/>
              <a:defRPr>
                <a:solidFill>
                  <a:schemeClr val="tx1"/>
                </a:solidFill>
                <a:latin typeface="+mn-lt"/>
              </a:defRPr>
            </a:lvl2pPr>
            <a:lvl3pPr fontAlgn="auto">
              <a:defRPr lang="zh-CN" altLang="en-US" dirty="0" smtClean="0">
                <a:solidFill>
                  <a:schemeClr val="tx1"/>
                </a:solidFill>
                <a:latin typeface="+mn-lt"/>
                <a:ea typeface="+mn-ea"/>
              </a:defRPr>
            </a:lvl3pPr>
            <a:lvl4pPr fontAlgn="auto">
              <a:defRPr>
                <a:latin typeface="+mn-lt"/>
              </a:defRPr>
            </a:lvl4pPr>
            <a:lvl5pPr marL="1802765" indent="-201295" fontAlgn="auto">
              <a:buClrTx/>
              <a:buFont typeface="Huawei Sans" panose="020C0503030203020204" pitchFamily="34" charset="0"/>
              <a:buChar char="~"/>
              <a:defRPr>
                <a:latin typeface="+mn-lt"/>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sp>
        <p:nvSpPr>
          <p:cNvPr id="16" name="TextBox 10"/>
          <p:cNvSpPr txBox="1"/>
          <p:nvPr userDrawn="1"/>
        </p:nvSpPr>
        <p:spPr bwMode="auto">
          <a:xfrm>
            <a:off x="1594877" y="408780"/>
            <a:ext cx="1664752" cy="639559"/>
          </a:xfrm>
          <a:prstGeom prst="rect">
            <a:avLst/>
          </a:prstGeom>
          <a:noFill/>
          <a:ln w="9525">
            <a:noFill/>
            <a:miter lim="800000"/>
          </a:ln>
        </p:spPr>
        <p:txBody>
          <a:bodyPr wrap="square" lIns="99941" tIns="49967" rIns="99941" bIns="49967" rtlCol="0">
            <a:spAutoFit/>
          </a:bodyPr>
          <a:lstStyle/>
          <a:p>
            <a:pPr algn="l" defTabSz="1001395" eaLnBrk="0" fontAlgn="auto" hangingPunct="0"/>
            <a:r>
              <a:rPr lang="zh-CN" altLang="en-US" sz="3500" b="1" dirty="0">
                <a:solidFill>
                  <a:schemeClr val="tx1"/>
                </a:solidFill>
                <a:latin typeface="+mn-lt"/>
                <a:ea typeface="+mn-ea"/>
                <a:cs typeface="Arial" panose="020B0604020202020204" pitchFamily="34" charset="0"/>
              </a:rPr>
              <a:t>前言</a:t>
            </a:r>
          </a:p>
        </p:txBody>
      </p:sp>
      <p:sp>
        <p:nvSpPr>
          <p:cNvPr id="17" name="Freeform 9"/>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18" name="Freeform 11"/>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grpSp>
        <p:nvGrpSpPr>
          <p:cNvPr id="19" name="组合 18"/>
          <p:cNvGrpSpPr/>
          <p:nvPr userDrawn="1"/>
        </p:nvGrpSpPr>
        <p:grpSpPr>
          <a:xfrm>
            <a:off x="335229" y="498828"/>
            <a:ext cx="627913" cy="459460"/>
            <a:chOff x="3275013" y="1363663"/>
            <a:chExt cx="5645150" cy="4129087"/>
          </a:xfrm>
          <a:solidFill>
            <a:schemeClr val="bg1"/>
          </a:solidFill>
        </p:grpSpPr>
        <p:sp>
          <p:nvSpPr>
            <p:cNvPr id="20"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21" name="Freeform 7"/>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22" name="Freeform 8"/>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23" name="Freeform 9"/>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24" name="Freeform 10"/>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grpSp>
      <p:sp>
        <p:nvSpPr>
          <p:cNvPr id="25" name="Freeform 6"/>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1" fmla="*/ 7021 w 10000"/>
              <a:gd name="connsiteY0-2" fmla="*/ 0 h 10000"/>
              <a:gd name="connsiteX1-3" fmla="*/ 0 w 10000"/>
              <a:gd name="connsiteY1-4" fmla="*/ 0 h 10000"/>
              <a:gd name="connsiteX2-5" fmla="*/ 197 w 10000"/>
              <a:gd name="connsiteY2-6" fmla="*/ 5024 h 10000"/>
              <a:gd name="connsiteX3-7" fmla="*/ 0 w 10000"/>
              <a:gd name="connsiteY3-8" fmla="*/ 10000 h 10000"/>
              <a:gd name="connsiteX4-9" fmla="*/ 10000 w 10000"/>
              <a:gd name="connsiteY4-10" fmla="*/ 10000 h 10000"/>
              <a:gd name="connsiteX5-11" fmla="*/ 7736 w 10000"/>
              <a:gd name="connsiteY5-12" fmla="*/ 5574 h 10000"/>
              <a:gd name="connsiteX6-13" fmla="*/ 7021 w 10000"/>
              <a:gd name="connsiteY6-14" fmla="*/ 0 h 10000"/>
              <a:gd name="connsiteX0-15" fmla="*/ 7021 w 7736"/>
              <a:gd name="connsiteY0-16" fmla="*/ 0 h 10038"/>
              <a:gd name="connsiteX1-17" fmla="*/ 0 w 7736"/>
              <a:gd name="connsiteY1-18" fmla="*/ 0 h 10038"/>
              <a:gd name="connsiteX2-19" fmla="*/ 197 w 7736"/>
              <a:gd name="connsiteY2-20" fmla="*/ 5024 h 10038"/>
              <a:gd name="connsiteX3-21" fmla="*/ 0 w 7736"/>
              <a:gd name="connsiteY3-22" fmla="*/ 10000 h 10038"/>
              <a:gd name="connsiteX4-23" fmla="*/ 7017 w 7736"/>
              <a:gd name="connsiteY4-24" fmla="*/ 10038 h 10038"/>
              <a:gd name="connsiteX5-25" fmla="*/ 7736 w 7736"/>
              <a:gd name="connsiteY5-26" fmla="*/ 5574 h 10038"/>
              <a:gd name="connsiteX6-27" fmla="*/ 7021 w 7736"/>
              <a:gd name="connsiteY6-28" fmla="*/ 0 h 10038"/>
              <a:gd name="connsiteX0-29" fmla="*/ 9076 w 9316"/>
              <a:gd name="connsiteY0-30" fmla="*/ 0 h 10000"/>
              <a:gd name="connsiteX1-31" fmla="*/ 0 w 9316"/>
              <a:gd name="connsiteY1-32" fmla="*/ 0 h 10000"/>
              <a:gd name="connsiteX2-33" fmla="*/ 255 w 9316"/>
              <a:gd name="connsiteY2-34" fmla="*/ 5005 h 10000"/>
              <a:gd name="connsiteX3-35" fmla="*/ 0 w 9316"/>
              <a:gd name="connsiteY3-36" fmla="*/ 9962 h 10000"/>
              <a:gd name="connsiteX4-37" fmla="*/ 9071 w 9316"/>
              <a:gd name="connsiteY4-38" fmla="*/ 10000 h 10000"/>
              <a:gd name="connsiteX5-39" fmla="*/ 9316 w 9316"/>
              <a:gd name="connsiteY5-40" fmla="*/ 5668 h 10000"/>
              <a:gd name="connsiteX6-41" fmla="*/ 9076 w 9316"/>
              <a:gd name="connsiteY6-42" fmla="*/ 0 h 10000"/>
              <a:gd name="connsiteX0-43" fmla="*/ 9742 w 10000"/>
              <a:gd name="connsiteY0-44" fmla="*/ 0 h 10000"/>
              <a:gd name="connsiteX1-45" fmla="*/ 0 w 10000"/>
              <a:gd name="connsiteY1-46" fmla="*/ 0 h 10000"/>
              <a:gd name="connsiteX2-47" fmla="*/ 274 w 10000"/>
              <a:gd name="connsiteY2-48" fmla="*/ 5005 h 10000"/>
              <a:gd name="connsiteX3-49" fmla="*/ 0 w 10000"/>
              <a:gd name="connsiteY3-50" fmla="*/ 9962 h 10000"/>
              <a:gd name="connsiteX4-51" fmla="*/ 9737 w 10000"/>
              <a:gd name="connsiteY4-52" fmla="*/ 10000 h 10000"/>
              <a:gd name="connsiteX5-53" fmla="*/ 10000 w 10000"/>
              <a:gd name="connsiteY5-54" fmla="*/ 5668 h 10000"/>
              <a:gd name="connsiteX6-55" fmla="*/ 9742 w 10000"/>
              <a:gd name="connsiteY6-56" fmla="*/ 0 h 10000"/>
              <a:gd name="connsiteX0-57" fmla="*/ 9742 w 9877"/>
              <a:gd name="connsiteY0-58" fmla="*/ 0 h 10000"/>
              <a:gd name="connsiteX1-59" fmla="*/ 0 w 9877"/>
              <a:gd name="connsiteY1-60" fmla="*/ 0 h 10000"/>
              <a:gd name="connsiteX2-61" fmla="*/ 274 w 9877"/>
              <a:gd name="connsiteY2-62" fmla="*/ 5005 h 10000"/>
              <a:gd name="connsiteX3-63" fmla="*/ 0 w 9877"/>
              <a:gd name="connsiteY3-64" fmla="*/ 9962 h 10000"/>
              <a:gd name="connsiteX4-65" fmla="*/ 9737 w 9877"/>
              <a:gd name="connsiteY4-66" fmla="*/ 10000 h 10000"/>
              <a:gd name="connsiteX5-67" fmla="*/ 9738 w 9877"/>
              <a:gd name="connsiteY5-68" fmla="*/ 5783 h 10000"/>
              <a:gd name="connsiteX6-69" fmla="*/ 9742 w 9877"/>
              <a:gd name="connsiteY6-70" fmla="*/ 0 h 10000"/>
              <a:gd name="connsiteX0-71" fmla="*/ 9863 w 9991"/>
              <a:gd name="connsiteY0-72" fmla="*/ 0 h 10000"/>
              <a:gd name="connsiteX1-73" fmla="*/ 0 w 9991"/>
              <a:gd name="connsiteY1-74" fmla="*/ 0 h 10000"/>
              <a:gd name="connsiteX2-75" fmla="*/ 277 w 9991"/>
              <a:gd name="connsiteY2-76" fmla="*/ 5005 h 10000"/>
              <a:gd name="connsiteX3-77" fmla="*/ 0 w 9991"/>
              <a:gd name="connsiteY3-78" fmla="*/ 9962 h 10000"/>
              <a:gd name="connsiteX4-79" fmla="*/ 9858 w 9991"/>
              <a:gd name="connsiteY4-80" fmla="*/ 10000 h 10000"/>
              <a:gd name="connsiteX5-81" fmla="*/ 9817 w 9991"/>
              <a:gd name="connsiteY5-82" fmla="*/ 5783 h 10000"/>
              <a:gd name="connsiteX6-83" fmla="*/ 9863 w 9991"/>
              <a:gd name="connsiteY6-84" fmla="*/ 0 h 10000"/>
              <a:gd name="connsiteX0-85" fmla="*/ 9872 w 10014"/>
              <a:gd name="connsiteY0-86" fmla="*/ 0 h 10000"/>
              <a:gd name="connsiteX1-87" fmla="*/ 0 w 10014"/>
              <a:gd name="connsiteY1-88" fmla="*/ 0 h 10000"/>
              <a:gd name="connsiteX2-89" fmla="*/ 277 w 10014"/>
              <a:gd name="connsiteY2-90" fmla="*/ 5005 h 10000"/>
              <a:gd name="connsiteX3-91" fmla="*/ 0 w 10014"/>
              <a:gd name="connsiteY3-92" fmla="*/ 9962 h 10000"/>
              <a:gd name="connsiteX4-93" fmla="*/ 9867 w 10014"/>
              <a:gd name="connsiteY4-94" fmla="*/ 10000 h 10000"/>
              <a:gd name="connsiteX5-95" fmla="*/ 9890 w 10014"/>
              <a:gd name="connsiteY5-96" fmla="*/ 5745 h 10000"/>
              <a:gd name="connsiteX6-97" fmla="*/ 9872 w 10014"/>
              <a:gd name="connsiteY6-98" fmla="*/ 0 h 10000"/>
              <a:gd name="connsiteX0-99" fmla="*/ 9872 w 10030"/>
              <a:gd name="connsiteY0-100" fmla="*/ 0 h 10000"/>
              <a:gd name="connsiteX1-101" fmla="*/ 0 w 10030"/>
              <a:gd name="connsiteY1-102" fmla="*/ 0 h 10000"/>
              <a:gd name="connsiteX2-103" fmla="*/ 277 w 10030"/>
              <a:gd name="connsiteY2-104" fmla="*/ 5005 h 10000"/>
              <a:gd name="connsiteX3-105" fmla="*/ 0 w 10030"/>
              <a:gd name="connsiteY3-106" fmla="*/ 9962 h 10000"/>
              <a:gd name="connsiteX4-107" fmla="*/ 9867 w 10030"/>
              <a:gd name="connsiteY4-108" fmla="*/ 10000 h 10000"/>
              <a:gd name="connsiteX5-109" fmla="*/ 9890 w 10030"/>
              <a:gd name="connsiteY5-110" fmla="*/ 5745 h 10000"/>
              <a:gd name="connsiteX6-111" fmla="*/ 9872 w 10030"/>
              <a:gd name="connsiteY6-112" fmla="*/ 0 h 10000"/>
              <a:gd name="connsiteX0-113" fmla="*/ 9872 w 9921"/>
              <a:gd name="connsiteY0-114" fmla="*/ 0 h 10000"/>
              <a:gd name="connsiteX1-115" fmla="*/ 0 w 9921"/>
              <a:gd name="connsiteY1-116" fmla="*/ 0 h 10000"/>
              <a:gd name="connsiteX2-117" fmla="*/ 277 w 9921"/>
              <a:gd name="connsiteY2-118" fmla="*/ 5005 h 10000"/>
              <a:gd name="connsiteX3-119" fmla="*/ 0 w 9921"/>
              <a:gd name="connsiteY3-120" fmla="*/ 9962 h 10000"/>
              <a:gd name="connsiteX4-121" fmla="*/ 9867 w 9921"/>
              <a:gd name="connsiteY4-122" fmla="*/ 10000 h 10000"/>
              <a:gd name="connsiteX5-123" fmla="*/ 9890 w 9921"/>
              <a:gd name="connsiteY5-124" fmla="*/ 5745 h 10000"/>
              <a:gd name="connsiteX6-125" fmla="*/ 9872 w 9921"/>
              <a:gd name="connsiteY6-126" fmla="*/ 0 h 10000"/>
              <a:gd name="connsiteX0-127" fmla="*/ 9951 w 9974"/>
              <a:gd name="connsiteY0-128" fmla="*/ 0 h 10000"/>
              <a:gd name="connsiteX1-129" fmla="*/ 0 w 9974"/>
              <a:gd name="connsiteY1-130" fmla="*/ 0 h 10000"/>
              <a:gd name="connsiteX2-131" fmla="*/ 279 w 9974"/>
              <a:gd name="connsiteY2-132" fmla="*/ 5005 h 10000"/>
              <a:gd name="connsiteX3-133" fmla="*/ 0 w 9974"/>
              <a:gd name="connsiteY3-134" fmla="*/ 9962 h 10000"/>
              <a:gd name="connsiteX4-135" fmla="*/ 9946 w 9974"/>
              <a:gd name="connsiteY4-136" fmla="*/ 10000 h 10000"/>
              <a:gd name="connsiteX5-137" fmla="*/ 9969 w 9974"/>
              <a:gd name="connsiteY5-138" fmla="*/ 5745 h 10000"/>
              <a:gd name="connsiteX6-139" fmla="*/ 9951 w 9974"/>
              <a:gd name="connsiteY6-140" fmla="*/ 0 h 10000"/>
              <a:gd name="connsiteX0-141" fmla="*/ 9977 w 10001"/>
              <a:gd name="connsiteY0-142" fmla="*/ 0 h 10000"/>
              <a:gd name="connsiteX1-143" fmla="*/ 0 w 10001"/>
              <a:gd name="connsiteY1-144" fmla="*/ 0 h 10000"/>
              <a:gd name="connsiteX2-145" fmla="*/ 280 w 10001"/>
              <a:gd name="connsiteY2-146" fmla="*/ 5005 h 10000"/>
              <a:gd name="connsiteX3-147" fmla="*/ 0 w 10001"/>
              <a:gd name="connsiteY3-148" fmla="*/ 9962 h 10000"/>
              <a:gd name="connsiteX4-149" fmla="*/ 9972 w 10001"/>
              <a:gd name="connsiteY4-150" fmla="*/ 10000 h 10000"/>
              <a:gd name="connsiteX5-151" fmla="*/ 9995 w 10001"/>
              <a:gd name="connsiteY5-152" fmla="*/ 5745 h 10000"/>
              <a:gd name="connsiteX6-153" fmla="*/ 9977 w 10001"/>
              <a:gd name="connsiteY6-154" fmla="*/ 0 h 10000"/>
              <a:gd name="connsiteX0-155" fmla="*/ 9977 w 10001"/>
              <a:gd name="connsiteY0-156" fmla="*/ 0 h 10000"/>
              <a:gd name="connsiteX1-157" fmla="*/ 0 w 10001"/>
              <a:gd name="connsiteY1-158" fmla="*/ 0 h 10000"/>
              <a:gd name="connsiteX2-159" fmla="*/ 280 w 10001"/>
              <a:gd name="connsiteY2-160" fmla="*/ 5005 h 10000"/>
              <a:gd name="connsiteX3-161" fmla="*/ 0 w 10001"/>
              <a:gd name="connsiteY3-162" fmla="*/ 9962 h 10000"/>
              <a:gd name="connsiteX4-163" fmla="*/ 9972 w 10001"/>
              <a:gd name="connsiteY4-164" fmla="*/ 10000 h 10000"/>
              <a:gd name="connsiteX5-165" fmla="*/ 9995 w 10001"/>
              <a:gd name="connsiteY5-166" fmla="*/ 5745 h 10000"/>
              <a:gd name="connsiteX6-167" fmla="*/ 9977 w 10001"/>
              <a:gd name="connsiteY6-168" fmla="*/ 0 h 10000"/>
              <a:gd name="connsiteX0-169" fmla="*/ 9977 w 10001"/>
              <a:gd name="connsiteY0-170" fmla="*/ 0 h 10000"/>
              <a:gd name="connsiteX1-171" fmla="*/ 0 w 10001"/>
              <a:gd name="connsiteY1-172" fmla="*/ 0 h 10000"/>
              <a:gd name="connsiteX2-173" fmla="*/ 280 w 10001"/>
              <a:gd name="connsiteY2-174" fmla="*/ 5005 h 10000"/>
              <a:gd name="connsiteX3-175" fmla="*/ 0 w 10001"/>
              <a:gd name="connsiteY3-176" fmla="*/ 9962 h 10000"/>
              <a:gd name="connsiteX4-177" fmla="*/ 9972 w 10001"/>
              <a:gd name="connsiteY4-178" fmla="*/ 10000 h 10000"/>
              <a:gd name="connsiteX5-179" fmla="*/ 9995 w 10001"/>
              <a:gd name="connsiteY5-180" fmla="*/ 5745 h 10000"/>
              <a:gd name="connsiteX6-181" fmla="*/ 9977 w 10001"/>
              <a:gd name="connsiteY6-182" fmla="*/ 0 h 10000"/>
              <a:gd name="connsiteX0-183" fmla="*/ 9977 w 9995"/>
              <a:gd name="connsiteY0-184" fmla="*/ 0 h 10000"/>
              <a:gd name="connsiteX1-185" fmla="*/ 0 w 9995"/>
              <a:gd name="connsiteY1-186" fmla="*/ 0 h 10000"/>
              <a:gd name="connsiteX2-187" fmla="*/ 280 w 9995"/>
              <a:gd name="connsiteY2-188" fmla="*/ 5005 h 10000"/>
              <a:gd name="connsiteX3-189" fmla="*/ 0 w 9995"/>
              <a:gd name="connsiteY3-190" fmla="*/ 9962 h 10000"/>
              <a:gd name="connsiteX4-191" fmla="*/ 9972 w 9995"/>
              <a:gd name="connsiteY4-192" fmla="*/ 10000 h 10000"/>
              <a:gd name="connsiteX5-193" fmla="*/ 9995 w 9995"/>
              <a:gd name="connsiteY5-194" fmla="*/ 5745 h 10000"/>
              <a:gd name="connsiteX6-195" fmla="*/ 9977 w 9995"/>
              <a:gd name="connsiteY6-196" fmla="*/ 0 h 10000"/>
              <a:gd name="connsiteX0-197" fmla="*/ 9999 w 10000"/>
              <a:gd name="connsiteY0-198" fmla="*/ 0 h 10000"/>
              <a:gd name="connsiteX1-199" fmla="*/ 0 w 10000"/>
              <a:gd name="connsiteY1-200" fmla="*/ 0 h 10000"/>
              <a:gd name="connsiteX2-201" fmla="*/ 280 w 10000"/>
              <a:gd name="connsiteY2-202" fmla="*/ 5005 h 10000"/>
              <a:gd name="connsiteX3-203" fmla="*/ 0 w 10000"/>
              <a:gd name="connsiteY3-204" fmla="*/ 9962 h 10000"/>
              <a:gd name="connsiteX4-205" fmla="*/ 9977 w 10000"/>
              <a:gd name="connsiteY4-206" fmla="*/ 10000 h 10000"/>
              <a:gd name="connsiteX5-207" fmla="*/ 10000 w 10000"/>
              <a:gd name="connsiteY5-208" fmla="*/ 5745 h 10000"/>
              <a:gd name="connsiteX6-209" fmla="*/ 9999 w 10000"/>
              <a:gd name="connsiteY6-210" fmla="*/ 0 h 10000"/>
              <a:gd name="connsiteX0-211" fmla="*/ 9999 w 10004"/>
              <a:gd name="connsiteY0-212" fmla="*/ 0 h 10000"/>
              <a:gd name="connsiteX1-213" fmla="*/ 0 w 10004"/>
              <a:gd name="connsiteY1-214" fmla="*/ 0 h 10000"/>
              <a:gd name="connsiteX2-215" fmla="*/ 280 w 10004"/>
              <a:gd name="connsiteY2-216" fmla="*/ 5005 h 10000"/>
              <a:gd name="connsiteX3-217" fmla="*/ 0 w 10004"/>
              <a:gd name="connsiteY3-218" fmla="*/ 9962 h 10000"/>
              <a:gd name="connsiteX4-219" fmla="*/ 10000 w 10004"/>
              <a:gd name="connsiteY4-220" fmla="*/ 10000 h 10000"/>
              <a:gd name="connsiteX5-221" fmla="*/ 10000 w 10004"/>
              <a:gd name="connsiteY5-222" fmla="*/ 5745 h 10000"/>
              <a:gd name="connsiteX6-223" fmla="*/ 9999 w 10004"/>
              <a:gd name="connsiteY6-224" fmla="*/ 0 h 10000"/>
              <a:gd name="connsiteX0-225" fmla="*/ 9999 w 10000"/>
              <a:gd name="connsiteY0-226" fmla="*/ 0 h 10000"/>
              <a:gd name="connsiteX1-227" fmla="*/ 0 w 10000"/>
              <a:gd name="connsiteY1-228" fmla="*/ 0 h 10000"/>
              <a:gd name="connsiteX2-229" fmla="*/ 280 w 10000"/>
              <a:gd name="connsiteY2-230" fmla="*/ 5005 h 10000"/>
              <a:gd name="connsiteX3-231" fmla="*/ 0 w 10000"/>
              <a:gd name="connsiteY3-232" fmla="*/ 9962 h 10000"/>
              <a:gd name="connsiteX4-233" fmla="*/ 10000 w 10000"/>
              <a:gd name="connsiteY4-234" fmla="*/ 10000 h 10000"/>
              <a:gd name="connsiteX5-235" fmla="*/ 10000 w 10000"/>
              <a:gd name="connsiteY5-236" fmla="*/ 5745 h 10000"/>
              <a:gd name="connsiteX6-237" fmla="*/ 9999 w 10000"/>
              <a:gd name="connsiteY6-238" fmla="*/ 0 h 10000"/>
              <a:gd name="connsiteX0-239" fmla="*/ 14796 w 14796"/>
              <a:gd name="connsiteY0-240" fmla="*/ 0 h 10000"/>
              <a:gd name="connsiteX1-241" fmla="*/ 0 w 14796"/>
              <a:gd name="connsiteY1-242" fmla="*/ 0 h 10000"/>
              <a:gd name="connsiteX2-243" fmla="*/ 280 w 14796"/>
              <a:gd name="connsiteY2-244" fmla="*/ 5005 h 10000"/>
              <a:gd name="connsiteX3-245" fmla="*/ 0 w 14796"/>
              <a:gd name="connsiteY3-246" fmla="*/ 9962 h 10000"/>
              <a:gd name="connsiteX4-247" fmla="*/ 10000 w 14796"/>
              <a:gd name="connsiteY4-248" fmla="*/ 10000 h 10000"/>
              <a:gd name="connsiteX5-249" fmla="*/ 10000 w 14796"/>
              <a:gd name="connsiteY5-250" fmla="*/ 5745 h 10000"/>
              <a:gd name="connsiteX6-251" fmla="*/ 14796 w 14796"/>
              <a:gd name="connsiteY6-252" fmla="*/ 0 h 10000"/>
              <a:gd name="connsiteX0-253" fmla="*/ 14796 w 14796"/>
              <a:gd name="connsiteY0-254" fmla="*/ 0 h 9968"/>
              <a:gd name="connsiteX1-255" fmla="*/ 0 w 14796"/>
              <a:gd name="connsiteY1-256" fmla="*/ 0 h 9968"/>
              <a:gd name="connsiteX2-257" fmla="*/ 280 w 14796"/>
              <a:gd name="connsiteY2-258" fmla="*/ 5005 h 9968"/>
              <a:gd name="connsiteX3-259" fmla="*/ 0 w 14796"/>
              <a:gd name="connsiteY3-260" fmla="*/ 9962 h 9968"/>
              <a:gd name="connsiteX4-261" fmla="*/ 14788 w 14796"/>
              <a:gd name="connsiteY4-262" fmla="*/ 9968 h 9968"/>
              <a:gd name="connsiteX5-263" fmla="*/ 10000 w 14796"/>
              <a:gd name="connsiteY5-264" fmla="*/ 5745 h 9968"/>
              <a:gd name="connsiteX6-265" fmla="*/ 14796 w 14796"/>
              <a:gd name="connsiteY6-266" fmla="*/ 0 h 9968"/>
              <a:gd name="connsiteX0-267" fmla="*/ 10000 w 10000"/>
              <a:gd name="connsiteY0-268" fmla="*/ 0 h 10000"/>
              <a:gd name="connsiteX1-269" fmla="*/ 0 w 10000"/>
              <a:gd name="connsiteY1-270" fmla="*/ 0 h 10000"/>
              <a:gd name="connsiteX2-271" fmla="*/ 189 w 10000"/>
              <a:gd name="connsiteY2-272" fmla="*/ 5021 h 10000"/>
              <a:gd name="connsiteX3-273" fmla="*/ 0 w 10000"/>
              <a:gd name="connsiteY3-274" fmla="*/ 9994 h 10000"/>
              <a:gd name="connsiteX4-275" fmla="*/ 9995 w 10000"/>
              <a:gd name="connsiteY4-276" fmla="*/ 10000 h 10000"/>
              <a:gd name="connsiteX5-277" fmla="*/ 9998 w 10000"/>
              <a:gd name="connsiteY5-278" fmla="*/ 6152 h 10000"/>
              <a:gd name="connsiteX6-279" fmla="*/ 10000 w 10000"/>
              <a:gd name="connsiteY6-280" fmla="*/ 0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26" name="Freeform 11"/>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目标">
    <p:spTree>
      <p:nvGrpSpPr>
        <p:cNvPr id="1" name=""/>
        <p:cNvGrpSpPr/>
        <p:nvPr/>
      </p:nvGrpSpPr>
      <p:grpSpPr>
        <a:xfrm>
          <a:off x="0" y="0"/>
          <a:ext cx="0" cy="0"/>
          <a:chOff x="0" y="0"/>
          <a:chExt cx="0" cy="0"/>
        </a:xfrm>
      </p:grpSpPr>
      <p:sp>
        <p:nvSpPr>
          <p:cNvPr id="4" name="TextBox 10"/>
          <p:cNvSpPr txBox="1"/>
          <p:nvPr userDrawn="1"/>
        </p:nvSpPr>
        <p:spPr bwMode="auto">
          <a:xfrm>
            <a:off x="1594877" y="408780"/>
            <a:ext cx="1664752" cy="639559"/>
          </a:xfrm>
          <a:prstGeom prst="rect">
            <a:avLst/>
          </a:prstGeom>
          <a:noFill/>
          <a:ln w="9525">
            <a:noFill/>
            <a:miter lim="800000"/>
          </a:ln>
        </p:spPr>
        <p:txBody>
          <a:bodyPr wrap="square" lIns="99941" tIns="49967" rIns="99941" bIns="49967" rtlCol="0">
            <a:spAutoFit/>
          </a:bodyPr>
          <a:lstStyle/>
          <a:p>
            <a:pPr defTabSz="1001395" eaLnBrk="0" fontAlgn="auto" hangingPunct="0"/>
            <a:r>
              <a:rPr lang="zh-CN" altLang="en-US" sz="3500" b="1" dirty="0">
                <a:solidFill>
                  <a:schemeClr val="tx1"/>
                </a:solidFill>
                <a:latin typeface="+mn-lt"/>
                <a:ea typeface="+mn-ea"/>
                <a:cs typeface="Arial" panose="020B0604020202020204" pitchFamily="34" charset="0"/>
              </a:rPr>
              <a:t>目标</a:t>
            </a:r>
            <a:endParaRPr lang="en-US" altLang="zh-CN" sz="3500" b="1" dirty="0">
              <a:solidFill>
                <a:schemeClr val="tx1"/>
              </a:solidFill>
              <a:latin typeface="+mn-lt"/>
              <a:ea typeface="+mn-ea"/>
              <a:cs typeface="Arial" panose="020B0604020202020204" pitchFamily="34" charset="0"/>
            </a:endParaRPr>
          </a:p>
        </p:txBody>
      </p:sp>
      <p:sp>
        <p:nvSpPr>
          <p:cNvPr id="5" name="Freeform 9"/>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6" name="Freeform 11"/>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grpSp>
        <p:nvGrpSpPr>
          <p:cNvPr id="7" name="组合 6"/>
          <p:cNvGrpSpPr/>
          <p:nvPr userDrawn="1"/>
        </p:nvGrpSpPr>
        <p:grpSpPr>
          <a:xfrm>
            <a:off x="443199" y="440668"/>
            <a:ext cx="533761" cy="533470"/>
            <a:chOff x="2960687" y="4865687"/>
            <a:chExt cx="1698626" cy="1697038"/>
          </a:xfrm>
          <a:solidFill>
            <a:schemeClr val="bg1"/>
          </a:solidFill>
        </p:grpSpPr>
        <p:sp>
          <p:nvSpPr>
            <p:cNvPr id="8" name="Freeform 6"/>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9" name="Freeform 7"/>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0" name="Freeform 8"/>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1" name="Freeform 9"/>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2"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3"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grpSp>
      <p:sp>
        <p:nvSpPr>
          <p:cNvPr id="14" name="Freeform 6"/>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1" fmla="*/ 7021 w 10000"/>
              <a:gd name="connsiteY0-2" fmla="*/ 0 h 10000"/>
              <a:gd name="connsiteX1-3" fmla="*/ 0 w 10000"/>
              <a:gd name="connsiteY1-4" fmla="*/ 0 h 10000"/>
              <a:gd name="connsiteX2-5" fmla="*/ 197 w 10000"/>
              <a:gd name="connsiteY2-6" fmla="*/ 5024 h 10000"/>
              <a:gd name="connsiteX3-7" fmla="*/ 0 w 10000"/>
              <a:gd name="connsiteY3-8" fmla="*/ 10000 h 10000"/>
              <a:gd name="connsiteX4-9" fmla="*/ 10000 w 10000"/>
              <a:gd name="connsiteY4-10" fmla="*/ 10000 h 10000"/>
              <a:gd name="connsiteX5-11" fmla="*/ 7736 w 10000"/>
              <a:gd name="connsiteY5-12" fmla="*/ 5574 h 10000"/>
              <a:gd name="connsiteX6-13" fmla="*/ 7021 w 10000"/>
              <a:gd name="connsiteY6-14" fmla="*/ 0 h 10000"/>
              <a:gd name="connsiteX0-15" fmla="*/ 7021 w 7736"/>
              <a:gd name="connsiteY0-16" fmla="*/ 0 h 10038"/>
              <a:gd name="connsiteX1-17" fmla="*/ 0 w 7736"/>
              <a:gd name="connsiteY1-18" fmla="*/ 0 h 10038"/>
              <a:gd name="connsiteX2-19" fmla="*/ 197 w 7736"/>
              <a:gd name="connsiteY2-20" fmla="*/ 5024 h 10038"/>
              <a:gd name="connsiteX3-21" fmla="*/ 0 w 7736"/>
              <a:gd name="connsiteY3-22" fmla="*/ 10000 h 10038"/>
              <a:gd name="connsiteX4-23" fmla="*/ 7017 w 7736"/>
              <a:gd name="connsiteY4-24" fmla="*/ 10038 h 10038"/>
              <a:gd name="connsiteX5-25" fmla="*/ 7736 w 7736"/>
              <a:gd name="connsiteY5-26" fmla="*/ 5574 h 10038"/>
              <a:gd name="connsiteX6-27" fmla="*/ 7021 w 7736"/>
              <a:gd name="connsiteY6-28" fmla="*/ 0 h 10038"/>
              <a:gd name="connsiteX0-29" fmla="*/ 9076 w 9316"/>
              <a:gd name="connsiteY0-30" fmla="*/ 0 h 10000"/>
              <a:gd name="connsiteX1-31" fmla="*/ 0 w 9316"/>
              <a:gd name="connsiteY1-32" fmla="*/ 0 h 10000"/>
              <a:gd name="connsiteX2-33" fmla="*/ 255 w 9316"/>
              <a:gd name="connsiteY2-34" fmla="*/ 5005 h 10000"/>
              <a:gd name="connsiteX3-35" fmla="*/ 0 w 9316"/>
              <a:gd name="connsiteY3-36" fmla="*/ 9962 h 10000"/>
              <a:gd name="connsiteX4-37" fmla="*/ 9071 w 9316"/>
              <a:gd name="connsiteY4-38" fmla="*/ 10000 h 10000"/>
              <a:gd name="connsiteX5-39" fmla="*/ 9316 w 9316"/>
              <a:gd name="connsiteY5-40" fmla="*/ 5668 h 10000"/>
              <a:gd name="connsiteX6-41" fmla="*/ 9076 w 9316"/>
              <a:gd name="connsiteY6-42" fmla="*/ 0 h 10000"/>
              <a:gd name="connsiteX0-43" fmla="*/ 9742 w 10000"/>
              <a:gd name="connsiteY0-44" fmla="*/ 0 h 10000"/>
              <a:gd name="connsiteX1-45" fmla="*/ 0 w 10000"/>
              <a:gd name="connsiteY1-46" fmla="*/ 0 h 10000"/>
              <a:gd name="connsiteX2-47" fmla="*/ 274 w 10000"/>
              <a:gd name="connsiteY2-48" fmla="*/ 5005 h 10000"/>
              <a:gd name="connsiteX3-49" fmla="*/ 0 w 10000"/>
              <a:gd name="connsiteY3-50" fmla="*/ 9962 h 10000"/>
              <a:gd name="connsiteX4-51" fmla="*/ 9737 w 10000"/>
              <a:gd name="connsiteY4-52" fmla="*/ 10000 h 10000"/>
              <a:gd name="connsiteX5-53" fmla="*/ 10000 w 10000"/>
              <a:gd name="connsiteY5-54" fmla="*/ 5668 h 10000"/>
              <a:gd name="connsiteX6-55" fmla="*/ 9742 w 10000"/>
              <a:gd name="connsiteY6-56" fmla="*/ 0 h 10000"/>
              <a:gd name="connsiteX0-57" fmla="*/ 9742 w 9877"/>
              <a:gd name="connsiteY0-58" fmla="*/ 0 h 10000"/>
              <a:gd name="connsiteX1-59" fmla="*/ 0 w 9877"/>
              <a:gd name="connsiteY1-60" fmla="*/ 0 h 10000"/>
              <a:gd name="connsiteX2-61" fmla="*/ 274 w 9877"/>
              <a:gd name="connsiteY2-62" fmla="*/ 5005 h 10000"/>
              <a:gd name="connsiteX3-63" fmla="*/ 0 w 9877"/>
              <a:gd name="connsiteY3-64" fmla="*/ 9962 h 10000"/>
              <a:gd name="connsiteX4-65" fmla="*/ 9737 w 9877"/>
              <a:gd name="connsiteY4-66" fmla="*/ 10000 h 10000"/>
              <a:gd name="connsiteX5-67" fmla="*/ 9738 w 9877"/>
              <a:gd name="connsiteY5-68" fmla="*/ 5783 h 10000"/>
              <a:gd name="connsiteX6-69" fmla="*/ 9742 w 9877"/>
              <a:gd name="connsiteY6-70" fmla="*/ 0 h 10000"/>
              <a:gd name="connsiteX0-71" fmla="*/ 9863 w 9991"/>
              <a:gd name="connsiteY0-72" fmla="*/ 0 h 10000"/>
              <a:gd name="connsiteX1-73" fmla="*/ 0 w 9991"/>
              <a:gd name="connsiteY1-74" fmla="*/ 0 h 10000"/>
              <a:gd name="connsiteX2-75" fmla="*/ 277 w 9991"/>
              <a:gd name="connsiteY2-76" fmla="*/ 5005 h 10000"/>
              <a:gd name="connsiteX3-77" fmla="*/ 0 w 9991"/>
              <a:gd name="connsiteY3-78" fmla="*/ 9962 h 10000"/>
              <a:gd name="connsiteX4-79" fmla="*/ 9858 w 9991"/>
              <a:gd name="connsiteY4-80" fmla="*/ 10000 h 10000"/>
              <a:gd name="connsiteX5-81" fmla="*/ 9817 w 9991"/>
              <a:gd name="connsiteY5-82" fmla="*/ 5783 h 10000"/>
              <a:gd name="connsiteX6-83" fmla="*/ 9863 w 9991"/>
              <a:gd name="connsiteY6-84" fmla="*/ 0 h 10000"/>
              <a:gd name="connsiteX0-85" fmla="*/ 9872 w 10014"/>
              <a:gd name="connsiteY0-86" fmla="*/ 0 h 10000"/>
              <a:gd name="connsiteX1-87" fmla="*/ 0 w 10014"/>
              <a:gd name="connsiteY1-88" fmla="*/ 0 h 10000"/>
              <a:gd name="connsiteX2-89" fmla="*/ 277 w 10014"/>
              <a:gd name="connsiteY2-90" fmla="*/ 5005 h 10000"/>
              <a:gd name="connsiteX3-91" fmla="*/ 0 w 10014"/>
              <a:gd name="connsiteY3-92" fmla="*/ 9962 h 10000"/>
              <a:gd name="connsiteX4-93" fmla="*/ 9867 w 10014"/>
              <a:gd name="connsiteY4-94" fmla="*/ 10000 h 10000"/>
              <a:gd name="connsiteX5-95" fmla="*/ 9890 w 10014"/>
              <a:gd name="connsiteY5-96" fmla="*/ 5745 h 10000"/>
              <a:gd name="connsiteX6-97" fmla="*/ 9872 w 10014"/>
              <a:gd name="connsiteY6-98" fmla="*/ 0 h 10000"/>
              <a:gd name="connsiteX0-99" fmla="*/ 9872 w 10030"/>
              <a:gd name="connsiteY0-100" fmla="*/ 0 h 10000"/>
              <a:gd name="connsiteX1-101" fmla="*/ 0 w 10030"/>
              <a:gd name="connsiteY1-102" fmla="*/ 0 h 10000"/>
              <a:gd name="connsiteX2-103" fmla="*/ 277 w 10030"/>
              <a:gd name="connsiteY2-104" fmla="*/ 5005 h 10000"/>
              <a:gd name="connsiteX3-105" fmla="*/ 0 w 10030"/>
              <a:gd name="connsiteY3-106" fmla="*/ 9962 h 10000"/>
              <a:gd name="connsiteX4-107" fmla="*/ 9867 w 10030"/>
              <a:gd name="connsiteY4-108" fmla="*/ 10000 h 10000"/>
              <a:gd name="connsiteX5-109" fmla="*/ 9890 w 10030"/>
              <a:gd name="connsiteY5-110" fmla="*/ 5745 h 10000"/>
              <a:gd name="connsiteX6-111" fmla="*/ 9872 w 10030"/>
              <a:gd name="connsiteY6-112" fmla="*/ 0 h 10000"/>
              <a:gd name="connsiteX0-113" fmla="*/ 9872 w 9921"/>
              <a:gd name="connsiteY0-114" fmla="*/ 0 h 10000"/>
              <a:gd name="connsiteX1-115" fmla="*/ 0 w 9921"/>
              <a:gd name="connsiteY1-116" fmla="*/ 0 h 10000"/>
              <a:gd name="connsiteX2-117" fmla="*/ 277 w 9921"/>
              <a:gd name="connsiteY2-118" fmla="*/ 5005 h 10000"/>
              <a:gd name="connsiteX3-119" fmla="*/ 0 w 9921"/>
              <a:gd name="connsiteY3-120" fmla="*/ 9962 h 10000"/>
              <a:gd name="connsiteX4-121" fmla="*/ 9867 w 9921"/>
              <a:gd name="connsiteY4-122" fmla="*/ 10000 h 10000"/>
              <a:gd name="connsiteX5-123" fmla="*/ 9890 w 9921"/>
              <a:gd name="connsiteY5-124" fmla="*/ 5745 h 10000"/>
              <a:gd name="connsiteX6-125" fmla="*/ 9872 w 9921"/>
              <a:gd name="connsiteY6-126" fmla="*/ 0 h 10000"/>
              <a:gd name="connsiteX0-127" fmla="*/ 9951 w 9974"/>
              <a:gd name="connsiteY0-128" fmla="*/ 0 h 10000"/>
              <a:gd name="connsiteX1-129" fmla="*/ 0 w 9974"/>
              <a:gd name="connsiteY1-130" fmla="*/ 0 h 10000"/>
              <a:gd name="connsiteX2-131" fmla="*/ 279 w 9974"/>
              <a:gd name="connsiteY2-132" fmla="*/ 5005 h 10000"/>
              <a:gd name="connsiteX3-133" fmla="*/ 0 w 9974"/>
              <a:gd name="connsiteY3-134" fmla="*/ 9962 h 10000"/>
              <a:gd name="connsiteX4-135" fmla="*/ 9946 w 9974"/>
              <a:gd name="connsiteY4-136" fmla="*/ 10000 h 10000"/>
              <a:gd name="connsiteX5-137" fmla="*/ 9969 w 9974"/>
              <a:gd name="connsiteY5-138" fmla="*/ 5745 h 10000"/>
              <a:gd name="connsiteX6-139" fmla="*/ 9951 w 9974"/>
              <a:gd name="connsiteY6-140" fmla="*/ 0 h 10000"/>
              <a:gd name="connsiteX0-141" fmla="*/ 9977 w 10001"/>
              <a:gd name="connsiteY0-142" fmla="*/ 0 h 10000"/>
              <a:gd name="connsiteX1-143" fmla="*/ 0 w 10001"/>
              <a:gd name="connsiteY1-144" fmla="*/ 0 h 10000"/>
              <a:gd name="connsiteX2-145" fmla="*/ 280 w 10001"/>
              <a:gd name="connsiteY2-146" fmla="*/ 5005 h 10000"/>
              <a:gd name="connsiteX3-147" fmla="*/ 0 w 10001"/>
              <a:gd name="connsiteY3-148" fmla="*/ 9962 h 10000"/>
              <a:gd name="connsiteX4-149" fmla="*/ 9972 w 10001"/>
              <a:gd name="connsiteY4-150" fmla="*/ 10000 h 10000"/>
              <a:gd name="connsiteX5-151" fmla="*/ 9995 w 10001"/>
              <a:gd name="connsiteY5-152" fmla="*/ 5745 h 10000"/>
              <a:gd name="connsiteX6-153" fmla="*/ 9977 w 10001"/>
              <a:gd name="connsiteY6-154" fmla="*/ 0 h 10000"/>
              <a:gd name="connsiteX0-155" fmla="*/ 9977 w 10001"/>
              <a:gd name="connsiteY0-156" fmla="*/ 0 h 10000"/>
              <a:gd name="connsiteX1-157" fmla="*/ 0 w 10001"/>
              <a:gd name="connsiteY1-158" fmla="*/ 0 h 10000"/>
              <a:gd name="connsiteX2-159" fmla="*/ 280 w 10001"/>
              <a:gd name="connsiteY2-160" fmla="*/ 5005 h 10000"/>
              <a:gd name="connsiteX3-161" fmla="*/ 0 w 10001"/>
              <a:gd name="connsiteY3-162" fmla="*/ 9962 h 10000"/>
              <a:gd name="connsiteX4-163" fmla="*/ 9972 w 10001"/>
              <a:gd name="connsiteY4-164" fmla="*/ 10000 h 10000"/>
              <a:gd name="connsiteX5-165" fmla="*/ 9995 w 10001"/>
              <a:gd name="connsiteY5-166" fmla="*/ 5745 h 10000"/>
              <a:gd name="connsiteX6-167" fmla="*/ 9977 w 10001"/>
              <a:gd name="connsiteY6-168" fmla="*/ 0 h 10000"/>
              <a:gd name="connsiteX0-169" fmla="*/ 9977 w 10001"/>
              <a:gd name="connsiteY0-170" fmla="*/ 0 h 10000"/>
              <a:gd name="connsiteX1-171" fmla="*/ 0 w 10001"/>
              <a:gd name="connsiteY1-172" fmla="*/ 0 h 10000"/>
              <a:gd name="connsiteX2-173" fmla="*/ 280 w 10001"/>
              <a:gd name="connsiteY2-174" fmla="*/ 5005 h 10000"/>
              <a:gd name="connsiteX3-175" fmla="*/ 0 w 10001"/>
              <a:gd name="connsiteY3-176" fmla="*/ 9962 h 10000"/>
              <a:gd name="connsiteX4-177" fmla="*/ 9972 w 10001"/>
              <a:gd name="connsiteY4-178" fmla="*/ 10000 h 10000"/>
              <a:gd name="connsiteX5-179" fmla="*/ 9995 w 10001"/>
              <a:gd name="connsiteY5-180" fmla="*/ 5745 h 10000"/>
              <a:gd name="connsiteX6-181" fmla="*/ 9977 w 10001"/>
              <a:gd name="connsiteY6-182" fmla="*/ 0 h 10000"/>
              <a:gd name="connsiteX0-183" fmla="*/ 9977 w 9995"/>
              <a:gd name="connsiteY0-184" fmla="*/ 0 h 10000"/>
              <a:gd name="connsiteX1-185" fmla="*/ 0 w 9995"/>
              <a:gd name="connsiteY1-186" fmla="*/ 0 h 10000"/>
              <a:gd name="connsiteX2-187" fmla="*/ 280 w 9995"/>
              <a:gd name="connsiteY2-188" fmla="*/ 5005 h 10000"/>
              <a:gd name="connsiteX3-189" fmla="*/ 0 w 9995"/>
              <a:gd name="connsiteY3-190" fmla="*/ 9962 h 10000"/>
              <a:gd name="connsiteX4-191" fmla="*/ 9972 w 9995"/>
              <a:gd name="connsiteY4-192" fmla="*/ 10000 h 10000"/>
              <a:gd name="connsiteX5-193" fmla="*/ 9995 w 9995"/>
              <a:gd name="connsiteY5-194" fmla="*/ 5745 h 10000"/>
              <a:gd name="connsiteX6-195" fmla="*/ 9977 w 9995"/>
              <a:gd name="connsiteY6-196" fmla="*/ 0 h 10000"/>
              <a:gd name="connsiteX0-197" fmla="*/ 9999 w 10000"/>
              <a:gd name="connsiteY0-198" fmla="*/ 0 h 10000"/>
              <a:gd name="connsiteX1-199" fmla="*/ 0 w 10000"/>
              <a:gd name="connsiteY1-200" fmla="*/ 0 h 10000"/>
              <a:gd name="connsiteX2-201" fmla="*/ 280 w 10000"/>
              <a:gd name="connsiteY2-202" fmla="*/ 5005 h 10000"/>
              <a:gd name="connsiteX3-203" fmla="*/ 0 w 10000"/>
              <a:gd name="connsiteY3-204" fmla="*/ 9962 h 10000"/>
              <a:gd name="connsiteX4-205" fmla="*/ 9977 w 10000"/>
              <a:gd name="connsiteY4-206" fmla="*/ 10000 h 10000"/>
              <a:gd name="connsiteX5-207" fmla="*/ 10000 w 10000"/>
              <a:gd name="connsiteY5-208" fmla="*/ 5745 h 10000"/>
              <a:gd name="connsiteX6-209" fmla="*/ 9999 w 10000"/>
              <a:gd name="connsiteY6-210" fmla="*/ 0 h 10000"/>
              <a:gd name="connsiteX0-211" fmla="*/ 9999 w 10004"/>
              <a:gd name="connsiteY0-212" fmla="*/ 0 h 10000"/>
              <a:gd name="connsiteX1-213" fmla="*/ 0 w 10004"/>
              <a:gd name="connsiteY1-214" fmla="*/ 0 h 10000"/>
              <a:gd name="connsiteX2-215" fmla="*/ 280 w 10004"/>
              <a:gd name="connsiteY2-216" fmla="*/ 5005 h 10000"/>
              <a:gd name="connsiteX3-217" fmla="*/ 0 w 10004"/>
              <a:gd name="connsiteY3-218" fmla="*/ 9962 h 10000"/>
              <a:gd name="connsiteX4-219" fmla="*/ 10000 w 10004"/>
              <a:gd name="connsiteY4-220" fmla="*/ 10000 h 10000"/>
              <a:gd name="connsiteX5-221" fmla="*/ 10000 w 10004"/>
              <a:gd name="connsiteY5-222" fmla="*/ 5745 h 10000"/>
              <a:gd name="connsiteX6-223" fmla="*/ 9999 w 10004"/>
              <a:gd name="connsiteY6-224" fmla="*/ 0 h 10000"/>
              <a:gd name="connsiteX0-225" fmla="*/ 9999 w 10000"/>
              <a:gd name="connsiteY0-226" fmla="*/ 0 h 10000"/>
              <a:gd name="connsiteX1-227" fmla="*/ 0 w 10000"/>
              <a:gd name="connsiteY1-228" fmla="*/ 0 h 10000"/>
              <a:gd name="connsiteX2-229" fmla="*/ 280 w 10000"/>
              <a:gd name="connsiteY2-230" fmla="*/ 5005 h 10000"/>
              <a:gd name="connsiteX3-231" fmla="*/ 0 w 10000"/>
              <a:gd name="connsiteY3-232" fmla="*/ 9962 h 10000"/>
              <a:gd name="connsiteX4-233" fmla="*/ 10000 w 10000"/>
              <a:gd name="connsiteY4-234" fmla="*/ 10000 h 10000"/>
              <a:gd name="connsiteX5-235" fmla="*/ 10000 w 10000"/>
              <a:gd name="connsiteY5-236" fmla="*/ 5745 h 10000"/>
              <a:gd name="connsiteX6-237" fmla="*/ 9999 w 10000"/>
              <a:gd name="connsiteY6-238" fmla="*/ 0 h 10000"/>
              <a:gd name="connsiteX0-239" fmla="*/ 14796 w 14796"/>
              <a:gd name="connsiteY0-240" fmla="*/ 0 h 10000"/>
              <a:gd name="connsiteX1-241" fmla="*/ 0 w 14796"/>
              <a:gd name="connsiteY1-242" fmla="*/ 0 h 10000"/>
              <a:gd name="connsiteX2-243" fmla="*/ 280 w 14796"/>
              <a:gd name="connsiteY2-244" fmla="*/ 5005 h 10000"/>
              <a:gd name="connsiteX3-245" fmla="*/ 0 w 14796"/>
              <a:gd name="connsiteY3-246" fmla="*/ 9962 h 10000"/>
              <a:gd name="connsiteX4-247" fmla="*/ 10000 w 14796"/>
              <a:gd name="connsiteY4-248" fmla="*/ 10000 h 10000"/>
              <a:gd name="connsiteX5-249" fmla="*/ 10000 w 14796"/>
              <a:gd name="connsiteY5-250" fmla="*/ 5745 h 10000"/>
              <a:gd name="connsiteX6-251" fmla="*/ 14796 w 14796"/>
              <a:gd name="connsiteY6-252" fmla="*/ 0 h 10000"/>
              <a:gd name="connsiteX0-253" fmla="*/ 14796 w 14796"/>
              <a:gd name="connsiteY0-254" fmla="*/ 0 h 9968"/>
              <a:gd name="connsiteX1-255" fmla="*/ 0 w 14796"/>
              <a:gd name="connsiteY1-256" fmla="*/ 0 h 9968"/>
              <a:gd name="connsiteX2-257" fmla="*/ 280 w 14796"/>
              <a:gd name="connsiteY2-258" fmla="*/ 5005 h 9968"/>
              <a:gd name="connsiteX3-259" fmla="*/ 0 w 14796"/>
              <a:gd name="connsiteY3-260" fmla="*/ 9962 h 9968"/>
              <a:gd name="connsiteX4-261" fmla="*/ 14788 w 14796"/>
              <a:gd name="connsiteY4-262" fmla="*/ 9968 h 9968"/>
              <a:gd name="connsiteX5-263" fmla="*/ 10000 w 14796"/>
              <a:gd name="connsiteY5-264" fmla="*/ 5745 h 9968"/>
              <a:gd name="connsiteX6-265" fmla="*/ 14796 w 14796"/>
              <a:gd name="connsiteY6-266" fmla="*/ 0 h 9968"/>
              <a:gd name="connsiteX0-267" fmla="*/ 10000 w 10000"/>
              <a:gd name="connsiteY0-268" fmla="*/ 0 h 10000"/>
              <a:gd name="connsiteX1-269" fmla="*/ 0 w 10000"/>
              <a:gd name="connsiteY1-270" fmla="*/ 0 h 10000"/>
              <a:gd name="connsiteX2-271" fmla="*/ 189 w 10000"/>
              <a:gd name="connsiteY2-272" fmla="*/ 5021 h 10000"/>
              <a:gd name="connsiteX3-273" fmla="*/ 0 w 10000"/>
              <a:gd name="connsiteY3-274" fmla="*/ 9994 h 10000"/>
              <a:gd name="connsiteX4-275" fmla="*/ 9995 w 10000"/>
              <a:gd name="connsiteY4-276" fmla="*/ 10000 h 10000"/>
              <a:gd name="connsiteX5-277" fmla="*/ 9998 w 10000"/>
              <a:gd name="connsiteY5-278" fmla="*/ 6152 h 10000"/>
              <a:gd name="connsiteX6-279" fmla="*/ 10000 w 10000"/>
              <a:gd name="connsiteY6-280" fmla="*/ 0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15" name="Freeform 11"/>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16" name="文本占位符 6"/>
          <p:cNvSpPr>
            <a:spLocks noGrp="1"/>
          </p:cNvSpPr>
          <p:nvPr>
            <p:ph type="body" sz="quarter" idx="10" hasCustomPrompt="1"/>
          </p:nvPr>
        </p:nvSpPr>
        <p:spPr>
          <a:xfrm>
            <a:off x="469565" y="1233488"/>
            <a:ext cx="11274935" cy="4679788"/>
          </a:xfrm>
        </p:spPr>
        <p:txBody>
          <a:bodyPr/>
          <a:lstStyle>
            <a:lvl1pPr algn="just" fontAlgn="auto">
              <a:buClrTx/>
              <a:defRPr>
                <a:latin typeface="+mn-lt"/>
                <a:ea typeface="+mn-ea"/>
                <a:cs typeface="Arial" panose="020B0604020202020204" pitchFamily="34" charset="0"/>
              </a:defRPr>
            </a:lvl1pPr>
            <a:lvl2pPr marL="654685" indent="-252095" fontAlgn="auto">
              <a:buClrTx/>
              <a:buSzPct val="100000"/>
              <a:buFont typeface="Huawei Sans" panose="020C0503030203020204" pitchFamily="34" charset="0"/>
              <a:buChar char="▫"/>
              <a:defRPr>
                <a:solidFill>
                  <a:schemeClr val="tx1"/>
                </a:solidFill>
                <a:latin typeface="+mn-lt"/>
              </a:defRPr>
            </a:lvl2pPr>
            <a:lvl3pPr fontAlgn="auto">
              <a:defRPr lang="zh-CN" altLang="en-US" dirty="0" smtClean="0">
                <a:solidFill>
                  <a:schemeClr val="tx1"/>
                </a:solidFill>
                <a:latin typeface="+mn-lt"/>
                <a:ea typeface="+mn-ea"/>
              </a:defRPr>
            </a:lvl3pPr>
            <a:lvl4pPr fontAlgn="auto">
              <a:defRPr>
                <a:latin typeface="+mn-lt"/>
              </a:defRPr>
            </a:lvl4pPr>
            <a:lvl5pPr marL="1802765" indent="-201295" fontAlgn="auto">
              <a:buClrTx/>
              <a:buFont typeface="Huawei Sans" panose="020C0503030203020204" pitchFamily="34" charset="0"/>
              <a:buChar char="~"/>
              <a:defRPr>
                <a:latin typeface="+mn-lt"/>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目录">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9565" y="1233487"/>
            <a:ext cx="11274935" cy="4680000"/>
          </a:xfrm>
        </p:spPr>
        <p:txBody>
          <a:bodyPr/>
          <a:lstStyle>
            <a:lvl1pPr marL="457200" marR="0" indent="-457200" algn="just" defTabSz="801370" rtl="0" eaLnBrk="1" fontAlgn="auto" latinLnBrk="0" hangingPunct="1">
              <a:lnSpc>
                <a:spcPct val="140000"/>
              </a:lnSpc>
              <a:spcBef>
                <a:spcPct val="30000"/>
              </a:spcBef>
              <a:spcAft>
                <a:spcPct val="0"/>
              </a:spcAft>
              <a:buClrTx/>
              <a:buSzPct val="100000"/>
              <a:buFont typeface="+mj-lt"/>
              <a:buAutoNum type="arabicPeriod"/>
              <a:defRPr>
                <a:latin typeface="+mn-lt"/>
                <a:ea typeface="+mn-ea"/>
                <a:cs typeface="Arial" panose="020B0604020202020204" pitchFamily="34" charset="0"/>
              </a:defRPr>
            </a:lvl1pPr>
            <a:lvl2pPr fontAlgn="auto">
              <a:buClrTx/>
              <a:buSzPct val="100000"/>
              <a:buFont typeface="Huawei Sans" panose="020C0503030203020204" pitchFamily="34" charset="0"/>
              <a:buChar char="▫"/>
              <a:defRPr>
                <a:latin typeface="+mn-lt"/>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4050" lvl="1" indent="-457200">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
        <p:nvSpPr>
          <p:cNvPr id="4" name="TextBox 10"/>
          <p:cNvSpPr txBox="1"/>
          <p:nvPr userDrawn="1"/>
        </p:nvSpPr>
        <p:spPr bwMode="auto">
          <a:xfrm>
            <a:off x="1594877" y="408780"/>
            <a:ext cx="1664752" cy="639559"/>
          </a:xfrm>
          <a:prstGeom prst="rect">
            <a:avLst/>
          </a:prstGeom>
          <a:noFill/>
          <a:ln w="9525">
            <a:noFill/>
            <a:miter lim="800000"/>
          </a:ln>
        </p:spPr>
        <p:txBody>
          <a:bodyPr wrap="square" lIns="99941" tIns="49967" rIns="99941" bIns="49967" rtlCol="0">
            <a:spAutoFit/>
          </a:bodyPr>
          <a:lstStyle/>
          <a:p>
            <a:pPr defTabSz="1001395" eaLnBrk="0" fontAlgn="auto" hangingPunct="0"/>
            <a:r>
              <a:rPr lang="zh-CN" altLang="en-US" sz="3500" b="1" dirty="0">
                <a:solidFill>
                  <a:schemeClr val="tx1"/>
                </a:solidFill>
                <a:latin typeface="+mn-lt"/>
                <a:ea typeface="+mn-ea"/>
                <a:cs typeface="Arial" panose="020B0604020202020204" pitchFamily="34" charset="0"/>
              </a:rPr>
              <a:t>目录</a:t>
            </a:r>
          </a:p>
        </p:txBody>
      </p:sp>
      <p:sp>
        <p:nvSpPr>
          <p:cNvPr id="5" name="Freeform 9"/>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6" name="Freeform 11"/>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grpSp>
        <p:nvGrpSpPr>
          <p:cNvPr id="7" name="组合 6"/>
          <p:cNvGrpSpPr/>
          <p:nvPr userDrawn="1"/>
        </p:nvGrpSpPr>
        <p:grpSpPr>
          <a:xfrm>
            <a:off x="587159" y="515380"/>
            <a:ext cx="358195" cy="426359"/>
            <a:chOff x="3295650" y="230188"/>
            <a:chExt cx="936625" cy="1114426"/>
          </a:xfrm>
          <a:solidFill>
            <a:schemeClr val="bg1"/>
          </a:solidFill>
        </p:grpSpPr>
        <p:sp>
          <p:nvSpPr>
            <p:cNvPr id="8"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9"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0"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1"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2"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3"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4" name="Freeform 22"/>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5"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6"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7"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8"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9"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20"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21"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22"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23"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grpSp>
      <p:sp>
        <p:nvSpPr>
          <p:cNvPr id="24" name="Freeform 6"/>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1" fmla="*/ 7021 w 10000"/>
              <a:gd name="connsiteY0-2" fmla="*/ 0 h 10000"/>
              <a:gd name="connsiteX1-3" fmla="*/ 0 w 10000"/>
              <a:gd name="connsiteY1-4" fmla="*/ 0 h 10000"/>
              <a:gd name="connsiteX2-5" fmla="*/ 197 w 10000"/>
              <a:gd name="connsiteY2-6" fmla="*/ 5024 h 10000"/>
              <a:gd name="connsiteX3-7" fmla="*/ 0 w 10000"/>
              <a:gd name="connsiteY3-8" fmla="*/ 10000 h 10000"/>
              <a:gd name="connsiteX4-9" fmla="*/ 10000 w 10000"/>
              <a:gd name="connsiteY4-10" fmla="*/ 10000 h 10000"/>
              <a:gd name="connsiteX5-11" fmla="*/ 7736 w 10000"/>
              <a:gd name="connsiteY5-12" fmla="*/ 5574 h 10000"/>
              <a:gd name="connsiteX6-13" fmla="*/ 7021 w 10000"/>
              <a:gd name="connsiteY6-14" fmla="*/ 0 h 10000"/>
              <a:gd name="connsiteX0-15" fmla="*/ 7021 w 7736"/>
              <a:gd name="connsiteY0-16" fmla="*/ 0 h 10038"/>
              <a:gd name="connsiteX1-17" fmla="*/ 0 w 7736"/>
              <a:gd name="connsiteY1-18" fmla="*/ 0 h 10038"/>
              <a:gd name="connsiteX2-19" fmla="*/ 197 w 7736"/>
              <a:gd name="connsiteY2-20" fmla="*/ 5024 h 10038"/>
              <a:gd name="connsiteX3-21" fmla="*/ 0 w 7736"/>
              <a:gd name="connsiteY3-22" fmla="*/ 10000 h 10038"/>
              <a:gd name="connsiteX4-23" fmla="*/ 7017 w 7736"/>
              <a:gd name="connsiteY4-24" fmla="*/ 10038 h 10038"/>
              <a:gd name="connsiteX5-25" fmla="*/ 7736 w 7736"/>
              <a:gd name="connsiteY5-26" fmla="*/ 5574 h 10038"/>
              <a:gd name="connsiteX6-27" fmla="*/ 7021 w 7736"/>
              <a:gd name="connsiteY6-28" fmla="*/ 0 h 10038"/>
              <a:gd name="connsiteX0-29" fmla="*/ 9076 w 9316"/>
              <a:gd name="connsiteY0-30" fmla="*/ 0 h 10000"/>
              <a:gd name="connsiteX1-31" fmla="*/ 0 w 9316"/>
              <a:gd name="connsiteY1-32" fmla="*/ 0 h 10000"/>
              <a:gd name="connsiteX2-33" fmla="*/ 255 w 9316"/>
              <a:gd name="connsiteY2-34" fmla="*/ 5005 h 10000"/>
              <a:gd name="connsiteX3-35" fmla="*/ 0 w 9316"/>
              <a:gd name="connsiteY3-36" fmla="*/ 9962 h 10000"/>
              <a:gd name="connsiteX4-37" fmla="*/ 9071 w 9316"/>
              <a:gd name="connsiteY4-38" fmla="*/ 10000 h 10000"/>
              <a:gd name="connsiteX5-39" fmla="*/ 9316 w 9316"/>
              <a:gd name="connsiteY5-40" fmla="*/ 5668 h 10000"/>
              <a:gd name="connsiteX6-41" fmla="*/ 9076 w 9316"/>
              <a:gd name="connsiteY6-42" fmla="*/ 0 h 10000"/>
              <a:gd name="connsiteX0-43" fmla="*/ 9742 w 10000"/>
              <a:gd name="connsiteY0-44" fmla="*/ 0 h 10000"/>
              <a:gd name="connsiteX1-45" fmla="*/ 0 w 10000"/>
              <a:gd name="connsiteY1-46" fmla="*/ 0 h 10000"/>
              <a:gd name="connsiteX2-47" fmla="*/ 274 w 10000"/>
              <a:gd name="connsiteY2-48" fmla="*/ 5005 h 10000"/>
              <a:gd name="connsiteX3-49" fmla="*/ 0 w 10000"/>
              <a:gd name="connsiteY3-50" fmla="*/ 9962 h 10000"/>
              <a:gd name="connsiteX4-51" fmla="*/ 9737 w 10000"/>
              <a:gd name="connsiteY4-52" fmla="*/ 10000 h 10000"/>
              <a:gd name="connsiteX5-53" fmla="*/ 10000 w 10000"/>
              <a:gd name="connsiteY5-54" fmla="*/ 5668 h 10000"/>
              <a:gd name="connsiteX6-55" fmla="*/ 9742 w 10000"/>
              <a:gd name="connsiteY6-56" fmla="*/ 0 h 10000"/>
              <a:gd name="connsiteX0-57" fmla="*/ 9742 w 9877"/>
              <a:gd name="connsiteY0-58" fmla="*/ 0 h 10000"/>
              <a:gd name="connsiteX1-59" fmla="*/ 0 w 9877"/>
              <a:gd name="connsiteY1-60" fmla="*/ 0 h 10000"/>
              <a:gd name="connsiteX2-61" fmla="*/ 274 w 9877"/>
              <a:gd name="connsiteY2-62" fmla="*/ 5005 h 10000"/>
              <a:gd name="connsiteX3-63" fmla="*/ 0 w 9877"/>
              <a:gd name="connsiteY3-64" fmla="*/ 9962 h 10000"/>
              <a:gd name="connsiteX4-65" fmla="*/ 9737 w 9877"/>
              <a:gd name="connsiteY4-66" fmla="*/ 10000 h 10000"/>
              <a:gd name="connsiteX5-67" fmla="*/ 9738 w 9877"/>
              <a:gd name="connsiteY5-68" fmla="*/ 5783 h 10000"/>
              <a:gd name="connsiteX6-69" fmla="*/ 9742 w 9877"/>
              <a:gd name="connsiteY6-70" fmla="*/ 0 h 10000"/>
              <a:gd name="connsiteX0-71" fmla="*/ 9863 w 9991"/>
              <a:gd name="connsiteY0-72" fmla="*/ 0 h 10000"/>
              <a:gd name="connsiteX1-73" fmla="*/ 0 w 9991"/>
              <a:gd name="connsiteY1-74" fmla="*/ 0 h 10000"/>
              <a:gd name="connsiteX2-75" fmla="*/ 277 w 9991"/>
              <a:gd name="connsiteY2-76" fmla="*/ 5005 h 10000"/>
              <a:gd name="connsiteX3-77" fmla="*/ 0 w 9991"/>
              <a:gd name="connsiteY3-78" fmla="*/ 9962 h 10000"/>
              <a:gd name="connsiteX4-79" fmla="*/ 9858 w 9991"/>
              <a:gd name="connsiteY4-80" fmla="*/ 10000 h 10000"/>
              <a:gd name="connsiteX5-81" fmla="*/ 9817 w 9991"/>
              <a:gd name="connsiteY5-82" fmla="*/ 5783 h 10000"/>
              <a:gd name="connsiteX6-83" fmla="*/ 9863 w 9991"/>
              <a:gd name="connsiteY6-84" fmla="*/ 0 h 10000"/>
              <a:gd name="connsiteX0-85" fmla="*/ 9872 w 10014"/>
              <a:gd name="connsiteY0-86" fmla="*/ 0 h 10000"/>
              <a:gd name="connsiteX1-87" fmla="*/ 0 w 10014"/>
              <a:gd name="connsiteY1-88" fmla="*/ 0 h 10000"/>
              <a:gd name="connsiteX2-89" fmla="*/ 277 w 10014"/>
              <a:gd name="connsiteY2-90" fmla="*/ 5005 h 10000"/>
              <a:gd name="connsiteX3-91" fmla="*/ 0 w 10014"/>
              <a:gd name="connsiteY3-92" fmla="*/ 9962 h 10000"/>
              <a:gd name="connsiteX4-93" fmla="*/ 9867 w 10014"/>
              <a:gd name="connsiteY4-94" fmla="*/ 10000 h 10000"/>
              <a:gd name="connsiteX5-95" fmla="*/ 9890 w 10014"/>
              <a:gd name="connsiteY5-96" fmla="*/ 5745 h 10000"/>
              <a:gd name="connsiteX6-97" fmla="*/ 9872 w 10014"/>
              <a:gd name="connsiteY6-98" fmla="*/ 0 h 10000"/>
              <a:gd name="connsiteX0-99" fmla="*/ 9872 w 10030"/>
              <a:gd name="connsiteY0-100" fmla="*/ 0 h 10000"/>
              <a:gd name="connsiteX1-101" fmla="*/ 0 w 10030"/>
              <a:gd name="connsiteY1-102" fmla="*/ 0 h 10000"/>
              <a:gd name="connsiteX2-103" fmla="*/ 277 w 10030"/>
              <a:gd name="connsiteY2-104" fmla="*/ 5005 h 10000"/>
              <a:gd name="connsiteX3-105" fmla="*/ 0 w 10030"/>
              <a:gd name="connsiteY3-106" fmla="*/ 9962 h 10000"/>
              <a:gd name="connsiteX4-107" fmla="*/ 9867 w 10030"/>
              <a:gd name="connsiteY4-108" fmla="*/ 10000 h 10000"/>
              <a:gd name="connsiteX5-109" fmla="*/ 9890 w 10030"/>
              <a:gd name="connsiteY5-110" fmla="*/ 5745 h 10000"/>
              <a:gd name="connsiteX6-111" fmla="*/ 9872 w 10030"/>
              <a:gd name="connsiteY6-112" fmla="*/ 0 h 10000"/>
              <a:gd name="connsiteX0-113" fmla="*/ 9872 w 9921"/>
              <a:gd name="connsiteY0-114" fmla="*/ 0 h 10000"/>
              <a:gd name="connsiteX1-115" fmla="*/ 0 w 9921"/>
              <a:gd name="connsiteY1-116" fmla="*/ 0 h 10000"/>
              <a:gd name="connsiteX2-117" fmla="*/ 277 w 9921"/>
              <a:gd name="connsiteY2-118" fmla="*/ 5005 h 10000"/>
              <a:gd name="connsiteX3-119" fmla="*/ 0 w 9921"/>
              <a:gd name="connsiteY3-120" fmla="*/ 9962 h 10000"/>
              <a:gd name="connsiteX4-121" fmla="*/ 9867 w 9921"/>
              <a:gd name="connsiteY4-122" fmla="*/ 10000 h 10000"/>
              <a:gd name="connsiteX5-123" fmla="*/ 9890 w 9921"/>
              <a:gd name="connsiteY5-124" fmla="*/ 5745 h 10000"/>
              <a:gd name="connsiteX6-125" fmla="*/ 9872 w 9921"/>
              <a:gd name="connsiteY6-126" fmla="*/ 0 h 10000"/>
              <a:gd name="connsiteX0-127" fmla="*/ 9951 w 9974"/>
              <a:gd name="connsiteY0-128" fmla="*/ 0 h 10000"/>
              <a:gd name="connsiteX1-129" fmla="*/ 0 w 9974"/>
              <a:gd name="connsiteY1-130" fmla="*/ 0 h 10000"/>
              <a:gd name="connsiteX2-131" fmla="*/ 279 w 9974"/>
              <a:gd name="connsiteY2-132" fmla="*/ 5005 h 10000"/>
              <a:gd name="connsiteX3-133" fmla="*/ 0 w 9974"/>
              <a:gd name="connsiteY3-134" fmla="*/ 9962 h 10000"/>
              <a:gd name="connsiteX4-135" fmla="*/ 9946 w 9974"/>
              <a:gd name="connsiteY4-136" fmla="*/ 10000 h 10000"/>
              <a:gd name="connsiteX5-137" fmla="*/ 9969 w 9974"/>
              <a:gd name="connsiteY5-138" fmla="*/ 5745 h 10000"/>
              <a:gd name="connsiteX6-139" fmla="*/ 9951 w 9974"/>
              <a:gd name="connsiteY6-140" fmla="*/ 0 h 10000"/>
              <a:gd name="connsiteX0-141" fmla="*/ 9977 w 10001"/>
              <a:gd name="connsiteY0-142" fmla="*/ 0 h 10000"/>
              <a:gd name="connsiteX1-143" fmla="*/ 0 w 10001"/>
              <a:gd name="connsiteY1-144" fmla="*/ 0 h 10000"/>
              <a:gd name="connsiteX2-145" fmla="*/ 280 w 10001"/>
              <a:gd name="connsiteY2-146" fmla="*/ 5005 h 10000"/>
              <a:gd name="connsiteX3-147" fmla="*/ 0 w 10001"/>
              <a:gd name="connsiteY3-148" fmla="*/ 9962 h 10000"/>
              <a:gd name="connsiteX4-149" fmla="*/ 9972 w 10001"/>
              <a:gd name="connsiteY4-150" fmla="*/ 10000 h 10000"/>
              <a:gd name="connsiteX5-151" fmla="*/ 9995 w 10001"/>
              <a:gd name="connsiteY5-152" fmla="*/ 5745 h 10000"/>
              <a:gd name="connsiteX6-153" fmla="*/ 9977 w 10001"/>
              <a:gd name="connsiteY6-154" fmla="*/ 0 h 10000"/>
              <a:gd name="connsiteX0-155" fmla="*/ 9977 w 10001"/>
              <a:gd name="connsiteY0-156" fmla="*/ 0 h 10000"/>
              <a:gd name="connsiteX1-157" fmla="*/ 0 w 10001"/>
              <a:gd name="connsiteY1-158" fmla="*/ 0 h 10000"/>
              <a:gd name="connsiteX2-159" fmla="*/ 280 w 10001"/>
              <a:gd name="connsiteY2-160" fmla="*/ 5005 h 10000"/>
              <a:gd name="connsiteX3-161" fmla="*/ 0 w 10001"/>
              <a:gd name="connsiteY3-162" fmla="*/ 9962 h 10000"/>
              <a:gd name="connsiteX4-163" fmla="*/ 9972 w 10001"/>
              <a:gd name="connsiteY4-164" fmla="*/ 10000 h 10000"/>
              <a:gd name="connsiteX5-165" fmla="*/ 9995 w 10001"/>
              <a:gd name="connsiteY5-166" fmla="*/ 5745 h 10000"/>
              <a:gd name="connsiteX6-167" fmla="*/ 9977 w 10001"/>
              <a:gd name="connsiteY6-168" fmla="*/ 0 h 10000"/>
              <a:gd name="connsiteX0-169" fmla="*/ 9977 w 10001"/>
              <a:gd name="connsiteY0-170" fmla="*/ 0 h 10000"/>
              <a:gd name="connsiteX1-171" fmla="*/ 0 w 10001"/>
              <a:gd name="connsiteY1-172" fmla="*/ 0 h 10000"/>
              <a:gd name="connsiteX2-173" fmla="*/ 280 w 10001"/>
              <a:gd name="connsiteY2-174" fmla="*/ 5005 h 10000"/>
              <a:gd name="connsiteX3-175" fmla="*/ 0 w 10001"/>
              <a:gd name="connsiteY3-176" fmla="*/ 9962 h 10000"/>
              <a:gd name="connsiteX4-177" fmla="*/ 9972 w 10001"/>
              <a:gd name="connsiteY4-178" fmla="*/ 10000 h 10000"/>
              <a:gd name="connsiteX5-179" fmla="*/ 9995 w 10001"/>
              <a:gd name="connsiteY5-180" fmla="*/ 5745 h 10000"/>
              <a:gd name="connsiteX6-181" fmla="*/ 9977 w 10001"/>
              <a:gd name="connsiteY6-182" fmla="*/ 0 h 10000"/>
              <a:gd name="connsiteX0-183" fmla="*/ 9977 w 9995"/>
              <a:gd name="connsiteY0-184" fmla="*/ 0 h 10000"/>
              <a:gd name="connsiteX1-185" fmla="*/ 0 w 9995"/>
              <a:gd name="connsiteY1-186" fmla="*/ 0 h 10000"/>
              <a:gd name="connsiteX2-187" fmla="*/ 280 w 9995"/>
              <a:gd name="connsiteY2-188" fmla="*/ 5005 h 10000"/>
              <a:gd name="connsiteX3-189" fmla="*/ 0 w 9995"/>
              <a:gd name="connsiteY3-190" fmla="*/ 9962 h 10000"/>
              <a:gd name="connsiteX4-191" fmla="*/ 9972 w 9995"/>
              <a:gd name="connsiteY4-192" fmla="*/ 10000 h 10000"/>
              <a:gd name="connsiteX5-193" fmla="*/ 9995 w 9995"/>
              <a:gd name="connsiteY5-194" fmla="*/ 5745 h 10000"/>
              <a:gd name="connsiteX6-195" fmla="*/ 9977 w 9995"/>
              <a:gd name="connsiteY6-196" fmla="*/ 0 h 10000"/>
              <a:gd name="connsiteX0-197" fmla="*/ 9999 w 10000"/>
              <a:gd name="connsiteY0-198" fmla="*/ 0 h 10000"/>
              <a:gd name="connsiteX1-199" fmla="*/ 0 w 10000"/>
              <a:gd name="connsiteY1-200" fmla="*/ 0 h 10000"/>
              <a:gd name="connsiteX2-201" fmla="*/ 280 w 10000"/>
              <a:gd name="connsiteY2-202" fmla="*/ 5005 h 10000"/>
              <a:gd name="connsiteX3-203" fmla="*/ 0 w 10000"/>
              <a:gd name="connsiteY3-204" fmla="*/ 9962 h 10000"/>
              <a:gd name="connsiteX4-205" fmla="*/ 9977 w 10000"/>
              <a:gd name="connsiteY4-206" fmla="*/ 10000 h 10000"/>
              <a:gd name="connsiteX5-207" fmla="*/ 10000 w 10000"/>
              <a:gd name="connsiteY5-208" fmla="*/ 5745 h 10000"/>
              <a:gd name="connsiteX6-209" fmla="*/ 9999 w 10000"/>
              <a:gd name="connsiteY6-210" fmla="*/ 0 h 10000"/>
              <a:gd name="connsiteX0-211" fmla="*/ 9999 w 10004"/>
              <a:gd name="connsiteY0-212" fmla="*/ 0 h 10000"/>
              <a:gd name="connsiteX1-213" fmla="*/ 0 w 10004"/>
              <a:gd name="connsiteY1-214" fmla="*/ 0 h 10000"/>
              <a:gd name="connsiteX2-215" fmla="*/ 280 w 10004"/>
              <a:gd name="connsiteY2-216" fmla="*/ 5005 h 10000"/>
              <a:gd name="connsiteX3-217" fmla="*/ 0 w 10004"/>
              <a:gd name="connsiteY3-218" fmla="*/ 9962 h 10000"/>
              <a:gd name="connsiteX4-219" fmla="*/ 10000 w 10004"/>
              <a:gd name="connsiteY4-220" fmla="*/ 10000 h 10000"/>
              <a:gd name="connsiteX5-221" fmla="*/ 10000 w 10004"/>
              <a:gd name="connsiteY5-222" fmla="*/ 5745 h 10000"/>
              <a:gd name="connsiteX6-223" fmla="*/ 9999 w 10004"/>
              <a:gd name="connsiteY6-224" fmla="*/ 0 h 10000"/>
              <a:gd name="connsiteX0-225" fmla="*/ 9999 w 10000"/>
              <a:gd name="connsiteY0-226" fmla="*/ 0 h 10000"/>
              <a:gd name="connsiteX1-227" fmla="*/ 0 w 10000"/>
              <a:gd name="connsiteY1-228" fmla="*/ 0 h 10000"/>
              <a:gd name="connsiteX2-229" fmla="*/ 280 w 10000"/>
              <a:gd name="connsiteY2-230" fmla="*/ 5005 h 10000"/>
              <a:gd name="connsiteX3-231" fmla="*/ 0 w 10000"/>
              <a:gd name="connsiteY3-232" fmla="*/ 9962 h 10000"/>
              <a:gd name="connsiteX4-233" fmla="*/ 10000 w 10000"/>
              <a:gd name="connsiteY4-234" fmla="*/ 10000 h 10000"/>
              <a:gd name="connsiteX5-235" fmla="*/ 10000 w 10000"/>
              <a:gd name="connsiteY5-236" fmla="*/ 5745 h 10000"/>
              <a:gd name="connsiteX6-237" fmla="*/ 9999 w 10000"/>
              <a:gd name="connsiteY6-238" fmla="*/ 0 h 10000"/>
              <a:gd name="connsiteX0-239" fmla="*/ 14796 w 14796"/>
              <a:gd name="connsiteY0-240" fmla="*/ 0 h 10000"/>
              <a:gd name="connsiteX1-241" fmla="*/ 0 w 14796"/>
              <a:gd name="connsiteY1-242" fmla="*/ 0 h 10000"/>
              <a:gd name="connsiteX2-243" fmla="*/ 280 w 14796"/>
              <a:gd name="connsiteY2-244" fmla="*/ 5005 h 10000"/>
              <a:gd name="connsiteX3-245" fmla="*/ 0 w 14796"/>
              <a:gd name="connsiteY3-246" fmla="*/ 9962 h 10000"/>
              <a:gd name="connsiteX4-247" fmla="*/ 10000 w 14796"/>
              <a:gd name="connsiteY4-248" fmla="*/ 10000 h 10000"/>
              <a:gd name="connsiteX5-249" fmla="*/ 10000 w 14796"/>
              <a:gd name="connsiteY5-250" fmla="*/ 5745 h 10000"/>
              <a:gd name="connsiteX6-251" fmla="*/ 14796 w 14796"/>
              <a:gd name="connsiteY6-252" fmla="*/ 0 h 10000"/>
              <a:gd name="connsiteX0-253" fmla="*/ 14796 w 14796"/>
              <a:gd name="connsiteY0-254" fmla="*/ 0 h 9968"/>
              <a:gd name="connsiteX1-255" fmla="*/ 0 w 14796"/>
              <a:gd name="connsiteY1-256" fmla="*/ 0 h 9968"/>
              <a:gd name="connsiteX2-257" fmla="*/ 280 w 14796"/>
              <a:gd name="connsiteY2-258" fmla="*/ 5005 h 9968"/>
              <a:gd name="connsiteX3-259" fmla="*/ 0 w 14796"/>
              <a:gd name="connsiteY3-260" fmla="*/ 9962 h 9968"/>
              <a:gd name="connsiteX4-261" fmla="*/ 14788 w 14796"/>
              <a:gd name="connsiteY4-262" fmla="*/ 9968 h 9968"/>
              <a:gd name="connsiteX5-263" fmla="*/ 10000 w 14796"/>
              <a:gd name="connsiteY5-264" fmla="*/ 5745 h 9968"/>
              <a:gd name="connsiteX6-265" fmla="*/ 14796 w 14796"/>
              <a:gd name="connsiteY6-266" fmla="*/ 0 h 9968"/>
              <a:gd name="connsiteX0-267" fmla="*/ 10000 w 10000"/>
              <a:gd name="connsiteY0-268" fmla="*/ 0 h 10000"/>
              <a:gd name="connsiteX1-269" fmla="*/ 0 w 10000"/>
              <a:gd name="connsiteY1-270" fmla="*/ 0 h 10000"/>
              <a:gd name="connsiteX2-271" fmla="*/ 189 w 10000"/>
              <a:gd name="connsiteY2-272" fmla="*/ 5021 h 10000"/>
              <a:gd name="connsiteX3-273" fmla="*/ 0 w 10000"/>
              <a:gd name="connsiteY3-274" fmla="*/ 9994 h 10000"/>
              <a:gd name="connsiteX4-275" fmla="*/ 9995 w 10000"/>
              <a:gd name="connsiteY4-276" fmla="*/ 10000 h 10000"/>
              <a:gd name="connsiteX5-277" fmla="*/ 9998 w 10000"/>
              <a:gd name="connsiteY5-278" fmla="*/ 6152 h 10000"/>
              <a:gd name="connsiteX6-279" fmla="*/ 10000 w 10000"/>
              <a:gd name="connsiteY6-280" fmla="*/ 0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25" name="Freeform 11"/>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本节概述和学习目标(可选)">
    <p:spTree>
      <p:nvGrpSpPr>
        <p:cNvPr id="1" name=""/>
        <p:cNvGrpSpPr/>
        <p:nvPr/>
      </p:nvGrpSpPr>
      <p:grpSpPr>
        <a:xfrm>
          <a:off x="0" y="0"/>
          <a:ext cx="0" cy="0"/>
          <a:chOff x="0" y="0"/>
          <a:chExt cx="0" cy="0"/>
        </a:xfrm>
      </p:grpSpPr>
      <p:sp>
        <p:nvSpPr>
          <p:cNvPr id="3" name="内容占位符 6"/>
          <p:cNvSpPr>
            <a:spLocks noGrp="1"/>
          </p:cNvSpPr>
          <p:nvPr>
            <p:ph sz="quarter" idx="10"/>
          </p:nvPr>
        </p:nvSpPr>
        <p:spPr>
          <a:xfrm>
            <a:off x="468316" y="1233487"/>
            <a:ext cx="11276184" cy="4680000"/>
          </a:xfrm>
        </p:spPr>
        <p:txBody>
          <a:bodyPr/>
          <a:lstStyle>
            <a:lvl1pPr algn="just" fontAlgn="auto">
              <a:buClrTx/>
              <a:defRPr>
                <a:solidFill>
                  <a:schemeClr val="tx1"/>
                </a:solidFill>
                <a:latin typeface="+mn-lt"/>
                <a:ea typeface="+mn-ea"/>
                <a:cs typeface="Arial" panose="020B0604020202020204" pitchFamily="34" charset="0"/>
              </a:defRPr>
            </a:lvl1pPr>
            <a:lvl2pPr algn="just" fontAlgn="auto">
              <a:buClrTx/>
              <a:defRPr>
                <a:solidFill>
                  <a:schemeClr val="tx1"/>
                </a:solidFill>
                <a:latin typeface="+mn-lt"/>
                <a:ea typeface="+mn-ea"/>
                <a:cs typeface="Arial" panose="020B0604020202020204" pitchFamily="34" charset="0"/>
              </a:defRPr>
            </a:lvl2pPr>
            <a:lvl3pPr algn="just" fontAlgn="auto">
              <a:buClrTx/>
              <a:defRPr>
                <a:solidFill>
                  <a:schemeClr val="tx1"/>
                </a:solidFill>
                <a:latin typeface="+mn-lt"/>
                <a:ea typeface="+mn-ea"/>
                <a:cs typeface="Arial" panose="020B0604020202020204" pitchFamily="34" charset="0"/>
              </a:defRPr>
            </a:lvl3pPr>
            <a:lvl4pPr algn="just" fontAlgn="auto">
              <a:buClrTx/>
              <a:defRPr>
                <a:solidFill>
                  <a:schemeClr val="tx1"/>
                </a:solidFill>
                <a:latin typeface="+mn-lt"/>
                <a:ea typeface="+mn-ea"/>
                <a:cs typeface="Arial" panose="020B0604020202020204" pitchFamily="34" charset="0"/>
              </a:defRPr>
            </a:lvl4pPr>
            <a:lvl5pPr algn="just" fontAlgn="auto">
              <a:buClrTx/>
              <a:defRPr>
                <a:solidFill>
                  <a:schemeClr val="tx1"/>
                </a:solidFill>
                <a:latin typeface="+mn-lt"/>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TextBox 10"/>
          <p:cNvSpPr txBox="1"/>
          <p:nvPr userDrawn="1"/>
        </p:nvSpPr>
        <p:spPr bwMode="auto">
          <a:xfrm>
            <a:off x="1594877" y="408780"/>
            <a:ext cx="9825899" cy="639559"/>
          </a:xfrm>
          <a:prstGeom prst="rect">
            <a:avLst/>
          </a:prstGeom>
          <a:noFill/>
          <a:ln w="9525">
            <a:noFill/>
            <a:miter lim="800000"/>
          </a:ln>
        </p:spPr>
        <p:txBody>
          <a:bodyPr wrap="square" lIns="99941" tIns="49967" rIns="99941" bIns="49967" rtlCol="0">
            <a:spAutoFit/>
          </a:bodyPr>
          <a:lstStyle/>
          <a:p>
            <a:pPr defTabSz="1001395" eaLnBrk="0" fontAlgn="auto" hangingPunct="0"/>
            <a:r>
              <a:rPr lang="zh-CN" altLang="en-US" sz="3500" b="1" dirty="0">
                <a:solidFill>
                  <a:schemeClr val="tx1"/>
                </a:solidFill>
                <a:latin typeface="+mn-lt"/>
                <a:ea typeface="+mn-ea"/>
                <a:cs typeface="Arial" panose="020B0604020202020204" pitchFamily="34" charset="0"/>
              </a:rPr>
              <a:t>本节概述和学习目标</a:t>
            </a:r>
          </a:p>
        </p:txBody>
      </p:sp>
      <p:sp>
        <p:nvSpPr>
          <p:cNvPr id="5" name="Freeform 9"/>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6" name="Freeform 11"/>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grpSp>
        <p:nvGrpSpPr>
          <p:cNvPr id="7" name="组合 6"/>
          <p:cNvGrpSpPr/>
          <p:nvPr userDrawn="1"/>
        </p:nvGrpSpPr>
        <p:grpSpPr>
          <a:xfrm>
            <a:off x="587158" y="505779"/>
            <a:ext cx="374562" cy="445558"/>
            <a:chOff x="-1647825" y="2492375"/>
            <a:chExt cx="1947863" cy="2316163"/>
          </a:xfrm>
          <a:solidFill>
            <a:schemeClr val="bg1"/>
          </a:solidFill>
        </p:grpSpPr>
        <p:sp>
          <p:nvSpPr>
            <p:cNvPr id="8"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9"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
        <p:nvSpPr>
          <p:cNvPr id="4" name="Freeform 9"/>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5" name="Freeform 11"/>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grpSp>
        <p:nvGrpSpPr>
          <p:cNvPr id="6" name="组合 5"/>
          <p:cNvGrpSpPr/>
          <p:nvPr userDrawn="1"/>
        </p:nvGrpSpPr>
        <p:grpSpPr>
          <a:xfrm>
            <a:off x="587158" y="505779"/>
            <a:ext cx="374562" cy="445558"/>
            <a:chOff x="-1647825" y="2492375"/>
            <a:chExt cx="1947863" cy="2316163"/>
          </a:xfrm>
          <a:solidFill>
            <a:schemeClr val="bg1"/>
          </a:solidFill>
        </p:grpSpPr>
        <p:sp>
          <p:nvSpPr>
            <p:cNvPr id="7"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8"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grpSp>
      <p:sp>
        <p:nvSpPr>
          <p:cNvPr id="9" name="文本占位符 6"/>
          <p:cNvSpPr>
            <a:spLocks noGrp="1"/>
          </p:cNvSpPr>
          <p:nvPr>
            <p:ph type="body" sz="quarter" idx="10" hasCustomPrompt="1"/>
          </p:nvPr>
        </p:nvSpPr>
        <p:spPr>
          <a:xfrm>
            <a:off x="468317" y="1233488"/>
            <a:ext cx="11276183" cy="4680000"/>
          </a:xfrm>
        </p:spPr>
        <p:txBody>
          <a:bodyPr/>
          <a:lstStyle>
            <a:lvl1pPr algn="just" fontAlgn="auto">
              <a:buClrTx/>
              <a:defRPr>
                <a:latin typeface="+mn-lt"/>
                <a:ea typeface="+mn-ea"/>
                <a:cs typeface="Arial" panose="020B0604020202020204" pitchFamily="34" charset="0"/>
              </a:defRPr>
            </a:lvl1pPr>
          </a:lstStyle>
          <a:p>
            <a:r>
              <a:rPr lang="zh-CN" altLang="en-US" dirty="0"/>
              <a:t>单击此处输入文字</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仅标题">
    <p:spTree>
      <p:nvGrpSpPr>
        <p:cNvPr id="1" name=""/>
        <p:cNvGrpSpPr/>
        <p:nvPr/>
      </p:nvGrpSpPr>
      <p:grpSpPr>
        <a:xfrm>
          <a:off x="0" y="0"/>
          <a:ext cx="0" cy="0"/>
          <a:chOff x="0" y="0"/>
          <a:chExt cx="0" cy="0"/>
        </a:xfrm>
      </p:grpSpPr>
      <p:sp>
        <p:nvSpPr>
          <p:cNvPr id="3" name="Freeform 9"/>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4" name="Freeform 11"/>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5" name="Freeform 12"/>
          <p:cNvSpPr>
            <a:spLocks noEditPoints="1"/>
          </p:cNvSpPr>
          <p:nvPr userDrawn="1"/>
        </p:nvSpPr>
        <p:spPr bwMode="auto">
          <a:xfrm>
            <a:off x="479189" y="474076"/>
            <a:ext cx="507964"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04" tIns="45702" rIns="91404" bIns="45702" numCol="1" anchor="t" anchorCtr="0" compatLnSpc="1"/>
          <a:lstStyle/>
          <a:p>
            <a:endParaRPr lang="zh-CN" altLang="en-US" sz="1800">
              <a:latin typeface="+mn-lt"/>
              <a:ea typeface="+mn-ea"/>
            </a:endParaRPr>
          </a:p>
        </p:txBody>
      </p:sp>
      <p:sp>
        <p:nvSpPr>
          <p:cNvPr id="6"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全白背景">
    <p:spTree>
      <p:nvGrpSpPr>
        <p:cNvPr id="1" name=""/>
        <p:cNvGrpSpPr/>
        <p:nvPr/>
      </p:nvGrpSpPr>
      <p:grpSpPr>
        <a:xfrm>
          <a:off x="0" y="0"/>
          <a:ext cx="0" cy="0"/>
          <a:chOff x="0" y="0"/>
          <a:chExt cx="0" cy="0"/>
        </a:xfrm>
      </p:grpSpPr>
      <p:grpSp>
        <p:nvGrpSpPr>
          <p:cNvPr id="2" name="组合 1"/>
          <p:cNvGrpSpPr/>
          <p:nvPr userDrawn="1"/>
        </p:nvGrpSpPr>
        <p:grpSpPr>
          <a:xfrm>
            <a:off x="12162528" y="4653136"/>
            <a:ext cx="638734" cy="1729234"/>
            <a:chOff x="12162528" y="4653136"/>
            <a:chExt cx="638734" cy="1729234"/>
          </a:xfrm>
        </p:grpSpPr>
        <p:sp>
          <p:nvSpPr>
            <p:cNvPr id="3" name="矩形 2"/>
            <p:cNvSpPr/>
            <p:nvPr userDrawn="1"/>
          </p:nvSpPr>
          <p:spPr>
            <a:xfrm>
              <a:off x="12212029" y="4653136"/>
              <a:ext cx="539729" cy="288726"/>
            </a:xfrm>
            <a:prstGeom prst="rect">
              <a:avLst/>
            </a:prstGeom>
            <a:solidFill>
              <a:srgbClr val="00B0F0"/>
            </a:solidFill>
          </p:spPr>
          <p:txBody>
            <a:bodyPr wrap="none" rtlCol="0" anchor="ctr">
              <a:noAutofit/>
            </a:bodyPr>
            <a:lstStyle/>
            <a:p>
              <a:pPr marL="342900" indent="-342900" algn="ctr" fontAlgn="auto">
                <a:buFont typeface="+mj-lt"/>
                <a:buAutoNum type="arabicPeriod"/>
              </a:pPr>
              <a:endParaRPr lang="zh-CN" altLang="en-US" sz="900">
                <a:latin typeface="+mn-lt"/>
                <a:ea typeface="+mn-ea"/>
                <a:cs typeface="Courier New" panose="02070309020205020404" pitchFamily="49" charset="0"/>
              </a:endParaRPr>
            </a:p>
          </p:txBody>
        </p:sp>
        <p:sp>
          <p:nvSpPr>
            <p:cNvPr id="4" name="矩形 3"/>
            <p:cNvSpPr/>
            <p:nvPr userDrawn="1"/>
          </p:nvSpPr>
          <p:spPr>
            <a:xfrm>
              <a:off x="12212029" y="4941964"/>
              <a:ext cx="539729" cy="288000"/>
            </a:xfrm>
            <a:prstGeom prst="rect">
              <a:avLst/>
            </a:prstGeom>
            <a:solidFill>
              <a:srgbClr val="A6D2FF"/>
            </a:solidFill>
          </p:spPr>
          <p:txBody>
            <a:bodyPr wrap="none" rtlCol="0" anchor="ctr">
              <a:noAutofit/>
            </a:bodyPr>
            <a:lstStyle/>
            <a:p>
              <a:pPr marL="342900" indent="-342900" algn="ctr" fontAlgn="auto">
                <a:buFont typeface="+mj-lt"/>
                <a:buAutoNum type="arabicPeriod"/>
              </a:pPr>
              <a:endParaRPr lang="zh-CN" altLang="en-US" sz="900">
                <a:latin typeface="+mn-lt"/>
                <a:ea typeface="+mn-ea"/>
                <a:cs typeface="Courier New" panose="02070309020205020404" pitchFamily="49" charset="0"/>
              </a:endParaRPr>
            </a:p>
          </p:txBody>
        </p:sp>
        <p:sp>
          <p:nvSpPr>
            <p:cNvPr id="5" name="矩形 4"/>
            <p:cNvSpPr/>
            <p:nvPr userDrawn="1"/>
          </p:nvSpPr>
          <p:spPr>
            <a:xfrm>
              <a:off x="12212029" y="5230066"/>
              <a:ext cx="539729" cy="288000"/>
            </a:xfrm>
            <a:prstGeom prst="rect">
              <a:avLst/>
            </a:prstGeom>
            <a:solidFill>
              <a:srgbClr val="D8D8D8"/>
            </a:solidFill>
          </p:spPr>
          <p:txBody>
            <a:bodyPr wrap="none" rtlCol="0" anchor="ctr">
              <a:noAutofit/>
            </a:bodyPr>
            <a:lstStyle/>
            <a:p>
              <a:pPr marL="342900" indent="-342900" algn="ctr" fontAlgn="auto">
                <a:buFont typeface="+mj-lt"/>
                <a:buAutoNum type="arabicPeriod"/>
              </a:pPr>
              <a:endParaRPr lang="zh-CN" altLang="en-US" sz="900">
                <a:latin typeface="+mn-lt"/>
                <a:ea typeface="+mn-ea"/>
                <a:cs typeface="Courier New" panose="02070309020205020404" pitchFamily="49" charset="0"/>
              </a:endParaRPr>
            </a:p>
          </p:txBody>
        </p:sp>
        <p:sp>
          <p:nvSpPr>
            <p:cNvPr id="6" name="矩形 5"/>
            <p:cNvSpPr/>
            <p:nvPr userDrawn="1"/>
          </p:nvSpPr>
          <p:spPr>
            <a:xfrm>
              <a:off x="12212029" y="5518168"/>
              <a:ext cx="539729" cy="288000"/>
            </a:xfrm>
            <a:prstGeom prst="rect">
              <a:avLst/>
            </a:prstGeom>
            <a:solidFill>
              <a:schemeClr val="accent2">
                <a:lumMod val="100000"/>
              </a:schemeClr>
            </a:solidFill>
          </p:spPr>
          <p:txBody>
            <a:bodyPr wrap="none" rtlCol="0" anchor="ctr">
              <a:noAutofit/>
            </a:bodyPr>
            <a:lstStyle/>
            <a:p>
              <a:pPr marL="342900" indent="-342900" algn="ctr" fontAlgn="auto">
                <a:buFont typeface="+mj-lt"/>
                <a:buAutoNum type="arabicPeriod"/>
              </a:pPr>
              <a:endParaRPr lang="zh-CN" altLang="en-US" sz="900">
                <a:latin typeface="+mn-lt"/>
                <a:ea typeface="+mn-ea"/>
                <a:cs typeface="Courier New" panose="02070309020205020404" pitchFamily="49" charset="0"/>
              </a:endParaRPr>
            </a:p>
          </p:txBody>
        </p:sp>
        <p:sp>
          <p:nvSpPr>
            <p:cNvPr id="7" name="矩形 6"/>
            <p:cNvSpPr/>
            <p:nvPr userDrawn="1"/>
          </p:nvSpPr>
          <p:spPr>
            <a:xfrm>
              <a:off x="12212029" y="5806270"/>
              <a:ext cx="539729" cy="288000"/>
            </a:xfrm>
            <a:prstGeom prst="rect">
              <a:avLst/>
            </a:prstGeom>
            <a:solidFill>
              <a:srgbClr val="FFFFCC"/>
            </a:solidFill>
          </p:spPr>
          <p:txBody>
            <a:bodyPr wrap="none" rtlCol="0" anchor="ctr">
              <a:noAutofit/>
            </a:bodyPr>
            <a:lstStyle/>
            <a:p>
              <a:pPr marL="342900" indent="-342900" algn="ctr" fontAlgn="auto">
                <a:buFont typeface="+mj-lt"/>
                <a:buAutoNum type="arabicPeriod"/>
              </a:pPr>
              <a:endParaRPr lang="zh-CN" altLang="en-US" sz="900">
                <a:latin typeface="+mn-lt"/>
                <a:ea typeface="+mn-ea"/>
                <a:cs typeface="Courier New" panose="02070309020205020404" pitchFamily="49" charset="0"/>
              </a:endParaRPr>
            </a:p>
          </p:txBody>
        </p:sp>
        <p:sp>
          <p:nvSpPr>
            <p:cNvPr id="8" name="矩形 7"/>
            <p:cNvSpPr/>
            <p:nvPr userDrawn="1"/>
          </p:nvSpPr>
          <p:spPr>
            <a:xfrm>
              <a:off x="12212029" y="6094370"/>
              <a:ext cx="539729" cy="288000"/>
            </a:xfrm>
            <a:prstGeom prst="rect">
              <a:avLst/>
            </a:prstGeom>
            <a:solidFill>
              <a:schemeClr val="accent6"/>
            </a:solidFill>
          </p:spPr>
          <p:txBody>
            <a:bodyPr wrap="none" rtlCol="0" anchor="ctr">
              <a:noAutofit/>
            </a:bodyPr>
            <a:lstStyle/>
            <a:p>
              <a:pPr marL="342900" indent="-342900" algn="ctr" fontAlgn="auto">
                <a:buFont typeface="+mj-lt"/>
                <a:buAutoNum type="arabicPeriod"/>
              </a:pPr>
              <a:endParaRPr lang="zh-CN" altLang="en-US" sz="900">
                <a:latin typeface="+mn-lt"/>
                <a:ea typeface="+mn-ea"/>
                <a:cs typeface="Courier New" panose="02070309020205020404" pitchFamily="49" charset="0"/>
              </a:endParaRPr>
            </a:p>
          </p:txBody>
        </p:sp>
        <p:sp>
          <p:nvSpPr>
            <p:cNvPr id="9" name="文本框 8"/>
            <p:cNvSpPr txBox="1"/>
            <p:nvPr userDrawn="1"/>
          </p:nvSpPr>
          <p:spPr bwMode="auto">
            <a:xfrm>
              <a:off x="12162528" y="4683920"/>
              <a:ext cx="638734" cy="227159"/>
            </a:xfrm>
            <a:prstGeom prst="rect">
              <a:avLst/>
            </a:prstGeom>
            <a:noFill/>
            <a:ln w="9525" algn="ctr">
              <a:noFill/>
              <a:miter lim="800000"/>
            </a:ln>
          </p:spPr>
          <p:txBody>
            <a:bodyPr vert="horz" wrap="none" lIns="87768" tIns="43884" rIns="87768" bIns="43884" numCol="1" rtlCol="0" anchor="ctr" anchorCtr="0" compatLnSpc="1">
              <a:spAutoFit/>
            </a:bodyPr>
            <a:lstStyle/>
            <a:p>
              <a:pPr algn="ctr" fontAlgn="auto"/>
              <a:r>
                <a:rPr lang="zh-CN" altLang="en-US" sz="900" dirty="0">
                  <a:solidFill>
                    <a:schemeClr val="bg1"/>
                  </a:solidFill>
                  <a:latin typeface="+mn-lt"/>
                  <a:ea typeface="+mn-ea"/>
                </a:rPr>
                <a:t>表格表头</a:t>
              </a:r>
            </a:p>
          </p:txBody>
        </p:sp>
        <p:sp>
          <p:nvSpPr>
            <p:cNvPr id="10" name="文本框 9"/>
            <p:cNvSpPr txBox="1"/>
            <p:nvPr userDrawn="1"/>
          </p:nvSpPr>
          <p:spPr bwMode="auto">
            <a:xfrm>
              <a:off x="12162528" y="4972385"/>
              <a:ext cx="638734" cy="227159"/>
            </a:xfrm>
            <a:prstGeom prst="rect">
              <a:avLst/>
            </a:prstGeom>
            <a:noFill/>
            <a:ln w="9525" algn="ctr">
              <a:noFill/>
              <a:miter lim="800000"/>
            </a:ln>
          </p:spPr>
          <p:txBody>
            <a:bodyPr vert="horz" wrap="none" lIns="87768" tIns="43884" rIns="87768" bIns="43884" numCol="1" rtlCol="0" anchor="ctr" anchorCtr="0" compatLnSpc="1">
              <a:spAutoFit/>
            </a:bodyPr>
            <a:lstStyle/>
            <a:p>
              <a:pPr algn="ctr" fontAlgn="auto"/>
              <a:r>
                <a:rPr lang="zh-CN" altLang="en-US" sz="900" dirty="0">
                  <a:latin typeface="+mn-lt"/>
                  <a:ea typeface="+mn-ea"/>
                </a:rPr>
                <a:t>表格边框</a:t>
              </a:r>
            </a:p>
          </p:txBody>
        </p:sp>
        <p:sp>
          <p:nvSpPr>
            <p:cNvPr id="11" name="文本框 10"/>
            <p:cNvSpPr txBox="1"/>
            <p:nvPr userDrawn="1"/>
          </p:nvSpPr>
          <p:spPr bwMode="auto">
            <a:xfrm>
              <a:off x="12162528" y="5260487"/>
              <a:ext cx="638734" cy="227159"/>
            </a:xfrm>
            <a:prstGeom prst="rect">
              <a:avLst/>
            </a:prstGeom>
            <a:noFill/>
            <a:ln w="9525" algn="ctr">
              <a:noFill/>
              <a:miter lim="800000"/>
            </a:ln>
          </p:spPr>
          <p:txBody>
            <a:bodyPr vert="horz" wrap="none" lIns="87768" tIns="43884" rIns="87768" bIns="43884" numCol="1" rtlCol="0" anchor="ctr" anchorCtr="0" compatLnSpc="1">
              <a:spAutoFit/>
            </a:bodyPr>
            <a:lstStyle/>
            <a:p>
              <a:pPr algn="ctr" fontAlgn="auto"/>
              <a:r>
                <a:rPr lang="zh-CN" altLang="en-US" sz="900" dirty="0">
                  <a:latin typeface="+mn-lt"/>
                  <a:ea typeface="+mn-ea"/>
                </a:rPr>
                <a:t>导航灰底</a:t>
              </a:r>
            </a:p>
          </p:txBody>
        </p:sp>
        <p:sp>
          <p:nvSpPr>
            <p:cNvPr id="12" name="文本框 11"/>
            <p:cNvSpPr txBox="1"/>
            <p:nvPr userDrawn="1"/>
          </p:nvSpPr>
          <p:spPr bwMode="auto">
            <a:xfrm>
              <a:off x="12220212" y="5548589"/>
              <a:ext cx="523364" cy="227159"/>
            </a:xfrm>
            <a:prstGeom prst="rect">
              <a:avLst/>
            </a:prstGeom>
            <a:noFill/>
            <a:ln w="9525" algn="ctr">
              <a:noFill/>
              <a:miter lim="800000"/>
            </a:ln>
          </p:spPr>
          <p:txBody>
            <a:bodyPr vert="horz" wrap="none" lIns="87768" tIns="43884" rIns="87768" bIns="43884" numCol="1" rtlCol="0" anchor="ctr" anchorCtr="0" compatLnSpc="1">
              <a:spAutoFit/>
            </a:bodyPr>
            <a:lstStyle/>
            <a:p>
              <a:pPr algn="ctr" fontAlgn="auto"/>
              <a:r>
                <a:rPr lang="zh-CN" altLang="en-US" sz="900" dirty="0">
                  <a:solidFill>
                    <a:schemeClr val="bg1"/>
                  </a:solidFill>
                  <a:latin typeface="+mn-lt"/>
                  <a:ea typeface="+mn-ea"/>
                </a:rPr>
                <a:t>华为红</a:t>
              </a:r>
            </a:p>
          </p:txBody>
        </p:sp>
        <p:sp>
          <p:nvSpPr>
            <p:cNvPr id="13" name="文本框 12"/>
            <p:cNvSpPr txBox="1"/>
            <p:nvPr userDrawn="1"/>
          </p:nvSpPr>
          <p:spPr bwMode="auto">
            <a:xfrm>
              <a:off x="12162528" y="5836691"/>
              <a:ext cx="638734" cy="227159"/>
            </a:xfrm>
            <a:prstGeom prst="rect">
              <a:avLst/>
            </a:prstGeom>
            <a:noFill/>
            <a:ln w="9525" algn="ctr">
              <a:noFill/>
              <a:miter lim="800000"/>
            </a:ln>
          </p:spPr>
          <p:txBody>
            <a:bodyPr vert="horz" wrap="none" lIns="87768" tIns="43884" rIns="87768" bIns="43884" numCol="1" rtlCol="0" anchor="ctr" anchorCtr="0" compatLnSpc="1">
              <a:spAutoFit/>
            </a:bodyPr>
            <a:lstStyle/>
            <a:p>
              <a:pPr algn="ctr" fontAlgn="auto"/>
              <a:r>
                <a:rPr lang="zh-CN" altLang="en-US" sz="900" dirty="0">
                  <a:latin typeface="+mn-lt"/>
                  <a:ea typeface="+mn-ea"/>
                </a:rPr>
                <a:t>文字底色</a:t>
              </a:r>
            </a:p>
          </p:txBody>
        </p:sp>
        <p:sp>
          <p:nvSpPr>
            <p:cNvPr id="14" name="文本框 13"/>
            <p:cNvSpPr txBox="1"/>
            <p:nvPr userDrawn="1"/>
          </p:nvSpPr>
          <p:spPr bwMode="auto">
            <a:xfrm>
              <a:off x="12162528" y="6124791"/>
              <a:ext cx="638734" cy="227159"/>
            </a:xfrm>
            <a:prstGeom prst="rect">
              <a:avLst/>
            </a:prstGeom>
            <a:noFill/>
            <a:ln w="9525" algn="ctr">
              <a:noFill/>
              <a:miter lim="800000"/>
            </a:ln>
          </p:spPr>
          <p:txBody>
            <a:bodyPr vert="horz" wrap="none" lIns="87768" tIns="43884" rIns="87768" bIns="43884" numCol="1" rtlCol="0" anchor="ctr" anchorCtr="0" compatLnSpc="1">
              <a:spAutoFit/>
            </a:bodyPr>
            <a:lstStyle/>
            <a:p>
              <a:pPr algn="ctr" fontAlgn="auto"/>
              <a:r>
                <a:rPr lang="zh-CN" altLang="en-US" sz="900" dirty="0">
                  <a:latin typeface="+mn-lt"/>
                  <a:ea typeface="+mn-ea"/>
                </a:rPr>
                <a:t>文字边框</a:t>
              </a: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思考题">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p:spPr>
        <p:txBody>
          <a:bodyPr/>
          <a:lstStyle>
            <a:lvl1pPr marL="457200" marR="0" indent="-457200" algn="just" defTabSz="801370" rtl="0" eaLnBrk="1" fontAlgn="auto" latinLnBrk="0" hangingPunct="1">
              <a:lnSpc>
                <a:spcPct val="140000"/>
              </a:lnSpc>
              <a:spcBef>
                <a:spcPct val="30000"/>
              </a:spcBef>
              <a:spcAft>
                <a:spcPct val="0"/>
              </a:spcAft>
              <a:buClrTx/>
              <a:buSzPct val="100000"/>
              <a:buFont typeface="+mj-lt"/>
              <a:buAutoNum type="arabicPeriod"/>
              <a:defRPr sz="2000">
                <a:latin typeface="+mn-lt"/>
                <a:ea typeface="+mn-ea"/>
                <a:cs typeface="Arial" panose="020B0604020202020204" pitchFamily="34" charset="0"/>
              </a:defRPr>
            </a:lvl1pPr>
            <a:lvl2pPr marL="401320" indent="0" algn="just">
              <a:buSzPct val="100000"/>
              <a:buFont typeface="+mj-lt"/>
              <a:buNone/>
              <a:defRPr sz="1800"/>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p:txBody>
      </p:sp>
      <p:sp>
        <p:nvSpPr>
          <p:cNvPr id="4" name="TextBox 10"/>
          <p:cNvSpPr txBox="1"/>
          <p:nvPr userDrawn="1"/>
        </p:nvSpPr>
        <p:spPr bwMode="auto">
          <a:xfrm>
            <a:off x="1594877" y="408780"/>
            <a:ext cx="1664752" cy="639559"/>
          </a:xfrm>
          <a:prstGeom prst="rect">
            <a:avLst/>
          </a:prstGeom>
          <a:noFill/>
          <a:ln w="9525">
            <a:noFill/>
            <a:miter lim="800000"/>
          </a:ln>
        </p:spPr>
        <p:txBody>
          <a:bodyPr wrap="square" lIns="99941" tIns="49967" rIns="99941" bIns="49967" rtlCol="0">
            <a:spAutoFit/>
          </a:bodyPr>
          <a:lstStyle/>
          <a:p>
            <a:pPr defTabSz="1001395" eaLnBrk="0" fontAlgn="auto" hangingPunct="0"/>
            <a:r>
              <a:rPr lang="zh-CN" altLang="en-US" sz="3500" b="1" dirty="0">
                <a:solidFill>
                  <a:schemeClr val="tx1"/>
                </a:solidFill>
                <a:latin typeface="+mn-lt"/>
                <a:ea typeface="+mn-ea"/>
                <a:cs typeface="Arial" panose="020B0604020202020204" pitchFamily="34" charset="0"/>
              </a:rPr>
              <a:t>思考题</a:t>
            </a:r>
          </a:p>
        </p:txBody>
      </p:sp>
      <p:sp>
        <p:nvSpPr>
          <p:cNvPr id="5" name="Freeform 9"/>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6" name="Freeform 11"/>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grpSp>
        <p:nvGrpSpPr>
          <p:cNvPr id="7" name="组合 6"/>
          <p:cNvGrpSpPr/>
          <p:nvPr userDrawn="1"/>
        </p:nvGrpSpPr>
        <p:grpSpPr>
          <a:xfrm>
            <a:off x="479190" y="424270"/>
            <a:ext cx="495425" cy="592462"/>
            <a:chOff x="5554662" y="2422526"/>
            <a:chExt cx="690564" cy="825500"/>
          </a:xfrm>
          <a:solidFill>
            <a:schemeClr val="bg1"/>
          </a:solidFill>
        </p:grpSpPr>
        <p:sp>
          <p:nvSpPr>
            <p:cNvPr id="8" name="Freeform 30"/>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9" name="Freeform 31"/>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0" name="Freeform 32"/>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1"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2"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3" name="Freeform 35"/>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4"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5"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6" name="Freeform 38"/>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7" name="Freeform 39"/>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8" name="Freeform 40"/>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9" name="Freeform 41"/>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20" name="Freeform 42"/>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grpSp>
      <p:sp>
        <p:nvSpPr>
          <p:cNvPr id="21" name="Freeform 6"/>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1" fmla="*/ 7021 w 10000"/>
              <a:gd name="connsiteY0-2" fmla="*/ 0 h 10000"/>
              <a:gd name="connsiteX1-3" fmla="*/ 0 w 10000"/>
              <a:gd name="connsiteY1-4" fmla="*/ 0 h 10000"/>
              <a:gd name="connsiteX2-5" fmla="*/ 197 w 10000"/>
              <a:gd name="connsiteY2-6" fmla="*/ 5024 h 10000"/>
              <a:gd name="connsiteX3-7" fmla="*/ 0 w 10000"/>
              <a:gd name="connsiteY3-8" fmla="*/ 10000 h 10000"/>
              <a:gd name="connsiteX4-9" fmla="*/ 10000 w 10000"/>
              <a:gd name="connsiteY4-10" fmla="*/ 10000 h 10000"/>
              <a:gd name="connsiteX5-11" fmla="*/ 7736 w 10000"/>
              <a:gd name="connsiteY5-12" fmla="*/ 5574 h 10000"/>
              <a:gd name="connsiteX6-13" fmla="*/ 7021 w 10000"/>
              <a:gd name="connsiteY6-14" fmla="*/ 0 h 10000"/>
              <a:gd name="connsiteX0-15" fmla="*/ 7021 w 7736"/>
              <a:gd name="connsiteY0-16" fmla="*/ 0 h 10038"/>
              <a:gd name="connsiteX1-17" fmla="*/ 0 w 7736"/>
              <a:gd name="connsiteY1-18" fmla="*/ 0 h 10038"/>
              <a:gd name="connsiteX2-19" fmla="*/ 197 w 7736"/>
              <a:gd name="connsiteY2-20" fmla="*/ 5024 h 10038"/>
              <a:gd name="connsiteX3-21" fmla="*/ 0 w 7736"/>
              <a:gd name="connsiteY3-22" fmla="*/ 10000 h 10038"/>
              <a:gd name="connsiteX4-23" fmla="*/ 7017 w 7736"/>
              <a:gd name="connsiteY4-24" fmla="*/ 10038 h 10038"/>
              <a:gd name="connsiteX5-25" fmla="*/ 7736 w 7736"/>
              <a:gd name="connsiteY5-26" fmla="*/ 5574 h 10038"/>
              <a:gd name="connsiteX6-27" fmla="*/ 7021 w 7736"/>
              <a:gd name="connsiteY6-28" fmla="*/ 0 h 10038"/>
              <a:gd name="connsiteX0-29" fmla="*/ 9076 w 9316"/>
              <a:gd name="connsiteY0-30" fmla="*/ 0 h 10000"/>
              <a:gd name="connsiteX1-31" fmla="*/ 0 w 9316"/>
              <a:gd name="connsiteY1-32" fmla="*/ 0 h 10000"/>
              <a:gd name="connsiteX2-33" fmla="*/ 255 w 9316"/>
              <a:gd name="connsiteY2-34" fmla="*/ 5005 h 10000"/>
              <a:gd name="connsiteX3-35" fmla="*/ 0 w 9316"/>
              <a:gd name="connsiteY3-36" fmla="*/ 9962 h 10000"/>
              <a:gd name="connsiteX4-37" fmla="*/ 9071 w 9316"/>
              <a:gd name="connsiteY4-38" fmla="*/ 10000 h 10000"/>
              <a:gd name="connsiteX5-39" fmla="*/ 9316 w 9316"/>
              <a:gd name="connsiteY5-40" fmla="*/ 5668 h 10000"/>
              <a:gd name="connsiteX6-41" fmla="*/ 9076 w 9316"/>
              <a:gd name="connsiteY6-42" fmla="*/ 0 h 10000"/>
              <a:gd name="connsiteX0-43" fmla="*/ 9742 w 10000"/>
              <a:gd name="connsiteY0-44" fmla="*/ 0 h 10000"/>
              <a:gd name="connsiteX1-45" fmla="*/ 0 w 10000"/>
              <a:gd name="connsiteY1-46" fmla="*/ 0 h 10000"/>
              <a:gd name="connsiteX2-47" fmla="*/ 274 w 10000"/>
              <a:gd name="connsiteY2-48" fmla="*/ 5005 h 10000"/>
              <a:gd name="connsiteX3-49" fmla="*/ 0 w 10000"/>
              <a:gd name="connsiteY3-50" fmla="*/ 9962 h 10000"/>
              <a:gd name="connsiteX4-51" fmla="*/ 9737 w 10000"/>
              <a:gd name="connsiteY4-52" fmla="*/ 10000 h 10000"/>
              <a:gd name="connsiteX5-53" fmla="*/ 10000 w 10000"/>
              <a:gd name="connsiteY5-54" fmla="*/ 5668 h 10000"/>
              <a:gd name="connsiteX6-55" fmla="*/ 9742 w 10000"/>
              <a:gd name="connsiteY6-56" fmla="*/ 0 h 10000"/>
              <a:gd name="connsiteX0-57" fmla="*/ 9742 w 9877"/>
              <a:gd name="connsiteY0-58" fmla="*/ 0 h 10000"/>
              <a:gd name="connsiteX1-59" fmla="*/ 0 w 9877"/>
              <a:gd name="connsiteY1-60" fmla="*/ 0 h 10000"/>
              <a:gd name="connsiteX2-61" fmla="*/ 274 w 9877"/>
              <a:gd name="connsiteY2-62" fmla="*/ 5005 h 10000"/>
              <a:gd name="connsiteX3-63" fmla="*/ 0 w 9877"/>
              <a:gd name="connsiteY3-64" fmla="*/ 9962 h 10000"/>
              <a:gd name="connsiteX4-65" fmla="*/ 9737 w 9877"/>
              <a:gd name="connsiteY4-66" fmla="*/ 10000 h 10000"/>
              <a:gd name="connsiteX5-67" fmla="*/ 9738 w 9877"/>
              <a:gd name="connsiteY5-68" fmla="*/ 5783 h 10000"/>
              <a:gd name="connsiteX6-69" fmla="*/ 9742 w 9877"/>
              <a:gd name="connsiteY6-70" fmla="*/ 0 h 10000"/>
              <a:gd name="connsiteX0-71" fmla="*/ 9863 w 9991"/>
              <a:gd name="connsiteY0-72" fmla="*/ 0 h 10000"/>
              <a:gd name="connsiteX1-73" fmla="*/ 0 w 9991"/>
              <a:gd name="connsiteY1-74" fmla="*/ 0 h 10000"/>
              <a:gd name="connsiteX2-75" fmla="*/ 277 w 9991"/>
              <a:gd name="connsiteY2-76" fmla="*/ 5005 h 10000"/>
              <a:gd name="connsiteX3-77" fmla="*/ 0 w 9991"/>
              <a:gd name="connsiteY3-78" fmla="*/ 9962 h 10000"/>
              <a:gd name="connsiteX4-79" fmla="*/ 9858 w 9991"/>
              <a:gd name="connsiteY4-80" fmla="*/ 10000 h 10000"/>
              <a:gd name="connsiteX5-81" fmla="*/ 9817 w 9991"/>
              <a:gd name="connsiteY5-82" fmla="*/ 5783 h 10000"/>
              <a:gd name="connsiteX6-83" fmla="*/ 9863 w 9991"/>
              <a:gd name="connsiteY6-84" fmla="*/ 0 h 10000"/>
              <a:gd name="connsiteX0-85" fmla="*/ 9872 w 10014"/>
              <a:gd name="connsiteY0-86" fmla="*/ 0 h 10000"/>
              <a:gd name="connsiteX1-87" fmla="*/ 0 w 10014"/>
              <a:gd name="connsiteY1-88" fmla="*/ 0 h 10000"/>
              <a:gd name="connsiteX2-89" fmla="*/ 277 w 10014"/>
              <a:gd name="connsiteY2-90" fmla="*/ 5005 h 10000"/>
              <a:gd name="connsiteX3-91" fmla="*/ 0 w 10014"/>
              <a:gd name="connsiteY3-92" fmla="*/ 9962 h 10000"/>
              <a:gd name="connsiteX4-93" fmla="*/ 9867 w 10014"/>
              <a:gd name="connsiteY4-94" fmla="*/ 10000 h 10000"/>
              <a:gd name="connsiteX5-95" fmla="*/ 9890 w 10014"/>
              <a:gd name="connsiteY5-96" fmla="*/ 5745 h 10000"/>
              <a:gd name="connsiteX6-97" fmla="*/ 9872 w 10014"/>
              <a:gd name="connsiteY6-98" fmla="*/ 0 h 10000"/>
              <a:gd name="connsiteX0-99" fmla="*/ 9872 w 10030"/>
              <a:gd name="connsiteY0-100" fmla="*/ 0 h 10000"/>
              <a:gd name="connsiteX1-101" fmla="*/ 0 w 10030"/>
              <a:gd name="connsiteY1-102" fmla="*/ 0 h 10000"/>
              <a:gd name="connsiteX2-103" fmla="*/ 277 w 10030"/>
              <a:gd name="connsiteY2-104" fmla="*/ 5005 h 10000"/>
              <a:gd name="connsiteX3-105" fmla="*/ 0 w 10030"/>
              <a:gd name="connsiteY3-106" fmla="*/ 9962 h 10000"/>
              <a:gd name="connsiteX4-107" fmla="*/ 9867 w 10030"/>
              <a:gd name="connsiteY4-108" fmla="*/ 10000 h 10000"/>
              <a:gd name="connsiteX5-109" fmla="*/ 9890 w 10030"/>
              <a:gd name="connsiteY5-110" fmla="*/ 5745 h 10000"/>
              <a:gd name="connsiteX6-111" fmla="*/ 9872 w 10030"/>
              <a:gd name="connsiteY6-112" fmla="*/ 0 h 10000"/>
              <a:gd name="connsiteX0-113" fmla="*/ 9872 w 9921"/>
              <a:gd name="connsiteY0-114" fmla="*/ 0 h 10000"/>
              <a:gd name="connsiteX1-115" fmla="*/ 0 w 9921"/>
              <a:gd name="connsiteY1-116" fmla="*/ 0 h 10000"/>
              <a:gd name="connsiteX2-117" fmla="*/ 277 w 9921"/>
              <a:gd name="connsiteY2-118" fmla="*/ 5005 h 10000"/>
              <a:gd name="connsiteX3-119" fmla="*/ 0 w 9921"/>
              <a:gd name="connsiteY3-120" fmla="*/ 9962 h 10000"/>
              <a:gd name="connsiteX4-121" fmla="*/ 9867 w 9921"/>
              <a:gd name="connsiteY4-122" fmla="*/ 10000 h 10000"/>
              <a:gd name="connsiteX5-123" fmla="*/ 9890 w 9921"/>
              <a:gd name="connsiteY5-124" fmla="*/ 5745 h 10000"/>
              <a:gd name="connsiteX6-125" fmla="*/ 9872 w 9921"/>
              <a:gd name="connsiteY6-126" fmla="*/ 0 h 10000"/>
              <a:gd name="connsiteX0-127" fmla="*/ 9951 w 9974"/>
              <a:gd name="connsiteY0-128" fmla="*/ 0 h 10000"/>
              <a:gd name="connsiteX1-129" fmla="*/ 0 w 9974"/>
              <a:gd name="connsiteY1-130" fmla="*/ 0 h 10000"/>
              <a:gd name="connsiteX2-131" fmla="*/ 279 w 9974"/>
              <a:gd name="connsiteY2-132" fmla="*/ 5005 h 10000"/>
              <a:gd name="connsiteX3-133" fmla="*/ 0 w 9974"/>
              <a:gd name="connsiteY3-134" fmla="*/ 9962 h 10000"/>
              <a:gd name="connsiteX4-135" fmla="*/ 9946 w 9974"/>
              <a:gd name="connsiteY4-136" fmla="*/ 10000 h 10000"/>
              <a:gd name="connsiteX5-137" fmla="*/ 9969 w 9974"/>
              <a:gd name="connsiteY5-138" fmla="*/ 5745 h 10000"/>
              <a:gd name="connsiteX6-139" fmla="*/ 9951 w 9974"/>
              <a:gd name="connsiteY6-140" fmla="*/ 0 h 10000"/>
              <a:gd name="connsiteX0-141" fmla="*/ 9977 w 10001"/>
              <a:gd name="connsiteY0-142" fmla="*/ 0 h 10000"/>
              <a:gd name="connsiteX1-143" fmla="*/ 0 w 10001"/>
              <a:gd name="connsiteY1-144" fmla="*/ 0 h 10000"/>
              <a:gd name="connsiteX2-145" fmla="*/ 280 w 10001"/>
              <a:gd name="connsiteY2-146" fmla="*/ 5005 h 10000"/>
              <a:gd name="connsiteX3-147" fmla="*/ 0 w 10001"/>
              <a:gd name="connsiteY3-148" fmla="*/ 9962 h 10000"/>
              <a:gd name="connsiteX4-149" fmla="*/ 9972 w 10001"/>
              <a:gd name="connsiteY4-150" fmla="*/ 10000 h 10000"/>
              <a:gd name="connsiteX5-151" fmla="*/ 9995 w 10001"/>
              <a:gd name="connsiteY5-152" fmla="*/ 5745 h 10000"/>
              <a:gd name="connsiteX6-153" fmla="*/ 9977 w 10001"/>
              <a:gd name="connsiteY6-154" fmla="*/ 0 h 10000"/>
              <a:gd name="connsiteX0-155" fmla="*/ 9977 w 10001"/>
              <a:gd name="connsiteY0-156" fmla="*/ 0 h 10000"/>
              <a:gd name="connsiteX1-157" fmla="*/ 0 w 10001"/>
              <a:gd name="connsiteY1-158" fmla="*/ 0 h 10000"/>
              <a:gd name="connsiteX2-159" fmla="*/ 280 w 10001"/>
              <a:gd name="connsiteY2-160" fmla="*/ 5005 h 10000"/>
              <a:gd name="connsiteX3-161" fmla="*/ 0 w 10001"/>
              <a:gd name="connsiteY3-162" fmla="*/ 9962 h 10000"/>
              <a:gd name="connsiteX4-163" fmla="*/ 9972 w 10001"/>
              <a:gd name="connsiteY4-164" fmla="*/ 10000 h 10000"/>
              <a:gd name="connsiteX5-165" fmla="*/ 9995 w 10001"/>
              <a:gd name="connsiteY5-166" fmla="*/ 5745 h 10000"/>
              <a:gd name="connsiteX6-167" fmla="*/ 9977 w 10001"/>
              <a:gd name="connsiteY6-168" fmla="*/ 0 h 10000"/>
              <a:gd name="connsiteX0-169" fmla="*/ 9977 w 10001"/>
              <a:gd name="connsiteY0-170" fmla="*/ 0 h 10000"/>
              <a:gd name="connsiteX1-171" fmla="*/ 0 w 10001"/>
              <a:gd name="connsiteY1-172" fmla="*/ 0 h 10000"/>
              <a:gd name="connsiteX2-173" fmla="*/ 280 w 10001"/>
              <a:gd name="connsiteY2-174" fmla="*/ 5005 h 10000"/>
              <a:gd name="connsiteX3-175" fmla="*/ 0 w 10001"/>
              <a:gd name="connsiteY3-176" fmla="*/ 9962 h 10000"/>
              <a:gd name="connsiteX4-177" fmla="*/ 9972 w 10001"/>
              <a:gd name="connsiteY4-178" fmla="*/ 10000 h 10000"/>
              <a:gd name="connsiteX5-179" fmla="*/ 9995 w 10001"/>
              <a:gd name="connsiteY5-180" fmla="*/ 5745 h 10000"/>
              <a:gd name="connsiteX6-181" fmla="*/ 9977 w 10001"/>
              <a:gd name="connsiteY6-182" fmla="*/ 0 h 10000"/>
              <a:gd name="connsiteX0-183" fmla="*/ 9977 w 9995"/>
              <a:gd name="connsiteY0-184" fmla="*/ 0 h 10000"/>
              <a:gd name="connsiteX1-185" fmla="*/ 0 w 9995"/>
              <a:gd name="connsiteY1-186" fmla="*/ 0 h 10000"/>
              <a:gd name="connsiteX2-187" fmla="*/ 280 w 9995"/>
              <a:gd name="connsiteY2-188" fmla="*/ 5005 h 10000"/>
              <a:gd name="connsiteX3-189" fmla="*/ 0 w 9995"/>
              <a:gd name="connsiteY3-190" fmla="*/ 9962 h 10000"/>
              <a:gd name="connsiteX4-191" fmla="*/ 9972 w 9995"/>
              <a:gd name="connsiteY4-192" fmla="*/ 10000 h 10000"/>
              <a:gd name="connsiteX5-193" fmla="*/ 9995 w 9995"/>
              <a:gd name="connsiteY5-194" fmla="*/ 5745 h 10000"/>
              <a:gd name="connsiteX6-195" fmla="*/ 9977 w 9995"/>
              <a:gd name="connsiteY6-196" fmla="*/ 0 h 10000"/>
              <a:gd name="connsiteX0-197" fmla="*/ 9999 w 10000"/>
              <a:gd name="connsiteY0-198" fmla="*/ 0 h 10000"/>
              <a:gd name="connsiteX1-199" fmla="*/ 0 w 10000"/>
              <a:gd name="connsiteY1-200" fmla="*/ 0 h 10000"/>
              <a:gd name="connsiteX2-201" fmla="*/ 280 w 10000"/>
              <a:gd name="connsiteY2-202" fmla="*/ 5005 h 10000"/>
              <a:gd name="connsiteX3-203" fmla="*/ 0 w 10000"/>
              <a:gd name="connsiteY3-204" fmla="*/ 9962 h 10000"/>
              <a:gd name="connsiteX4-205" fmla="*/ 9977 w 10000"/>
              <a:gd name="connsiteY4-206" fmla="*/ 10000 h 10000"/>
              <a:gd name="connsiteX5-207" fmla="*/ 10000 w 10000"/>
              <a:gd name="connsiteY5-208" fmla="*/ 5745 h 10000"/>
              <a:gd name="connsiteX6-209" fmla="*/ 9999 w 10000"/>
              <a:gd name="connsiteY6-210" fmla="*/ 0 h 10000"/>
              <a:gd name="connsiteX0-211" fmla="*/ 9999 w 10004"/>
              <a:gd name="connsiteY0-212" fmla="*/ 0 h 10000"/>
              <a:gd name="connsiteX1-213" fmla="*/ 0 w 10004"/>
              <a:gd name="connsiteY1-214" fmla="*/ 0 h 10000"/>
              <a:gd name="connsiteX2-215" fmla="*/ 280 w 10004"/>
              <a:gd name="connsiteY2-216" fmla="*/ 5005 h 10000"/>
              <a:gd name="connsiteX3-217" fmla="*/ 0 w 10004"/>
              <a:gd name="connsiteY3-218" fmla="*/ 9962 h 10000"/>
              <a:gd name="connsiteX4-219" fmla="*/ 10000 w 10004"/>
              <a:gd name="connsiteY4-220" fmla="*/ 10000 h 10000"/>
              <a:gd name="connsiteX5-221" fmla="*/ 10000 w 10004"/>
              <a:gd name="connsiteY5-222" fmla="*/ 5745 h 10000"/>
              <a:gd name="connsiteX6-223" fmla="*/ 9999 w 10004"/>
              <a:gd name="connsiteY6-224" fmla="*/ 0 h 10000"/>
              <a:gd name="connsiteX0-225" fmla="*/ 9999 w 10000"/>
              <a:gd name="connsiteY0-226" fmla="*/ 0 h 10000"/>
              <a:gd name="connsiteX1-227" fmla="*/ 0 w 10000"/>
              <a:gd name="connsiteY1-228" fmla="*/ 0 h 10000"/>
              <a:gd name="connsiteX2-229" fmla="*/ 280 w 10000"/>
              <a:gd name="connsiteY2-230" fmla="*/ 5005 h 10000"/>
              <a:gd name="connsiteX3-231" fmla="*/ 0 w 10000"/>
              <a:gd name="connsiteY3-232" fmla="*/ 9962 h 10000"/>
              <a:gd name="connsiteX4-233" fmla="*/ 10000 w 10000"/>
              <a:gd name="connsiteY4-234" fmla="*/ 10000 h 10000"/>
              <a:gd name="connsiteX5-235" fmla="*/ 10000 w 10000"/>
              <a:gd name="connsiteY5-236" fmla="*/ 5745 h 10000"/>
              <a:gd name="connsiteX6-237" fmla="*/ 9999 w 10000"/>
              <a:gd name="connsiteY6-238" fmla="*/ 0 h 10000"/>
              <a:gd name="connsiteX0-239" fmla="*/ 14796 w 14796"/>
              <a:gd name="connsiteY0-240" fmla="*/ 0 h 10000"/>
              <a:gd name="connsiteX1-241" fmla="*/ 0 w 14796"/>
              <a:gd name="connsiteY1-242" fmla="*/ 0 h 10000"/>
              <a:gd name="connsiteX2-243" fmla="*/ 280 w 14796"/>
              <a:gd name="connsiteY2-244" fmla="*/ 5005 h 10000"/>
              <a:gd name="connsiteX3-245" fmla="*/ 0 w 14796"/>
              <a:gd name="connsiteY3-246" fmla="*/ 9962 h 10000"/>
              <a:gd name="connsiteX4-247" fmla="*/ 10000 w 14796"/>
              <a:gd name="connsiteY4-248" fmla="*/ 10000 h 10000"/>
              <a:gd name="connsiteX5-249" fmla="*/ 10000 w 14796"/>
              <a:gd name="connsiteY5-250" fmla="*/ 5745 h 10000"/>
              <a:gd name="connsiteX6-251" fmla="*/ 14796 w 14796"/>
              <a:gd name="connsiteY6-252" fmla="*/ 0 h 10000"/>
              <a:gd name="connsiteX0-253" fmla="*/ 14796 w 14796"/>
              <a:gd name="connsiteY0-254" fmla="*/ 0 h 9968"/>
              <a:gd name="connsiteX1-255" fmla="*/ 0 w 14796"/>
              <a:gd name="connsiteY1-256" fmla="*/ 0 h 9968"/>
              <a:gd name="connsiteX2-257" fmla="*/ 280 w 14796"/>
              <a:gd name="connsiteY2-258" fmla="*/ 5005 h 9968"/>
              <a:gd name="connsiteX3-259" fmla="*/ 0 w 14796"/>
              <a:gd name="connsiteY3-260" fmla="*/ 9962 h 9968"/>
              <a:gd name="connsiteX4-261" fmla="*/ 14788 w 14796"/>
              <a:gd name="connsiteY4-262" fmla="*/ 9968 h 9968"/>
              <a:gd name="connsiteX5-263" fmla="*/ 10000 w 14796"/>
              <a:gd name="connsiteY5-264" fmla="*/ 5745 h 9968"/>
              <a:gd name="connsiteX6-265" fmla="*/ 14796 w 14796"/>
              <a:gd name="connsiteY6-266" fmla="*/ 0 h 9968"/>
              <a:gd name="connsiteX0-267" fmla="*/ 10000 w 10000"/>
              <a:gd name="connsiteY0-268" fmla="*/ 0 h 10000"/>
              <a:gd name="connsiteX1-269" fmla="*/ 0 w 10000"/>
              <a:gd name="connsiteY1-270" fmla="*/ 0 h 10000"/>
              <a:gd name="connsiteX2-271" fmla="*/ 189 w 10000"/>
              <a:gd name="connsiteY2-272" fmla="*/ 5021 h 10000"/>
              <a:gd name="connsiteX3-273" fmla="*/ 0 w 10000"/>
              <a:gd name="connsiteY3-274" fmla="*/ 9994 h 10000"/>
              <a:gd name="connsiteX4-275" fmla="*/ 9995 w 10000"/>
              <a:gd name="connsiteY4-276" fmla="*/ 10000 h 10000"/>
              <a:gd name="connsiteX5-277" fmla="*/ 9998 w 10000"/>
              <a:gd name="connsiteY5-278" fmla="*/ 6152 h 10000"/>
              <a:gd name="connsiteX6-279" fmla="*/ 10000 w 10000"/>
              <a:gd name="connsiteY6-280" fmla="*/ 0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22" name="Freeform 11"/>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本节小结(可选)">
    <p:spTree>
      <p:nvGrpSpPr>
        <p:cNvPr id="1" name=""/>
        <p:cNvGrpSpPr/>
        <p:nvPr/>
      </p:nvGrpSpPr>
      <p:grpSpPr>
        <a:xfrm>
          <a:off x="0" y="0"/>
          <a:ext cx="0" cy="0"/>
          <a:chOff x="0" y="0"/>
          <a:chExt cx="0" cy="0"/>
        </a:xfrm>
      </p:grpSpPr>
      <p:sp>
        <p:nvSpPr>
          <p:cNvPr id="4" name="TextBox 10"/>
          <p:cNvSpPr txBox="1"/>
          <p:nvPr userDrawn="1"/>
        </p:nvSpPr>
        <p:spPr bwMode="auto">
          <a:xfrm>
            <a:off x="1594877" y="408780"/>
            <a:ext cx="2015437" cy="639559"/>
          </a:xfrm>
          <a:prstGeom prst="rect">
            <a:avLst/>
          </a:prstGeom>
          <a:noFill/>
          <a:ln w="9525">
            <a:noFill/>
            <a:miter lim="800000"/>
          </a:ln>
        </p:spPr>
        <p:txBody>
          <a:bodyPr wrap="square" lIns="99941" tIns="49967" rIns="99941" bIns="49967" rtlCol="0">
            <a:spAutoFit/>
          </a:bodyPr>
          <a:lstStyle/>
          <a:p>
            <a:pPr defTabSz="1001395" eaLnBrk="0" fontAlgn="auto" hangingPunct="0"/>
            <a:r>
              <a:rPr lang="zh-CN" altLang="en-US" sz="3500" b="1" dirty="0">
                <a:solidFill>
                  <a:schemeClr val="tx1"/>
                </a:solidFill>
                <a:latin typeface="+mn-lt"/>
                <a:ea typeface="+mn-ea"/>
                <a:cs typeface="Arial" panose="020B0604020202020204" pitchFamily="34" charset="0"/>
              </a:rPr>
              <a:t>本节小结</a:t>
            </a:r>
          </a:p>
        </p:txBody>
      </p:sp>
      <p:sp>
        <p:nvSpPr>
          <p:cNvPr id="5" name="Freeform 9"/>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6" name="Freeform 11"/>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grpSp>
        <p:nvGrpSpPr>
          <p:cNvPr id="7" name="组合 6"/>
          <p:cNvGrpSpPr/>
          <p:nvPr userDrawn="1"/>
        </p:nvGrpSpPr>
        <p:grpSpPr>
          <a:xfrm>
            <a:off x="515179" y="490849"/>
            <a:ext cx="470510" cy="475421"/>
            <a:chOff x="5540375" y="2868613"/>
            <a:chExt cx="1106488" cy="1117600"/>
          </a:xfrm>
          <a:solidFill>
            <a:schemeClr val="bg1"/>
          </a:solidFill>
        </p:grpSpPr>
        <p:sp>
          <p:nvSpPr>
            <p:cNvPr id="8" name="Freeform 6"/>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9" name="Freeform 7"/>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grpSp>
      <p:sp>
        <p:nvSpPr>
          <p:cNvPr id="10" name="内容占位符 6"/>
          <p:cNvSpPr>
            <a:spLocks noGrp="1"/>
          </p:cNvSpPr>
          <p:nvPr>
            <p:ph sz="quarter" idx="10" hasCustomPrompt="1"/>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2pPr algn="just" fontAlgn="auto">
              <a:buClrTx/>
              <a:defRPr>
                <a:latin typeface="+mn-lt"/>
                <a:ea typeface="+mn-ea"/>
                <a:cs typeface="Arial" panose="020B0604020202020204" pitchFamily="34" charset="0"/>
              </a:defRPr>
            </a:lvl2pPr>
            <a:lvl3pPr algn="just" fontAlgn="auto">
              <a:buClrTx/>
              <a:defRPr>
                <a:latin typeface="+mn-lt"/>
                <a:ea typeface="+mn-ea"/>
                <a:cs typeface="Arial" panose="020B0604020202020204" pitchFamily="34" charset="0"/>
              </a:defRPr>
            </a:lvl3pPr>
            <a:lvl4pPr algn="just" fontAlgn="auto">
              <a:buClrTx/>
              <a:defRPr>
                <a:latin typeface="+mn-lt"/>
                <a:ea typeface="+mn-ea"/>
                <a:cs typeface="Arial" panose="020B0604020202020204" pitchFamily="34" charset="0"/>
              </a:defRPr>
            </a:lvl4pPr>
            <a:lvl5pPr algn="just" fontAlgn="auto">
              <a:buClrTx/>
              <a:defRPr>
                <a:latin typeface="+mn-lt"/>
                <a:ea typeface="+mn-ea"/>
                <a:cs typeface="Arial" panose="020B0604020202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本章总结">
    <p:spTree>
      <p:nvGrpSpPr>
        <p:cNvPr id="1" name=""/>
        <p:cNvGrpSpPr/>
        <p:nvPr/>
      </p:nvGrpSpPr>
      <p:grpSpPr>
        <a:xfrm>
          <a:off x="0" y="0"/>
          <a:ext cx="0" cy="0"/>
          <a:chOff x="0" y="0"/>
          <a:chExt cx="0" cy="0"/>
        </a:xfrm>
      </p:grpSpPr>
      <p:sp>
        <p:nvSpPr>
          <p:cNvPr id="3" name="TextBox 10"/>
          <p:cNvSpPr txBox="1"/>
          <p:nvPr userDrawn="1"/>
        </p:nvSpPr>
        <p:spPr bwMode="auto">
          <a:xfrm>
            <a:off x="1594877" y="408780"/>
            <a:ext cx="2015437" cy="639559"/>
          </a:xfrm>
          <a:prstGeom prst="rect">
            <a:avLst/>
          </a:prstGeom>
          <a:noFill/>
          <a:ln w="9525">
            <a:noFill/>
            <a:miter lim="800000"/>
          </a:ln>
        </p:spPr>
        <p:txBody>
          <a:bodyPr wrap="square" lIns="99941" tIns="49967" rIns="99941" bIns="49967" rtlCol="0">
            <a:spAutoFit/>
          </a:bodyPr>
          <a:lstStyle/>
          <a:p>
            <a:pPr defTabSz="1001395" eaLnBrk="0" fontAlgn="auto" hangingPunct="0"/>
            <a:r>
              <a:rPr lang="zh-CN" altLang="en-US" sz="3500" b="1" dirty="0">
                <a:solidFill>
                  <a:schemeClr val="tx1"/>
                </a:solidFill>
                <a:latin typeface="+mn-lt"/>
                <a:ea typeface="+mn-ea"/>
                <a:cs typeface="Arial" panose="020B0604020202020204" pitchFamily="34" charset="0"/>
              </a:rPr>
              <a:t>本章总结</a:t>
            </a:r>
          </a:p>
        </p:txBody>
      </p:sp>
      <p:sp>
        <p:nvSpPr>
          <p:cNvPr id="4" name="Freeform 9"/>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5" name="Freeform 11"/>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grpSp>
        <p:nvGrpSpPr>
          <p:cNvPr id="6" name="组合 5"/>
          <p:cNvGrpSpPr/>
          <p:nvPr userDrawn="1"/>
        </p:nvGrpSpPr>
        <p:grpSpPr>
          <a:xfrm>
            <a:off x="515179" y="490849"/>
            <a:ext cx="470510" cy="475421"/>
            <a:chOff x="5540375" y="2868613"/>
            <a:chExt cx="1106488" cy="1117600"/>
          </a:xfrm>
          <a:solidFill>
            <a:schemeClr val="bg1"/>
          </a:solidFill>
        </p:grpSpPr>
        <p:sp>
          <p:nvSpPr>
            <p:cNvPr id="7" name="Freeform 6"/>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8" name="Freeform 7"/>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grpSp>
      <p:sp>
        <p:nvSpPr>
          <p:cNvPr id="10" name="内容占位符 6"/>
          <p:cNvSpPr>
            <a:spLocks noGrp="1"/>
          </p:cNvSpPr>
          <p:nvPr>
            <p:ph sz="quarter" idx="10"/>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2pPr algn="just" fontAlgn="auto">
              <a:buClrTx/>
              <a:defRPr>
                <a:latin typeface="+mn-lt"/>
                <a:ea typeface="+mn-ea"/>
                <a:cs typeface="Arial" panose="020B0604020202020204" pitchFamily="34" charset="0"/>
              </a:defRPr>
            </a:lvl2pPr>
            <a:lvl3pPr algn="just" fontAlgn="auto">
              <a:buClrTx/>
              <a:defRPr>
                <a:latin typeface="+mn-lt"/>
                <a:ea typeface="+mn-ea"/>
                <a:cs typeface="Arial" panose="020B0604020202020204" pitchFamily="34" charset="0"/>
              </a:defRPr>
            </a:lvl3pPr>
            <a:lvl4pPr algn="just" fontAlgn="auto">
              <a:buClrTx/>
              <a:defRPr>
                <a:latin typeface="+mn-lt"/>
                <a:ea typeface="+mn-ea"/>
                <a:cs typeface="Arial" panose="020B0604020202020204" pitchFamily="34" charset="0"/>
              </a:defRPr>
            </a:lvl4pPr>
            <a:lvl5pPr algn="just" fontAlgn="auto">
              <a:buClrTx/>
              <a:defRPr>
                <a:latin typeface="+mn-lt"/>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5pPr>
              <a:buNone/>
              <a:defRPr/>
            </a:lvl5pPr>
          </a:lstStyle>
          <a:p>
            <a:r>
              <a:rPr lang="zh-CN" altLang="en-US" dirty="0"/>
              <a:t>此版式用于提供给学员更多学习信息。</a:t>
            </a:r>
          </a:p>
        </p:txBody>
      </p:sp>
      <p:sp>
        <p:nvSpPr>
          <p:cNvPr id="4" name="TextBox 10"/>
          <p:cNvSpPr txBox="1"/>
          <p:nvPr userDrawn="1"/>
        </p:nvSpPr>
        <p:spPr bwMode="auto">
          <a:xfrm>
            <a:off x="1594877" y="408780"/>
            <a:ext cx="5038592" cy="639559"/>
          </a:xfrm>
          <a:prstGeom prst="rect">
            <a:avLst/>
          </a:prstGeom>
          <a:noFill/>
          <a:ln w="9525">
            <a:noFill/>
            <a:miter lim="800000"/>
          </a:ln>
        </p:spPr>
        <p:txBody>
          <a:bodyPr wrap="square" lIns="99941" tIns="49967" rIns="99941" bIns="49967" rtlCol="0">
            <a:spAutoFit/>
          </a:bodyPr>
          <a:lstStyle/>
          <a:p>
            <a:pPr defTabSz="1001395" eaLnBrk="0" fontAlgn="auto" hangingPunct="0"/>
            <a:r>
              <a:rPr lang="zh-CN" altLang="en-US" sz="3500" b="1" dirty="0">
                <a:solidFill>
                  <a:schemeClr val="tx1"/>
                </a:solidFill>
                <a:latin typeface="+mn-lt"/>
                <a:ea typeface="+mn-ea"/>
                <a:cs typeface="Arial" panose="020B0604020202020204" pitchFamily="34" charset="0"/>
              </a:rPr>
              <a:t>更多信息</a:t>
            </a:r>
          </a:p>
        </p:txBody>
      </p:sp>
      <p:sp>
        <p:nvSpPr>
          <p:cNvPr id="5" name="Freeform 9"/>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6" name="Freeform 11"/>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grpSp>
        <p:nvGrpSpPr>
          <p:cNvPr id="7" name="组合 6"/>
          <p:cNvGrpSpPr/>
          <p:nvPr userDrawn="1"/>
        </p:nvGrpSpPr>
        <p:grpSpPr>
          <a:xfrm>
            <a:off x="479189" y="480269"/>
            <a:ext cx="496387" cy="496581"/>
            <a:chOff x="4485904" y="3429000"/>
            <a:chExt cx="2003425" cy="2003425"/>
          </a:xfrm>
          <a:solidFill>
            <a:schemeClr val="bg1"/>
          </a:solidFill>
        </p:grpSpPr>
        <p:sp>
          <p:nvSpPr>
            <p:cNvPr id="8"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9" name="Freeform 7"/>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0" name="Freeform 8"/>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1" name="Freeform 9"/>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stStyle>
          <a:p>
            <a:endParaRPr lang="zh-CN" altLang="en-US" dirty="0"/>
          </a:p>
        </p:txBody>
      </p:sp>
      <p:sp>
        <p:nvSpPr>
          <p:cNvPr id="4" name="TextBox 10"/>
          <p:cNvSpPr txBox="1"/>
          <p:nvPr userDrawn="1"/>
        </p:nvSpPr>
        <p:spPr bwMode="auto">
          <a:xfrm>
            <a:off x="1594877" y="408780"/>
            <a:ext cx="5038592" cy="639559"/>
          </a:xfrm>
          <a:prstGeom prst="rect">
            <a:avLst/>
          </a:prstGeom>
          <a:noFill/>
          <a:ln w="9525">
            <a:noFill/>
            <a:miter lim="800000"/>
          </a:ln>
        </p:spPr>
        <p:txBody>
          <a:bodyPr wrap="square" lIns="99941" tIns="49967" rIns="99941" bIns="49967" rtlCol="0">
            <a:spAutoFit/>
          </a:bodyPr>
          <a:lstStyle/>
          <a:p>
            <a:pPr defTabSz="1001395" eaLnBrk="0" fontAlgn="auto" hangingPunct="0"/>
            <a:r>
              <a:rPr lang="zh-CN" altLang="en-US" sz="3500" b="1" dirty="0">
                <a:solidFill>
                  <a:schemeClr val="tx1"/>
                </a:solidFill>
                <a:latin typeface="+mn-lt"/>
                <a:ea typeface="+mn-ea"/>
                <a:cs typeface="Arial" panose="020B0604020202020204" pitchFamily="34" charset="0"/>
              </a:rPr>
              <a:t>学习推荐</a:t>
            </a:r>
          </a:p>
        </p:txBody>
      </p:sp>
      <p:sp>
        <p:nvSpPr>
          <p:cNvPr id="5" name="Freeform 9"/>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sp>
        <p:nvSpPr>
          <p:cNvPr id="6" name="Freeform 11"/>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noAutofit/>
          </a:bodyPr>
          <a:lstStyle/>
          <a:p>
            <a:endParaRPr lang="zh-CN" altLang="en-US" sz="1800">
              <a:latin typeface="+mn-lt"/>
              <a:ea typeface="+mn-ea"/>
            </a:endParaRPr>
          </a:p>
        </p:txBody>
      </p:sp>
      <p:grpSp>
        <p:nvGrpSpPr>
          <p:cNvPr id="7" name="组合 6"/>
          <p:cNvGrpSpPr/>
          <p:nvPr userDrawn="1"/>
        </p:nvGrpSpPr>
        <p:grpSpPr>
          <a:xfrm>
            <a:off x="515179" y="456929"/>
            <a:ext cx="461783" cy="485190"/>
            <a:chOff x="-779463" y="1835151"/>
            <a:chExt cx="1136650" cy="1193799"/>
          </a:xfrm>
          <a:solidFill>
            <a:schemeClr val="bg1"/>
          </a:solidFill>
        </p:grpSpPr>
        <p:sp>
          <p:nvSpPr>
            <p:cNvPr id="8" name="Freeform 6"/>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9"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0" name="Freeform 8"/>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1"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2"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sp>
          <p:nvSpPr>
            <p:cNvPr id="13"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latin typeface="+mn-lt"/>
                <a:ea typeface="+mn-ea"/>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谢谢">
    <p:spTree>
      <p:nvGrpSpPr>
        <p:cNvPr id="1" name=""/>
        <p:cNvGrpSpPr/>
        <p:nvPr/>
      </p:nvGrpSpPr>
      <p:grpSpPr>
        <a:xfrm>
          <a:off x="0" y="0"/>
          <a:ext cx="0" cy="0"/>
          <a:chOff x="0" y="0"/>
          <a:chExt cx="0" cy="0"/>
        </a:xfrm>
      </p:grpSpPr>
      <p:pic>
        <p:nvPicPr>
          <p:cNvPr id="9" name="Picture 2" descr="D:\201207257配图\培训\shutterstock_242224906.jpg"/>
          <p:cNvPicPr>
            <a:picLocks noChangeAspect="1" noChangeArrowheads="1"/>
          </p:cNvPicPr>
          <p:nvPr userDrawn="1"/>
        </p:nvPicPr>
        <p:blipFill rotWithShape="1">
          <a:blip r:embed="rId2" cstate="email"/>
          <a:srcRect t="17896" b="10658"/>
          <a:stretch>
            <a:fillRect/>
          </a:stretch>
        </p:blipFill>
        <p:spPr bwMode="auto">
          <a:xfrm>
            <a:off x="1549" y="0"/>
            <a:ext cx="12188902"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userDrawn="1"/>
        </p:nvSpPr>
        <p:spPr bwMode="auto">
          <a:xfrm>
            <a:off x="2380" y="0"/>
            <a:ext cx="12187239" cy="6858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lstStyle/>
          <a:p>
            <a:pPr marL="0" marR="0" indent="0" algn="l" defTabSz="913765" rtl="0" eaLnBrk="1" fontAlgn="t"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mn-lt"/>
              <a:ea typeface="+mn-ea"/>
            </a:endParaRPr>
          </a:p>
        </p:txBody>
      </p:sp>
      <p:grpSp>
        <p:nvGrpSpPr>
          <p:cNvPr id="16" name="组合 15"/>
          <p:cNvGrpSpPr/>
          <p:nvPr userDrawn="1"/>
        </p:nvGrpSpPr>
        <p:grpSpPr>
          <a:xfrm>
            <a:off x="4148952" y="2637135"/>
            <a:ext cx="3894096" cy="1598831"/>
            <a:chOff x="4302972" y="2345035"/>
            <a:chExt cx="3895617" cy="1598831"/>
          </a:xfrm>
        </p:grpSpPr>
        <p:sp>
          <p:nvSpPr>
            <p:cNvPr id="14" name="矩形 13"/>
            <p:cNvSpPr/>
            <p:nvPr userDrawn="1"/>
          </p:nvSpPr>
          <p:spPr>
            <a:xfrm>
              <a:off x="5357748" y="2345035"/>
              <a:ext cx="1786065" cy="923330"/>
            </a:xfrm>
            <a:prstGeom prst="rect">
              <a:avLst/>
            </a:prstGeom>
            <a:noFill/>
          </p:spPr>
          <p:txBody>
            <a:bodyPr wrap="none" lIns="91440" tIns="45720" rIns="91440" bIns="45720">
              <a:spAutoFit/>
            </a:bodyPr>
            <a:lstStyle/>
            <a:p>
              <a:pPr algn="ctr"/>
              <a:r>
                <a:rPr lang="zh-CN" altLang="en-US" sz="5400" b="0" cap="none" spc="0" dirty="0">
                  <a:ln w="0"/>
                  <a:solidFill>
                    <a:schemeClr val="bg1"/>
                  </a:solidFill>
                  <a:effectLst>
                    <a:outerShdw blurRad="38100" dist="19050" dir="2700000" algn="tl" rotWithShape="0">
                      <a:schemeClr val="dk1">
                        <a:alpha val="40000"/>
                      </a:schemeClr>
                    </a:outerShdw>
                  </a:effectLst>
                </a:rPr>
                <a:t>谢 谢</a:t>
              </a:r>
              <a:endParaRPr lang="en-US" altLang="zh-CN" sz="5400" b="0" cap="none" spc="0" dirty="0">
                <a:ln w="0"/>
                <a:solidFill>
                  <a:schemeClr val="bg1"/>
                </a:solidFill>
                <a:effectLst>
                  <a:outerShdw blurRad="38100" dist="19050" dir="2700000" algn="tl" rotWithShape="0">
                    <a:schemeClr val="dk1">
                      <a:alpha val="40000"/>
                    </a:schemeClr>
                  </a:outerShdw>
                </a:effectLst>
              </a:endParaRPr>
            </a:p>
          </p:txBody>
        </p:sp>
        <p:sp>
          <p:nvSpPr>
            <p:cNvPr id="15" name="矩形 14"/>
            <p:cNvSpPr/>
            <p:nvPr userDrawn="1"/>
          </p:nvSpPr>
          <p:spPr>
            <a:xfrm>
              <a:off x="4302972" y="3297535"/>
              <a:ext cx="3895617" cy="646331"/>
            </a:xfrm>
            <a:prstGeom prst="rect">
              <a:avLst/>
            </a:prstGeom>
            <a:noFill/>
          </p:spPr>
          <p:txBody>
            <a:bodyPr wrap="none" lIns="91440" tIns="45720" rIns="91440" bIns="45720">
              <a:spAutoFit/>
            </a:bodyPr>
            <a:lstStyle/>
            <a:p>
              <a:pPr algn="ctr"/>
              <a:r>
                <a:rPr lang="en-US" altLang="zh-CN" sz="3600" b="0" cap="none" spc="0" dirty="0">
                  <a:ln w="0"/>
                  <a:solidFill>
                    <a:schemeClr val="bg1"/>
                  </a:solidFill>
                  <a:effectLst>
                    <a:outerShdw blurRad="38100" dist="19050" dir="2700000" algn="tl" rotWithShape="0">
                      <a:schemeClr val="dk1">
                        <a:alpha val="40000"/>
                      </a:schemeClr>
                    </a:outerShdw>
                  </a:effectLst>
                </a:rPr>
                <a:t>www.huawei.com</a:t>
              </a:r>
              <a:endParaRPr lang="zh-CN" altLang="en-US" sz="3600" b="0" cap="none" spc="0" dirty="0">
                <a:ln w="0"/>
                <a:solidFill>
                  <a:schemeClr val="bg1"/>
                </a:solidFill>
                <a:effectLst>
                  <a:outerShdw blurRad="38100" dist="19050" dir="2700000" algn="tl" rotWithShape="0">
                    <a:schemeClr val="dk1">
                      <a:alpha val="40000"/>
                    </a:schemeClr>
                  </a:outerShdw>
                </a:effectLst>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a:spLocks noGrp="1" noChangeArrowheads="1"/>
          </p:cNvSpPr>
          <p:nvPr>
            <p:ph type="title"/>
          </p:nvPr>
        </p:nvSpPr>
        <p:spPr bwMode="auto">
          <a:xfrm>
            <a:off x="869611" y="260649"/>
            <a:ext cx="10323183" cy="868363"/>
          </a:xfrm>
          <a:prstGeom prst="rect">
            <a:avLst/>
          </a:prstGeom>
          <a:noFill/>
          <a:ln w="9525">
            <a:noFill/>
            <a:miter lim="800000"/>
          </a:ln>
        </p:spPr>
        <p:txBody>
          <a:bodyPr vert="horz" wrap="square" lIns="80128" tIns="40064" rIns="80128" bIns="40064" numCol="1" anchor="ctr" anchorCtr="0" compatLnSpc="1"/>
          <a:lstStyle/>
          <a:p>
            <a:pPr lvl="0"/>
            <a:r>
              <a:rPr lang="zh-CN" altLang="en-US" dirty="0"/>
              <a:t>单击此处编辑母版标题样式</a:t>
            </a:r>
          </a:p>
        </p:txBody>
      </p:sp>
      <p:sp>
        <p:nvSpPr>
          <p:cNvPr id="8" name="Rectangle 57"/>
          <p:cNvSpPr>
            <a:spLocks noGrp="1" noChangeArrowheads="1"/>
          </p:cNvSpPr>
          <p:nvPr>
            <p:ph type="body" idx="1"/>
          </p:nvPr>
        </p:nvSpPr>
        <p:spPr bwMode="auto">
          <a:xfrm>
            <a:off x="466221" y="1248074"/>
            <a:ext cx="11279865" cy="4195763"/>
          </a:xfrm>
          <a:prstGeom prst="rect">
            <a:avLst/>
          </a:prstGeom>
          <a:noFill/>
          <a:ln w="9525">
            <a:noFill/>
            <a:miter lim="800000"/>
          </a:ln>
        </p:spPr>
        <p:txBody>
          <a:bodyPr vert="horz" wrap="square" lIns="80141" tIns="40071" rIns="80141" bIns="40071"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Rectangle 69"/>
          <p:cNvSpPr>
            <a:spLocks noChangeArrowheads="1"/>
          </p:cNvSpPr>
          <p:nvPr userDrawn="1"/>
        </p:nvSpPr>
        <p:spPr bwMode="auto">
          <a:xfrm>
            <a:off x="155280" y="6500581"/>
            <a:ext cx="658440" cy="265552"/>
          </a:xfrm>
          <a:prstGeom prst="rect">
            <a:avLst/>
          </a:prstGeom>
          <a:noFill/>
          <a:ln w="9525" algn="ctr">
            <a:noFill/>
            <a:miter lim="800000"/>
          </a:ln>
          <a:effectLst/>
        </p:spPr>
        <p:txBody>
          <a:bodyPr wrap="none" lIns="80070" tIns="40036" rIns="80070" bIns="40036">
            <a:spAutoFit/>
          </a:bodyPr>
          <a:lstStyle/>
          <a:p>
            <a:pPr defTabSz="801370" eaLnBrk="0" fontAlgn="base" hangingPunct="0">
              <a:defRPr/>
            </a:pPr>
            <a:r>
              <a:rPr lang="zh-CN" altLang="en-US" sz="1200" baseline="0" dirty="0">
                <a:latin typeface="+mn-lt"/>
                <a:ea typeface="+mn-ea"/>
                <a:cs typeface="Arial" panose="020B0604020202020204" pitchFamily="34" charset="0"/>
              </a:rPr>
              <a:t>第</a:t>
            </a:r>
            <a:fld id="{2F2CF7F5-F178-4429-B6CA-28062DF31937}" type="slidenum">
              <a:rPr lang="en-US" altLang="zh-CN" sz="1200" baseline="0" dirty="0" smtClean="0">
                <a:latin typeface="+mn-lt"/>
                <a:ea typeface="+mn-ea"/>
                <a:cs typeface="Arial" panose="020B0604020202020204" pitchFamily="34" charset="0"/>
              </a:rPr>
              <a:t>‹#›</a:t>
            </a:fld>
            <a:r>
              <a:rPr lang="zh-CN" altLang="en-US" sz="1200" dirty="0">
                <a:latin typeface="+mn-lt"/>
                <a:ea typeface="+mn-ea"/>
                <a:cs typeface="Arial" panose="020B0604020202020204" pitchFamily="34" charset="0"/>
              </a:rPr>
              <a:t>页</a:t>
            </a:r>
            <a:endParaRPr lang="en-US" altLang="zh-CN" sz="1200" dirty="0">
              <a:latin typeface="+mn-lt"/>
              <a:ea typeface="+mn-ea"/>
              <a:cs typeface="Arial" panose="020B0604020202020204" pitchFamily="34" charset="0"/>
            </a:endParaRPr>
          </a:p>
        </p:txBody>
      </p:sp>
      <p:sp>
        <p:nvSpPr>
          <p:cNvPr id="10" name="Rectangle 54"/>
          <p:cNvSpPr>
            <a:spLocks noChangeArrowheads="1"/>
          </p:cNvSpPr>
          <p:nvPr userDrawn="1"/>
        </p:nvSpPr>
        <p:spPr bwMode="auto">
          <a:xfrm>
            <a:off x="947058" y="6500581"/>
            <a:ext cx="2572620" cy="265520"/>
          </a:xfrm>
          <a:prstGeom prst="rect">
            <a:avLst/>
          </a:prstGeom>
          <a:noFill/>
          <a:ln w="9525" algn="ctr">
            <a:noFill/>
            <a:miter lim="800000"/>
          </a:ln>
          <a:effectLst/>
        </p:spPr>
        <p:txBody>
          <a:bodyPr wrap="none" lIns="80070" tIns="40036" rIns="80070" bIns="40036">
            <a:spAutoFit/>
          </a:bodyPr>
          <a:lstStyle/>
          <a:p>
            <a:pPr defTabSz="801370" eaLnBrk="0" fontAlgn="base" hangingPunct="0">
              <a:defRPr/>
            </a:pPr>
            <a:r>
              <a:rPr lang="zh-CN" altLang="en-US" sz="1200" baseline="0" dirty="0">
                <a:latin typeface="+mn-lt"/>
                <a:ea typeface="+mn-ea"/>
                <a:cs typeface="Arial" panose="020B0604020202020204" pitchFamily="34" charset="0"/>
              </a:rPr>
              <a:t>版权所有</a:t>
            </a:r>
            <a:r>
              <a:rPr lang="en-US" altLang="zh-CN" sz="1200" baseline="0">
                <a:latin typeface="+mn-lt"/>
                <a:ea typeface="+mn-ea"/>
                <a:cs typeface="Arial" panose="020B0604020202020204" pitchFamily="34" charset="0"/>
              </a:rPr>
              <a:t>© 2020 </a:t>
            </a:r>
            <a:r>
              <a:rPr lang="zh-CN" altLang="en-US" sz="1200" baseline="0" dirty="0">
                <a:latin typeface="+mn-lt"/>
                <a:ea typeface="+mn-ea"/>
                <a:cs typeface="Arial" panose="020B0604020202020204" pitchFamily="34" charset="0"/>
              </a:rPr>
              <a:t>华为技术有限公司</a:t>
            </a:r>
          </a:p>
        </p:txBody>
      </p:sp>
      <p:pic>
        <p:nvPicPr>
          <p:cNvPr id="11" name="图片 10"/>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70660" y="6504032"/>
            <a:ext cx="1248712" cy="273343"/>
          </a:xfrm>
          <a:prstGeom prst="rect">
            <a:avLst/>
          </a:prstGeom>
        </p:spPr>
      </p:pic>
      <p:sp>
        <p:nvSpPr>
          <p:cNvPr id="24" name="矩形 23"/>
          <p:cNvSpPr/>
          <p:nvPr userDrawn="1"/>
        </p:nvSpPr>
        <p:spPr>
          <a:xfrm>
            <a:off x="12246898" y="3916624"/>
            <a:ext cx="919908" cy="288726"/>
          </a:xfrm>
          <a:prstGeom prst="rect">
            <a:avLst/>
          </a:prstGeom>
          <a:solidFill>
            <a:srgbClr val="00B0F0"/>
          </a:solidFill>
        </p:spPr>
        <p:txBody>
          <a:bodyPr wrap="none" rtlCol="0" anchor="ctr">
            <a:noAutofit/>
          </a:bodyPr>
          <a:lstStyle/>
          <a:p>
            <a:pPr marL="342900" indent="-342900" algn="ctr" fontAlgn="auto">
              <a:buFont typeface="+mj-lt"/>
              <a:buAutoNum type="arabicPeriod"/>
            </a:pPr>
            <a:endParaRPr lang="zh-CN" altLang="en-US" sz="900">
              <a:latin typeface="+mn-lt"/>
              <a:ea typeface="+mn-ea"/>
              <a:cs typeface="Courier New" panose="02070309020205020404" pitchFamily="49" charset="0"/>
            </a:endParaRPr>
          </a:p>
        </p:txBody>
      </p:sp>
      <p:sp>
        <p:nvSpPr>
          <p:cNvPr id="25" name="矩形 24"/>
          <p:cNvSpPr/>
          <p:nvPr userDrawn="1"/>
        </p:nvSpPr>
        <p:spPr>
          <a:xfrm>
            <a:off x="12246898" y="4205452"/>
            <a:ext cx="919908" cy="288000"/>
          </a:xfrm>
          <a:prstGeom prst="rect">
            <a:avLst/>
          </a:prstGeom>
          <a:solidFill>
            <a:srgbClr val="99DFF9"/>
          </a:solidFill>
        </p:spPr>
        <p:txBody>
          <a:bodyPr wrap="none" rtlCol="0" anchor="ctr">
            <a:noAutofit/>
          </a:bodyPr>
          <a:lstStyle/>
          <a:p>
            <a:pPr marL="342900" indent="-342900" algn="ctr" fontAlgn="auto">
              <a:buFont typeface="+mj-lt"/>
              <a:buAutoNum type="arabicPeriod"/>
            </a:pPr>
            <a:endParaRPr lang="zh-CN" altLang="en-US" sz="900">
              <a:latin typeface="+mn-lt"/>
              <a:ea typeface="+mn-ea"/>
              <a:cs typeface="Courier New" panose="02070309020205020404" pitchFamily="49" charset="0"/>
            </a:endParaRPr>
          </a:p>
        </p:txBody>
      </p:sp>
      <p:sp>
        <p:nvSpPr>
          <p:cNvPr id="26" name="矩形 25"/>
          <p:cNvSpPr/>
          <p:nvPr userDrawn="1"/>
        </p:nvSpPr>
        <p:spPr>
          <a:xfrm>
            <a:off x="12246898" y="4493554"/>
            <a:ext cx="919908" cy="288000"/>
          </a:xfrm>
          <a:prstGeom prst="rect">
            <a:avLst/>
          </a:prstGeom>
          <a:solidFill>
            <a:srgbClr val="D9D9D9"/>
          </a:solidFill>
        </p:spPr>
        <p:txBody>
          <a:bodyPr wrap="none" rtlCol="0" anchor="ctr">
            <a:noAutofit/>
          </a:bodyPr>
          <a:lstStyle/>
          <a:p>
            <a:pPr marL="342900" indent="-342900" algn="ctr" fontAlgn="auto">
              <a:buFont typeface="+mj-lt"/>
              <a:buAutoNum type="arabicPeriod"/>
            </a:pPr>
            <a:endParaRPr lang="zh-CN" altLang="en-US" sz="900">
              <a:latin typeface="+mn-lt"/>
              <a:ea typeface="+mn-ea"/>
              <a:cs typeface="Courier New" panose="02070309020205020404" pitchFamily="49" charset="0"/>
            </a:endParaRPr>
          </a:p>
        </p:txBody>
      </p:sp>
      <p:sp>
        <p:nvSpPr>
          <p:cNvPr id="27" name="矩形 26"/>
          <p:cNvSpPr/>
          <p:nvPr userDrawn="1"/>
        </p:nvSpPr>
        <p:spPr>
          <a:xfrm>
            <a:off x="12246898" y="4781656"/>
            <a:ext cx="919908" cy="288000"/>
          </a:xfrm>
          <a:prstGeom prst="rect">
            <a:avLst/>
          </a:prstGeom>
          <a:solidFill>
            <a:schemeClr val="accent2">
              <a:lumMod val="100000"/>
            </a:schemeClr>
          </a:solidFill>
        </p:spPr>
        <p:txBody>
          <a:bodyPr wrap="none" rtlCol="0" anchor="ctr">
            <a:noAutofit/>
          </a:bodyPr>
          <a:lstStyle/>
          <a:p>
            <a:pPr marL="342900" indent="-342900" algn="ctr" fontAlgn="auto">
              <a:buFont typeface="+mj-lt"/>
              <a:buAutoNum type="arabicPeriod"/>
            </a:pPr>
            <a:endParaRPr lang="zh-CN" altLang="en-US" sz="900">
              <a:latin typeface="+mn-lt"/>
              <a:ea typeface="+mn-ea"/>
              <a:cs typeface="Courier New" panose="02070309020205020404" pitchFamily="49" charset="0"/>
            </a:endParaRPr>
          </a:p>
        </p:txBody>
      </p:sp>
      <p:sp>
        <p:nvSpPr>
          <p:cNvPr id="28" name="矩形 27"/>
          <p:cNvSpPr/>
          <p:nvPr userDrawn="1"/>
        </p:nvSpPr>
        <p:spPr>
          <a:xfrm>
            <a:off x="12246898" y="5069758"/>
            <a:ext cx="919908" cy="288000"/>
          </a:xfrm>
          <a:prstGeom prst="rect">
            <a:avLst/>
          </a:prstGeom>
          <a:solidFill>
            <a:srgbClr val="F4FBFE"/>
          </a:solidFill>
        </p:spPr>
        <p:txBody>
          <a:bodyPr wrap="none" rtlCol="0" anchor="ctr">
            <a:noAutofit/>
          </a:bodyPr>
          <a:lstStyle/>
          <a:p>
            <a:pPr marL="342900" indent="-342900" algn="ctr" fontAlgn="auto">
              <a:buFont typeface="+mj-lt"/>
              <a:buAutoNum type="arabicPeriod"/>
            </a:pPr>
            <a:endParaRPr lang="zh-CN" altLang="en-US" sz="900">
              <a:latin typeface="+mn-lt"/>
              <a:ea typeface="+mn-ea"/>
              <a:cs typeface="Courier New" panose="02070309020205020404" pitchFamily="49" charset="0"/>
            </a:endParaRPr>
          </a:p>
        </p:txBody>
      </p:sp>
      <p:sp>
        <p:nvSpPr>
          <p:cNvPr id="29" name="文本框 28"/>
          <p:cNvSpPr txBox="1"/>
          <p:nvPr userDrawn="1"/>
        </p:nvSpPr>
        <p:spPr bwMode="auto">
          <a:xfrm>
            <a:off x="12162529" y="3947408"/>
            <a:ext cx="1088651" cy="227159"/>
          </a:xfrm>
          <a:prstGeom prst="rect">
            <a:avLst/>
          </a:prstGeom>
          <a:noFill/>
          <a:ln w="9525" algn="ctr">
            <a:noFill/>
            <a:miter lim="800000"/>
          </a:ln>
        </p:spPr>
        <p:txBody>
          <a:bodyPr vert="horz" wrap="none" lIns="87768" tIns="43884" rIns="87768" bIns="43884" numCol="1" rtlCol="0" anchor="ctr" anchorCtr="0" compatLnSpc="1">
            <a:spAutoFit/>
          </a:bodyPr>
          <a:lstStyle/>
          <a:p>
            <a:pPr algn="ctr" fontAlgn="auto"/>
            <a:r>
              <a:rPr lang="zh-CN" altLang="en-US" sz="900" dirty="0">
                <a:solidFill>
                  <a:schemeClr val="bg1"/>
                </a:solidFill>
                <a:latin typeface="+mn-lt"/>
                <a:ea typeface="+mn-ea"/>
              </a:rPr>
              <a:t>表格表头</a:t>
            </a:r>
          </a:p>
        </p:txBody>
      </p:sp>
      <p:sp>
        <p:nvSpPr>
          <p:cNvPr id="30" name="文本框 29"/>
          <p:cNvSpPr txBox="1"/>
          <p:nvPr userDrawn="1"/>
        </p:nvSpPr>
        <p:spPr bwMode="auto">
          <a:xfrm>
            <a:off x="12249538" y="4235890"/>
            <a:ext cx="914633" cy="227125"/>
          </a:xfrm>
          <a:prstGeom prst="rect">
            <a:avLst/>
          </a:prstGeom>
          <a:noFill/>
          <a:ln w="9525" algn="ctr">
            <a:noFill/>
            <a:miter lim="800000"/>
          </a:ln>
        </p:spPr>
        <p:txBody>
          <a:bodyPr vert="horz" wrap="none" lIns="87768" tIns="43884" rIns="87768" bIns="43884" numCol="1" rtlCol="0" anchor="ctr" anchorCtr="0" compatLnSpc="1">
            <a:spAutoFit/>
          </a:bodyPr>
          <a:lstStyle/>
          <a:p>
            <a:pPr algn="ctr" fontAlgn="auto"/>
            <a:r>
              <a:rPr lang="zh-CN" altLang="en-US" sz="900" dirty="0">
                <a:latin typeface="+mn-lt"/>
                <a:ea typeface="+mn-ea"/>
              </a:rPr>
              <a:t>表格</a:t>
            </a:r>
            <a:r>
              <a:rPr lang="en-US" altLang="zh-CN" sz="900" dirty="0">
                <a:latin typeface="+mn-lt"/>
                <a:ea typeface="+mn-ea"/>
              </a:rPr>
              <a:t>/</a:t>
            </a:r>
            <a:r>
              <a:rPr lang="zh-CN" altLang="en-US" sz="900" dirty="0">
                <a:latin typeface="+mn-lt"/>
                <a:ea typeface="+mn-ea"/>
              </a:rPr>
              <a:t>文字边框</a:t>
            </a:r>
          </a:p>
        </p:txBody>
      </p:sp>
      <p:sp>
        <p:nvSpPr>
          <p:cNvPr id="31" name="文本框 30"/>
          <p:cNvSpPr txBox="1"/>
          <p:nvPr userDrawn="1"/>
        </p:nvSpPr>
        <p:spPr bwMode="auto">
          <a:xfrm>
            <a:off x="12162526" y="4523977"/>
            <a:ext cx="1088651" cy="227159"/>
          </a:xfrm>
          <a:prstGeom prst="rect">
            <a:avLst/>
          </a:prstGeom>
          <a:noFill/>
          <a:ln w="9525" algn="ctr">
            <a:noFill/>
            <a:miter lim="800000"/>
          </a:ln>
        </p:spPr>
        <p:txBody>
          <a:bodyPr vert="horz" wrap="none" lIns="87768" tIns="43884" rIns="87768" bIns="43884" numCol="1" rtlCol="0" anchor="ctr" anchorCtr="0" compatLnSpc="1">
            <a:spAutoFit/>
          </a:bodyPr>
          <a:lstStyle/>
          <a:p>
            <a:pPr algn="ctr" fontAlgn="auto"/>
            <a:r>
              <a:rPr lang="zh-CN" altLang="en-US" sz="900" dirty="0">
                <a:latin typeface="+mn-lt"/>
                <a:ea typeface="+mn-ea"/>
              </a:rPr>
              <a:t>导航灰底</a:t>
            </a:r>
          </a:p>
        </p:txBody>
      </p:sp>
      <p:sp>
        <p:nvSpPr>
          <p:cNvPr id="32" name="文本框 31"/>
          <p:cNvSpPr txBox="1"/>
          <p:nvPr userDrawn="1"/>
        </p:nvSpPr>
        <p:spPr bwMode="auto">
          <a:xfrm>
            <a:off x="12457445" y="4812094"/>
            <a:ext cx="498816" cy="227125"/>
          </a:xfrm>
          <a:prstGeom prst="rect">
            <a:avLst/>
          </a:prstGeom>
          <a:noFill/>
          <a:ln w="9525" algn="ctr">
            <a:noFill/>
            <a:miter lim="800000"/>
          </a:ln>
        </p:spPr>
        <p:txBody>
          <a:bodyPr vert="horz" wrap="none" lIns="87768" tIns="43884" rIns="87768" bIns="43884" numCol="1" rtlCol="0" anchor="ctr" anchorCtr="0" compatLnSpc="1">
            <a:spAutoFit/>
          </a:bodyPr>
          <a:lstStyle/>
          <a:p>
            <a:pPr algn="ctr" fontAlgn="auto"/>
            <a:r>
              <a:rPr lang="zh-CN" altLang="en-US" sz="900" dirty="0">
                <a:solidFill>
                  <a:schemeClr val="bg1"/>
                </a:solidFill>
                <a:latin typeface="+mn-lt"/>
                <a:ea typeface="+mn-ea"/>
              </a:rPr>
              <a:t>红</a:t>
            </a:r>
          </a:p>
        </p:txBody>
      </p:sp>
      <p:sp>
        <p:nvSpPr>
          <p:cNvPr id="33" name="文本框 32"/>
          <p:cNvSpPr txBox="1"/>
          <p:nvPr userDrawn="1"/>
        </p:nvSpPr>
        <p:spPr bwMode="auto">
          <a:xfrm>
            <a:off x="12249538" y="5100196"/>
            <a:ext cx="914633" cy="227125"/>
          </a:xfrm>
          <a:prstGeom prst="rect">
            <a:avLst/>
          </a:prstGeom>
          <a:noFill/>
          <a:ln w="9525" algn="ctr">
            <a:noFill/>
            <a:miter lim="800000"/>
          </a:ln>
        </p:spPr>
        <p:txBody>
          <a:bodyPr vert="horz" wrap="none" lIns="87768" tIns="43884" rIns="87768" bIns="43884" numCol="1" rtlCol="0" anchor="ctr" anchorCtr="0" compatLnSpc="1">
            <a:spAutoFit/>
          </a:bodyPr>
          <a:lstStyle/>
          <a:p>
            <a:pPr algn="ctr" fontAlgn="auto"/>
            <a:r>
              <a:rPr lang="zh-CN" altLang="en-US" sz="900" dirty="0">
                <a:latin typeface="+mn-lt"/>
                <a:ea typeface="+mn-ea"/>
              </a:rPr>
              <a:t>表格</a:t>
            </a:r>
            <a:r>
              <a:rPr lang="en-US" altLang="zh-CN" sz="900" dirty="0">
                <a:latin typeface="+mn-lt"/>
                <a:ea typeface="+mn-ea"/>
              </a:rPr>
              <a:t>/</a:t>
            </a:r>
            <a:r>
              <a:rPr lang="zh-CN" altLang="en-US" sz="900" dirty="0">
                <a:latin typeface="+mn-lt"/>
                <a:ea typeface="+mn-ea"/>
              </a:rPr>
              <a:t>文字底色</a:t>
            </a:r>
          </a:p>
        </p:txBody>
      </p:sp>
      <p:sp>
        <p:nvSpPr>
          <p:cNvPr id="34" name="矩形 33"/>
          <p:cNvSpPr/>
          <p:nvPr userDrawn="1"/>
        </p:nvSpPr>
        <p:spPr>
          <a:xfrm>
            <a:off x="12246898" y="5485453"/>
            <a:ext cx="461833" cy="288000"/>
          </a:xfrm>
          <a:prstGeom prst="rect">
            <a:avLst/>
          </a:prstGeom>
          <a:solidFill>
            <a:srgbClr val="FFF2CC"/>
          </a:solidFill>
        </p:spPr>
        <p:txBody>
          <a:bodyPr wrap="none" rtlCol="0" anchor="ctr">
            <a:noAutofit/>
          </a:bodyPr>
          <a:lstStyle/>
          <a:p>
            <a:pPr marL="342900" indent="-342900" algn="ctr" fontAlgn="auto">
              <a:buFont typeface="+mj-lt"/>
              <a:buAutoNum type="arabicPeriod"/>
            </a:pPr>
            <a:endParaRPr lang="zh-CN" altLang="en-US" sz="900">
              <a:latin typeface="+mn-lt"/>
              <a:ea typeface="+mn-ea"/>
              <a:cs typeface="Courier New" panose="02070309020205020404" pitchFamily="49" charset="0"/>
            </a:endParaRPr>
          </a:p>
        </p:txBody>
      </p:sp>
      <p:sp>
        <p:nvSpPr>
          <p:cNvPr id="35" name="矩形 34"/>
          <p:cNvSpPr/>
          <p:nvPr userDrawn="1"/>
        </p:nvSpPr>
        <p:spPr>
          <a:xfrm>
            <a:off x="12708730" y="5485453"/>
            <a:ext cx="458075" cy="288000"/>
          </a:xfrm>
          <a:prstGeom prst="rect">
            <a:avLst/>
          </a:prstGeom>
          <a:solidFill>
            <a:srgbClr val="FFD17D"/>
          </a:solidFill>
        </p:spPr>
        <p:txBody>
          <a:bodyPr wrap="none" rtlCol="0" anchor="ctr">
            <a:noAutofit/>
          </a:bodyPr>
          <a:lstStyle/>
          <a:p>
            <a:pPr marL="342900" indent="-342900" algn="ctr" fontAlgn="auto">
              <a:buFont typeface="+mj-lt"/>
              <a:buAutoNum type="arabicPeriod"/>
            </a:pPr>
            <a:endParaRPr lang="zh-CN" altLang="en-US" sz="900">
              <a:latin typeface="+mn-lt"/>
              <a:ea typeface="+mn-ea"/>
              <a:cs typeface="Courier New" panose="02070309020205020404" pitchFamily="49" charset="0"/>
            </a:endParaRPr>
          </a:p>
        </p:txBody>
      </p:sp>
      <p:sp>
        <p:nvSpPr>
          <p:cNvPr id="36" name="文本框 35"/>
          <p:cNvSpPr txBox="1"/>
          <p:nvPr userDrawn="1"/>
        </p:nvSpPr>
        <p:spPr bwMode="auto">
          <a:xfrm>
            <a:off x="12502813" y="5515891"/>
            <a:ext cx="408083" cy="227125"/>
          </a:xfrm>
          <a:prstGeom prst="rect">
            <a:avLst/>
          </a:prstGeom>
          <a:noFill/>
          <a:ln w="9525" algn="ctr">
            <a:noFill/>
            <a:miter lim="800000"/>
          </a:ln>
        </p:spPr>
        <p:txBody>
          <a:bodyPr vert="horz" wrap="none" lIns="87768" tIns="43884" rIns="87768" bIns="43884" numCol="1" rtlCol="0" anchor="ctr" anchorCtr="0" compatLnSpc="1">
            <a:spAutoFit/>
          </a:bodyPr>
          <a:lstStyle/>
          <a:p>
            <a:pPr algn="ctr" fontAlgn="auto"/>
            <a:r>
              <a:rPr lang="zh-CN" altLang="en-US" sz="900" dirty="0">
                <a:latin typeface="+mn-lt"/>
                <a:ea typeface="+mn-ea"/>
              </a:rPr>
              <a:t>备用</a:t>
            </a:r>
          </a:p>
        </p:txBody>
      </p:sp>
      <p:sp>
        <p:nvSpPr>
          <p:cNvPr id="20" name="矩形 19"/>
          <p:cNvSpPr/>
          <p:nvPr userDrawn="1"/>
        </p:nvSpPr>
        <p:spPr>
          <a:xfrm>
            <a:off x="12246898" y="5773453"/>
            <a:ext cx="919908" cy="288000"/>
          </a:xfrm>
          <a:prstGeom prst="rect">
            <a:avLst/>
          </a:prstGeom>
          <a:solidFill>
            <a:schemeClr val="accent3"/>
          </a:solidFill>
        </p:spPr>
        <p:txBody>
          <a:bodyPr wrap="none" rtlCol="0" anchor="ctr">
            <a:noAutofit/>
          </a:bodyPr>
          <a:lstStyle/>
          <a:p>
            <a:pPr marL="342900" indent="-342900" algn="ctr" fontAlgn="auto">
              <a:buFont typeface="+mj-lt"/>
              <a:buAutoNum type="arabicPeriod"/>
            </a:pPr>
            <a:endParaRPr lang="zh-CN" altLang="en-US" sz="900">
              <a:latin typeface="+mn-lt"/>
              <a:ea typeface="+mn-ea"/>
              <a:cs typeface="Courier New" panose="02070309020205020404" pitchFamily="49" charset="0"/>
            </a:endParaRPr>
          </a:p>
        </p:txBody>
      </p:sp>
      <p:sp>
        <p:nvSpPr>
          <p:cNvPr id="22" name="文本框 21"/>
          <p:cNvSpPr txBox="1"/>
          <p:nvPr userDrawn="1"/>
        </p:nvSpPr>
        <p:spPr bwMode="auto">
          <a:xfrm>
            <a:off x="12560520" y="5813738"/>
            <a:ext cx="292666" cy="227125"/>
          </a:xfrm>
          <a:prstGeom prst="rect">
            <a:avLst/>
          </a:prstGeom>
          <a:noFill/>
          <a:ln w="9525" algn="ctr">
            <a:noFill/>
            <a:miter lim="800000"/>
          </a:ln>
        </p:spPr>
        <p:txBody>
          <a:bodyPr vert="horz" wrap="none" lIns="87768" tIns="43884" rIns="87768" bIns="43884" numCol="1" rtlCol="0" anchor="ctr" anchorCtr="0" compatLnSpc="1">
            <a:spAutoFit/>
          </a:bodyPr>
          <a:lstStyle/>
          <a:p>
            <a:pPr algn="ctr" fontAlgn="auto"/>
            <a:r>
              <a:rPr lang="zh-CN" altLang="en-US" sz="900" dirty="0">
                <a:solidFill>
                  <a:schemeClr val="bg1"/>
                </a:solidFill>
                <a:latin typeface="+mn-lt"/>
                <a:ea typeface="+mn-ea"/>
              </a:rPr>
              <a:t>绿</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3765" rtl="0" eaLnBrk="1" latinLnBrk="0" hangingPunct="1">
        <a:lnSpc>
          <a:spcPct val="90000"/>
        </a:lnSpc>
        <a:spcBef>
          <a:spcPct val="0"/>
        </a:spcBef>
        <a:buNone/>
        <a:defRPr sz="3500" kern="1200">
          <a:solidFill>
            <a:schemeClr val="tx1"/>
          </a:solidFill>
          <a:latin typeface="+mj-lt"/>
          <a:ea typeface="+mj-ea"/>
          <a:cs typeface="+mj-cs"/>
        </a:defRPr>
      </a:lvl1pPr>
    </p:titleStyle>
    <p:bodyStyle>
      <a:lvl1pPr marL="302260" indent="-302260" algn="l" defTabSz="913765" rtl="0" eaLnBrk="1" latinLnBrk="0" hangingPunct="1">
        <a:lnSpc>
          <a:spcPct val="140000"/>
        </a:lnSpc>
        <a:spcBef>
          <a:spcPts val="790"/>
        </a:spcBef>
        <a:buFont typeface="Arial" panose="020B0604020202020204" pitchFamily="34" charset="0"/>
        <a:buChar char="•"/>
        <a:defRPr sz="2200" kern="1200">
          <a:solidFill>
            <a:schemeClr val="tx1"/>
          </a:solidFill>
          <a:latin typeface="+mn-lt"/>
          <a:ea typeface="+mn-ea"/>
          <a:cs typeface="+mn-cs"/>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pitchFamily="3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6.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7.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9.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DtsShapeName" descr="8CE5295821885C70CB254E5500C4G505083E@F83E@PB26513!!!!!!BIHO@]b26513!!!!@5E19B011306188854E31!籽吓纪撑泞变/qqu!!!!!!!!!!!!!!!!!!!!!!!!!!!!!!!!!!!!!!!!!!!!!!!!!!!!!!!!!!!!!!!!!!!!!!!!!!!!!!!!!!!!!!!!!!!!!!!!!!!!!!!!!!!!!!!!!!!!!!!!!!!!!!!!!!!!!!!!!!!!!!!!!!!!!!!!!!!!!!!!!!!!!!!!!!!!!!!!!!!!!!!!!!!!!!!!!!!!!!!!!!!!!!!!!!!!!!!!!!!!!!!!!!!!!!!!!!!!!!!!!!!!!!!!!!!!!!!!!!!!!!!!!!!!!!!!!!!!!!!!!!!!!!!!!!!!!!!!!!!!!!!!!!!!!!!!!!!!!!!!!!!!!!!!!!!!!!!!!!!!!!!!!!!!!!!!!!!!!!!!!!!!!!!!!!!!!!!!!!!!!!!!!!!!!!!!!!!!!!!!!!!!!!!!!!!!!!!!!!!!!!!!!!!!!!!!!!!!!!!!!!!!!!!!!!!!!!!!!!!!!!!!!!!!!!!!!!!!!!!!!!!!!!!!!!!!!!!!!!!!!!!!!!!!!!!!!!!!!!!!!!!!!!!!!!!!!!!!!!!!!!!!!!!!!!!!!!!!!!!!!!!!!!!!!!!!!!!!!!!!!!!!!!!!!!!!!!!!!!!!!!!!!!!!!!!!!!!!!!!!!!!!!!!!!!!!!!!!!!!!!!!!!!!!!!!!!!!!!!!!!!!!!!!!!!!!!!!!!!!!!!!!!!!!!!!!!!!!!!!!!!!!!!!!!!!!!!!!!!!!!!!!!!!!!!!!!!!!!!!!!!!!!!!!!!!!!!!!!!!!!!!!!!!!!!!!!!!!!!!!!!!!!!!!!!!!!!!!!!!!!!!!!!!!!!!!!!!!!!!!!!!!!!!!!!!!!!!!!!!!!!!!!!!!!!!!!!!!!!!!!!!!!!!!!!!!!!!!!!!!!!!!!!!!!!!!!!!!!!!!!!!!!!!!!!!!!!!!!!!!!!!!!!!!!!!!!!!!!!!!!!!!!!!!!!!!!!!!!!!!!!!!!!!!!!!!!!!!!!!!!!!!!!!!!!!!!!!!!!!!!!!!!!!!!!!!!!!!!!!!!!!!!!!!!!!!!!!!!!!!!!!!!!!!!!!!!!!!!!!!!!!!!!!!!!!!!!!!!!!!!!!!!!!!!!!!!!!!!!!!!!!!!!!!!!!!!!!!!!!!!!!!!!!!!!!!!!!!!!!!!!!!!!!!!!!!!!!!!!!!!!!!!!!!!!!!!!!!!!!!!!!!!!!!!!!!!!!!!!!!!!!!!!!!!!!!!!!!!!!!!!!!!!!!!!!!!!!!!!!!!!!!!!!!!!!!!!!!!!!!!!!!!!!!!!!!!!!!!!!!!!!!!!!!!!!!!!!!!!!!!!!!!!!!!!!!!!!!!!!!!!!!!!!!!!!!!!!!!!!!!!!!!!!!!!!!!!!!!!!!!!!!!!!!!!!!!!!!!!!!!!!!!!!!!!!!!!!!!!!!!!!!!!!!!!!!!!!!!!!!!!!!!!!!!!!!!!!!!!!!!!!!!!!!!!!!!!!!!!!!!!!!!!!!!!!!!!!!!!!!!!!!!!!!!!!!!!!!!!!!!!!!!!!!!!!!!!!!!!!!!!!!!!!!!!!!!!!!!!!!!!!!!!!!!!!!!!!!!!!!!!!!!!!!!!!!!!!!!!!!!!!!!!!!!!!!!!!!!!!!!!!!!!!!!!!!!!!!!!!!!!!!!!!!!!!!!!!!!!!!!!!!!!!!!!!!!!!!!!!!!!!!!!!!!!!!!!!!!!!!!!!!!!!!!!!!!!!!!!!!!!!!!!!!!!!!!!!!!!!!!!!!!!!!!!!!!!!!!!!!!!!!!!!!!!!!!!!!!!!!!!!!!!!!!!!!!!!!!!!!!!!!!!!!!!!!!!!!!!!!!!!!!!!!!!!!!!!!!!!!!!!!!!!!!!!!!!!!!!!!!!!!!!!!!!!!!!!!!!!!!!!!!!!!!!!!!!!!!!!!!!!!!!!!!!!!!!!!!!!!!!!!!!!!!!!!!!!!!!!!!!!!!!!!!!!!!!!!!!!!!!!!!!!!!!!!!!!!!!!!!!!!!!!!!!!!!!!!!!!!!!!!!!!!!!!!!!!!!!!!!!!!!!!!!!!!!!!!!!!!!!!!!!!!!!!!!!!!!!!!!!!!!!!!!!!!!!!!!!!!!!!!!!!!!!!!!!!!!!!!!!!!!!!!!!!!!!!!!!!!!!!!!!!!!!!!!!!!!!!!!!!!!!!!!!!!!!!!!!!!!!!!!!!!!!!!!!!!!!!!!!!!!!!!!!!!!!!!!!!!!!!!!!!!!!!!!!!!!!!!!!!!!!!!!!!!!!!!!!!!!!!!!!!!!!!!!!!!!!!!!!!!!!!!!!!!!!!!!!!!!!!!!!!!!!!!!!!!!!!!!!!!!!!!!!!!!!!!!!!!!!!!!!!!!!!!!!!!!!!!!!!!!!!!!!!!!!!!!!!!!!!!1!1" hidden="1"/>
          <p:cNvSpPr>
            <a:spLocks noChangeArrowheads="1"/>
          </p:cNvSpPr>
          <p:nvPr/>
        </p:nvSpPr>
        <p:spPr bwMode="auto">
          <a:xfrm>
            <a:off x="1524000" y="0"/>
            <a:ext cx="1588" cy="158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lgn="ctr">
            <a:solidFill>
              <a:schemeClr val="tx1"/>
            </a:solidFill>
            <a:miter lim="800000"/>
          </a:ln>
        </p:spPr>
        <p:txBody>
          <a:bodyPr wrap="none" anchor="ct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ctrTitle" sz="quarter"/>
          </p:nvPr>
        </p:nvSpPr>
        <p:spPr/>
        <p:txBody>
          <a:bodyPr/>
          <a:lstStyle/>
          <a:p>
            <a:r>
              <a:rPr lang="zh-CN" altLang="en-US">
                <a:sym typeface="Huawei Sans" panose="020C0503030203020204" pitchFamily="34" charset="0"/>
              </a:rPr>
              <a:t>生成树</a:t>
            </a:r>
            <a:endParaRPr lang="zh-CN" altLang="en-US" dirty="0">
              <a:sym typeface="Huawei Sans" panose="020C0503030203020204" pitchFamily="34" charset="0"/>
            </a:endParaRPr>
          </a:p>
        </p:txBody>
      </p:sp>
      <p:sp>
        <p:nvSpPr>
          <p:cNvPr id="5" name="文本占位符 4"/>
          <p:cNvSpPr>
            <a:spLocks noGrp="1"/>
          </p:cNvSpPr>
          <p:nvPr>
            <p:ph type="body" sz="quarter" idx="10"/>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ym typeface="Huawei Sans" panose="020C0503030203020204" pitchFamily="34" charset="0"/>
              </a:rPr>
              <a:t>以太网交换网络中为了进行链路备份，提高网络可靠性，通常会使用冗余链路。但是使用冗余链路会在交换网络上产生环路，引发广播风暴以及</a:t>
            </a:r>
            <a:r>
              <a:rPr lang="en-US" altLang="zh-CN">
                <a:sym typeface="Huawei Sans" panose="020C0503030203020204" pitchFamily="34" charset="0"/>
              </a:rPr>
              <a:t>MAC</a:t>
            </a:r>
            <a:r>
              <a:rPr lang="zh-CN" altLang="en-US">
                <a:sym typeface="Huawei Sans" panose="020C0503030203020204" pitchFamily="34" charset="0"/>
              </a:rPr>
              <a:t>地址表不稳定等故障现象，从而导致用户通信质量较差，甚至通信中断。为解决交换网络中的环路问题，提出了生成树协议</a:t>
            </a:r>
            <a:r>
              <a:rPr lang="en-US" altLang="zh-CN">
                <a:sym typeface="Huawei Sans" panose="020C0503030203020204" pitchFamily="34" charset="0"/>
              </a:rPr>
              <a:t>STP</a:t>
            </a:r>
            <a:r>
              <a:rPr lang="zh-CN" altLang="en-US">
                <a:sym typeface="Huawei Sans" panose="020C0503030203020204" pitchFamily="34" charset="0"/>
              </a:rPr>
              <a:t>（</a:t>
            </a:r>
            <a:r>
              <a:rPr lang="en-US" altLang="zh-CN">
                <a:sym typeface="Huawei Sans" panose="020C0503030203020204" pitchFamily="34" charset="0"/>
              </a:rPr>
              <a:t>Spanning Tree Protocol</a:t>
            </a:r>
            <a:r>
              <a:rPr lang="zh-CN" altLang="en-US">
                <a:sym typeface="Huawei Sans" panose="020C0503030203020204" pitchFamily="34" charset="0"/>
              </a:rPr>
              <a:t>）。</a:t>
            </a:r>
          </a:p>
          <a:p>
            <a:r>
              <a:rPr lang="zh-CN" altLang="en-US">
                <a:sym typeface="Huawei Sans" panose="020C0503030203020204" pitchFamily="34" charset="0"/>
              </a:rPr>
              <a:t>运行</a:t>
            </a:r>
            <a:r>
              <a:rPr lang="en-US" altLang="zh-CN">
                <a:sym typeface="Huawei Sans" panose="020C0503030203020204" pitchFamily="34" charset="0"/>
              </a:rPr>
              <a:t>STP</a:t>
            </a:r>
            <a:r>
              <a:rPr lang="zh-CN" altLang="en-US">
                <a:sym typeface="Huawei Sans" panose="020C0503030203020204" pitchFamily="34" charset="0"/>
              </a:rPr>
              <a:t>协议的设备通过彼此交互信息发现网络中的环路，并有选择的对某个接口进行阻塞，最终将环形网络结构修剪成无环路的树形网络结构，从而防止报文在环形网络中不断循环，避免设备由于重复接收相同的报文造成处理能力下降。</a:t>
            </a:r>
            <a:endParaRPr lang="en-US" altLang="zh-CN">
              <a:sym typeface="Huawei Sans" panose="020C0503030203020204" pitchFamily="34" charset="0"/>
            </a:endParaRPr>
          </a:p>
          <a:p>
            <a:r>
              <a:rPr lang="en-US" altLang="zh-CN">
                <a:sym typeface="Huawei Sans" panose="020C0503030203020204" pitchFamily="34" charset="0"/>
              </a:rPr>
              <a:t>RSTP</a:t>
            </a:r>
            <a:r>
              <a:rPr lang="zh-CN" altLang="en-US">
                <a:sym typeface="Huawei Sans" panose="020C0503030203020204" pitchFamily="34" charset="0"/>
              </a:rPr>
              <a:t>（</a:t>
            </a:r>
            <a:r>
              <a:rPr lang="en-US" altLang="zh-CN">
                <a:sym typeface="Huawei Sans" panose="020C0503030203020204" pitchFamily="34" charset="0"/>
              </a:rPr>
              <a:t>Rapid Spanning Tree Protocol</a:t>
            </a:r>
            <a:r>
              <a:rPr lang="zh-CN" altLang="en-US">
                <a:sym typeface="Huawei Sans" panose="020C0503030203020204" pitchFamily="34" charset="0"/>
              </a:rPr>
              <a:t>）协议基于</a:t>
            </a:r>
            <a:r>
              <a:rPr lang="en-US" altLang="zh-CN">
                <a:sym typeface="Huawei Sans" panose="020C0503030203020204" pitchFamily="34" charset="0"/>
              </a:rPr>
              <a:t>STP</a:t>
            </a:r>
            <a:r>
              <a:rPr lang="zh-CN" altLang="en-US">
                <a:sym typeface="Huawei Sans" panose="020C0503030203020204" pitchFamily="34" charset="0"/>
              </a:rPr>
              <a:t>协议，对原有的</a:t>
            </a:r>
            <a:r>
              <a:rPr lang="en-US" altLang="zh-CN">
                <a:sym typeface="Huawei Sans" panose="020C0503030203020204" pitchFamily="34" charset="0"/>
              </a:rPr>
              <a:t>STP</a:t>
            </a:r>
            <a:r>
              <a:rPr lang="zh-CN" altLang="en-US">
                <a:sym typeface="Huawei Sans" panose="020C0503030203020204" pitchFamily="34" charset="0"/>
              </a:rPr>
              <a:t>协议进行了更加细致的修改和补充，实现了网络拓扑快速收敛。</a:t>
            </a:r>
            <a:endParaRPr lang="zh-CN" altLang="en-US" dirty="0">
              <a:sym typeface="Huawei Sans" panose="020C0503030203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0"/>
          </p:nvPr>
        </p:nvSpPr>
        <p:spPr/>
        <p:txBody>
          <a:bodyPr/>
          <a:lstStyle/>
          <a:p>
            <a:r>
              <a:rPr lang="zh-CN" altLang="en-US">
                <a:sym typeface="Huawei Sans" panose="020C0503030203020204" pitchFamily="34" charset="0"/>
              </a:rPr>
              <a:t>学完本课程后，您将能够：</a:t>
            </a:r>
          </a:p>
          <a:p>
            <a:pPr lvl="1"/>
            <a:r>
              <a:rPr lang="zh-CN" altLang="en-US">
                <a:sym typeface="Huawei Sans" panose="020C0503030203020204" pitchFamily="34" charset="0"/>
              </a:rPr>
              <a:t>描述园区交换网络中的二层环路产生原因及引发的问题。</a:t>
            </a:r>
          </a:p>
          <a:p>
            <a:pPr lvl="1"/>
            <a:r>
              <a:rPr lang="zh-CN" altLang="en-US">
                <a:sym typeface="Huawei Sans" panose="020C0503030203020204" pitchFamily="34" charset="0"/>
              </a:rPr>
              <a:t>描述</a:t>
            </a:r>
            <a:r>
              <a:rPr lang="en-US" altLang="zh-CN">
                <a:sym typeface="Huawei Sans" panose="020C0503030203020204" pitchFamily="34" charset="0"/>
              </a:rPr>
              <a:t>STP</a:t>
            </a:r>
            <a:r>
              <a:rPr lang="zh-CN" altLang="en-US">
                <a:sym typeface="Huawei Sans" panose="020C0503030203020204" pitchFamily="34" charset="0"/>
              </a:rPr>
              <a:t>的基本概念与工作原理。</a:t>
            </a:r>
          </a:p>
          <a:p>
            <a:pPr lvl="1"/>
            <a:r>
              <a:rPr lang="zh-CN" altLang="en-US">
                <a:sym typeface="Huawei Sans" panose="020C0503030203020204" pitchFamily="34" charset="0"/>
              </a:rPr>
              <a:t>区分</a:t>
            </a:r>
            <a:r>
              <a:rPr lang="en-US" altLang="zh-CN">
                <a:sym typeface="Huawei Sans" panose="020C0503030203020204" pitchFamily="34" charset="0"/>
              </a:rPr>
              <a:t>STP</a:t>
            </a:r>
            <a:r>
              <a:rPr lang="zh-CN" altLang="en-US">
                <a:sym typeface="Huawei Sans" panose="020C0503030203020204" pitchFamily="34" charset="0"/>
              </a:rPr>
              <a:t>与</a:t>
            </a:r>
            <a:r>
              <a:rPr lang="en-US" altLang="zh-CN">
                <a:sym typeface="Huawei Sans" panose="020C0503030203020204" pitchFamily="34" charset="0"/>
              </a:rPr>
              <a:t>RSTP</a:t>
            </a:r>
            <a:r>
              <a:rPr lang="zh-CN" altLang="en-US">
                <a:sym typeface="Huawei Sans" panose="020C0503030203020204" pitchFamily="34" charset="0"/>
              </a:rPr>
              <a:t>，并能够描述</a:t>
            </a:r>
            <a:r>
              <a:rPr lang="en-US" altLang="zh-CN">
                <a:sym typeface="Huawei Sans" panose="020C0503030203020204" pitchFamily="34" charset="0"/>
              </a:rPr>
              <a:t>RSTP</a:t>
            </a:r>
            <a:r>
              <a:rPr lang="zh-CN" altLang="en-US">
                <a:sym typeface="Huawei Sans" panose="020C0503030203020204" pitchFamily="34" charset="0"/>
              </a:rPr>
              <a:t>对</a:t>
            </a:r>
            <a:r>
              <a:rPr lang="en-US" altLang="zh-CN">
                <a:sym typeface="Huawei Sans" panose="020C0503030203020204" pitchFamily="34" charset="0"/>
              </a:rPr>
              <a:t>STP</a:t>
            </a:r>
            <a:r>
              <a:rPr lang="zh-CN" altLang="en-US">
                <a:sym typeface="Huawei Sans" panose="020C0503030203020204" pitchFamily="34" charset="0"/>
              </a:rPr>
              <a:t>的改进。</a:t>
            </a:r>
          </a:p>
          <a:p>
            <a:pPr lvl="1"/>
            <a:r>
              <a:rPr lang="zh-CN" altLang="en-US">
                <a:sym typeface="Huawei Sans" panose="020C0503030203020204" pitchFamily="34" charset="0"/>
              </a:rPr>
              <a:t>完成</a:t>
            </a:r>
            <a:r>
              <a:rPr lang="en-US" altLang="zh-CN">
                <a:sym typeface="Huawei Sans" panose="020C0503030203020204" pitchFamily="34" charset="0"/>
              </a:rPr>
              <a:t>STP</a:t>
            </a:r>
            <a:r>
              <a:rPr lang="zh-CN" altLang="en-US">
                <a:sym typeface="Huawei Sans" panose="020C0503030203020204" pitchFamily="34" charset="0"/>
              </a:rPr>
              <a:t>的基础配置。</a:t>
            </a:r>
          </a:p>
          <a:p>
            <a:pPr lvl="1"/>
            <a:r>
              <a:rPr lang="zh-CN" altLang="en-US">
                <a:sym typeface="Huawei Sans" panose="020C0503030203020204" pitchFamily="34" charset="0"/>
              </a:rPr>
              <a:t>了解除了生成树之外的其他消除交换网络二层环路的方法。</a:t>
            </a:r>
            <a:endParaRPr lang="zh-CN" altLang="en-US" dirty="0">
              <a:sym typeface="Huawei Sans" panose="020C0503030203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a:sym typeface="Huawei Sans" panose="020C0503030203020204" pitchFamily="34" charset="0"/>
              </a:rPr>
              <a:t>生成树技术概述</a:t>
            </a:r>
          </a:p>
          <a:p>
            <a:r>
              <a:rPr lang="en-US" altLang="zh-CN">
                <a:solidFill>
                  <a:schemeClr val="bg1">
                    <a:lumMod val="50000"/>
                  </a:schemeClr>
                </a:solidFill>
                <a:sym typeface="Huawei Sans" panose="020C0503030203020204" pitchFamily="34" charset="0"/>
              </a:rPr>
              <a:t>STP</a:t>
            </a:r>
            <a:r>
              <a:rPr lang="zh-CN" altLang="en-US">
                <a:solidFill>
                  <a:schemeClr val="bg1">
                    <a:lumMod val="50000"/>
                  </a:schemeClr>
                </a:solidFill>
                <a:sym typeface="Huawei Sans" panose="020C0503030203020204" pitchFamily="34" charset="0"/>
              </a:rPr>
              <a:t>的基本概念及工作原理</a:t>
            </a:r>
          </a:p>
          <a:p>
            <a:r>
              <a:rPr lang="en-US" altLang="zh-CN">
                <a:solidFill>
                  <a:schemeClr val="bg1">
                    <a:lumMod val="50000"/>
                  </a:schemeClr>
                </a:solidFill>
                <a:sym typeface="Huawei Sans" panose="020C0503030203020204" pitchFamily="34" charset="0"/>
              </a:rPr>
              <a:t>STP</a:t>
            </a:r>
            <a:r>
              <a:rPr lang="zh-CN" altLang="en-US">
                <a:solidFill>
                  <a:schemeClr val="bg1">
                    <a:lumMod val="50000"/>
                  </a:schemeClr>
                </a:solidFill>
                <a:sym typeface="Huawei Sans" panose="020C0503030203020204" pitchFamily="34" charset="0"/>
              </a:rPr>
              <a:t>的基础配置</a:t>
            </a:r>
          </a:p>
          <a:p>
            <a:r>
              <a:rPr lang="en-US" altLang="zh-CN">
                <a:solidFill>
                  <a:schemeClr val="bg1">
                    <a:lumMod val="50000"/>
                  </a:schemeClr>
                </a:solidFill>
                <a:sym typeface="Huawei Sans" panose="020C0503030203020204" pitchFamily="34" charset="0"/>
              </a:rPr>
              <a:t>RSTP</a:t>
            </a:r>
            <a:r>
              <a:rPr lang="zh-CN" altLang="en-US">
                <a:solidFill>
                  <a:schemeClr val="bg1">
                    <a:lumMod val="50000"/>
                  </a:schemeClr>
                </a:solidFill>
                <a:sym typeface="Huawei Sans" panose="020C0503030203020204" pitchFamily="34" charset="0"/>
              </a:rPr>
              <a:t>对</a:t>
            </a:r>
            <a:r>
              <a:rPr lang="en-US" altLang="zh-CN">
                <a:solidFill>
                  <a:schemeClr val="bg1">
                    <a:lumMod val="50000"/>
                  </a:schemeClr>
                </a:solidFill>
                <a:sym typeface="Huawei Sans" panose="020C0503030203020204" pitchFamily="34" charset="0"/>
              </a:rPr>
              <a:t>STP</a:t>
            </a:r>
            <a:r>
              <a:rPr lang="zh-CN" altLang="en-US">
                <a:solidFill>
                  <a:schemeClr val="bg1">
                    <a:lumMod val="50000"/>
                  </a:schemeClr>
                </a:solidFill>
                <a:sym typeface="Huawei Sans" panose="020C0503030203020204" pitchFamily="34" charset="0"/>
              </a:rPr>
              <a:t>的改进</a:t>
            </a:r>
          </a:p>
          <a:p>
            <a:r>
              <a:rPr lang="zh-CN" altLang="en-US">
                <a:solidFill>
                  <a:schemeClr val="bg1">
                    <a:lumMod val="50000"/>
                  </a:schemeClr>
                </a:solidFill>
                <a:sym typeface="Huawei Sans" panose="020C0503030203020204" pitchFamily="34" charset="0"/>
              </a:rPr>
              <a:t>生成树技术进阶</a:t>
            </a:r>
            <a:endParaRPr lang="zh-CN" altLang="en-US" dirty="0">
              <a:solidFill>
                <a:schemeClr val="bg1">
                  <a:lumMod val="50000"/>
                </a:schemeClr>
              </a:solidFill>
              <a:sym typeface="Huawei Sans" panose="020C0503030203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ym typeface="Huawei Sans" panose="020C0503030203020204" pitchFamily="34" charset="0"/>
              </a:rPr>
              <a:t>技术背景：二层交换机网络的冗余性与环路</a:t>
            </a:r>
            <a:endParaRPr lang="zh-CN" altLang="en-US" dirty="0">
              <a:sym typeface="Huawei Sans" panose="020C0503030203020204" pitchFamily="34" charset="0"/>
            </a:endParaRPr>
          </a:p>
        </p:txBody>
      </p:sp>
      <p:sp>
        <p:nvSpPr>
          <p:cNvPr id="4" name="圆角矩形 75"/>
          <p:cNvSpPr/>
          <p:nvPr/>
        </p:nvSpPr>
        <p:spPr>
          <a:xfrm>
            <a:off x="6134472" y="1435613"/>
            <a:ext cx="5532980"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引入冗余性的同时也引入了二层环路</a:t>
            </a:r>
          </a:p>
        </p:txBody>
      </p:sp>
      <p:sp>
        <p:nvSpPr>
          <p:cNvPr id="5" name="圆角矩形 75"/>
          <p:cNvSpPr/>
          <p:nvPr/>
        </p:nvSpPr>
        <p:spPr>
          <a:xfrm>
            <a:off x="6134472" y="1874414"/>
            <a:ext cx="5532980" cy="439890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 name="圆角矩形 75"/>
          <p:cNvSpPr/>
          <p:nvPr/>
        </p:nvSpPr>
        <p:spPr>
          <a:xfrm>
            <a:off x="524549" y="1435613"/>
            <a:ext cx="5532980"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一个缺乏冗余性设计的网络</a:t>
            </a:r>
          </a:p>
        </p:txBody>
      </p:sp>
      <p:sp>
        <p:nvSpPr>
          <p:cNvPr id="8" name="圆角矩形 75"/>
          <p:cNvSpPr/>
          <p:nvPr/>
        </p:nvSpPr>
        <p:spPr>
          <a:xfrm>
            <a:off x="524549" y="1874414"/>
            <a:ext cx="5532980" cy="439890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9" name="组合 8"/>
          <p:cNvGrpSpPr/>
          <p:nvPr/>
        </p:nvGrpSpPr>
        <p:grpSpPr>
          <a:xfrm rot="10800000" flipV="1">
            <a:off x="7215567" y="2161235"/>
            <a:ext cx="3371594" cy="1143009"/>
            <a:chOff x="6600056" y="4353447"/>
            <a:chExt cx="1296144" cy="833967"/>
          </a:xfrm>
        </p:grpSpPr>
        <p:cxnSp>
          <p:nvCxnSpPr>
            <p:cNvPr id="10" name="直接连接符 9"/>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直接连接符 11"/>
          <p:cNvCxnSpPr/>
          <p:nvPr/>
        </p:nvCxnSpPr>
        <p:spPr>
          <a:xfrm flipH="1">
            <a:off x="7472398" y="3238934"/>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flipV="1">
            <a:off x="7215567" y="3243956"/>
            <a:ext cx="3371594" cy="1699073"/>
            <a:chOff x="6600056" y="4353447"/>
            <a:chExt cx="1296144" cy="833967"/>
          </a:xfrm>
        </p:grpSpPr>
        <p:cxnSp>
          <p:nvCxnSpPr>
            <p:cNvPr id="14" name="直接连接符 13"/>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6" name="直接连接符 15"/>
          <p:cNvCxnSpPr/>
          <p:nvPr/>
        </p:nvCxnSpPr>
        <p:spPr>
          <a:xfrm flipV="1">
            <a:off x="2153918" y="2397653"/>
            <a:ext cx="0" cy="324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a:off x="2192149" y="4222837"/>
            <a:ext cx="107891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圆角矩形 17"/>
          <p:cNvSpPr/>
          <p:nvPr/>
        </p:nvSpPr>
        <p:spPr>
          <a:xfrm>
            <a:off x="2861969" y="3977332"/>
            <a:ext cx="2962218" cy="849400"/>
          </a:xfrm>
          <a:prstGeom prst="roundRect">
            <a:avLst>
              <a:gd name="adj" fmla="val 7486"/>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接入层交换机的上行只有单一的链路，并无冗余，如果发生故障，那么下联的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将会断网</a:t>
            </a:r>
          </a:p>
        </p:txBody>
      </p:sp>
      <p:sp>
        <p:nvSpPr>
          <p:cNvPr id="19" name="文本框 18"/>
          <p:cNvSpPr txBox="1"/>
          <p:nvPr/>
        </p:nvSpPr>
        <p:spPr>
          <a:xfrm>
            <a:off x="504996" y="4626807"/>
            <a:ext cx="1415773" cy="338554"/>
          </a:xfrm>
          <a:prstGeom prst="rect">
            <a:avLst/>
          </a:prstGeom>
          <a:noFill/>
        </p:spPr>
        <p:txBody>
          <a:bodyPr wrap="none" rtlCol="0">
            <a:spAutoFit/>
          </a:bodyPr>
          <a:lstStyle/>
          <a:p>
            <a:pPr algn="r" fontAlgn="auto">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接入层交换机</a:t>
            </a:r>
          </a:p>
        </p:txBody>
      </p:sp>
      <p:cxnSp>
        <p:nvCxnSpPr>
          <p:cNvPr id="20" name="直接箭头连接符 19"/>
          <p:cNvCxnSpPr/>
          <p:nvPr/>
        </p:nvCxnSpPr>
        <p:spPr>
          <a:xfrm flipH="1">
            <a:off x="2443607" y="3243958"/>
            <a:ext cx="82746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504996" y="3081680"/>
            <a:ext cx="1415773" cy="338554"/>
          </a:xfrm>
          <a:prstGeom prst="rect">
            <a:avLst/>
          </a:prstGeom>
          <a:noFill/>
        </p:spPr>
        <p:txBody>
          <a:bodyPr wrap="none" rtlCol="0">
            <a:spAutoFit/>
          </a:bodyPr>
          <a:lstStyle/>
          <a:p>
            <a:pPr algn="r" fontAlgn="auto">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汇聚层交换机</a:t>
            </a:r>
          </a:p>
        </p:txBody>
      </p:sp>
      <p:sp>
        <p:nvSpPr>
          <p:cNvPr id="22" name="圆角矩形 21"/>
          <p:cNvSpPr/>
          <p:nvPr/>
        </p:nvSpPr>
        <p:spPr>
          <a:xfrm>
            <a:off x="2861969" y="2790602"/>
            <a:ext cx="2965900" cy="957411"/>
          </a:xfrm>
          <a:prstGeom prst="roundRect">
            <a:avLst>
              <a:gd name="adj" fmla="val 7486"/>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汇聚层交换机只有一台，并无冗余，如果发生故障，则下联的设备将会断网</a:t>
            </a:r>
          </a:p>
        </p:txBody>
      </p:sp>
      <p:sp>
        <p:nvSpPr>
          <p:cNvPr id="23" name="文本框 22"/>
          <p:cNvSpPr txBox="1"/>
          <p:nvPr/>
        </p:nvSpPr>
        <p:spPr>
          <a:xfrm>
            <a:off x="6131230" y="3495587"/>
            <a:ext cx="1415773" cy="338554"/>
          </a:xfrm>
          <a:prstGeom prst="rect">
            <a:avLst/>
          </a:prstGeom>
          <a:noFill/>
        </p:spPr>
        <p:txBody>
          <a:bodyPr wrap="none" rtlCol="0">
            <a:spAutoFit/>
          </a:bodyPr>
          <a:lstStyle/>
          <a:p>
            <a:pPr algn="r" fontAlgn="auto">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汇聚层交换机</a:t>
            </a:r>
          </a:p>
        </p:txBody>
      </p:sp>
      <p:sp>
        <p:nvSpPr>
          <p:cNvPr id="24" name="文本框 23"/>
          <p:cNvSpPr txBox="1"/>
          <p:nvPr/>
        </p:nvSpPr>
        <p:spPr>
          <a:xfrm>
            <a:off x="10234544" y="3495587"/>
            <a:ext cx="1415773" cy="338554"/>
          </a:xfrm>
          <a:prstGeom prst="rect">
            <a:avLst/>
          </a:prstGeom>
          <a:noFill/>
        </p:spPr>
        <p:txBody>
          <a:bodyPr wrap="none" rtlCol="0">
            <a:spAutoFit/>
          </a:bodyPr>
          <a:lstStyle/>
          <a:p>
            <a:pPr algn="r" fontAlgn="auto">
              <a:spcBef>
                <a:spcPts val="0"/>
              </a:spcBef>
              <a:spcAft>
                <a:spcPts val="0"/>
              </a:spcAft>
            </a:pPr>
            <a:r>
              <a:rPr lang="zh-CN" altLang="en-US"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汇聚层交换机</a:t>
            </a:r>
          </a:p>
        </p:txBody>
      </p:sp>
      <p:sp>
        <p:nvSpPr>
          <p:cNvPr id="25" name="文本框 24"/>
          <p:cNvSpPr txBox="1"/>
          <p:nvPr/>
        </p:nvSpPr>
        <p:spPr>
          <a:xfrm>
            <a:off x="9207967" y="4626807"/>
            <a:ext cx="1415773" cy="338554"/>
          </a:xfrm>
          <a:prstGeom prst="rect">
            <a:avLst/>
          </a:prstGeom>
          <a:noFill/>
        </p:spPr>
        <p:txBody>
          <a:bodyPr wrap="none" rtlCol="0">
            <a:spAutoFit/>
          </a:bodyPr>
          <a:lstStyle/>
          <a:p>
            <a:pPr fontAlgn="auto">
              <a:spcBef>
                <a:spcPts val="0"/>
              </a:spcBef>
              <a:spcAft>
                <a:spcPts val="0"/>
              </a:spcAft>
            </a:pPr>
            <a:r>
              <a:rPr lang="zh-CN" altLang="en-US"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接入层交换机</a:t>
            </a:r>
          </a:p>
        </p:txBody>
      </p:sp>
      <p:cxnSp>
        <p:nvCxnSpPr>
          <p:cNvPr id="26" name="直接连接符 25"/>
          <p:cNvCxnSpPr/>
          <p:nvPr/>
        </p:nvCxnSpPr>
        <p:spPr>
          <a:xfrm flipV="1">
            <a:off x="8912366" y="4705465"/>
            <a:ext cx="0" cy="900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弧形 26"/>
          <p:cNvSpPr/>
          <p:nvPr/>
        </p:nvSpPr>
        <p:spPr>
          <a:xfrm>
            <a:off x="8563288" y="3465626"/>
            <a:ext cx="803528" cy="803528"/>
          </a:xfrm>
          <a:prstGeom prst="arc">
            <a:avLst>
              <a:gd name="adj1" fmla="val 16200000"/>
              <a:gd name="adj2" fmla="val 13604142"/>
            </a:avLst>
          </a:prstGeom>
          <a:ln w="4445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fontAlgn="auto">
              <a:spcBef>
                <a:spcPts val="0"/>
              </a:spcBef>
              <a:spcAft>
                <a:spcPts val="0"/>
              </a:spcAft>
            </a:pPr>
            <a:endParaRPr lang="zh-CN" altLang="en-US" sz="18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TextBox 26"/>
          <p:cNvSpPr txBox="1"/>
          <p:nvPr/>
        </p:nvSpPr>
        <p:spPr>
          <a:xfrm>
            <a:off x="8641886" y="3578504"/>
            <a:ext cx="646331" cy="646331"/>
          </a:xfrm>
          <a:prstGeom prst="rect">
            <a:avLst/>
          </a:prstGeom>
          <a:noFill/>
        </p:spPr>
        <p:txBody>
          <a:bodyPr wrap="none" rtlCol="0">
            <a:spAutoFit/>
          </a:bodyPr>
          <a:lstStyle/>
          <a:p>
            <a:pPr fontAlgn="auto">
              <a:spcBef>
                <a:spcPts val="0"/>
              </a:spcBef>
              <a:spcAft>
                <a:spcPts val="0"/>
              </a:spcAft>
            </a:pPr>
            <a:r>
              <a:rPr lang="zh-CN" altLang="en-US" sz="18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二层</a:t>
            </a:r>
            <a:endParaRPr lang="en-US" altLang="zh-CN" sz="18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auto">
              <a:spcBef>
                <a:spcPts val="0"/>
              </a:spcBef>
              <a:spcAft>
                <a:spcPts val="0"/>
              </a:spcAft>
            </a:pPr>
            <a:r>
              <a:rPr lang="zh-CN" altLang="en-US" sz="18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环路</a:t>
            </a:r>
          </a:p>
        </p:txBody>
      </p:sp>
      <p:sp>
        <p:nvSpPr>
          <p:cNvPr id="29" name="圆角矩形 28"/>
          <p:cNvSpPr/>
          <p:nvPr/>
        </p:nvSpPr>
        <p:spPr>
          <a:xfrm>
            <a:off x="6415735" y="4780695"/>
            <a:ext cx="2038672" cy="733684"/>
          </a:xfrm>
          <a:prstGeom prst="roundRect">
            <a:avLst>
              <a:gd name="adj" fmla="val 7486"/>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网络的冗余性增强了，但是却出现了二层环路</a:t>
            </a:r>
          </a:p>
        </p:txBody>
      </p:sp>
      <p:pic>
        <p:nvPicPr>
          <p:cNvPr id="30" name="图片 76" descr="接入交换机.png"/>
          <p:cNvPicPr>
            <a:picLocks noChangeAspect="1"/>
          </p:cNvPicPr>
          <p:nvPr/>
        </p:nvPicPr>
        <p:blipFill>
          <a:blip r:embed="rId3" cstate="print"/>
          <a:stretch>
            <a:fillRect/>
          </a:stretch>
        </p:blipFill>
        <p:spPr>
          <a:xfrm>
            <a:off x="1883918" y="3018025"/>
            <a:ext cx="540000" cy="441818"/>
          </a:xfrm>
          <a:prstGeom prst="rect">
            <a:avLst/>
          </a:prstGeom>
        </p:spPr>
      </p:pic>
      <p:pic>
        <p:nvPicPr>
          <p:cNvPr id="31" name="图片 76" descr="接入交换机.png"/>
          <p:cNvPicPr>
            <a:picLocks noChangeAspect="1"/>
          </p:cNvPicPr>
          <p:nvPr/>
        </p:nvPicPr>
        <p:blipFill>
          <a:blip r:embed="rId3" cstate="print"/>
          <a:stretch>
            <a:fillRect/>
          </a:stretch>
        </p:blipFill>
        <p:spPr>
          <a:xfrm>
            <a:off x="1883918" y="4559786"/>
            <a:ext cx="540000" cy="441818"/>
          </a:xfrm>
          <a:prstGeom prst="rect">
            <a:avLst/>
          </a:prstGeom>
        </p:spPr>
      </p:pic>
      <p:pic>
        <p:nvPicPr>
          <p:cNvPr id="32" name="图片 76" descr="接入交换机.png"/>
          <p:cNvPicPr>
            <a:picLocks noChangeAspect="1"/>
          </p:cNvPicPr>
          <p:nvPr/>
        </p:nvPicPr>
        <p:blipFill>
          <a:blip r:embed="rId3" cstate="print"/>
          <a:stretch>
            <a:fillRect/>
          </a:stretch>
        </p:blipFill>
        <p:spPr>
          <a:xfrm>
            <a:off x="7053968" y="3018025"/>
            <a:ext cx="540000" cy="441818"/>
          </a:xfrm>
          <a:prstGeom prst="rect">
            <a:avLst/>
          </a:prstGeom>
        </p:spPr>
      </p:pic>
      <p:pic>
        <p:nvPicPr>
          <p:cNvPr id="33" name="图片 76" descr="接入交换机.png"/>
          <p:cNvPicPr>
            <a:picLocks noChangeAspect="1"/>
          </p:cNvPicPr>
          <p:nvPr/>
        </p:nvPicPr>
        <p:blipFill>
          <a:blip r:embed="rId3" cstate="print"/>
          <a:stretch>
            <a:fillRect/>
          </a:stretch>
        </p:blipFill>
        <p:spPr>
          <a:xfrm>
            <a:off x="10238233" y="3018025"/>
            <a:ext cx="540000" cy="441818"/>
          </a:xfrm>
          <a:prstGeom prst="rect">
            <a:avLst/>
          </a:prstGeom>
        </p:spPr>
      </p:pic>
      <p:pic>
        <p:nvPicPr>
          <p:cNvPr id="34" name="图片 33" descr="接入交换机.png"/>
          <p:cNvPicPr>
            <a:picLocks noChangeAspect="1"/>
          </p:cNvPicPr>
          <p:nvPr/>
        </p:nvPicPr>
        <p:blipFill>
          <a:blip r:embed="rId3" cstate="print"/>
          <a:stretch>
            <a:fillRect/>
          </a:stretch>
        </p:blipFill>
        <p:spPr>
          <a:xfrm>
            <a:off x="8671649" y="4559786"/>
            <a:ext cx="540000" cy="441818"/>
          </a:xfrm>
          <a:prstGeom prst="rect">
            <a:avLst/>
          </a:prstGeom>
        </p:spPr>
      </p:pic>
      <p:sp>
        <p:nvSpPr>
          <p:cNvPr id="35" name="Freeform 159"/>
          <p:cNvSpPr/>
          <p:nvPr/>
        </p:nvSpPr>
        <p:spPr>
          <a:xfrm flipH="1">
            <a:off x="1699177" y="207656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Freeform 159"/>
          <p:cNvSpPr/>
          <p:nvPr/>
        </p:nvSpPr>
        <p:spPr>
          <a:xfrm flipH="1">
            <a:off x="8446623" y="207656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7" name="图片 11" descr="开放网络-蓝.png"/>
          <p:cNvPicPr>
            <a:picLocks noChangeAspect="1"/>
          </p:cNvPicPr>
          <p:nvPr/>
        </p:nvPicPr>
        <p:blipFill>
          <a:blip r:embed="rId4" cstate="print"/>
          <a:stretch>
            <a:fillRect/>
          </a:stretch>
        </p:blipFill>
        <p:spPr>
          <a:xfrm>
            <a:off x="1884115" y="5562840"/>
            <a:ext cx="539607" cy="415381"/>
          </a:xfrm>
          <a:prstGeom prst="rect">
            <a:avLst/>
          </a:prstGeom>
        </p:spPr>
      </p:pic>
      <p:pic>
        <p:nvPicPr>
          <p:cNvPr id="38" name="图片 11" descr="开放网络-蓝.png"/>
          <p:cNvPicPr>
            <a:picLocks noChangeAspect="1"/>
          </p:cNvPicPr>
          <p:nvPr/>
        </p:nvPicPr>
        <p:blipFill>
          <a:blip r:embed="rId4" cstate="print"/>
          <a:stretch>
            <a:fillRect/>
          </a:stretch>
        </p:blipFill>
        <p:spPr>
          <a:xfrm>
            <a:off x="8637435" y="5562840"/>
            <a:ext cx="539607" cy="41538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0" name="直接连接符 59"/>
          <p:cNvCxnSpPr/>
          <p:nvPr/>
        </p:nvCxnSpPr>
        <p:spPr>
          <a:xfrm flipV="1">
            <a:off x="9048328" y="2564904"/>
            <a:ext cx="0" cy="1384117"/>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lstStyle/>
          <a:p>
            <a:r>
              <a:rPr lang="zh-CN" altLang="en-US">
                <a:sym typeface="Huawei Sans" panose="020C0503030203020204" pitchFamily="34" charset="0"/>
              </a:rPr>
              <a:t>技术背景：人为错误导致的二层环路</a:t>
            </a:r>
          </a:p>
        </p:txBody>
      </p:sp>
      <p:sp>
        <p:nvSpPr>
          <p:cNvPr id="17" name="任意多边形 16"/>
          <p:cNvSpPr/>
          <p:nvPr/>
        </p:nvSpPr>
        <p:spPr>
          <a:xfrm>
            <a:off x="1686473" y="3850656"/>
            <a:ext cx="1318988" cy="256809"/>
          </a:xfrm>
          <a:custGeom>
            <a:avLst/>
            <a:gdLst>
              <a:gd name="connsiteX0" fmla="*/ 0 w 1028700"/>
              <a:gd name="connsiteY0" fmla="*/ 127000 h 370558"/>
              <a:gd name="connsiteX1" fmla="*/ 508000 w 1028700"/>
              <a:gd name="connsiteY1" fmla="*/ 368300 h 370558"/>
              <a:gd name="connsiteX2" fmla="*/ 1028700 w 1028700"/>
              <a:gd name="connsiteY2" fmla="*/ 0 h 370558"/>
              <a:gd name="connsiteX0-1" fmla="*/ 0 w 1028700"/>
              <a:gd name="connsiteY0-2" fmla="*/ 161036 h 404594"/>
              <a:gd name="connsiteX1-3" fmla="*/ 508000 w 1028700"/>
              <a:gd name="connsiteY1-4" fmla="*/ 402336 h 404594"/>
              <a:gd name="connsiteX2-5" fmla="*/ 1028700 w 1028700"/>
              <a:gd name="connsiteY2-6" fmla="*/ 34036 h 404594"/>
              <a:gd name="connsiteX0-7" fmla="*/ 0 w 1028700"/>
              <a:gd name="connsiteY0-8" fmla="*/ 163500 h 365068"/>
              <a:gd name="connsiteX1-9" fmla="*/ 369888 w 1028700"/>
              <a:gd name="connsiteY1-10" fmla="*/ 361938 h 365068"/>
              <a:gd name="connsiteX2-11" fmla="*/ 1028700 w 1028700"/>
              <a:gd name="connsiteY2-12" fmla="*/ 36500 h 365068"/>
              <a:gd name="connsiteX0-13" fmla="*/ 0 w 1028700"/>
              <a:gd name="connsiteY0-14" fmla="*/ 127000 h 127000"/>
              <a:gd name="connsiteX1-15" fmla="*/ 1028700 w 1028700"/>
              <a:gd name="connsiteY1-16" fmla="*/ 0 h 127000"/>
              <a:gd name="connsiteX0-17" fmla="*/ 0 w 1028700"/>
              <a:gd name="connsiteY0-18" fmla="*/ 127000 h 238705"/>
              <a:gd name="connsiteX1-19" fmla="*/ 1028700 w 1028700"/>
              <a:gd name="connsiteY1-20" fmla="*/ 0 h 238705"/>
              <a:gd name="connsiteX0-21" fmla="*/ 0 w 1028700"/>
              <a:gd name="connsiteY0-22" fmla="*/ 199981 h 272961"/>
              <a:gd name="connsiteX1-23" fmla="*/ 1028700 w 1028700"/>
              <a:gd name="connsiteY1-24" fmla="*/ 72981 h 272961"/>
              <a:gd name="connsiteX0-25" fmla="*/ 0 w 1016793"/>
              <a:gd name="connsiteY0-26" fmla="*/ 158706 h 235656"/>
              <a:gd name="connsiteX1-27" fmla="*/ 1016793 w 1016793"/>
              <a:gd name="connsiteY1-28" fmla="*/ 76950 h 235656"/>
              <a:gd name="connsiteX0-29" fmla="*/ 0 w 1016793"/>
              <a:gd name="connsiteY0-30" fmla="*/ 155367 h 247602"/>
              <a:gd name="connsiteX1-31" fmla="*/ 1016793 w 1016793"/>
              <a:gd name="connsiteY1-32" fmla="*/ 73611 h 247602"/>
            </a:gdLst>
            <a:ahLst/>
            <a:cxnLst>
              <a:cxn ang="0">
                <a:pos x="connsiteX0-1" y="connsiteY0-2"/>
              </a:cxn>
              <a:cxn ang="0">
                <a:pos x="connsiteX1-3" y="connsiteY1-4"/>
              </a:cxn>
            </a:cxnLst>
            <a:rect l="l" t="t" r="r" b="b"/>
            <a:pathLst>
              <a:path w="1016793" h="247602">
                <a:moveTo>
                  <a:pt x="0" y="155367"/>
                </a:moveTo>
                <a:cubicBezTo>
                  <a:pt x="557213" y="491652"/>
                  <a:pt x="378618" y="-222194"/>
                  <a:pt x="1016793" y="73611"/>
                </a:cubicBezTo>
              </a:path>
            </a:pathLst>
          </a:custGeom>
          <a:ln w="19050">
            <a:solidFill>
              <a:srgbClr val="00B0F0"/>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 name="直接连接符 11"/>
          <p:cNvCxnSpPr/>
          <p:nvPr/>
        </p:nvCxnSpPr>
        <p:spPr>
          <a:xfrm flipV="1">
            <a:off x="3258431" y="2564904"/>
            <a:ext cx="0" cy="13841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462175" y="2564903"/>
            <a:ext cx="3592512" cy="1384118"/>
            <a:chOff x="6600056" y="4353447"/>
            <a:chExt cx="1296144" cy="833967"/>
          </a:xfrm>
        </p:grpSpPr>
        <p:cxnSp>
          <p:nvCxnSpPr>
            <p:cNvPr id="10" name="直接连接符 9"/>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圆角矩形 75"/>
          <p:cNvSpPr/>
          <p:nvPr/>
        </p:nvSpPr>
        <p:spPr>
          <a:xfrm>
            <a:off x="6134472" y="1435613"/>
            <a:ext cx="5532980"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人为错误导致的二层环路 案例</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圆角矩形 75"/>
          <p:cNvSpPr/>
          <p:nvPr/>
        </p:nvSpPr>
        <p:spPr>
          <a:xfrm>
            <a:off x="524549" y="1435613"/>
            <a:ext cx="5532980"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人为错误导致的二层环路 案例</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6" name="图片 76" descr="接入交换机.png"/>
          <p:cNvPicPr>
            <a:picLocks noChangeAspect="1"/>
          </p:cNvPicPr>
          <p:nvPr/>
        </p:nvPicPr>
        <p:blipFill>
          <a:blip r:embed="rId3" cstate="print"/>
          <a:stretch>
            <a:fillRect/>
          </a:stretch>
        </p:blipFill>
        <p:spPr>
          <a:xfrm>
            <a:off x="3012977" y="2313029"/>
            <a:ext cx="490909" cy="401653"/>
          </a:xfrm>
          <a:prstGeom prst="rect">
            <a:avLst/>
          </a:prstGeom>
        </p:spPr>
      </p:pic>
      <p:grpSp>
        <p:nvGrpSpPr>
          <p:cNvPr id="4" name="组合 3"/>
          <p:cNvGrpSpPr/>
          <p:nvPr/>
        </p:nvGrpSpPr>
        <p:grpSpPr>
          <a:xfrm>
            <a:off x="1209206" y="3814446"/>
            <a:ext cx="4098451" cy="401653"/>
            <a:chOff x="1113412" y="4144092"/>
            <a:chExt cx="4098451" cy="401653"/>
          </a:xfrm>
        </p:grpSpPr>
        <p:pic>
          <p:nvPicPr>
            <p:cNvPr id="47" name="图片 76" descr="接入交换机.png"/>
            <p:cNvPicPr>
              <a:picLocks noChangeAspect="1"/>
            </p:cNvPicPr>
            <p:nvPr/>
          </p:nvPicPr>
          <p:blipFill>
            <a:blip r:embed="rId3" cstate="print"/>
            <a:stretch>
              <a:fillRect/>
            </a:stretch>
          </p:blipFill>
          <p:spPr>
            <a:xfrm>
              <a:off x="2917183" y="4144092"/>
              <a:ext cx="490909" cy="401653"/>
            </a:xfrm>
            <a:prstGeom prst="rect">
              <a:avLst/>
            </a:prstGeom>
          </p:spPr>
        </p:pic>
        <p:pic>
          <p:nvPicPr>
            <p:cNvPr id="48" name="图片 76" descr="接入交换机.png"/>
            <p:cNvPicPr>
              <a:picLocks noChangeAspect="1"/>
            </p:cNvPicPr>
            <p:nvPr/>
          </p:nvPicPr>
          <p:blipFill>
            <a:blip r:embed="rId3" cstate="print"/>
            <a:stretch>
              <a:fillRect/>
            </a:stretch>
          </p:blipFill>
          <p:spPr>
            <a:xfrm>
              <a:off x="1113412" y="4144092"/>
              <a:ext cx="490909" cy="401653"/>
            </a:xfrm>
            <a:prstGeom prst="rect">
              <a:avLst/>
            </a:prstGeom>
          </p:spPr>
        </p:pic>
        <p:pic>
          <p:nvPicPr>
            <p:cNvPr id="49" name="图片 76" descr="接入交换机.png"/>
            <p:cNvPicPr>
              <a:picLocks noChangeAspect="1"/>
            </p:cNvPicPr>
            <p:nvPr/>
          </p:nvPicPr>
          <p:blipFill>
            <a:blip r:embed="rId3" cstate="print"/>
            <a:stretch>
              <a:fillRect/>
            </a:stretch>
          </p:blipFill>
          <p:spPr>
            <a:xfrm>
              <a:off x="4720954" y="4144092"/>
              <a:ext cx="490909" cy="401653"/>
            </a:xfrm>
            <a:prstGeom prst="rect">
              <a:avLst/>
            </a:prstGeom>
          </p:spPr>
        </p:pic>
      </p:grpSp>
      <p:cxnSp>
        <p:nvCxnSpPr>
          <p:cNvPr id="51" name="直接连接符 50"/>
          <p:cNvCxnSpPr/>
          <p:nvPr/>
        </p:nvCxnSpPr>
        <p:spPr>
          <a:xfrm flipV="1">
            <a:off x="8832304" y="2564904"/>
            <a:ext cx="0" cy="13841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2" name="组合 51"/>
          <p:cNvGrpSpPr/>
          <p:nvPr/>
        </p:nvGrpSpPr>
        <p:grpSpPr>
          <a:xfrm>
            <a:off x="7131842" y="2564903"/>
            <a:ext cx="3592512" cy="1384118"/>
            <a:chOff x="6600056" y="4353447"/>
            <a:chExt cx="1296144" cy="833967"/>
          </a:xfrm>
        </p:grpSpPr>
        <p:cxnSp>
          <p:nvCxnSpPr>
            <p:cNvPr id="53" name="直接连接符 52"/>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55" name="图片 76" descr="接入交换机.png"/>
          <p:cNvPicPr>
            <a:picLocks noChangeAspect="1"/>
          </p:cNvPicPr>
          <p:nvPr/>
        </p:nvPicPr>
        <p:blipFill>
          <a:blip r:embed="rId3" cstate="print"/>
          <a:stretch>
            <a:fillRect/>
          </a:stretch>
        </p:blipFill>
        <p:spPr>
          <a:xfrm>
            <a:off x="8682644" y="2313029"/>
            <a:ext cx="490909" cy="401653"/>
          </a:xfrm>
          <a:prstGeom prst="rect">
            <a:avLst/>
          </a:prstGeom>
        </p:spPr>
      </p:pic>
      <p:grpSp>
        <p:nvGrpSpPr>
          <p:cNvPr id="56" name="组合 55"/>
          <p:cNvGrpSpPr/>
          <p:nvPr/>
        </p:nvGrpSpPr>
        <p:grpSpPr>
          <a:xfrm>
            <a:off x="6878873" y="3814446"/>
            <a:ext cx="4098451" cy="401653"/>
            <a:chOff x="1113412" y="4144092"/>
            <a:chExt cx="4098451" cy="401653"/>
          </a:xfrm>
        </p:grpSpPr>
        <p:pic>
          <p:nvPicPr>
            <p:cNvPr id="57" name="图片 76" descr="接入交换机.png"/>
            <p:cNvPicPr>
              <a:picLocks noChangeAspect="1"/>
            </p:cNvPicPr>
            <p:nvPr/>
          </p:nvPicPr>
          <p:blipFill>
            <a:blip r:embed="rId3" cstate="print"/>
            <a:stretch>
              <a:fillRect/>
            </a:stretch>
          </p:blipFill>
          <p:spPr>
            <a:xfrm>
              <a:off x="2917183" y="4144092"/>
              <a:ext cx="490909" cy="401653"/>
            </a:xfrm>
            <a:prstGeom prst="rect">
              <a:avLst/>
            </a:prstGeom>
          </p:spPr>
        </p:pic>
        <p:pic>
          <p:nvPicPr>
            <p:cNvPr id="58" name="图片 76" descr="接入交换机.png"/>
            <p:cNvPicPr>
              <a:picLocks noChangeAspect="1"/>
            </p:cNvPicPr>
            <p:nvPr/>
          </p:nvPicPr>
          <p:blipFill>
            <a:blip r:embed="rId3" cstate="print"/>
            <a:stretch>
              <a:fillRect/>
            </a:stretch>
          </p:blipFill>
          <p:spPr>
            <a:xfrm>
              <a:off x="1113412" y="4144092"/>
              <a:ext cx="490909" cy="401653"/>
            </a:xfrm>
            <a:prstGeom prst="rect">
              <a:avLst/>
            </a:prstGeom>
          </p:spPr>
        </p:pic>
        <p:pic>
          <p:nvPicPr>
            <p:cNvPr id="59" name="图片 76" descr="接入交换机.png"/>
            <p:cNvPicPr>
              <a:picLocks noChangeAspect="1"/>
            </p:cNvPicPr>
            <p:nvPr/>
          </p:nvPicPr>
          <p:blipFill>
            <a:blip r:embed="rId3" cstate="print"/>
            <a:stretch>
              <a:fillRect/>
            </a:stretch>
          </p:blipFill>
          <p:spPr>
            <a:xfrm>
              <a:off x="4720954" y="4144092"/>
              <a:ext cx="490909" cy="401653"/>
            </a:xfrm>
            <a:prstGeom prst="rect">
              <a:avLst/>
            </a:prstGeom>
          </p:spPr>
        </p:pic>
      </p:grpSp>
      <p:sp>
        <p:nvSpPr>
          <p:cNvPr id="61" name="弧形 60"/>
          <p:cNvSpPr/>
          <p:nvPr/>
        </p:nvSpPr>
        <p:spPr>
          <a:xfrm>
            <a:off x="2369036" y="3122866"/>
            <a:ext cx="653564" cy="653564"/>
          </a:xfrm>
          <a:prstGeom prst="arc">
            <a:avLst>
              <a:gd name="adj1" fmla="val 16200000"/>
              <a:gd name="adj2" fmla="val 13604142"/>
            </a:avLst>
          </a:prstGeom>
          <a:ln w="38100">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fontAlgn="auto">
              <a:spcBef>
                <a:spcPts val="0"/>
              </a:spcBef>
              <a:spcAft>
                <a:spcPts val="0"/>
              </a:spcAft>
            </a:pPr>
            <a:endParaRPr lang="zh-CN" altLang="en-US" sz="18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TextBox 26"/>
          <p:cNvSpPr txBox="1"/>
          <p:nvPr/>
        </p:nvSpPr>
        <p:spPr>
          <a:xfrm>
            <a:off x="2416196" y="3212406"/>
            <a:ext cx="543739" cy="523220"/>
          </a:xfrm>
          <a:prstGeom prst="rect">
            <a:avLst/>
          </a:prstGeom>
          <a:noFill/>
        </p:spPr>
        <p:txBody>
          <a:bodyPr wrap="none" rtlCol="0">
            <a:spAutoFit/>
          </a:bodyPr>
          <a:lstStyle/>
          <a:p>
            <a:pPr fontAlgn="auto">
              <a:spcBef>
                <a:spcPts val="0"/>
              </a:spcBef>
              <a:spcAft>
                <a:spcPts val="0"/>
              </a:spcAft>
            </a:pPr>
            <a:r>
              <a:rPr lang="zh-CN" altLang="en-US"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二层</a:t>
            </a:r>
            <a:endParaRPr lang="en-US" altLang="zh-CN"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auto">
              <a:spcBef>
                <a:spcPts val="0"/>
              </a:spcBef>
              <a:spcAft>
                <a:spcPts val="0"/>
              </a:spcAft>
            </a:pPr>
            <a:r>
              <a:rPr lang="zh-CN" altLang="en-US"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环路</a:t>
            </a:r>
          </a:p>
        </p:txBody>
      </p:sp>
      <p:cxnSp>
        <p:nvCxnSpPr>
          <p:cNvPr id="15" name="直接箭头连接符 14"/>
          <p:cNvCxnSpPr/>
          <p:nvPr/>
        </p:nvCxnSpPr>
        <p:spPr bwMode="auto">
          <a:xfrm>
            <a:off x="7812268" y="2739443"/>
            <a:ext cx="1175945" cy="59107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65" name="弧形 64"/>
          <p:cNvSpPr/>
          <p:nvPr/>
        </p:nvSpPr>
        <p:spPr>
          <a:xfrm>
            <a:off x="7120697" y="2238120"/>
            <a:ext cx="653564" cy="653564"/>
          </a:xfrm>
          <a:prstGeom prst="arc">
            <a:avLst>
              <a:gd name="adj1" fmla="val 16200000"/>
              <a:gd name="adj2" fmla="val 13604142"/>
            </a:avLst>
          </a:prstGeom>
          <a:ln w="38100">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fontAlgn="auto">
              <a:spcBef>
                <a:spcPts val="0"/>
              </a:spcBef>
              <a:spcAft>
                <a:spcPts val="0"/>
              </a:spcAft>
            </a:pPr>
            <a:endParaRPr lang="zh-CN" altLang="en-US" sz="18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TextBox 26"/>
          <p:cNvSpPr txBox="1"/>
          <p:nvPr/>
        </p:nvSpPr>
        <p:spPr>
          <a:xfrm>
            <a:off x="7163390" y="2313029"/>
            <a:ext cx="543739" cy="523220"/>
          </a:xfrm>
          <a:prstGeom prst="rect">
            <a:avLst/>
          </a:prstGeom>
          <a:noFill/>
        </p:spPr>
        <p:txBody>
          <a:bodyPr wrap="none" rtlCol="0">
            <a:spAutoFit/>
          </a:bodyPr>
          <a:lstStyle/>
          <a:p>
            <a:pPr fontAlgn="auto">
              <a:spcBef>
                <a:spcPts val="0"/>
              </a:spcBef>
              <a:spcAft>
                <a:spcPts val="0"/>
              </a:spcAft>
            </a:pPr>
            <a:r>
              <a:rPr lang="zh-CN" altLang="en-US"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二层</a:t>
            </a:r>
            <a:endParaRPr lang="en-US" altLang="zh-CN"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auto">
              <a:spcBef>
                <a:spcPts val="0"/>
              </a:spcBef>
              <a:spcAft>
                <a:spcPts val="0"/>
              </a:spcAft>
            </a:pPr>
            <a:r>
              <a:rPr lang="zh-CN" altLang="en-US"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环路</a:t>
            </a:r>
          </a:p>
        </p:txBody>
      </p:sp>
      <p:sp>
        <p:nvSpPr>
          <p:cNvPr id="67" name="文本框 66"/>
          <p:cNvSpPr txBox="1"/>
          <p:nvPr/>
        </p:nvSpPr>
        <p:spPr>
          <a:xfrm>
            <a:off x="573993" y="4811494"/>
            <a:ext cx="5293408" cy="683264"/>
          </a:xfrm>
          <a:prstGeom prst="rect">
            <a:avLst/>
          </a:prstGeom>
          <a:noFill/>
        </p:spPr>
        <p:txBody>
          <a:bodyPr wrap="square" rtlCol="0">
            <a:spAutoFit/>
          </a:bodyPr>
          <a:lstStyle/>
          <a:p>
            <a:pPr fontAlgn="auto">
              <a:lnSpc>
                <a:spcPct val="120000"/>
              </a:lnSpc>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在现实中，一些二层环路可能是由于人为的疏忽导致的，例如错误地连接设备之间的互联线缆等。</a:t>
            </a:r>
          </a:p>
        </p:txBody>
      </p:sp>
      <p:sp>
        <p:nvSpPr>
          <p:cNvPr id="33" name="圆角矩形 75"/>
          <p:cNvSpPr/>
          <p:nvPr/>
        </p:nvSpPr>
        <p:spPr>
          <a:xfrm>
            <a:off x="6134472" y="1874414"/>
            <a:ext cx="5532980" cy="421888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4" name="圆角矩形 75"/>
          <p:cNvSpPr/>
          <p:nvPr/>
        </p:nvSpPr>
        <p:spPr>
          <a:xfrm>
            <a:off x="524549" y="1874414"/>
            <a:ext cx="5532980" cy="421888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6" name="文本框 35"/>
          <p:cNvSpPr txBox="1"/>
          <p:nvPr/>
        </p:nvSpPr>
        <p:spPr>
          <a:xfrm>
            <a:off x="6296725" y="4811494"/>
            <a:ext cx="5262745" cy="978729"/>
          </a:xfrm>
          <a:prstGeom prst="rect">
            <a:avLst/>
          </a:prstGeom>
          <a:noFill/>
        </p:spPr>
        <p:txBody>
          <a:bodyPr wrap="square" rtlCol="0">
            <a:spAutoFit/>
          </a:bodyPr>
          <a:lstStyle/>
          <a:p>
            <a:pPr fontAlgn="auto">
              <a:lnSpc>
                <a:spcPct val="120000"/>
              </a:lnSpc>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另一些二层环路可能是由于人为的配置错误导致的，在本例中，网络管理员未将</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之间的链路绑定到一个逻辑链路（聚合链路）上，从而引入了二层环路。</a:t>
            </a:r>
          </a:p>
        </p:txBody>
      </p:sp>
      <p:sp>
        <p:nvSpPr>
          <p:cNvPr id="37" name="文本框 36"/>
          <p:cNvSpPr txBox="1"/>
          <p:nvPr/>
        </p:nvSpPr>
        <p:spPr>
          <a:xfrm>
            <a:off x="9153816" y="2354844"/>
            <a:ext cx="628698" cy="338554"/>
          </a:xfrm>
          <a:prstGeom prst="rect">
            <a:avLst/>
          </a:prstGeom>
          <a:noFill/>
        </p:spPr>
        <p:txBody>
          <a:bodyPr wrap="none" rtlCol="0">
            <a:spAutoFit/>
          </a:bodyPr>
          <a:lstStyle/>
          <a:p>
            <a:pPr algn="ct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a:xfrm>
            <a:off x="9153816" y="3825171"/>
            <a:ext cx="628698" cy="338554"/>
          </a:xfrm>
          <a:prstGeom prst="rect">
            <a:avLst/>
          </a:prstGeom>
          <a:noFill/>
        </p:spPr>
        <p:txBody>
          <a:bodyPr wrap="none" rtlCol="0">
            <a:spAutoFit/>
          </a:bodyPr>
          <a:lstStyle/>
          <a:p>
            <a:pPr algn="ctr" fontAlgn="auto">
              <a:spcBef>
                <a:spcPts val="0"/>
              </a:spcBef>
              <a:spcAft>
                <a:spcPts val="0"/>
              </a:spcAft>
            </a:pPr>
            <a:r>
              <a:rPr lang="en-US" altLang="zh-CN"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7" name="直接箭头连接符 56"/>
          <p:cNvCxnSpPr/>
          <p:nvPr/>
        </p:nvCxnSpPr>
        <p:spPr>
          <a:xfrm>
            <a:off x="1704440" y="2721576"/>
            <a:ext cx="499591" cy="528694"/>
          </a:xfrm>
          <a:prstGeom prst="straightConnector1">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grpSp>
        <p:nvGrpSpPr>
          <p:cNvPr id="5" name="组合 4"/>
          <p:cNvGrpSpPr/>
          <p:nvPr/>
        </p:nvGrpSpPr>
        <p:grpSpPr>
          <a:xfrm>
            <a:off x="1496392" y="2360241"/>
            <a:ext cx="3625179" cy="1759759"/>
            <a:chOff x="1921265" y="2764442"/>
            <a:chExt cx="3013742" cy="1759759"/>
          </a:xfrm>
        </p:grpSpPr>
        <p:grpSp>
          <p:nvGrpSpPr>
            <p:cNvPr id="29" name="组合 28"/>
            <p:cNvGrpSpPr/>
            <p:nvPr/>
          </p:nvGrpSpPr>
          <p:grpSpPr>
            <a:xfrm flipV="1">
              <a:off x="2055321" y="2825128"/>
              <a:ext cx="2745630" cy="1699073"/>
              <a:chOff x="6600056" y="4353447"/>
              <a:chExt cx="1296144" cy="833967"/>
            </a:xfrm>
          </p:grpSpPr>
          <p:cxnSp>
            <p:nvCxnSpPr>
              <p:cNvPr id="30" name="直接连接符 29"/>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 name="直接连接符 27"/>
            <p:cNvCxnSpPr/>
            <p:nvPr/>
          </p:nvCxnSpPr>
          <p:spPr>
            <a:xfrm flipH="1">
              <a:off x="1921265" y="2764442"/>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标题 1"/>
          <p:cNvSpPr>
            <a:spLocks noGrp="1"/>
          </p:cNvSpPr>
          <p:nvPr>
            <p:ph type="title"/>
          </p:nvPr>
        </p:nvSpPr>
        <p:spPr/>
        <p:txBody>
          <a:bodyPr/>
          <a:lstStyle/>
          <a:p>
            <a:r>
              <a:rPr lang="zh-CN" altLang="en-US">
                <a:sym typeface="Huawei Sans" panose="020C0503030203020204" pitchFamily="34" charset="0"/>
              </a:rPr>
              <a:t>二层环路带来的问题</a:t>
            </a:r>
          </a:p>
        </p:txBody>
      </p:sp>
      <p:cxnSp>
        <p:nvCxnSpPr>
          <p:cNvPr id="32" name="直接箭头连接符 31"/>
          <p:cNvCxnSpPr/>
          <p:nvPr/>
        </p:nvCxnSpPr>
        <p:spPr>
          <a:xfrm flipV="1">
            <a:off x="3337894" y="4299461"/>
            <a:ext cx="0" cy="572195"/>
          </a:xfrm>
          <a:prstGeom prst="straightConnector1">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3179676" y="6184688"/>
            <a:ext cx="5832648" cy="276999"/>
          </a:xfrm>
          <a:prstGeom prst="rect">
            <a:avLst/>
          </a:prstGeom>
          <a:noFill/>
        </p:spPr>
        <p:txBody>
          <a:bodyPr wrap="square" rtlCol="0">
            <a:spAutoFit/>
          </a:bodyPr>
          <a:lstStyle/>
          <a:p>
            <a:pPr fontAlgn="auto">
              <a:spcBef>
                <a:spcPts val="0"/>
              </a:spcBef>
              <a:spcAft>
                <a:spcPts val="0"/>
              </a:spcAft>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BUM</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帧（</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Broadcast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Unknown unicast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Multicast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）指定广播、未知单播及组播帧</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a:xfrm>
            <a:off x="3338750" y="4366144"/>
            <a:ext cx="859442" cy="338554"/>
          </a:xfrm>
          <a:prstGeom prst="rect">
            <a:avLst/>
          </a:prstGeom>
          <a:noFill/>
        </p:spPr>
        <p:txBody>
          <a:bodyPr wrap="squar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BUM</a:t>
            </a:r>
            <a:r>
              <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帧</a:t>
            </a:r>
            <a:endPar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7" name="直接箭头连接符 36"/>
          <p:cNvCxnSpPr/>
          <p:nvPr/>
        </p:nvCxnSpPr>
        <p:spPr>
          <a:xfrm flipH="1" flipV="1">
            <a:off x="2578203" y="3132811"/>
            <a:ext cx="577900" cy="585536"/>
          </a:xfrm>
          <a:prstGeom prst="straightConnector1">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V="1">
            <a:off x="3531516" y="3060803"/>
            <a:ext cx="581902" cy="615649"/>
          </a:xfrm>
          <a:prstGeom prst="straightConnector1">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1942195" y="2175343"/>
            <a:ext cx="861042" cy="0"/>
          </a:xfrm>
          <a:prstGeom prst="straightConnector1">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H="1">
            <a:off x="3748301" y="2529316"/>
            <a:ext cx="855385" cy="0"/>
          </a:xfrm>
          <a:prstGeom prst="straightConnector1">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48" name="椭圆 47"/>
          <p:cNvSpPr>
            <a:spLocks noChangeAspect="1"/>
          </p:cNvSpPr>
          <p:nvPr/>
        </p:nvSpPr>
        <p:spPr>
          <a:xfrm>
            <a:off x="3244922" y="4693819"/>
            <a:ext cx="211345" cy="21134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椭圆 48"/>
          <p:cNvSpPr>
            <a:spLocks noChangeAspect="1"/>
          </p:cNvSpPr>
          <p:nvPr/>
        </p:nvSpPr>
        <p:spPr>
          <a:xfrm>
            <a:off x="2991329" y="3541841"/>
            <a:ext cx="211345" cy="21134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椭圆 49"/>
          <p:cNvSpPr>
            <a:spLocks noChangeAspect="1"/>
          </p:cNvSpPr>
          <p:nvPr/>
        </p:nvSpPr>
        <p:spPr>
          <a:xfrm>
            <a:off x="3445669" y="3541841"/>
            <a:ext cx="211345" cy="21134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椭圆 50"/>
          <p:cNvSpPr>
            <a:spLocks noChangeAspect="1"/>
          </p:cNvSpPr>
          <p:nvPr/>
        </p:nvSpPr>
        <p:spPr>
          <a:xfrm>
            <a:off x="1852340" y="2059410"/>
            <a:ext cx="211345" cy="21134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椭圆 51"/>
          <p:cNvSpPr>
            <a:spLocks noChangeAspect="1"/>
          </p:cNvSpPr>
          <p:nvPr/>
        </p:nvSpPr>
        <p:spPr>
          <a:xfrm>
            <a:off x="4447213" y="2423644"/>
            <a:ext cx="211345" cy="21134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3" name="直接箭头连接符 52"/>
          <p:cNvCxnSpPr/>
          <p:nvPr/>
        </p:nvCxnSpPr>
        <p:spPr>
          <a:xfrm flipH="1">
            <a:off x="4381828" y="2733818"/>
            <a:ext cx="528425" cy="557336"/>
          </a:xfrm>
          <a:prstGeom prst="straightConnector1">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55" name="椭圆 54"/>
          <p:cNvSpPr>
            <a:spLocks noChangeAspect="1"/>
          </p:cNvSpPr>
          <p:nvPr/>
        </p:nvSpPr>
        <p:spPr>
          <a:xfrm>
            <a:off x="4781366" y="2665876"/>
            <a:ext cx="211345" cy="21134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椭圆 55"/>
          <p:cNvSpPr>
            <a:spLocks noChangeAspect="1"/>
          </p:cNvSpPr>
          <p:nvPr/>
        </p:nvSpPr>
        <p:spPr>
          <a:xfrm>
            <a:off x="1590443" y="2628087"/>
            <a:ext cx="211345" cy="21134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75"/>
          <p:cNvSpPr/>
          <p:nvPr/>
        </p:nvSpPr>
        <p:spPr>
          <a:xfrm>
            <a:off x="6134472" y="1432846"/>
            <a:ext cx="5532980" cy="39600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典型问题</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地址漂移</a:t>
            </a:r>
          </a:p>
        </p:txBody>
      </p:sp>
      <p:sp>
        <p:nvSpPr>
          <p:cNvPr id="47" name="圆角矩形 75"/>
          <p:cNvSpPr/>
          <p:nvPr/>
        </p:nvSpPr>
        <p:spPr>
          <a:xfrm>
            <a:off x="524549" y="1434637"/>
            <a:ext cx="5532980" cy="39600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典型问题</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：广播风暴</a:t>
            </a:r>
          </a:p>
        </p:txBody>
      </p:sp>
      <p:sp>
        <p:nvSpPr>
          <p:cNvPr id="54" name="圆角矩形 75"/>
          <p:cNvSpPr/>
          <p:nvPr/>
        </p:nvSpPr>
        <p:spPr>
          <a:xfrm>
            <a:off x="6134472" y="1874414"/>
            <a:ext cx="5532980" cy="421888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8" name="圆角矩形 75"/>
          <p:cNvSpPr/>
          <p:nvPr/>
        </p:nvSpPr>
        <p:spPr>
          <a:xfrm>
            <a:off x="524549" y="1874414"/>
            <a:ext cx="5532980" cy="421888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4" name="组合 3"/>
          <p:cNvGrpSpPr/>
          <p:nvPr/>
        </p:nvGrpSpPr>
        <p:grpSpPr>
          <a:xfrm>
            <a:off x="1297756" y="2130456"/>
            <a:ext cx="4022450" cy="2131812"/>
            <a:chOff x="1163953" y="2534657"/>
            <a:chExt cx="4022450" cy="2131812"/>
          </a:xfrm>
        </p:grpSpPr>
        <p:pic>
          <p:nvPicPr>
            <p:cNvPr id="59" name="图片 76" descr="接入交换机.png"/>
            <p:cNvPicPr>
              <a:picLocks noChangeAspect="1"/>
            </p:cNvPicPr>
            <p:nvPr/>
          </p:nvPicPr>
          <p:blipFill>
            <a:blip r:embed="rId3" cstate="print"/>
            <a:stretch>
              <a:fillRect/>
            </a:stretch>
          </p:blipFill>
          <p:spPr>
            <a:xfrm>
              <a:off x="1163953" y="2534657"/>
              <a:ext cx="490909" cy="401653"/>
            </a:xfrm>
            <a:prstGeom prst="rect">
              <a:avLst/>
            </a:prstGeom>
          </p:spPr>
        </p:pic>
        <p:pic>
          <p:nvPicPr>
            <p:cNvPr id="67" name="图片 76" descr="接入交换机.png"/>
            <p:cNvPicPr>
              <a:picLocks noChangeAspect="1"/>
            </p:cNvPicPr>
            <p:nvPr/>
          </p:nvPicPr>
          <p:blipFill>
            <a:blip r:embed="rId3" cstate="print"/>
            <a:stretch>
              <a:fillRect/>
            </a:stretch>
          </p:blipFill>
          <p:spPr>
            <a:xfrm>
              <a:off x="4695494" y="2534657"/>
              <a:ext cx="490909" cy="401653"/>
            </a:xfrm>
            <a:prstGeom prst="rect">
              <a:avLst/>
            </a:prstGeom>
          </p:spPr>
        </p:pic>
        <p:pic>
          <p:nvPicPr>
            <p:cNvPr id="68" name="图片 76" descr="接入交换机.png"/>
            <p:cNvPicPr>
              <a:picLocks noChangeAspect="1"/>
            </p:cNvPicPr>
            <p:nvPr/>
          </p:nvPicPr>
          <p:blipFill>
            <a:blip r:embed="rId3" cstate="print"/>
            <a:stretch>
              <a:fillRect/>
            </a:stretch>
          </p:blipFill>
          <p:spPr>
            <a:xfrm>
              <a:off x="2929723" y="4264816"/>
              <a:ext cx="490909" cy="401653"/>
            </a:xfrm>
            <a:prstGeom prst="rect">
              <a:avLst/>
            </a:prstGeom>
          </p:spPr>
        </p:pic>
      </p:grpSp>
      <p:sp>
        <p:nvSpPr>
          <p:cNvPr id="16" name="矩形 15"/>
          <p:cNvSpPr/>
          <p:nvPr/>
        </p:nvSpPr>
        <p:spPr>
          <a:xfrm>
            <a:off x="807756" y="5066054"/>
            <a:ext cx="5085676" cy="978729"/>
          </a:xfrm>
          <a:prstGeom prst="rect">
            <a:avLst/>
          </a:prstGeom>
        </p:spPr>
        <p:txBody>
          <a:bodyPr wrap="square">
            <a:spAutoFit/>
          </a:bodyPr>
          <a:lstStyle/>
          <a:p>
            <a:pPr fontAlgn="auto">
              <a:lnSpc>
                <a:spcPct val="120000"/>
              </a:lnSpc>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收到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BUM</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帧后将其进行泛洪，</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收到后进一步泛洪，如此反复，最终导致整个网络资源被耗尽，网络瘫痪不可用。</a:t>
            </a:r>
          </a:p>
        </p:txBody>
      </p:sp>
      <p:sp>
        <p:nvSpPr>
          <p:cNvPr id="69" name="文本框 68"/>
          <p:cNvSpPr txBox="1"/>
          <p:nvPr/>
        </p:nvSpPr>
        <p:spPr>
          <a:xfrm>
            <a:off x="682838" y="2145746"/>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文本框 69"/>
          <p:cNvSpPr txBox="1"/>
          <p:nvPr/>
        </p:nvSpPr>
        <p:spPr>
          <a:xfrm>
            <a:off x="5313629" y="2145746"/>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70"/>
          <p:cNvSpPr txBox="1"/>
          <p:nvPr/>
        </p:nvSpPr>
        <p:spPr>
          <a:xfrm>
            <a:off x="3561907" y="3875357"/>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3" name="组合 72"/>
          <p:cNvGrpSpPr/>
          <p:nvPr/>
        </p:nvGrpSpPr>
        <p:grpSpPr>
          <a:xfrm>
            <a:off x="7056497" y="2360241"/>
            <a:ext cx="3625179" cy="1759759"/>
            <a:chOff x="1921265" y="2764442"/>
            <a:chExt cx="3013742" cy="1759759"/>
          </a:xfrm>
        </p:grpSpPr>
        <p:grpSp>
          <p:nvGrpSpPr>
            <p:cNvPr id="74" name="组合 73"/>
            <p:cNvGrpSpPr/>
            <p:nvPr/>
          </p:nvGrpSpPr>
          <p:grpSpPr>
            <a:xfrm flipV="1">
              <a:off x="2055321" y="2825128"/>
              <a:ext cx="2745630" cy="1699073"/>
              <a:chOff x="6600056" y="4353447"/>
              <a:chExt cx="1296144" cy="833967"/>
            </a:xfrm>
          </p:grpSpPr>
          <p:cxnSp>
            <p:nvCxnSpPr>
              <p:cNvPr id="76" name="直接连接符 75"/>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5" name="直接连接符 74"/>
            <p:cNvCxnSpPr/>
            <p:nvPr/>
          </p:nvCxnSpPr>
          <p:spPr>
            <a:xfrm flipH="1">
              <a:off x="1921265" y="2764442"/>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8" name="直接箭头连接符 77"/>
          <p:cNvCxnSpPr/>
          <p:nvPr/>
        </p:nvCxnSpPr>
        <p:spPr>
          <a:xfrm flipV="1">
            <a:off x="8897999" y="4299461"/>
            <a:ext cx="0" cy="572195"/>
          </a:xfrm>
          <a:prstGeom prst="straightConnector1">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9053178" y="4299461"/>
            <a:ext cx="2633749" cy="584775"/>
          </a:xfrm>
          <a:prstGeom prst="rect">
            <a:avLst/>
          </a:prstGeom>
          <a:noFill/>
        </p:spPr>
        <p:txBody>
          <a:bodyPr wrap="squar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BUM</a:t>
            </a:r>
            <a:r>
              <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帧</a:t>
            </a:r>
          </a:p>
          <a:p>
            <a:pPr fontAlgn="auto">
              <a:spcBef>
                <a:spcPts val="0"/>
              </a:spcBef>
              <a:spcAft>
                <a:spcPts val="0"/>
              </a:spcAft>
            </a:pP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5489-98EE-788A</a:t>
            </a:r>
          </a:p>
        </p:txBody>
      </p:sp>
      <p:sp>
        <p:nvSpPr>
          <p:cNvPr id="92" name="椭圆 91"/>
          <p:cNvSpPr>
            <a:spLocks noChangeAspect="1"/>
          </p:cNvSpPr>
          <p:nvPr/>
        </p:nvSpPr>
        <p:spPr>
          <a:xfrm>
            <a:off x="8805027" y="4693819"/>
            <a:ext cx="211345" cy="21134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00" name="组合 99"/>
          <p:cNvGrpSpPr/>
          <p:nvPr/>
        </p:nvGrpSpPr>
        <p:grpSpPr>
          <a:xfrm>
            <a:off x="6857861" y="2130456"/>
            <a:ext cx="4022450" cy="2131812"/>
            <a:chOff x="1163953" y="2534657"/>
            <a:chExt cx="4022450" cy="2131812"/>
          </a:xfrm>
        </p:grpSpPr>
        <p:pic>
          <p:nvPicPr>
            <p:cNvPr id="101" name="图片 76" descr="接入交换机.png"/>
            <p:cNvPicPr>
              <a:picLocks noChangeAspect="1"/>
            </p:cNvPicPr>
            <p:nvPr/>
          </p:nvPicPr>
          <p:blipFill>
            <a:blip r:embed="rId3" cstate="print"/>
            <a:stretch>
              <a:fillRect/>
            </a:stretch>
          </p:blipFill>
          <p:spPr>
            <a:xfrm>
              <a:off x="1163953" y="2534657"/>
              <a:ext cx="490909" cy="401653"/>
            </a:xfrm>
            <a:prstGeom prst="rect">
              <a:avLst/>
            </a:prstGeom>
          </p:spPr>
        </p:pic>
        <p:pic>
          <p:nvPicPr>
            <p:cNvPr id="102" name="图片 76" descr="接入交换机.png"/>
            <p:cNvPicPr>
              <a:picLocks noChangeAspect="1"/>
            </p:cNvPicPr>
            <p:nvPr/>
          </p:nvPicPr>
          <p:blipFill>
            <a:blip r:embed="rId3" cstate="print"/>
            <a:stretch>
              <a:fillRect/>
            </a:stretch>
          </p:blipFill>
          <p:spPr>
            <a:xfrm>
              <a:off x="4695494" y="2534657"/>
              <a:ext cx="490909" cy="401653"/>
            </a:xfrm>
            <a:prstGeom prst="rect">
              <a:avLst/>
            </a:prstGeom>
          </p:spPr>
        </p:pic>
        <p:pic>
          <p:nvPicPr>
            <p:cNvPr id="103" name="图片 76" descr="接入交换机.png"/>
            <p:cNvPicPr>
              <a:picLocks noChangeAspect="1"/>
            </p:cNvPicPr>
            <p:nvPr/>
          </p:nvPicPr>
          <p:blipFill>
            <a:blip r:embed="rId3" cstate="print"/>
            <a:stretch>
              <a:fillRect/>
            </a:stretch>
          </p:blipFill>
          <p:spPr>
            <a:xfrm>
              <a:off x="2929723" y="4264816"/>
              <a:ext cx="490909" cy="401653"/>
            </a:xfrm>
            <a:prstGeom prst="rect">
              <a:avLst/>
            </a:prstGeom>
          </p:spPr>
        </p:pic>
      </p:grpSp>
      <p:sp>
        <p:nvSpPr>
          <p:cNvPr id="104" name="文本框 103"/>
          <p:cNvSpPr txBox="1"/>
          <p:nvPr/>
        </p:nvSpPr>
        <p:spPr>
          <a:xfrm>
            <a:off x="6217816" y="2145746"/>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文本框 104"/>
          <p:cNvSpPr txBox="1"/>
          <p:nvPr/>
        </p:nvSpPr>
        <p:spPr>
          <a:xfrm>
            <a:off x="10913049" y="2145746"/>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文本框 105"/>
          <p:cNvSpPr txBox="1"/>
          <p:nvPr/>
        </p:nvSpPr>
        <p:spPr>
          <a:xfrm>
            <a:off x="9122012" y="3875357"/>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任意多边形 106"/>
          <p:cNvSpPr/>
          <p:nvPr/>
        </p:nvSpPr>
        <p:spPr>
          <a:xfrm>
            <a:off x="8509199" y="2687304"/>
            <a:ext cx="1303020" cy="670560"/>
          </a:xfrm>
          <a:custGeom>
            <a:avLst/>
            <a:gdLst>
              <a:gd name="connsiteX0" fmla="*/ 746760 w 1303020"/>
              <a:gd name="connsiteY0" fmla="*/ 670560 h 670560"/>
              <a:gd name="connsiteX1" fmla="*/ 1303020 w 1303020"/>
              <a:gd name="connsiteY1" fmla="*/ 0 h 670560"/>
              <a:gd name="connsiteX2" fmla="*/ 0 w 1303020"/>
              <a:gd name="connsiteY2" fmla="*/ 0 h 670560"/>
              <a:gd name="connsiteX3" fmla="*/ 403860 w 1303020"/>
              <a:gd name="connsiteY3" fmla="*/ 525780 h 670560"/>
              <a:gd name="connsiteX0-1" fmla="*/ 746760 w 1303020"/>
              <a:gd name="connsiteY0-2" fmla="*/ 670560 h 670560"/>
              <a:gd name="connsiteX1-3" fmla="*/ 1303020 w 1303020"/>
              <a:gd name="connsiteY1-4" fmla="*/ 0 h 670560"/>
              <a:gd name="connsiteX2-5" fmla="*/ 0 w 1303020"/>
              <a:gd name="connsiteY2-6" fmla="*/ 0 h 670560"/>
            </a:gdLst>
            <a:ahLst/>
            <a:cxnLst>
              <a:cxn ang="0">
                <a:pos x="connsiteX0-1" y="connsiteY0-2"/>
              </a:cxn>
              <a:cxn ang="0">
                <a:pos x="connsiteX1-3" y="connsiteY1-4"/>
              </a:cxn>
              <a:cxn ang="0">
                <a:pos x="connsiteX2-5" y="connsiteY2-6"/>
              </a:cxn>
            </a:cxnLst>
            <a:rect l="l" t="t" r="r" b="b"/>
            <a:pathLst>
              <a:path w="1303020" h="670560">
                <a:moveTo>
                  <a:pt x="746760" y="670560"/>
                </a:moveTo>
                <a:lnTo>
                  <a:pt x="1303020" y="0"/>
                </a:lnTo>
                <a:lnTo>
                  <a:pt x="0" y="0"/>
                </a:lnTo>
              </a:path>
            </a:pathLst>
          </a:cu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文本框 107"/>
          <p:cNvSpPr txBox="1"/>
          <p:nvPr/>
        </p:nvSpPr>
        <p:spPr>
          <a:xfrm rot="2881122">
            <a:off x="6956583" y="2680530"/>
            <a:ext cx="851515" cy="307777"/>
          </a:xfrm>
          <a:prstGeom prst="rect">
            <a:avLst/>
          </a:prstGeom>
          <a:noFill/>
        </p:spPr>
        <p:txBody>
          <a:bodyPr wrap="none" rtlCol="0">
            <a:spAutoFit/>
          </a:bodyPr>
          <a:lstStyle/>
          <a:p>
            <a:pPr fontAlgn="auto">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文本框 108"/>
          <p:cNvSpPr txBox="1"/>
          <p:nvPr/>
        </p:nvSpPr>
        <p:spPr>
          <a:xfrm>
            <a:off x="7359549" y="2077090"/>
            <a:ext cx="851515" cy="307777"/>
          </a:xfrm>
          <a:prstGeom prst="rect">
            <a:avLst/>
          </a:prstGeom>
          <a:noFill/>
        </p:spPr>
        <p:txBody>
          <a:bodyPr wrap="none" rtlCol="0">
            <a:spAutoFit/>
          </a:bodyPr>
          <a:lstStyle/>
          <a:p>
            <a:pPr fontAlgn="auto">
              <a:spcBef>
                <a:spcPts val="0"/>
              </a:spcBef>
              <a:spcAft>
                <a:spcPts val="0"/>
              </a:spcAft>
            </a:pPr>
            <a:r>
              <a:rPr lang="en-US" altLang="zh-CN" sz="14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4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矩形 109"/>
          <p:cNvSpPr/>
          <p:nvPr/>
        </p:nvSpPr>
        <p:spPr>
          <a:xfrm>
            <a:off x="6144209" y="5066054"/>
            <a:ext cx="5532980" cy="683264"/>
          </a:xfrm>
          <a:prstGeom prst="rect">
            <a:avLst/>
          </a:prstGeom>
        </p:spPr>
        <p:txBody>
          <a:bodyPr wrap="square">
            <a:spAutoFit/>
          </a:bodyPr>
          <a:lstStyle/>
          <a:p>
            <a:pPr fontAlgn="auto">
              <a:lnSpc>
                <a:spcPct val="120000"/>
              </a:lnSpc>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为例，</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5489-98EE-788A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会不断地在</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接口之间来回切换，这被称为</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地址漂移现象。</a:t>
            </a:r>
          </a:p>
        </p:txBody>
      </p:sp>
      <p:cxnSp>
        <p:nvCxnSpPr>
          <p:cNvPr id="60" name="直接箭头连接符 59"/>
          <p:cNvCxnSpPr/>
          <p:nvPr/>
        </p:nvCxnSpPr>
        <p:spPr>
          <a:xfrm flipH="1" flipV="1">
            <a:off x="7722058" y="2687304"/>
            <a:ext cx="1023785" cy="1037313"/>
          </a:xfrm>
          <a:prstGeom prst="straightConnector1">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初识生成树协议</a:t>
            </a:r>
            <a:endParaRPr lang="zh-CN" altLang="en-US" dirty="0">
              <a:sym typeface="Huawei Sans" panose="020C0503030203020204" pitchFamily="34" charset="0"/>
            </a:endParaRPr>
          </a:p>
        </p:txBody>
      </p:sp>
      <p:sp>
        <p:nvSpPr>
          <p:cNvPr id="19" name="TextBox 18"/>
          <p:cNvSpPr txBox="1"/>
          <p:nvPr/>
        </p:nvSpPr>
        <p:spPr>
          <a:xfrm>
            <a:off x="812801" y="4977172"/>
            <a:ext cx="10566400" cy="792396"/>
          </a:xfrm>
          <a:prstGeom prst="rect">
            <a:avLst/>
          </a:prstGeom>
          <a:noFill/>
        </p:spPr>
        <p:txBody>
          <a:bodyPr wrap="square" rtlCol="0">
            <a:spAutoFit/>
          </a:bodyPr>
          <a:lstStyle/>
          <a:p>
            <a:pPr fontAlgn="auto">
              <a:lnSpc>
                <a:spcPct val="150000"/>
              </a:lnSpc>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在网络中部署生成树后，交换机之间会进行生成树协议报文的交互并进行无环拓扑计算，最终将网络中的某个（或某些）接口进行阻塞（</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Block</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），从而打破环路。</a:t>
            </a:r>
          </a:p>
        </p:txBody>
      </p:sp>
      <p:cxnSp>
        <p:nvCxnSpPr>
          <p:cNvPr id="30" name="直接箭头连接符 29"/>
          <p:cNvCxnSpPr/>
          <p:nvPr/>
        </p:nvCxnSpPr>
        <p:spPr>
          <a:xfrm>
            <a:off x="2275827" y="2807956"/>
            <a:ext cx="453933" cy="58855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nvGrpSpPr>
          <p:cNvPr id="31" name="组合 30"/>
          <p:cNvGrpSpPr/>
          <p:nvPr/>
        </p:nvGrpSpPr>
        <p:grpSpPr>
          <a:xfrm flipV="1">
            <a:off x="2184917" y="2431418"/>
            <a:ext cx="2745630" cy="1699073"/>
            <a:chOff x="6600056" y="4353447"/>
            <a:chExt cx="1296144" cy="833967"/>
          </a:xfrm>
        </p:grpSpPr>
        <p:cxnSp>
          <p:nvCxnSpPr>
            <p:cNvPr id="33" name="直接连接符 32"/>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直接连接符 34"/>
          <p:cNvCxnSpPr/>
          <p:nvPr/>
        </p:nvCxnSpPr>
        <p:spPr>
          <a:xfrm flipH="1">
            <a:off x="2061532" y="2370732"/>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H="1" flipV="1">
            <a:off x="2862790" y="2983239"/>
            <a:ext cx="494145" cy="601237"/>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flipV="1">
            <a:off x="3770491" y="2950157"/>
            <a:ext cx="496323" cy="632613"/>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a:off x="2614389" y="2182006"/>
            <a:ext cx="861042"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H="1">
            <a:off x="3729365" y="2521386"/>
            <a:ext cx="855385" cy="0"/>
          </a:xfrm>
          <a:prstGeom prst="straightConnector1">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51" name="椭圆 50"/>
          <p:cNvSpPr>
            <a:spLocks noChangeAspect="1"/>
          </p:cNvSpPr>
          <p:nvPr/>
        </p:nvSpPr>
        <p:spPr>
          <a:xfrm>
            <a:off x="3226966" y="3444350"/>
            <a:ext cx="211345" cy="211345"/>
          </a:xfrm>
          <a:prstGeom prst="ellipse">
            <a:avLst/>
          </a:prstGeom>
          <a:solidFill>
            <a:schemeClr val="bg1"/>
          </a:solidFill>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wrap="none" lIns="0" tIns="0" rIns="0" bIns="0" rtlCol="0" anchor="ctr"/>
          <a:lstStyle/>
          <a:p>
            <a:pPr algn="ct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椭圆 51"/>
          <p:cNvSpPr>
            <a:spLocks noChangeAspect="1"/>
          </p:cNvSpPr>
          <p:nvPr/>
        </p:nvSpPr>
        <p:spPr>
          <a:xfrm>
            <a:off x="3697376" y="3442894"/>
            <a:ext cx="211345" cy="211345"/>
          </a:xfrm>
          <a:prstGeom prst="ellipse">
            <a:avLst/>
          </a:prstGeom>
          <a:solidFill>
            <a:schemeClr val="bg1"/>
          </a:solidFill>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wrap="none" lIns="0" tIns="0" rIns="0" bIns="0" rtlCol="0" anchor="ctr"/>
          <a:lstStyle/>
          <a:p>
            <a:pPr algn="ct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椭圆 52"/>
          <p:cNvSpPr>
            <a:spLocks noChangeAspect="1"/>
          </p:cNvSpPr>
          <p:nvPr/>
        </p:nvSpPr>
        <p:spPr>
          <a:xfrm>
            <a:off x="2524534" y="2066073"/>
            <a:ext cx="211345" cy="211345"/>
          </a:xfrm>
          <a:prstGeom prst="ellipse">
            <a:avLst/>
          </a:prstGeom>
          <a:solidFill>
            <a:schemeClr val="bg1"/>
          </a:solidFill>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wrap="none" lIns="0" tIns="0" rIns="0" bIns="0" rtlCol="0" anchor="ctr"/>
          <a:lstStyle/>
          <a:p>
            <a:pPr algn="ct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椭圆 53"/>
          <p:cNvSpPr>
            <a:spLocks noChangeAspect="1"/>
          </p:cNvSpPr>
          <p:nvPr/>
        </p:nvSpPr>
        <p:spPr>
          <a:xfrm>
            <a:off x="4428277" y="2441247"/>
            <a:ext cx="211345" cy="211345"/>
          </a:xfrm>
          <a:prstGeom prst="ellipse">
            <a:avLst/>
          </a:prstGeom>
          <a:solidFill>
            <a:schemeClr val="bg1"/>
          </a:solidFill>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wrap="none" lIns="0" tIns="0" rIns="0" bIns="0" rtlCol="0" anchor="ctr"/>
          <a:lstStyle/>
          <a:p>
            <a:pPr algn="ct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5" name="直接箭头连接符 54"/>
          <p:cNvCxnSpPr/>
          <p:nvPr/>
        </p:nvCxnSpPr>
        <p:spPr>
          <a:xfrm flipH="1">
            <a:off x="4465117" y="2710506"/>
            <a:ext cx="464948" cy="58855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56" name="椭圆 55"/>
          <p:cNvSpPr>
            <a:spLocks noChangeAspect="1"/>
          </p:cNvSpPr>
          <p:nvPr/>
        </p:nvSpPr>
        <p:spPr>
          <a:xfrm>
            <a:off x="4787830" y="2676367"/>
            <a:ext cx="211345" cy="211345"/>
          </a:xfrm>
          <a:prstGeom prst="ellipse">
            <a:avLst/>
          </a:prstGeom>
          <a:solidFill>
            <a:schemeClr val="bg1"/>
          </a:solidFill>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wrap="none" lIns="0" tIns="0" rIns="0" bIns="0" rtlCol="0" anchor="ctr"/>
          <a:lstStyle/>
          <a:p>
            <a:pPr algn="ct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椭圆 56"/>
          <p:cNvSpPr>
            <a:spLocks noChangeAspect="1"/>
          </p:cNvSpPr>
          <p:nvPr/>
        </p:nvSpPr>
        <p:spPr>
          <a:xfrm>
            <a:off x="2161830" y="2714467"/>
            <a:ext cx="211345" cy="211345"/>
          </a:xfrm>
          <a:prstGeom prst="ellipse">
            <a:avLst/>
          </a:prstGeom>
          <a:solidFill>
            <a:schemeClr val="bg1"/>
          </a:solidFill>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TextBox 18"/>
          <p:cNvSpPr txBox="1"/>
          <p:nvPr/>
        </p:nvSpPr>
        <p:spPr>
          <a:xfrm>
            <a:off x="1170000" y="1791681"/>
            <a:ext cx="1341834" cy="255015"/>
          </a:xfrm>
          <a:prstGeom prst="roundRect">
            <a:avLst>
              <a:gd name="adj" fmla="val 0"/>
            </a:avLst>
          </a:prstGeom>
          <a:solidFill>
            <a:srgbClr val="00B0F0"/>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noAutofit/>
          </a:bodyPr>
          <a:lstStyle>
            <a:defPPr>
              <a:defRPr lang="en-US"/>
            </a:defPPr>
            <a:lvl1pPr algn="ctr">
              <a:defRPr sz="1400" kern="0">
                <a:solidFill>
                  <a:srgbClr val="FFFFFF"/>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运行生成树协议</a:t>
            </a:r>
          </a:p>
        </p:txBody>
      </p:sp>
      <p:sp>
        <p:nvSpPr>
          <p:cNvPr id="61" name="TextBox 18"/>
          <p:cNvSpPr txBox="1"/>
          <p:nvPr/>
        </p:nvSpPr>
        <p:spPr>
          <a:xfrm>
            <a:off x="4610150" y="1791681"/>
            <a:ext cx="1341834" cy="255015"/>
          </a:xfrm>
          <a:prstGeom prst="roundRect">
            <a:avLst>
              <a:gd name="adj" fmla="val 0"/>
            </a:avLst>
          </a:prstGeom>
          <a:solidFill>
            <a:srgbClr val="00B0F0"/>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noAutofit/>
          </a:bodyPr>
          <a:lstStyle>
            <a:defPPr>
              <a:defRPr lang="en-US"/>
            </a:defPPr>
            <a:lvl1pPr algn="ctr">
              <a:defRPr sz="1400" kern="0">
                <a:solidFill>
                  <a:srgbClr val="FFFFFF"/>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运行生成树协议</a:t>
            </a:r>
          </a:p>
        </p:txBody>
      </p:sp>
      <p:sp>
        <p:nvSpPr>
          <p:cNvPr id="62" name="TextBox 18"/>
          <p:cNvSpPr txBox="1"/>
          <p:nvPr/>
        </p:nvSpPr>
        <p:spPr>
          <a:xfrm>
            <a:off x="3005602" y="4636193"/>
            <a:ext cx="1341834" cy="255015"/>
          </a:xfrm>
          <a:prstGeom prst="roundRect">
            <a:avLst>
              <a:gd name="adj" fmla="val 0"/>
            </a:avLst>
          </a:prstGeom>
          <a:solidFill>
            <a:srgbClr val="00B0F0"/>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noAutofit/>
          </a:bodyPr>
          <a:lstStyle>
            <a:defPPr>
              <a:defRPr lang="en-US"/>
            </a:defPPr>
            <a:lvl1pPr algn="ctr">
              <a:defRPr sz="1600" kern="0">
                <a:solidFill>
                  <a:srgbClr val="FFFFFF"/>
                </a:solidFill>
                <a:latin typeface="Huawei Sans" panose="020C0503030203020204" pitchFamily="34" charset="0"/>
                <a:ea typeface="方正兰亭黑简体" panose="02000000000000000000" pitchFamily="2" charset="-122"/>
              </a:defRPr>
            </a:lvl1pPr>
          </a:lstStyle>
          <a:p>
            <a:r>
              <a:rPr lang="zh-CN" altLang="en-US" sz="1400" dirty="0">
                <a:sym typeface="Huawei Sans" panose="020C0503030203020204" pitchFamily="34" charset="0"/>
              </a:rPr>
              <a:t>运行生成树协议</a:t>
            </a:r>
          </a:p>
        </p:txBody>
      </p:sp>
      <p:sp>
        <p:nvSpPr>
          <p:cNvPr id="63" name="椭圆 62"/>
          <p:cNvSpPr>
            <a:spLocks noChangeAspect="1"/>
          </p:cNvSpPr>
          <p:nvPr/>
        </p:nvSpPr>
        <p:spPr>
          <a:xfrm>
            <a:off x="1170000" y="4118350"/>
            <a:ext cx="211345" cy="211345"/>
          </a:xfrm>
          <a:prstGeom prst="ellipse">
            <a:avLst/>
          </a:prstGeom>
          <a:solidFill>
            <a:schemeClr val="bg1"/>
          </a:solidFill>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txBody>
          <a:bodyPr wrap="none" lIns="0" tIns="0" rIns="0" bIns="0" rtlCol="0" anchor="ctr"/>
          <a:lstStyle/>
          <a:p>
            <a:pPr algn="ct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63"/>
          <p:cNvSpPr txBox="1"/>
          <p:nvPr/>
        </p:nvSpPr>
        <p:spPr>
          <a:xfrm>
            <a:off x="1414779" y="4070134"/>
            <a:ext cx="1527860"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生成树协议报文</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圆角矩形 67"/>
          <p:cNvSpPr/>
          <p:nvPr/>
        </p:nvSpPr>
        <p:spPr>
          <a:xfrm>
            <a:off x="6922435" y="2287893"/>
            <a:ext cx="936104" cy="556234"/>
          </a:xfrm>
          <a:prstGeom prst="roundRect">
            <a:avLst>
              <a:gd name="adj" fmla="val 1500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SW1</a:t>
            </a:r>
          </a:p>
          <a:p>
            <a:pPr algn="ct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（树根）</a:t>
            </a:r>
          </a:p>
        </p:txBody>
      </p:sp>
      <p:sp>
        <p:nvSpPr>
          <p:cNvPr id="69" name="文本框 68"/>
          <p:cNvSpPr txBox="1"/>
          <p:nvPr/>
        </p:nvSpPr>
        <p:spPr>
          <a:xfrm>
            <a:off x="1220717" y="2202354"/>
            <a:ext cx="628698" cy="338554"/>
          </a:xfrm>
          <a:prstGeom prst="rect">
            <a:avLst/>
          </a:prstGeom>
          <a:noFill/>
        </p:spPr>
        <p:txBody>
          <a:bodyPr wrap="none" rtlCol="0">
            <a:spAutoFit/>
          </a:bodyPr>
          <a:lstStyle/>
          <a:p>
            <a:pPr algn="ct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文本框 69"/>
          <p:cNvSpPr txBox="1"/>
          <p:nvPr/>
        </p:nvSpPr>
        <p:spPr>
          <a:xfrm>
            <a:off x="5285199" y="2202354"/>
            <a:ext cx="628698" cy="338554"/>
          </a:xfrm>
          <a:prstGeom prst="rect">
            <a:avLst/>
          </a:prstGeom>
          <a:noFill/>
        </p:spPr>
        <p:txBody>
          <a:bodyPr wrap="none" rtlCol="0">
            <a:spAutoFit/>
          </a:bodyPr>
          <a:lstStyle/>
          <a:p>
            <a:pPr algn="ct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70"/>
          <p:cNvSpPr txBox="1"/>
          <p:nvPr/>
        </p:nvSpPr>
        <p:spPr>
          <a:xfrm>
            <a:off x="3247564" y="4318225"/>
            <a:ext cx="628698" cy="338554"/>
          </a:xfrm>
          <a:prstGeom prst="rect">
            <a:avLst/>
          </a:prstGeom>
          <a:noFill/>
        </p:spPr>
        <p:txBody>
          <a:bodyPr wrap="none" rtlCol="0">
            <a:spAutoFit/>
          </a:bodyPr>
          <a:lstStyle/>
          <a:p>
            <a:pPr algn="ct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圆角矩形 71"/>
          <p:cNvSpPr/>
          <p:nvPr/>
        </p:nvSpPr>
        <p:spPr>
          <a:xfrm>
            <a:off x="9528279" y="2287893"/>
            <a:ext cx="936104" cy="556234"/>
          </a:xfrm>
          <a:prstGeom prst="roundRect">
            <a:avLst>
              <a:gd name="adj" fmla="val 1500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圆角矩形 72"/>
          <p:cNvSpPr/>
          <p:nvPr/>
        </p:nvSpPr>
        <p:spPr>
          <a:xfrm>
            <a:off x="8225357" y="3821677"/>
            <a:ext cx="936104" cy="556234"/>
          </a:xfrm>
          <a:prstGeom prst="roundRect">
            <a:avLst>
              <a:gd name="adj" fmla="val 15000"/>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4" name="直接连接符 73"/>
          <p:cNvCxnSpPr>
            <a:stCxn id="72" idx="1"/>
            <a:endCxn id="68" idx="3"/>
          </p:cNvCxnSpPr>
          <p:nvPr/>
        </p:nvCxnSpPr>
        <p:spPr>
          <a:xfrm flipH="1">
            <a:off x="7858539" y="2566010"/>
            <a:ext cx="166974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a:stCxn id="73" idx="1"/>
            <a:endCxn id="68" idx="2"/>
          </p:cNvCxnSpPr>
          <p:nvPr/>
        </p:nvCxnSpPr>
        <p:spPr>
          <a:xfrm flipH="1" flipV="1">
            <a:off x="7390487" y="2844127"/>
            <a:ext cx="834870" cy="12556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rot="18440749">
            <a:off x="8934968" y="3317543"/>
            <a:ext cx="1527860" cy="307777"/>
          </a:xfrm>
          <a:prstGeom prst="rect">
            <a:avLst/>
          </a:prstGeom>
          <a:noFill/>
        </p:spPr>
        <p:txBody>
          <a:bodyPr wrap="square" rtlCol="0">
            <a:spAutoFit/>
          </a:bodyPr>
          <a:lstStyle/>
          <a:p>
            <a:pPr algn="ctr" fontAlgn="auto">
              <a:spcBef>
                <a:spcPts val="0"/>
              </a:spcBef>
              <a:spcAft>
                <a:spcPts val="0"/>
              </a:spcAft>
            </a:pPr>
            <a:r>
              <a:rPr lang="zh-CN" altLang="en-US"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二层环路被打破</a:t>
            </a:r>
            <a:endPar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 name="组合 2"/>
          <p:cNvGrpSpPr/>
          <p:nvPr/>
        </p:nvGrpSpPr>
        <p:grpSpPr>
          <a:xfrm>
            <a:off x="1817594" y="2185188"/>
            <a:ext cx="3480277" cy="2052008"/>
            <a:chOff x="1899738" y="1861522"/>
            <a:chExt cx="3480277" cy="2052008"/>
          </a:xfrm>
        </p:grpSpPr>
        <p:pic>
          <p:nvPicPr>
            <p:cNvPr id="41" name="图片 76" descr="接入交换机.png"/>
            <p:cNvPicPr>
              <a:picLocks noChangeAspect="1"/>
            </p:cNvPicPr>
            <p:nvPr/>
          </p:nvPicPr>
          <p:blipFill>
            <a:blip r:embed="rId3" cstate="print"/>
            <a:stretch>
              <a:fillRect/>
            </a:stretch>
          </p:blipFill>
          <p:spPr>
            <a:xfrm>
              <a:off x="1899738" y="1861522"/>
              <a:ext cx="490909" cy="401653"/>
            </a:xfrm>
            <a:prstGeom prst="rect">
              <a:avLst/>
            </a:prstGeom>
          </p:spPr>
        </p:pic>
        <p:pic>
          <p:nvPicPr>
            <p:cNvPr id="44" name="图片 76" descr="接入交换机.png"/>
            <p:cNvPicPr>
              <a:picLocks noChangeAspect="1"/>
            </p:cNvPicPr>
            <p:nvPr/>
          </p:nvPicPr>
          <p:blipFill>
            <a:blip r:embed="rId3" cstate="print"/>
            <a:stretch>
              <a:fillRect/>
            </a:stretch>
          </p:blipFill>
          <p:spPr>
            <a:xfrm>
              <a:off x="4889106" y="1861522"/>
              <a:ext cx="490909" cy="401653"/>
            </a:xfrm>
            <a:prstGeom prst="rect">
              <a:avLst/>
            </a:prstGeom>
          </p:spPr>
        </p:pic>
        <p:pic>
          <p:nvPicPr>
            <p:cNvPr id="45" name="图片 76" descr="接入交换机.png"/>
            <p:cNvPicPr>
              <a:picLocks noChangeAspect="1"/>
            </p:cNvPicPr>
            <p:nvPr/>
          </p:nvPicPr>
          <p:blipFill>
            <a:blip r:embed="rId3" cstate="print"/>
            <a:stretch>
              <a:fillRect/>
            </a:stretch>
          </p:blipFill>
          <p:spPr>
            <a:xfrm>
              <a:off x="3394422" y="3511877"/>
              <a:ext cx="490909" cy="401653"/>
            </a:xfrm>
            <a:prstGeom prst="rect">
              <a:avLst/>
            </a:prstGeom>
          </p:spPr>
        </p:pic>
      </p:grpSp>
      <p:sp>
        <p:nvSpPr>
          <p:cNvPr id="59" name="下箭头 63"/>
          <p:cNvSpPr/>
          <p:nvPr/>
        </p:nvSpPr>
        <p:spPr>
          <a:xfrm rot="5400000" flipV="1">
            <a:off x="5651468" y="2970288"/>
            <a:ext cx="974244" cy="866024"/>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1" fmla="*/ 258884 w 1035535"/>
              <a:gd name="connsiteY0-2" fmla="*/ 0 h 794114"/>
              <a:gd name="connsiteX1-3" fmla="*/ 776651 w 1035535"/>
              <a:gd name="connsiteY1-4" fmla="*/ 0 h 794114"/>
              <a:gd name="connsiteX2-5" fmla="*/ 776651 w 1035535"/>
              <a:gd name="connsiteY2-6" fmla="*/ 468495 h 794114"/>
              <a:gd name="connsiteX3-7" fmla="*/ 1035535 w 1035535"/>
              <a:gd name="connsiteY3-8" fmla="*/ 468495 h 794114"/>
              <a:gd name="connsiteX4-9" fmla="*/ 517768 w 1035535"/>
              <a:gd name="connsiteY4-10" fmla="*/ 794114 h 794114"/>
              <a:gd name="connsiteX5-11" fmla="*/ 0 w 1035535"/>
              <a:gd name="connsiteY5-12" fmla="*/ 468495 h 794114"/>
              <a:gd name="connsiteX6-13" fmla="*/ 258884 w 1035535"/>
              <a:gd name="connsiteY6-14" fmla="*/ 468495 h 794114"/>
              <a:gd name="connsiteX7-15" fmla="*/ 350324 w 1035535"/>
              <a:gd name="connsiteY7-16" fmla="*/ 91440 h 794114"/>
              <a:gd name="connsiteX0-17" fmla="*/ 258884 w 1035535"/>
              <a:gd name="connsiteY0-18" fmla="*/ 0 h 794114"/>
              <a:gd name="connsiteX1-19" fmla="*/ 776651 w 1035535"/>
              <a:gd name="connsiteY1-20" fmla="*/ 468495 h 794114"/>
              <a:gd name="connsiteX2-21" fmla="*/ 1035535 w 1035535"/>
              <a:gd name="connsiteY2-22" fmla="*/ 468495 h 794114"/>
              <a:gd name="connsiteX3-23" fmla="*/ 517768 w 1035535"/>
              <a:gd name="connsiteY3-24" fmla="*/ 794114 h 794114"/>
              <a:gd name="connsiteX4-25" fmla="*/ 0 w 1035535"/>
              <a:gd name="connsiteY4-26" fmla="*/ 468495 h 794114"/>
              <a:gd name="connsiteX5-27" fmla="*/ 258884 w 1035535"/>
              <a:gd name="connsiteY5-28" fmla="*/ 468495 h 794114"/>
              <a:gd name="connsiteX6-29" fmla="*/ 350324 w 1035535"/>
              <a:gd name="connsiteY6-30" fmla="*/ 91440 h 794114"/>
              <a:gd name="connsiteX0-31" fmla="*/ 1016121 w 1035535"/>
              <a:gd name="connsiteY0-32" fmla="*/ 0 h 794114"/>
              <a:gd name="connsiteX1-33" fmla="*/ 776651 w 1035535"/>
              <a:gd name="connsiteY1-34" fmla="*/ 468495 h 794114"/>
              <a:gd name="connsiteX2-35" fmla="*/ 1035535 w 1035535"/>
              <a:gd name="connsiteY2-36" fmla="*/ 468495 h 794114"/>
              <a:gd name="connsiteX3-37" fmla="*/ 517768 w 1035535"/>
              <a:gd name="connsiteY3-38" fmla="*/ 794114 h 794114"/>
              <a:gd name="connsiteX4-39" fmla="*/ 0 w 1035535"/>
              <a:gd name="connsiteY4-40" fmla="*/ 468495 h 794114"/>
              <a:gd name="connsiteX5-41" fmla="*/ 258884 w 1035535"/>
              <a:gd name="connsiteY5-42" fmla="*/ 468495 h 794114"/>
              <a:gd name="connsiteX6-43" fmla="*/ 350324 w 1035535"/>
              <a:gd name="connsiteY6-44" fmla="*/ 91440 h 794114"/>
              <a:gd name="connsiteX0-45" fmla="*/ 1018222 w 1037636"/>
              <a:gd name="connsiteY0-46" fmla="*/ 0 h 794114"/>
              <a:gd name="connsiteX1-47" fmla="*/ 778752 w 1037636"/>
              <a:gd name="connsiteY1-48" fmla="*/ 468495 h 794114"/>
              <a:gd name="connsiteX2-49" fmla="*/ 1037636 w 1037636"/>
              <a:gd name="connsiteY2-50" fmla="*/ 468495 h 794114"/>
              <a:gd name="connsiteX3-51" fmla="*/ 519869 w 1037636"/>
              <a:gd name="connsiteY3-52" fmla="*/ 794114 h 794114"/>
              <a:gd name="connsiteX4-53" fmla="*/ 2101 w 1037636"/>
              <a:gd name="connsiteY4-54" fmla="*/ 468495 h 794114"/>
              <a:gd name="connsiteX5-55" fmla="*/ 260985 w 1037636"/>
              <a:gd name="connsiteY5-56" fmla="*/ 468495 h 794114"/>
              <a:gd name="connsiteX6-57" fmla="*/ 0 w 1037636"/>
              <a:gd name="connsiteY6-58" fmla="*/ 86678 h 794114"/>
              <a:gd name="connsiteX0-59" fmla="*/ 1027747 w 1047161"/>
              <a:gd name="connsiteY0-60" fmla="*/ 0 h 794114"/>
              <a:gd name="connsiteX1-61" fmla="*/ 788277 w 1047161"/>
              <a:gd name="connsiteY1-62" fmla="*/ 468495 h 794114"/>
              <a:gd name="connsiteX2-63" fmla="*/ 1047161 w 1047161"/>
              <a:gd name="connsiteY2-64" fmla="*/ 468495 h 794114"/>
              <a:gd name="connsiteX3-65" fmla="*/ 529394 w 1047161"/>
              <a:gd name="connsiteY3-66" fmla="*/ 794114 h 794114"/>
              <a:gd name="connsiteX4-67" fmla="*/ 11626 w 1047161"/>
              <a:gd name="connsiteY4-68" fmla="*/ 468495 h 794114"/>
              <a:gd name="connsiteX5-69" fmla="*/ 270510 w 1047161"/>
              <a:gd name="connsiteY5-70" fmla="*/ 468495 h 794114"/>
              <a:gd name="connsiteX6-71" fmla="*/ 0 w 1047161"/>
              <a:gd name="connsiteY6-72" fmla="*/ 10478 h 794114"/>
              <a:gd name="connsiteX0-73" fmla="*/ 1016121 w 1035535"/>
              <a:gd name="connsiteY0-74" fmla="*/ 13335 h 807449"/>
              <a:gd name="connsiteX1-75" fmla="*/ 776651 w 1035535"/>
              <a:gd name="connsiteY1-76" fmla="*/ 481830 h 807449"/>
              <a:gd name="connsiteX2-77" fmla="*/ 1035535 w 1035535"/>
              <a:gd name="connsiteY2-78" fmla="*/ 481830 h 807449"/>
              <a:gd name="connsiteX3-79" fmla="*/ 517768 w 1035535"/>
              <a:gd name="connsiteY3-80" fmla="*/ 807449 h 807449"/>
              <a:gd name="connsiteX4-81" fmla="*/ 0 w 1035535"/>
              <a:gd name="connsiteY4-82" fmla="*/ 481830 h 807449"/>
              <a:gd name="connsiteX5-83" fmla="*/ 258884 w 1035535"/>
              <a:gd name="connsiteY5-84" fmla="*/ 481830 h 807449"/>
              <a:gd name="connsiteX6-85" fmla="*/ 12187 w 1035535"/>
              <a:gd name="connsiteY6-86" fmla="*/ 0 h 807449"/>
              <a:gd name="connsiteX0-87" fmla="*/ 1016121 w 1035535"/>
              <a:gd name="connsiteY0-88" fmla="*/ 13335 h 807449"/>
              <a:gd name="connsiteX1-89" fmla="*/ 776651 w 1035535"/>
              <a:gd name="connsiteY1-90" fmla="*/ 481830 h 807449"/>
              <a:gd name="connsiteX2-91" fmla="*/ 1035535 w 1035535"/>
              <a:gd name="connsiteY2-92" fmla="*/ 481830 h 807449"/>
              <a:gd name="connsiteX3-93" fmla="*/ 517768 w 1035535"/>
              <a:gd name="connsiteY3-94" fmla="*/ 807449 h 807449"/>
              <a:gd name="connsiteX4-95" fmla="*/ 0 w 1035535"/>
              <a:gd name="connsiteY4-96" fmla="*/ 481830 h 807449"/>
              <a:gd name="connsiteX5-97" fmla="*/ 392234 w 1035535"/>
              <a:gd name="connsiteY5-98" fmla="*/ 486592 h 807449"/>
              <a:gd name="connsiteX6-99" fmla="*/ 12187 w 1035535"/>
              <a:gd name="connsiteY6-100" fmla="*/ 0 h 807449"/>
              <a:gd name="connsiteX0-101" fmla="*/ 1016121 w 1035535"/>
              <a:gd name="connsiteY0-102" fmla="*/ 13335 h 807449"/>
              <a:gd name="connsiteX1-103" fmla="*/ 619488 w 1035535"/>
              <a:gd name="connsiteY1-104" fmla="*/ 481830 h 807449"/>
              <a:gd name="connsiteX2-105" fmla="*/ 1035535 w 1035535"/>
              <a:gd name="connsiteY2-106" fmla="*/ 481830 h 807449"/>
              <a:gd name="connsiteX3-107" fmla="*/ 517768 w 1035535"/>
              <a:gd name="connsiteY3-108" fmla="*/ 807449 h 807449"/>
              <a:gd name="connsiteX4-109" fmla="*/ 0 w 1035535"/>
              <a:gd name="connsiteY4-110" fmla="*/ 481830 h 807449"/>
              <a:gd name="connsiteX5-111" fmla="*/ 392234 w 1035535"/>
              <a:gd name="connsiteY5-112" fmla="*/ 486592 h 807449"/>
              <a:gd name="connsiteX6-113" fmla="*/ 12187 w 1035535"/>
              <a:gd name="connsiteY6-114" fmla="*/ 0 h 807449"/>
              <a:gd name="connsiteX0-115" fmla="*/ 1016121 w 1035535"/>
              <a:gd name="connsiteY0-116" fmla="*/ 13335 h 807449"/>
              <a:gd name="connsiteX1-117" fmla="*/ 619488 w 1035535"/>
              <a:gd name="connsiteY1-118" fmla="*/ 481830 h 807449"/>
              <a:gd name="connsiteX2-119" fmla="*/ 1035535 w 1035535"/>
              <a:gd name="connsiteY2-120" fmla="*/ 481830 h 807449"/>
              <a:gd name="connsiteX3-121" fmla="*/ 517768 w 1035535"/>
              <a:gd name="connsiteY3-122" fmla="*/ 807449 h 807449"/>
              <a:gd name="connsiteX4-123" fmla="*/ 0 w 1035535"/>
              <a:gd name="connsiteY4-124" fmla="*/ 481830 h 807449"/>
              <a:gd name="connsiteX5-125" fmla="*/ 392234 w 1035535"/>
              <a:gd name="connsiteY5-126" fmla="*/ 486592 h 807449"/>
              <a:gd name="connsiteX6-127" fmla="*/ 12187 w 1035535"/>
              <a:gd name="connsiteY6-128" fmla="*/ 0 h 807449"/>
              <a:gd name="connsiteX0-129" fmla="*/ 1016121 w 1035535"/>
              <a:gd name="connsiteY0-130" fmla="*/ 13335 h 807449"/>
              <a:gd name="connsiteX1-131" fmla="*/ 619488 w 1035535"/>
              <a:gd name="connsiteY1-132" fmla="*/ 481830 h 807449"/>
              <a:gd name="connsiteX2-133" fmla="*/ 1035535 w 1035535"/>
              <a:gd name="connsiteY2-134" fmla="*/ 481830 h 807449"/>
              <a:gd name="connsiteX3-135" fmla="*/ 517768 w 1035535"/>
              <a:gd name="connsiteY3-136" fmla="*/ 807449 h 807449"/>
              <a:gd name="connsiteX4-137" fmla="*/ 0 w 1035535"/>
              <a:gd name="connsiteY4-138" fmla="*/ 481830 h 807449"/>
              <a:gd name="connsiteX5-139" fmla="*/ 392234 w 1035535"/>
              <a:gd name="connsiteY5-140" fmla="*/ 486592 h 807449"/>
              <a:gd name="connsiteX6-141" fmla="*/ 12187 w 1035535"/>
              <a:gd name="connsiteY6-142" fmla="*/ 0 h 807449"/>
              <a:gd name="connsiteX0-143" fmla="*/ 1044696 w 1044696"/>
              <a:gd name="connsiteY0-144" fmla="*/ 0 h 832214"/>
              <a:gd name="connsiteX1-145" fmla="*/ 619488 w 1044696"/>
              <a:gd name="connsiteY1-146" fmla="*/ 506595 h 832214"/>
              <a:gd name="connsiteX2-147" fmla="*/ 1035535 w 1044696"/>
              <a:gd name="connsiteY2-148" fmla="*/ 506595 h 832214"/>
              <a:gd name="connsiteX3-149" fmla="*/ 517768 w 1044696"/>
              <a:gd name="connsiteY3-150" fmla="*/ 832214 h 832214"/>
              <a:gd name="connsiteX4-151" fmla="*/ 0 w 1044696"/>
              <a:gd name="connsiteY4-152" fmla="*/ 506595 h 832214"/>
              <a:gd name="connsiteX5-153" fmla="*/ 392234 w 1044696"/>
              <a:gd name="connsiteY5-154" fmla="*/ 511357 h 832214"/>
              <a:gd name="connsiteX6-155" fmla="*/ 12187 w 1044696"/>
              <a:gd name="connsiteY6-156" fmla="*/ 24765 h 832214"/>
              <a:gd name="connsiteX0-157" fmla="*/ 1032509 w 1032509"/>
              <a:gd name="connsiteY0-158" fmla="*/ 0 h 832214"/>
              <a:gd name="connsiteX1-159" fmla="*/ 607301 w 1032509"/>
              <a:gd name="connsiteY1-160" fmla="*/ 506595 h 832214"/>
              <a:gd name="connsiteX2-161" fmla="*/ 1023348 w 1032509"/>
              <a:gd name="connsiteY2-162" fmla="*/ 506595 h 832214"/>
              <a:gd name="connsiteX3-163" fmla="*/ 505581 w 1032509"/>
              <a:gd name="connsiteY3-164" fmla="*/ 832214 h 832214"/>
              <a:gd name="connsiteX4-165" fmla="*/ 237844 w 1032509"/>
              <a:gd name="connsiteY4-166" fmla="*/ 508976 h 832214"/>
              <a:gd name="connsiteX5-167" fmla="*/ 380047 w 1032509"/>
              <a:gd name="connsiteY5-168" fmla="*/ 511357 h 832214"/>
              <a:gd name="connsiteX6-169" fmla="*/ 0 w 1032509"/>
              <a:gd name="connsiteY6-170" fmla="*/ 24765 h 832214"/>
              <a:gd name="connsiteX0-171" fmla="*/ 1032509 w 1032509"/>
              <a:gd name="connsiteY0-172" fmla="*/ 0 h 832214"/>
              <a:gd name="connsiteX1-173" fmla="*/ 607301 w 1032509"/>
              <a:gd name="connsiteY1-174" fmla="*/ 506595 h 832214"/>
              <a:gd name="connsiteX2-175" fmla="*/ 804276 w 1032509"/>
              <a:gd name="connsiteY2-176" fmla="*/ 513741 h 832214"/>
              <a:gd name="connsiteX3-177" fmla="*/ 505581 w 1032509"/>
              <a:gd name="connsiteY3-178" fmla="*/ 832214 h 832214"/>
              <a:gd name="connsiteX4-179" fmla="*/ 237844 w 1032509"/>
              <a:gd name="connsiteY4-180" fmla="*/ 508976 h 832214"/>
              <a:gd name="connsiteX5-181" fmla="*/ 380047 w 1032509"/>
              <a:gd name="connsiteY5-182" fmla="*/ 511357 h 832214"/>
              <a:gd name="connsiteX6-183" fmla="*/ 0 w 1032509"/>
              <a:gd name="connsiteY6-184" fmla="*/ 24765 h 832214"/>
              <a:gd name="connsiteX0-185" fmla="*/ 1032509 w 1032509"/>
              <a:gd name="connsiteY0-186" fmla="*/ 0 h 722679"/>
              <a:gd name="connsiteX1-187" fmla="*/ 607301 w 1032509"/>
              <a:gd name="connsiteY1-188" fmla="*/ 506595 h 722679"/>
              <a:gd name="connsiteX2-189" fmla="*/ 804276 w 1032509"/>
              <a:gd name="connsiteY2-190" fmla="*/ 513741 h 722679"/>
              <a:gd name="connsiteX3-191" fmla="*/ 507965 w 1032509"/>
              <a:gd name="connsiteY3-192" fmla="*/ 722679 h 722679"/>
              <a:gd name="connsiteX4-193" fmla="*/ 237844 w 1032509"/>
              <a:gd name="connsiteY4-194" fmla="*/ 508976 h 722679"/>
              <a:gd name="connsiteX5-195" fmla="*/ 380047 w 1032509"/>
              <a:gd name="connsiteY5-196" fmla="*/ 511357 h 722679"/>
              <a:gd name="connsiteX6-197" fmla="*/ 0 w 1032509"/>
              <a:gd name="connsiteY6-198" fmla="*/ 24765 h 722679"/>
              <a:gd name="connsiteX0-199" fmla="*/ 1032509 w 1032509"/>
              <a:gd name="connsiteY0-200" fmla="*/ 0 h 722679"/>
              <a:gd name="connsiteX1-201" fmla="*/ 607301 w 1032509"/>
              <a:gd name="connsiteY1-202" fmla="*/ 506595 h 722679"/>
              <a:gd name="connsiteX2-203" fmla="*/ 804276 w 1032509"/>
              <a:gd name="connsiteY2-204" fmla="*/ 513741 h 722679"/>
              <a:gd name="connsiteX3-205" fmla="*/ 498440 w 1032509"/>
              <a:gd name="connsiteY3-206" fmla="*/ 722679 h 722679"/>
              <a:gd name="connsiteX4-207" fmla="*/ 237844 w 1032509"/>
              <a:gd name="connsiteY4-208" fmla="*/ 508976 h 722679"/>
              <a:gd name="connsiteX5-209" fmla="*/ 380047 w 1032509"/>
              <a:gd name="connsiteY5-210" fmla="*/ 511357 h 722679"/>
              <a:gd name="connsiteX6-211" fmla="*/ 0 w 1032509"/>
              <a:gd name="connsiteY6-212" fmla="*/ 24765 h 722679"/>
              <a:gd name="connsiteX0-213" fmla="*/ 1032509 w 1032509"/>
              <a:gd name="connsiteY0-214" fmla="*/ 0 h 722679"/>
              <a:gd name="connsiteX1-215" fmla="*/ 607301 w 1032509"/>
              <a:gd name="connsiteY1-216" fmla="*/ 506595 h 722679"/>
              <a:gd name="connsiteX2-217" fmla="*/ 792369 w 1032509"/>
              <a:gd name="connsiteY2-218" fmla="*/ 515732 h 722679"/>
              <a:gd name="connsiteX3-219" fmla="*/ 498440 w 1032509"/>
              <a:gd name="connsiteY3-220" fmla="*/ 722679 h 722679"/>
              <a:gd name="connsiteX4-221" fmla="*/ 237844 w 1032509"/>
              <a:gd name="connsiteY4-222" fmla="*/ 508976 h 722679"/>
              <a:gd name="connsiteX5-223" fmla="*/ 380047 w 1032509"/>
              <a:gd name="connsiteY5-224" fmla="*/ 511357 h 722679"/>
              <a:gd name="connsiteX6-225" fmla="*/ 0 w 1032509"/>
              <a:gd name="connsiteY6-226" fmla="*/ 24765 h 722679"/>
              <a:gd name="connsiteX0-227" fmla="*/ 1032509 w 1032509"/>
              <a:gd name="connsiteY0-228" fmla="*/ 0 h 720688"/>
              <a:gd name="connsiteX1-229" fmla="*/ 607301 w 1032509"/>
              <a:gd name="connsiteY1-230" fmla="*/ 506595 h 720688"/>
              <a:gd name="connsiteX2-231" fmla="*/ 792369 w 1032509"/>
              <a:gd name="connsiteY2-232" fmla="*/ 515732 h 720688"/>
              <a:gd name="connsiteX3-233" fmla="*/ 503202 w 1032509"/>
              <a:gd name="connsiteY3-234" fmla="*/ 720688 h 720688"/>
              <a:gd name="connsiteX4-235" fmla="*/ 237844 w 1032509"/>
              <a:gd name="connsiteY4-236" fmla="*/ 508976 h 720688"/>
              <a:gd name="connsiteX5-237" fmla="*/ 380047 w 1032509"/>
              <a:gd name="connsiteY5-238" fmla="*/ 511357 h 720688"/>
              <a:gd name="connsiteX6-239" fmla="*/ 0 w 1032509"/>
              <a:gd name="connsiteY6-240" fmla="*/ 24765 h 720688"/>
              <a:gd name="connsiteX0-241" fmla="*/ 1044414 w 1044414"/>
              <a:gd name="connsiteY0-242" fmla="*/ 0 h 720688"/>
              <a:gd name="connsiteX1-243" fmla="*/ 619206 w 1044414"/>
              <a:gd name="connsiteY1-244" fmla="*/ 506595 h 720688"/>
              <a:gd name="connsiteX2-245" fmla="*/ 804274 w 1044414"/>
              <a:gd name="connsiteY2-246" fmla="*/ 515732 h 720688"/>
              <a:gd name="connsiteX3-247" fmla="*/ 515107 w 1044414"/>
              <a:gd name="connsiteY3-248" fmla="*/ 720688 h 720688"/>
              <a:gd name="connsiteX4-249" fmla="*/ 249749 w 1044414"/>
              <a:gd name="connsiteY4-250" fmla="*/ 508976 h 720688"/>
              <a:gd name="connsiteX5-251" fmla="*/ 391952 w 1044414"/>
              <a:gd name="connsiteY5-252" fmla="*/ 511357 h 720688"/>
              <a:gd name="connsiteX6-253" fmla="*/ 0 w 1044414"/>
              <a:gd name="connsiteY6-254" fmla="*/ 4852 h 720688"/>
              <a:gd name="connsiteX0-255" fmla="*/ 1082514 w 1082514"/>
              <a:gd name="connsiteY0-256" fmla="*/ 0 h 722679"/>
              <a:gd name="connsiteX1-257" fmla="*/ 619206 w 1082514"/>
              <a:gd name="connsiteY1-258" fmla="*/ 508586 h 722679"/>
              <a:gd name="connsiteX2-259" fmla="*/ 804274 w 1082514"/>
              <a:gd name="connsiteY2-260" fmla="*/ 517723 h 722679"/>
              <a:gd name="connsiteX3-261" fmla="*/ 515107 w 1082514"/>
              <a:gd name="connsiteY3-262" fmla="*/ 722679 h 722679"/>
              <a:gd name="connsiteX4-263" fmla="*/ 249749 w 1082514"/>
              <a:gd name="connsiteY4-264" fmla="*/ 510967 h 722679"/>
              <a:gd name="connsiteX5-265" fmla="*/ 391952 w 1082514"/>
              <a:gd name="connsiteY5-266" fmla="*/ 513348 h 722679"/>
              <a:gd name="connsiteX6-267" fmla="*/ 0 w 1082514"/>
              <a:gd name="connsiteY6-268" fmla="*/ 6843 h 722679"/>
              <a:gd name="connsiteX0-269" fmla="*/ 1082514 w 1082514"/>
              <a:gd name="connsiteY0-270" fmla="*/ 0 h 724672"/>
              <a:gd name="connsiteX1-271" fmla="*/ 619206 w 1082514"/>
              <a:gd name="connsiteY1-272" fmla="*/ 508586 h 724672"/>
              <a:gd name="connsiteX2-273" fmla="*/ 804274 w 1082514"/>
              <a:gd name="connsiteY2-274" fmla="*/ 517723 h 724672"/>
              <a:gd name="connsiteX3-275" fmla="*/ 534160 w 1082514"/>
              <a:gd name="connsiteY3-276" fmla="*/ 724672 h 724672"/>
              <a:gd name="connsiteX4-277" fmla="*/ 249749 w 1082514"/>
              <a:gd name="connsiteY4-278" fmla="*/ 510967 h 724672"/>
              <a:gd name="connsiteX5-279" fmla="*/ 391952 w 1082514"/>
              <a:gd name="connsiteY5-280" fmla="*/ 513348 h 724672"/>
              <a:gd name="connsiteX6-281" fmla="*/ 0 w 1082514"/>
              <a:gd name="connsiteY6-282" fmla="*/ 6843 h 724672"/>
              <a:gd name="connsiteX0-283" fmla="*/ 1082514 w 1082514"/>
              <a:gd name="connsiteY0-284" fmla="*/ 0 h 724672"/>
              <a:gd name="connsiteX1-285" fmla="*/ 619206 w 1082514"/>
              <a:gd name="connsiteY1-286" fmla="*/ 508586 h 724672"/>
              <a:gd name="connsiteX2-287" fmla="*/ 804274 w 1082514"/>
              <a:gd name="connsiteY2-288" fmla="*/ 517723 h 724672"/>
              <a:gd name="connsiteX3-289" fmla="*/ 534160 w 1082514"/>
              <a:gd name="connsiteY3-290" fmla="*/ 724672 h 724672"/>
              <a:gd name="connsiteX4-291" fmla="*/ 249749 w 1082514"/>
              <a:gd name="connsiteY4-292" fmla="*/ 510967 h 724672"/>
              <a:gd name="connsiteX5-293" fmla="*/ 380046 w 1082514"/>
              <a:gd name="connsiteY5-294" fmla="*/ 533263 h 724672"/>
              <a:gd name="connsiteX6-295" fmla="*/ 0 w 1082514"/>
              <a:gd name="connsiteY6-296" fmla="*/ 6843 h 724672"/>
              <a:gd name="connsiteX0-297" fmla="*/ 1082514 w 1082514"/>
              <a:gd name="connsiteY0-298" fmla="*/ 0 h 724672"/>
              <a:gd name="connsiteX1-299" fmla="*/ 619206 w 1082514"/>
              <a:gd name="connsiteY1-300" fmla="*/ 508586 h 724672"/>
              <a:gd name="connsiteX2-301" fmla="*/ 804274 w 1082514"/>
              <a:gd name="connsiteY2-302" fmla="*/ 517723 h 724672"/>
              <a:gd name="connsiteX3-303" fmla="*/ 534160 w 1082514"/>
              <a:gd name="connsiteY3-304" fmla="*/ 724672 h 724672"/>
              <a:gd name="connsiteX4-305" fmla="*/ 249749 w 1082514"/>
              <a:gd name="connsiteY4-306" fmla="*/ 510967 h 724672"/>
              <a:gd name="connsiteX5-307" fmla="*/ 380046 w 1082514"/>
              <a:gd name="connsiteY5-308" fmla="*/ 533263 h 724672"/>
              <a:gd name="connsiteX6-309" fmla="*/ 0 w 1082514"/>
              <a:gd name="connsiteY6-310" fmla="*/ 6843 h 724672"/>
              <a:gd name="connsiteX0-311" fmla="*/ 1082514 w 1082514"/>
              <a:gd name="connsiteY0-312" fmla="*/ 0 h 724672"/>
              <a:gd name="connsiteX1-313" fmla="*/ 619206 w 1082514"/>
              <a:gd name="connsiteY1-314" fmla="*/ 508586 h 724672"/>
              <a:gd name="connsiteX2-315" fmla="*/ 804274 w 1082514"/>
              <a:gd name="connsiteY2-316" fmla="*/ 517723 h 724672"/>
              <a:gd name="connsiteX3-317" fmla="*/ 534160 w 1082514"/>
              <a:gd name="connsiteY3-318" fmla="*/ 724672 h 724672"/>
              <a:gd name="connsiteX4-319" fmla="*/ 249749 w 1082514"/>
              <a:gd name="connsiteY4-320" fmla="*/ 510967 h 724672"/>
              <a:gd name="connsiteX5-321" fmla="*/ 380046 w 1082514"/>
              <a:gd name="connsiteY5-322" fmla="*/ 533263 h 724672"/>
              <a:gd name="connsiteX6-323" fmla="*/ 0 w 1082514"/>
              <a:gd name="connsiteY6-324" fmla="*/ 6843 h 724672"/>
              <a:gd name="connsiteX0-325" fmla="*/ 1082514 w 1082514"/>
              <a:gd name="connsiteY0-326" fmla="*/ 0 h 724672"/>
              <a:gd name="connsiteX1-327" fmla="*/ 619206 w 1082514"/>
              <a:gd name="connsiteY1-328" fmla="*/ 508586 h 724672"/>
              <a:gd name="connsiteX2-329" fmla="*/ 804274 w 1082514"/>
              <a:gd name="connsiteY2-330" fmla="*/ 517723 h 724672"/>
              <a:gd name="connsiteX3-331" fmla="*/ 534160 w 1082514"/>
              <a:gd name="connsiteY3-332" fmla="*/ 724672 h 724672"/>
              <a:gd name="connsiteX4-333" fmla="*/ 233080 w 1082514"/>
              <a:gd name="connsiteY4-334" fmla="*/ 526899 h 724672"/>
              <a:gd name="connsiteX5-335" fmla="*/ 380046 w 1082514"/>
              <a:gd name="connsiteY5-336" fmla="*/ 533263 h 724672"/>
              <a:gd name="connsiteX6-337" fmla="*/ 0 w 1082514"/>
              <a:gd name="connsiteY6-338" fmla="*/ 6843 h 724672"/>
              <a:gd name="connsiteX0-339" fmla="*/ 1082514 w 1082514"/>
              <a:gd name="connsiteY0-340" fmla="*/ 0 h 724672"/>
              <a:gd name="connsiteX1-341" fmla="*/ 619206 w 1082514"/>
              <a:gd name="connsiteY1-342" fmla="*/ 508586 h 724672"/>
              <a:gd name="connsiteX2-343" fmla="*/ 804274 w 1082514"/>
              <a:gd name="connsiteY2-344" fmla="*/ 517723 h 724672"/>
              <a:gd name="connsiteX3-345" fmla="*/ 534160 w 1082514"/>
              <a:gd name="connsiteY3-346" fmla="*/ 724672 h 724672"/>
              <a:gd name="connsiteX4-347" fmla="*/ 237842 w 1082514"/>
              <a:gd name="connsiteY4-348" fmla="*/ 532873 h 724672"/>
              <a:gd name="connsiteX5-349" fmla="*/ 380046 w 1082514"/>
              <a:gd name="connsiteY5-350" fmla="*/ 533263 h 724672"/>
              <a:gd name="connsiteX6-351" fmla="*/ 0 w 1082514"/>
              <a:gd name="connsiteY6-352" fmla="*/ 6843 h 724672"/>
              <a:gd name="connsiteX0-353" fmla="*/ 1082514 w 1082514"/>
              <a:gd name="connsiteY0-354" fmla="*/ 0 h 724672"/>
              <a:gd name="connsiteX1-355" fmla="*/ 690644 w 1082514"/>
              <a:gd name="connsiteY1-356" fmla="*/ 532484 h 724672"/>
              <a:gd name="connsiteX2-357" fmla="*/ 804274 w 1082514"/>
              <a:gd name="connsiteY2-358" fmla="*/ 517723 h 724672"/>
              <a:gd name="connsiteX3-359" fmla="*/ 534160 w 1082514"/>
              <a:gd name="connsiteY3-360" fmla="*/ 724672 h 724672"/>
              <a:gd name="connsiteX4-361" fmla="*/ 237842 w 1082514"/>
              <a:gd name="connsiteY4-362" fmla="*/ 532873 h 724672"/>
              <a:gd name="connsiteX5-363" fmla="*/ 380046 w 1082514"/>
              <a:gd name="connsiteY5-364" fmla="*/ 533263 h 724672"/>
              <a:gd name="connsiteX6-365" fmla="*/ 0 w 1082514"/>
              <a:gd name="connsiteY6-366" fmla="*/ 6843 h 724672"/>
              <a:gd name="connsiteX0-367" fmla="*/ 1082514 w 1082514"/>
              <a:gd name="connsiteY0-368" fmla="*/ 0 h 724672"/>
              <a:gd name="connsiteX1-369" fmla="*/ 690644 w 1082514"/>
              <a:gd name="connsiteY1-370" fmla="*/ 532484 h 724672"/>
              <a:gd name="connsiteX2-371" fmla="*/ 804274 w 1082514"/>
              <a:gd name="connsiteY2-372" fmla="*/ 517723 h 724672"/>
              <a:gd name="connsiteX3-373" fmla="*/ 534160 w 1082514"/>
              <a:gd name="connsiteY3-374" fmla="*/ 724672 h 724672"/>
              <a:gd name="connsiteX4-375" fmla="*/ 237842 w 1082514"/>
              <a:gd name="connsiteY4-376" fmla="*/ 532873 h 724672"/>
              <a:gd name="connsiteX5-377" fmla="*/ 380046 w 1082514"/>
              <a:gd name="connsiteY5-378" fmla="*/ 533263 h 724672"/>
              <a:gd name="connsiteX6-379" fmla="*/ 0 w 1082514"/>
              <a:gd name="connsiteY6-380" fmla="*/ 6843 h 724672"/>
              <a:gd name="connsiteX0-381" fmla="*/ 1082514 w 1082514"/>
              <a:gd name="connsiteY0-382" fmla="*/ 0 h 724672"/>
              <a:gd name="connsiteX1-383" fmla="*/ 690644 w 1082514"/>
              <a:gd name="connsiteY1-384" fmla="*/ 532484 h 724672"/>
              <a:gd name="connsiteX2-385" fmla="*/ 830468 w 1082514"/>
              <a:gd name="connsiteY2-386" fmla="*/ 531664 h 724672"/>
              <a:gd name="connsiteX3-387" fmla="*/ 534160 w 1082514"/>
              <a:gd name="connsiteY3-388" fmla="*/ 724672 h 724672"/>
              <a:gd name="connsiteX4-389" fmla="*/ 237842 w 1082514"/>
              <a:gd name="connsiteY4-390" fmla="*/ 532873 h 724672"/>
              <a:gd name="connsiteX5-391" fmla="*/ 380046 w 1082514"/>
              <a:gd name="connsiteY5-392" fmla="*/ 533263 h 724672"/>
              <a:gd name="connsiteX6-393" fmla="*/ 0 w 1082514"/>
              <a:gd name="connsiteY6-394" fmla="*/ 6843 h 724672"/>
              <a:gd name="connsiteX0-395" fmla="*/ 1082514 w 1082514"/>
              <a:gd name="connsiteY0-396" fmla="*/ 0 h 724672"/>
              <a:gd name="connsiteX1-397" fmla="*/ 690644 w 1082514"/>
              <a:gd name="connsiteY1-398" fmla="*/ 532484 h 724672"/>
              <a:gd name="connsiteX2-399" fmla="*/ 830468 w 1082514"/>
              <a:gd name="connsiteY2-400" fmla="*/ 531664 h 724672"/>
              <a:gd name="connsiteX3-401" fmla="*/ 534160 w 1082514"/>
              <a:gd name="connsiteY3-402" fmla="*/ 724672 h 724672"/>
              <a:gd name="connsiteX4-403" fmla="*/ 237842 w 1082514"/>
              <a:gd name="connsiteY4-404" fmla="*/ 532873 h 724672"/>
              <a:gd name="connsiteX5-405" fmla="*/ 434815 w 1082514"/>
              <a:gd name="connsiteY5-406" fmla="*/ 533263 h 724672"/>
              <a:gd name="connsiteX6-407" fmla="*/ 0 w 1082514"/>
              <a:gd name="connsiteY6-408" fmla="*/ 6843 h 724672"/>
              <a:gd name="connsiteX0-409" fmla="*/ 1082514 w 1082514"/>
              <a:gd name="connsiteY0-410" fmla="*/ 0 h 724672"/>
              <a:gd name="connsiteX1-411" fmla="*/ 690644 w 1082514"/>
              <a:gd name="connsiteY1-412" fmla="*/ 532484 h 724672"/>
              <a:gd name="connsiteX2-413" fmla="*/ 830468 w 1082514"/>
              <a:gd name="connsiteY2-414" fmla="*/ 531664 h 724672"/>
              <a:gd name="connsiteX3-415" fmla="*/ 534160 w 1082514"/>
              <a:gd name="connsiteY3-416" fmla="*/ 724672 h 724672"/>
              <a:gd name="connsiteX4-417" fmla="*/ 297373 w 1082514"/>
              <a:gd name="connsiteY4-418" fmla="*/ 532873 h 724672"/>
              <a:gd name="connsiteX5-419" fmla="*/ 434815 w 1082514"/>
              <a:gd name="connsiteY5-420" fmla="*/ 533263 h 724672"/>
              <a:gd name="connsiteX6-421" fmla="*/ 0 w 1082514"/>
              <a:gd name="connsiteY6-422" fmla="*/ 6843 h 724672"/>
              <a:gd name="connsiteX0-423" fmla="*/ 1082514 w 1082514"/>
              <a:gd name="connsiteY0-424" fmla="*/ 0 h 724672"/>
              <a:gd name="connsiteX1-425" fmla="*/ 690644 w 1082514"/>
              <a:gd name="connsiteY1-426" fmla="*/ 532484 h 724672"/>
              <a:gd name="connsiteX2-427" fmla="*/ 768555 w 1082514"/>
              <a:gd name="connsiteY2-428" fmla="*/ 531664 h 724672"/>
              <a:gd name="connsiteX3-429" fmla="*/ 534160 w 1082514"/>
              <a:gd name="connsiteY3-430" fmla="*/ 724672 h 724672"/>
              <a:gd name="connsiteX4-431" fmla="*/ 297373 w 1082514"/>
              <a:gd name="connsiteY4-432" fmla="*/ 532873 h 724672"/>
              <a:gd name="connsiteX5-433" fmla="*/ 434815 w 1082514"/>
              <a:gd name="connsiteY5-434" fmla="*/ 533263 h 724672"/>
              <a:gd name="connsiteX6-435" fmla="*/ 0 w 1082514"/>
              <a:gd name="connsiteY6-436" fmla="*/ 6843 h 724672"/>
              <a:gd name="connsiteX0-437" fmla="*/ 1082514 w 1082514"/>
              <a:gd name="connsiteY0-438" fmla="*/ 0 h 724672"/>
              <a:gd name="connsiteX1-439" fmla="*/ 638256 w 1082514"/>
              <a:gd name="connsiteY1-440" fmla="*/ 534476 h 724672"/>
              <a:gd name="connsiteX2-441" fmla="*/ 768555 w 1082514"/>
              <a:gd name="connsiteY2-442" fmla="*/ 531664 h 724672"/>
              <a:gd name="connsiteX3-443" fmla="*/ 534160 w 1082514"/>
              <a:gd name="connsiteY3-444" fmla="*/ 724672 h 724672"/>
              <a:gd name="connsiteX4-445" fmla="*/ 297373 w 1082514"/>
              <a:gd name="connsiteY4-446" fmla="*/ 532873 h 724672"/>
              <a:gd name="connsiteX5-447" fmla="*/ 434815 w 1082514"/>
              <a:gd name="connsiteY5-448" fmla="*/ 533263 h 724672"/>
              <a:gd name="connsiteX6-449" fmla="*/ 0 w 1082514"/>
              <a:gd name="connsiteY6-450" fmla="*/ 6843 h 7246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D17D"/>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6" name="组合 28"/>
          <p:cNvGrpSpPr>
            <a:grpSpLocks noChangeAspect="1"/>
          </p:cNvGrpSpPr>
          <p:nvPr/>
        </p:nvGrpSpPr>
        <p:grpSpPr>
          <a:xfrm>
            <a:off x="3652785" y="3700491"/>
            <a:ext cx="288969" cy="288969"/>
            <a:chOff x="5076056" y="3356992"/>
            <a:chExt cx="436268" cy="436268"/>
          </a:xfrm>
        </p:grpSpPr>
        <p:sp>
          <p:nvSpPr>
            <p:cNvPr id="77"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00000"/>
                </a:lnSpc>
                <a:spcBef>
                  <a:spcPct val="0"/>
                </a:spcBef>
                <a:spcAft>
                  <a:spcPct val="0"/>
                </a:spcAft>
                <a:buClrTx/>
                <a:buSzTx/>
                <a:buFontTx/>
                <a:buNone/>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2" name="文本框 41"/>
          <p:cNvSpPr txBox="1"/>
          <p:nvPr/>
        </p:nvSpPr>
        <p:spPr>
          <a:xfrm>
            <a:off x="3778251" y="3935954"/>
            <a:ext cx="1138661" cy="307777"/>
          </a:xfrm>
          <a:prstGeom prst="rect">
            <a:avLst/>
          </a:prstGeom>
          <a:noFill/>
        </p:spPr>
        <p:txBody>
          <a:bodyPr wrap="square" rtlCol="0">
            <a:spAutoFit/>
          </a:bodyPr>
          <a:lstStyle/>
          <a:p>
            <a:pPr algn="ctr" fontAlgn="auto">
              <a:spcBef>
                <a:spcPts val="0"/>
              </a:spcBef>
              <a:spcAft>
                <a:spcPts val="0"/>
              </a:spcAft>
            </a:pPr>
            <a:r>
              <a:rPr lang="zh-CN" altLang="en-US" sz="1400"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接口被阻塞</a:t>
            </a:r>
            <a:endParaRPr lang="en-US" altLang="zh-CN" sz="1400"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生成树能够动态响应网络拓扑变化调整阻塞接口</a:t>
            </a:r>
            <a:endParaRPr lang="zh-CN" altLang="en-US" dirty="0">
              <a:sym typeface="Huawei Sans" panose="020C0503030203020204" pitchFamily="34" charset="0"/>
            </a:endParaRPr>
          </a:p>
        </p:txBody>
      </p:sp>
      <p:sp>
        <p:nvSpPr>
          <p:cNvPr id="124" name="TextBox 18"/>
          <p:cNvSpPr txBox="1"/>
          <p:nvPr/>
        </p:nvSpPr>
        <p:spPr>
          <a:xfrm>
            <a:off x="812801" y="4683986"/>
            <a:ext cx="10566400" cy="1200329"/>
          </a:xfrm>
          <a:prstGeom prst="rect">
            <a:avLst/>
          </a:prstGeom>
          <a:noFill/>
        </p:spPr>
        <p:txBody>
          <a:bodyPr wrap="square" rtlCol="0">
            <a:spAutoFit/>
          </a:bodyPr>
          <a:lstStyle/>
          <a:p>
            <a:pPr fontAlgn="auto">
              <a:lnSpc>
                <a:spcPct val="150000"/>
              </a:lnSpc>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交换机上运行的生成树协议会持续监控网络的拓扑结构，当网络拓扑结构发生变化时，生成树能感知到这些变化，并且自动做出调整。</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auto">
              <a:lnSpc>
                <a:spcPct val="150000"/>
              </a:lnSpc>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因此，生成树既能解决二层环路问题，也能为网络的冗余性提供一种方案。</a:t>
            </a:r>
          </a:p>
        </p:txBody>
      </p:sp>
      <p:sp>
        <p:nvSpPr>
          <p:cNvPr id="103" name="文本框 102"/>
          <p:cNvSpPr txBox="1"/>
          <p:nvPr/>
        </p:nvSpPr>
        <p:spPr>
          <a:xfrm>
            <a:off x="3778251" y="3361450"/>
            <a:ext cx="1138661" cy="307777"/>
          </a:xfrm>
          <a:prstGeom prst="rect">
            <a:avLst/>
          </a:prstGeom>
          <a:noFill/>
        </p:spPr>
        <p:txBody>
          <a:bodyPr wrap="square" rtlCol="0">
            <a:spAutoFit/>
          </a:bodyPr>
          <a:lstStyle/>
          <a:p>
            <a:pPr algn="ct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接口被阻塞</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文本框 121"/>
          <p:cNvSpPr txBox="1"/>
          <p:nvPr/>
        </p:nvSpPr>
        <p:spPr>
          <a:xfrm>
            <a:off x="6875921" y="2961240"/>
            <a:ext cx="1138661" cy="307777"/>
          </a:xfrm>
          <a:prstGeom prst="rect">
            <a:avLst/>
          </a:prstGeom>
          <a:noFill/>
        </p:spPr>
        <p:txBody>
          <a:bodyPr wrap="square" rtlCol="0">
            <a:spAutoFit/>
          </a:bodyPr>
          <a:lstStyle/>
          <a:p>
            <a:pPr algn="ct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链路故障</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4" name="组合 73"/>
          <p:cNvGrpSpPr/>
          <p:nvPr/>
        </p:nvGrpSpPr>
        <p:grpSpPr>
          <a:xfrm flipV="1">
            <a:off x="2093396" y="2075957"/>
            <a:ext cx="2745630" cy="1699073"/>
            <a:chOff x="6600056" y="4353447"/>
            <a:chExt cx="1296144" cy="833967"/>
          </a:xfrm>
        </p:grpSpPr>
        <p:cxnSp>
          <p:nvCxnSpPr>
            <p:cNvPr id="75" name="直接连接符 74"/>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7" name="直接连接符 76"/>
          <p:cNvCxnSpPr/>
          <p:nvPr/>
        </p:nvCxnSpPr>
        <p:spPr>
          <a:xfrm flipH="1">
            <a:off x="1959340" y="2015271"/>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文本框 93"/>
          <p:cNvSpPr txBox="1"/>
          <p:nvPr/>
        </p:nvSpPr>
        <p:spPr>
          <a:xfrm>
            <a:off x="1120729" y="1854921"/>
            <a:ext cx="628698" cy="338554"/>
          </a:xfrm>
          <a:prstGeom prst="rect">
            <a:avLst/>
          </a:prstGeom>
          <a:noFill/>
        </p:spPr>
        <p:txBody>
          <a:bodyPr wrap="none" rtlCol="0">
            <a:spAutoFit/>
          </a:bodyPr>
          <a:lstStyle/>
          <a:p>
            <a:pPr algn="ct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文本框 94"/>
          <p:cNvSpPr txBox="1"/>
          <p:nvPr/>
        </p:nvSpPr>
        <p:spPr>
          <a:xfrm>
            <a:off x="5185211" y="1854921"/>
            <a:ext cx="628698" cy="338554"/>
          </a:xfrm>
          <a:prstGeom prst="rect">
            <a:avLst/>
          </a:prstGeom>
          <a:noFill/>
        </p:spPr>
        <p:txBody>
          <a:bodyPr wrap="none" rtlCol="0">
            <a:spAutoFit/>
          </a:bodyPr>
          <a:lstStyle/>
          <a:p>
            <a:pPr algn="ct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文本框 101"/>
          <p:cNvSpPr txBox="1"/>
          <p:nvPr/>
        </p:nvSpPr>
        <p:spPr>
          <a:xfrm>
            <a:off x="3156043" y="3915424"/>
            <a:ext cx="628698" cy="338554"/>
          </a:xfrm>
          <a:prstGeom prst="rect">
            <a:avLst/>
          </a:prstGeom>
          <a:noFill/>
        </p:spPr>
        <p:txBody>
          <a:bodyPr wrap="none" rtlCol="0">
            <a:spAutoFit/>
          </a:bodyPr>
          <a:lstStyle/>
          <a:p>
            <a:pPr algn="ct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4" name="组合 113"/>
          <p:cNvGrpSpPr/>
          <p:nvPr/>
        </p:nvGrpSpPr>
        <p:grpSpPr>
          <a:xfrm>
            <a:off x="1726073" y="1829727"/>
            <a:ext cx="3480277" cy="2052008"/>
            <a:chOff x="1899738" y="1861522"/>
            <a:chExt cx="3480277" cy="2052008"/>
          </a:xfrm>
        </p:grpSpPr>
        <p:pic>
          <p:nvPicPr>
            <p:cNvPr id="115" name="图片 76" descr="接入交换机.png"/>
            <p:cNvPicPr>
              <a:picLocks noChangeAspect="1"/>
            </p:cNvPicPr>
            <p:nvPr/>
          </p:nvPicPr>
          <p:blipFill>
            <a:blip r:embed="rId3" cstate="print"/>
            <a:stretch>
              <a:fillRect/>
            </a:stretch>
          </p:blipFill>
          <p:spPr>
            <a:xfrm>
              <a:off x="1899738" y="1861522"/>
              <a:ext cx="490909" cy="401653"/>
            </a:xfrm>
            <a:prstGeom prst="rect">
              <a:avLst/>
            </a:prstGeom>
          </p:spPr>
        </p:pic>
        <p:pic>
          <p:nvPicPr>
            <p:cNvPr id="116" name="图片 76" descr="接入交换机.png"/>
            <p:cNvPicPr>
              <a:picLocks noChangeAspect="1"/>
            </p:cNvPicPr>
            <p:nvPr/>
          </p:nvPicPr>
          <p:blipFill>
            <a:blip r:embed="rId3" cstate="print"/>
            <a:stretch>
              <a:fillRect/>
            </a:stretch>
          </p:blipFill>
          <p:spPr>
            <a:xfrm>
              <a:off x="4889106" y="1861522"/>
              <a:ext cx="490909" cy="401653"/>
            </a:xfrm>
            <a:prstGeom prst="rect">
              <a:avLst/>
            </a:prstGeom>
          </p:spPr>
        </p:pic>
        <p:pic>
          <p:nvPicPr>
            <p:cNvPr id="117" name="图片 76" descr="接入交换机.png"/>
            <p:cNvPicPr>
              <a:picLocks noChangeAspect="1"/>
            </p:cNvPicPr>
            <p:nvPr/>
          </p:nvPicPr>
          <p:blipFill>
            <a:blip r:embed="rId3" cstate="print"/>
            <a:stretch>
              <a:fillRect/>
            </a:stretch>
          </p:blipFill>
          <p:spPr>
            <a:xfrm>
              <a:off x="3394422" y="3511877"/>
              <a:ext cx="490909" cy="401653"/>
            </a:xfrm>
            <a:prstGeom prst="rect">
              <a:avLst/>
            </a:prstGeom>
          </p:spPr>
        </p:pic>
      </p:grpSp>
      <p:grpSp>
        <p:nvGrpSpPr>
          <p:cNvPr id="129" name="组合 128"/>
          <p:cNvGrpSpPr/>
          <p:nvPr/>
        </p:nvGrpSpPr>
        <p:grpSpPr>
          <a:xfrm flipV="1">
            <a:off x="7333824" y="2075957"/>
            <a:ext cx="2745630" cy="1699073"/>
            <a:chOff x="6600056" y="4353447"/>
            <a:chExt cx="1296144" cy="833967"/>
          </a:xfrm>
        </p:grpSpPr>
        <p:cxnSp>
          <p:nvCxnSpPr>
            <p:cNvPr id="130" name="直接连接符 129"/>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2" name="直接连接符 131"/>
          <p:cNvCxnSpPr/>
          <p:nvPr/>
        </p:nvCxnSpPr>
        <p:spPr>
          <a:xfrm flipH="1">
            <a:off x="7199768" y="2015271"/>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3" name="文本框 132"/>
          <p:cNvSpPr txBox="1"/>
          <p:nvPr/>
        </p:nvSpPr>
        <p:spPr>
          <a:xfrm>
            <a:off x="6361157" y="1854921"/>
            <a:ext cx="628698" cy="338554"/>
          </a:xfrm>
          <a:prstGeom prst="rect">
            <a:avLst/>
          </a:prstGeom>
          <a:noFill/>
        </p:spPr>
        <p:txBody>
          <a:bodyPr wrap="none" rtlCol="0">
            <a:spAutoFit/>
          </a:bodyPr>
          <a:lstStyle/>
          <a:p>
            <a:pPr algn="ct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文本框 133"/>
          <p:cNvSpPr txBox="1"/>
          <p:nvPr/>
        </p:nvSpPr>
        <p:spPr>
          <a:xfrm>
            <a:off x="10425639" y="1854921"/>
            <a:ext cx="628698" cy="338554"/>
          </a:xfrm>
          <a:prstGeom prst="rect">
            <a:avLst/>
          </a:prstGeom>
          <a:noFill/>
        </p:spPr>
        <p:txBody>
          <a:bodyPr wrap="none" rtlCol="0">
            <a:spAutoFit/>
          </a:bodyPr>
          <a:lstStyle/>
          <a:p>
            <a:pPr algn="ct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文本框 134"/>
          <p:cNvSpPr txBox="1"/>
          <p:nvPr/>
        </p:nvSpPr>
        <p:spPr>
          <a:xfrm>
            <a:off x="8396471" y="3915424"/>
            <a:ext cx="628698" cy="338554"/>
          </a:xfrm>
          <a:prstGeom prst="rect">
            <a:avLst/>
          </a:prstGeom>
          <a:noFill/>
        </p:spPr>
        <p:txBody>
          <a:bodyPr wrap="none" rtlCol="0">
            <a:spAutoFit/>
          </a:bodyPr>
          <a:lstStyle/>
          <a:p>
            <a:pPr algn="ct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36" name="组合 135"/>
          <p:cNvGrpSpPr/>
          <p:nvPr/>
        </p:nvGrpSpPr>
        <p:grpSpPr>
          <a:xfrm>
            <a:off x="6966501" y="1829727"/>
            <a:ext cx="3480277" cy="2052008"/>
            <a:chOff x="1899738" y="1861522"/>
            <a:chExt cx="3480277" cy="2052008"/>
          </a:xfrm>
        </p:grpSpPr>
        <p:pic>
          <p:nvPicPr>
            <p:cNvPr id="137" name="图片 76" descr="接入交换机.png"/>
            <p:cNvPicPr>
              <a:picLocks noChangeAspect="1"/>
            </p:cNvPicPr>
            <p:nvPr/>
          </p:nvPicPr>
          <p:blipFill>
            <a:blip r:embed="rId3" cstate="print"/>
            <a:stretch>
              <a:fillRect/>
            </a:stretch>
          </p:blipFill>
          <p:spPr>
            <a:xfrm>
              <a:off x="1899738" y="1861522"/>
              <a:ext cx="490909" cy="401653"/>
            </a:xfrm>
            <a:prstGeom prst="rect">
              <a:avLst/>
            </a:prstGeom>
          </p:spPr>
        </p:pic>
        <p:pic>
          <p:nvPicPr>
            <p:cNvPr id="138" name="图片 76" descr="接入交换机.png"/>
            <p:cNvPicPr>
              <a:picLocks noChangeAspect="1"/>
            </p:cNvPicPr>
            <p:nvPr/>
          </p:nvPicPr>
          <p:blipFill>
            <a:blip r:embed="rId3" cstate="print"/>
            <a:stretch>
              <a:fillRect/>
            </a:stretch>
          </p:blipFill>
          <p:spPr>
            <a:xfrm>
              <a:off x="4889106" y="1861522"/>
              <a:ext cx="490909" cy="401653"/>
            </a:xfrm>
            <a:prstGeom prst="rect">
              <a:avLst/>
            </a:prstGeom>
          </p:spPr>
        </p:pic>
        <p:pic>
          <p:nvPicPr>
            <p:cNvPr id="139" name="图片 76" descr="接入交换机.png"/>
            <p:cNvPicPr>
              <a:picLocks noChangeAspect="1"/>
            </p:cNvPicPr>
            <p:nvPr/>
          </p:nvPicPr>
          <p:blipFill>
            <a:blip r:embed="rId3" cstate="print"/>
            <a:stretch>
              <a:fillRect/>
            </a:stretch>
          </p:blipFill>
          <p:spPr>
            <a:xfrm>
              <a:off x="3394422" y="3511877"/>
              <a:ext cx="490909" cy="401653"/>
            </a:xfrm>
            <a:prstGeom prst="rect">
              <a:avLst/>
            </a:prstGeom>
          </p:spPr>
        </p:pic>
      </p:grpSp>
      <p:sp>
        <p:nvSpPr>
          <p:cNvPr id="146" name="文本框 145"/>
          <p:cNvSpPr txBox="1"/>
          <p:nvPr/>
        </p:nvSpPr>
        <p:spPr>
          <a:xfrm>
            <a:off x="9323617" y="3430241"/>
            <a:ext cx="1138661" cy="307777"/>
          </a:xfrm>
          <a:prstGeom prst="rect">
            <a:avLst/>
          </a:prstGeom>
          <a:noFill/>
        </p:spPr>
        <p:txBody>
          <a:bodyPr wrap="square" rtlCol="0">
            <a:spAutoFit/>
          </a:bodyPr>
          <a:lstStyle/>
          <a:p>
            <a:pPr algn="ct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接口被恢复</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Oval 4"/>
          <p:cNvSpPr>
            <a:spLocks noChangeAspect="1"/>
          </p:cNvSpPr>
          <p:nvPr/>
        </p:nvSpPr>
        <p:spPr>
          <a:xfrm>
            <a:off x="4078034" y="3115067"/>
            <a:ext cx="211977" cy="211977"/>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8" name="Oval 4"/>
          <p:cNvSpPr>
            <a:spLocks noChangeAspect="1"/>
          </p:cNvSpPr>
          <p:nvPr/>
        </p:nvSpPr>
        <p:spPr>
          <a:xfrm>
            <a:off x="7391633" y="2749263"/>
            <a:ext cx="211977" cy="211977"/>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9" name="Oval 4"/>
          <p:cNvSpPr>
            <a:spLocks noChangeAspect="1"/>
          </p:cNvSpPr>
          <p:nvPr/>
        </p:nvSpPr>
        <p:spPr>
          <a:xfrm>
            <a:off x="9387653" y="3155639"/>
            <a:ext cx="211977" cy="211977"/>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0" name="组合 28"/>
          <p:cNvGrpSpPr>
            <a:grpSpLocks noChangeAspect="1"/>
          </p:cNvGrpSpPr>
          <p:nvPr/>
        </p:nvGrpSpPr>
        <p:grpSpPr>
          <a:xfrm>
            <a:off x="3538840" y="3339386"/>
            <a:ext cx="288969" cy="288969"/>
            <a:chOff x="5076056" y="3356992"/>
            <a:chExt cx="436268" cy="436268"/>
          </a:xfrm>
        </p:grpSpPr>
        <p:sp>
          <p:nvSpPr>
            <p:cNvPr id="41"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00000"/>
                </a:lnSpc>
                <a:spcBef>
                  <a:spcPct val="0"/>
                </a:spcBef>
                <a:spcAft>
                  <a:spcPct val="0"/>
                </a:spcAft>
                <a:buClrTx/>
                <a:buSzTx/>
                <a:buFontTx/>
                <a:buNone/>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5" name="组合 44"/>
          <p:cNvGrpSpPr/>
          <p:nvPr/>
        </p:nvGrpSpPr>
        <p:grpSpPr>
          <a:xfrm>
            <a:off x="9050608" y="3450017"/>
            <a:ext cx="288001" cy="288001"/>
            <a:chOff x="10467178" y="5640414"/>
            <a:chExt cx="213540" cy="213540"/>
          </a:xfrm>
        </p:grpSpPr>
        <p:sp>
          <p:nvSpPr>
            <p:cNvPr id="46" name="椭圆 45"/>
            <p:cNvSpPr>
              <a:spLocks noChangeAspect="1"/>
            </p:cNvSpPr>
            <p:nvPr/>
          </p:nvSpPr>
          <p:spPr>
            <a:xfrm>
              <a:off x="10467178" y="5640414"/>
              <a:ext cx="213540" cy="21354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任意多边形 46"/>
            <p:cNvSpPr/>
            <p:nvPr/>
          </p:nvSpPr>
          <p:spPr>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1" fmla="*/ 0 w 250659"/>
                <a:gd name="connsiteY0-2" fmla="*/ 33024 h 126206"/>
                <a:gd name="connsiteX1-3" fmla="*/ 112547 w 250659"/>
                <a:gd name="connsiteY1-4" fmla="*/ 126206 h 126206"/>
                <a:gd name="connsiteX2-5" fmla="*/ 250659 w 250659"/>
                <a:gd name="connsiteY2-6" fmla="*/ 0 h 126206"/>
                <a:gd name="connsiteX0-7" fmla="*/ 0 w 259419"/>
                <a:gd name="connsiteY0-8" fmla="*/ 35944 h 126206"/>
                <a:gd name="connsiteX1-9" fmla="*/ 121307 w 259419"/>
                <a:gd name="connsiteY1-10" fmla="*/ 126206 h 126206"/>
                <a:gd name="connsiteX2-11" fmla="*/ 259419 w 259419"/>
                <a:gd name="connsiteY2-12" fmla="*/ 0 h 126206"/>
                <a:gd name="connsiteX0-13" fmla="*/ 0 w 259419"/>
                <a:gd name="connsiteY0-14" fmla="*/ 35944 h 126206"/>
                <a:gd name="connsiteX1-15" fmla="*/ 106706 w 259419"/>
                <a:gd name="connsiteY1-16" fmla="*/ 126206 h 126206"/>
                <a:gd name="connsiteX2-17" fmla="*/ 259419 w 259419"/>
                <a:gd name="connsiteY2-18" fmla="*/ 0 h 126206"/>
                <a:gd name="connsiteX0-19" fmla="*/ 0 w 279861"/>
                <a:gd name="connsiteY0-20" fmla="*/ 35944 h 126206"/>
                <a:gd name="connsiteX1-21" fmla="*/ 106706 w 279861"/>
                <a:gd name="connsiteY1-22" fmla="*/ 126206 h 126206"/>
                <a:gd name="connsiteX2-23" fmla="*/ 279861 w 279861"/>
                <a:gd name="connsiteY2-24" fmla="*/ 0 h 126206"/>
                <a:gd name="connsiteX0-25" fmla="*/ 0 w 276940"/>
                <a:gd name="connsiteY0-26" fmla="*/ 56386 h 146648"/>
                <a:gd name="connsiteX1-27" fmla="*/ 106706 w 276940"/>
                <a:gd name="connsiteY1-28" fmla="*/ 146648 h 146648"/>
                <a:gd name="connsiteX2-29" fmla="*/ 276940 w 276940"/>
                <a:gd name="connsiteY2-30" fmla="*/ 0 h 146648"/>
                <a:gd name="connsiteX0-31" fmla="*/ 0 w 276940"/>
                <a:gd name="connsiteY0-32" fmla="*/ 56386 h 146648"/>
                <a:gd name="connsiteX1-33" fmla="*/ 121308 w 276940"/>
                <a:gd name="connsiteY1-34" fmla="*/ 146648 h 146648"/>
                <a:gd name="connsiteX2-35" fmla="*/ 276940 w 276940"/>
                <a:gd name="connsiteY2-36" fmla="*/ 0 h 146648"/>
              </a:gdLst>
              <a:ahLst/>
              <a:cxnLst>
                <a:cxn ang="0">
                  <a:pos x="connsiteX0-1" y="connsiteY0-2"/>
                </a:cxn>
                <a:cxn ang="0">
                  <a:pos x="connsiteX1-3" y="connsiteY1-4"/>
                </a:cxn>
                <a:cxn ang="0">
                  <a:pos x="connsiteX2-5" y="connsiteY2-6"/>
                </a:cxn>
              </a:cxnLst>
              <a:rect l="l" t="t" r="r" b="b"/>
              <a:pathLst>
                <a:path w="276940" h="146648">
                  <a:moveTo>
                    <a:pt x="0" y="56386"/>
                  </a:moveTo>
                  <a:lnTo>
                    <a:pt x="121308" y="146648"/>
                  </a:lnTo>
                  <a:lnTo>
                    <a:pt x="276940" y="0"/>
                  </a:lnTo>
                </a:path>
              </a:pathLst>
            </a:custGeom>
            <a:no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8" name="下箭头 63"/>
          <p:cNvSpPr/>
          <p:nvPr/>
        </p:nvSpPr>
        <p:spPr>
          <a:xfrm rot="5400000" flipV="1">
            <a:off x="5651468" y="2970288"/>
            <a:ext cx="974244" cy="866024"/>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1" fmla="*/ 258884 w 1035535"/>
              <a:gd name="connsiteY0-2" fmla="*/ 0 h 794114"/>
              <a:gd name="connsiteX1-3" fmla="*/ 776651 w 1035535"/>
              <a:gd name="connsiteY1-4" fmla="*/ 0 h 794114"/>
              <a:gd name="connsiteX2-5" fmla="*/ 776651 w 1035535"/>
              <a:gd name="connsiteY2-6" fmla="*/ 468495 h 794114"/>
              <a:gd name="connsiteX3-7" fmla="*/ 1035535 w 1035535"/>
              <a:gd name="connsiteY3-8" fmla="*/ 468495 h 794114"/>
              <a:gd name="connsiteX4-9" fmla="*/ 517768 w 1035535"/>
              <a:gd name="connsiteY4-10" fmla="*/ 794114 h 794114"/>
              <a:gd name="connsiteX5-11" fmla="*/ 0 w 1035535"/>
              <a:gd name="connsiteY5-12" fmla="*/ 468495 h 794114"/>
              <a:gd name="connsiteX6-13" fmla="*/ 258884 w 1035535"/>
              <a:gd name="connsiteY6-14" fmla="*/ 468495 h 794114"/>
              <a:gd name="connsiteX7-15" fmla="*/ 350324 w 1035535"/>
              <a:gd name="connsiteY7-16" fmla="*/ 91440 h 794114"/>
              <a:gd name="connsiteX0-17" fmla="*/ 258884 w 1035535"/>
              <a:gd name="connsiteY0-18" fmla="*/ 0 h 794114"/>
              <a:gd name="connsiteX1-19" fmla="*/ 776651 w 1035535"/>
              <a:gd name="connsiteY1-20" fmla="*/ 468495 h 794114"/>
              <a:gd name="connsiteX2-21" fmla="*/ 1035535 w 1035535"/>
              <a:gd name="connsiteY2-22" fmla="*/ 468495 h 794114"/>
              <a:gd name="connsiteX3-23" fmla="*/ 517768 w 1035535"/>
              <a:gd name="connsiteY3-24" fmla="*/ 794114 h 794114"/>
              <a:gd name="connsiteX4-25" fmla="*/ 0 w 1035535"/>
              <a:gd name="connsiteY4-26" fmla="*/ 468495 h 794114"/>
              <a:gd name="connsiteX5-27" fmla="*/ 258884 w 1035535"/>
              <a:gd name="connsiteY5-28" fmla="*/ 468495 h 794114"/>
              <a:gd name="connsiteX6-29" fmla="*/ 350324 w 1035535"/>
              <a:gd name="connsiteY6-30" fmla="*/ 91440 h 794114"/>
              <a:gd name="connsiteX0-31" fmla="*/ 1016121 w 1035535"/>
              <a:gd name="connsiteY0-32" fmla="*/ 0 h 794114"/>
              <a:gd name="connsiteX1-33" fmla="*/ 776651 w 1035535"/>
              <a:gd name="connsiteY1-34" fmla="*/ 468495 h 794114"/>
              <a:gd name="connsiteX2-35" fmla="*/ 1035535 w 1035535"/>
              <a:gd name="connsiteY2-36" fmla="*/ 468495 h 794114"/>
              <a:gd name="connsiteX3-37" fmla="*/ 517768 w 1035535"/>
              <a:gd name="connsiteY3-38" fmla="*/ 794114 h 794114"/>
              <a:gd name="connsiteX4-39" fmla="*/ 0 w 1035535"/>
              <a:gd name="connsiteY4-40" fmla="*/ 468495 h 794114"/>
              <a:gd name="connsiteX5-41" fmla="*/ 258884 w 1035535"/>
              <a:gd name="connsiteY5-42" fmla="*/ 468495 h 794114"/>
              <a:gd name="connsiteX6-43" fmla="*/ 350324 w 1035535"/>
              <a:gd name="connsiteY6-44" fmla="*/ 91440 h 794114"/>
              <a:gd name="connsiteX0-45" fmla="*/ 1018222 w 1037636"/>
              <a:gd name="connsiteY0-46" fmla="*/ 0 h 794114"/>
              <a:gd name="connsiteX1-47" fmla="*/ 778752 w 1037636"/>
              <a:gd name="connsiteY1-48" fmla="*/ 468495 h 794114"/>
              <a:gd name="connsiteX2-49" fmla="*/ 1037636 w 1037636"/>
              <a:gd name="connsiteY2-50" fmla="*/ 468495 h 794114"/>
              <a:gd name="connsiteX3-51" fmla="*/ 519869 w 1037636"/>
              <a:gd name="connsiteY3-52" fmla="*/ 794114 h 794114"/>
              <a:gd name="connsiteX4-53" fmla="*/ 2101 w 1037636"/>
              <a:gd name="connsiteY4-54" fmla="*/ 468495 h 794114"/>
              <a:gd name="connsiteX5-55" fmla="*/ 260985 w 1037636"/>
              <a:gd name="connsiteY5-56" fmla="*/ 468495 h 794114"/>
              <a:gd name="connsiteX6-57" fmla="*/ 0 w 1037636"/>
              <a:gd name="connsiteY6-58" fmla="*/ 86678 h 794114"/>
              <a:gd name="connsiteX0-59" fmla="*/ 1027747 w 1047161"/>
              <a:gd name="connsiteY0-60" fmla="*/ 0 h 794114"/>
              <a:gd name="connsiteX1-61" fmla="*/ 788277 w 1047161"/>
              <a:gd name="connsiteY1-62" fmla="*/ 468495 h 794114"/>
              <a:gd name="connsiteX2-63" fmla="*/ 1047161 w 1047161"/>
              <a:gd name="connsiteY2-64" fmla="*/ 468495 h 794114"/>
              <a:gd name="connsiteX3-65" fmla="*/ 529394 w 1047161"/>
              <a:gd name="connsiteY3-66" fmla="*/ 794114 h 794114"/>
              <a:gd name="connsiteX4-67" fmla="*/ 11626 w 1047161"/>
              <a:gd name="connsiteY4-68" fmla="*/ 468495 h 794114"/>
              <a:gd name="connsiteX5-69" fmla="*/ 270510 w 1047161"/>
              <a:gd name="connsiteY5-70" fmla="*/ 468495 h 794114"/>
              <a:gd name="connsiteX6-71" fmla="*/ 0 w 1047161"/>
              <a:gd name="connsiteY6-72" fmla="*/ 10478 h 794114"/>
              <a:gd name="connsiteX0-73" fmla="*/ 1016121 w 1035535"/>
              <a:gd name="connsiteY0-74" fmla="*/ 13335 h 807449"/>
              <a:gd name="connsiteX1-75" fmla="*/ 776651 w 1035535"/>
              <a:gd name="connsiteY1-76" fmla="*/ 481830 h 807449"/>
              <a:gd name="connsiteX2-77" fmla="*/ 1035535 w 1035535"/>
              <a:gd name="connsiteY2-78" fmla="*/ 481830 h 807449"/>
              <a:gd name="connsiteX3-79" fmla="*/ 517768 w 1035535"/>
              <a:gd name="connsiteY3-80" fmla="*/ 807449 h 807449"/>
              <a:gd name="connsiteX4-81" fmla="*/ 0 w 1035535"/>
              <a:gd name="connsiteY4-82" fmla="*/ 481830 h 807449"/>
              <a:gd name="connsiteX5-83" fmla="*/ 258884 w 1035535"/>
              <a:gd name="connsiteY5-84" fmla="*/ 481830 h 807449"/>
              <a:gd name="connsiteX6-85" fmla="*/ 12187 w 1035535"/>
              <a:gd name="connsiteY6-86" fmla="*/ 0 h 807449"/>
              <a:gd name="connsiteX0-87" fmla="*/ 1016121 w 1035535"/>
              <a:gd name="connsiteY0-88" fmla="*/ 13335 h 807449"/>
              <a:gd name="connsiteX1-89" fmla="*/ 776651 w 1035535"/>
              <a:gd name="connsiteY1-90" fmla="*/ 481830 h 807449"/>
              <a:gd name="connsiteX2-91" fmla="*/ 1035535 w 1035535"/>
              <a:gd name="connsiteY2-92" fmla="*/ 481830 h 807449"/>
              <a:gd name="connsiteX3-93" fmla="*/ 517768 w 1035535"/>
              <a:gd name="connsiteY3-94" fmla="*/ 807449 h 807449"/>
              <a:gd name="connsiteX4-95" fmla="*/ 0 w 1035535"/>
              <a:gd name="connsiteY4-96" fmla="*/ 481830 h 807449"/>
              <a:gd name="connsiteX5-97" fmla="*/ 392234 w 1035535"/>
              <a:gd name="connsiteY5-98" fmla="*/ 486592 h 807449"/>
              <a:gd name="connsiteX6-99" fmla="*/ 12187 w 1035535"/>
              <a:gd name="connsiteY6-100" fmla="*/ 0 h 807449"/>
              <a:gd name="connsiteX0-101" fmla="*/ 1016121 w 1035535"/>
              <a:gd name="connsiteY0-102" fmla="*/ 13335 h 807449"/>
              <a:gd name="connsiteX1-103" fmla="*/ 619488 w 1035535"/>
              <a:gd name="connsiteY1-104" fmla="*/ 481830 h 807449"/>
              <a:gd name="connsiteX2-105" fmla="*/ 1035535 w 1035535"/>
              <a:gd name="connsiteY2-106" fmla="*/ 481830 h 807449"/>
              <a:gd name="connsiteX3-107" fmla="*/ 517768 w 1035535"/>
              <a:gd name="connsiteY3-108" fmla="*/ 807449 h 807449"/>
              <a:gd name="connsiteX4-109" fmla="*/ 0 w 1035535"/>
              <a:gd name="connsiteY4-110" fmla="*/ 481830 h 807449"/>
              <a:gd name="connsiteX5-111" fmla="*/ 392234 w 1035535"/>
              <a:gd name="connsiteY5-112" fmla="*/ 486592 h 807449"/>
              <a:gd name="connsiteX6-113" fmla="*/ 12187 w 1035535"/>
              <a:gd name="connsiteY6-114" fmla="*/ 0 h 807449"/>
              <a:gd name="connsiteX0-115" fmla="*/ 1016121 w 1035535"/>
              <a:gd name="connsiteY0-116" fmla="*/ 13335 h 807449"/>
              <a:gd name="connsiteX1-117" fmla="*/ 619488 w 1035535"/>
              <a:gd name="connsiteY1-118" fmla="*/ 481830 h 807449"/>
              <a:gd name="connsiteX2-119" fmla="*/ 1035535 w 1035535"/>
              <a:gd name="connsiteY2-120" fmla="*/ 481830 h 807449"/>
              <a:gd name="connsiteX3-121" fmla="*/ 517768 w 1035535"/>
              <a:gd name="connsiteY3-122" fmla="*/ 807449 h 807449"/>
              <a:gd name="connsiteX4-123" fmla="*/ 0 w 1035535"/>
              <a:gd name="connsiteY4-124" fmla="*/ 481830 h 807449"/>
              <a:gd name="connsiteX5-125" fmla="*/ 392234 w 1035535"/>
              <a:gd name="connsiteY5-126" fmla="*/ 486592 h 807449"/>
              <a:gd name="connsiteX6-127" fmla="*/ 12187 w 1035535"/>
              <a:gd name="connsiteY6-128" fmla="*/ 0 h 807449"/>
              <a:gd name="connsiteX0-129" fmla="*/ 1016121 w 1035535"/>
              <a:gd name="connsiteY0-130" fmla="*/ 13335 h 807449"/>
              <a:gd name="connsiteX1-131" fmla="*/ 619488 w 1035535"/>
              <a:gd name="connsiteY1-132" fmla="*/ 481830 h 807449"/>
              <a:gd name="connsiteX2-133" fmla="*/ 1035535 w 1035535"/>
              <a:gd name="connsiteY2-134" fmla="*/ 481830 h 807449"/>
              <a:gd name="connsiteX3-135" fmla="*/ 517768 w 1035535"/>
              <a:gd name="connsiteY3-136" fmla="*/ 807449 h 807449"/>
              <a:gd name="connsiteX4-137" fmla="*/ 0 w 1035535"/>
              <a:gd name="connsiteY4-138" fmla="*/ 481830 h 807449"/>
              <a:gd name="connsiteX5-139" fmla="*/ 392234 w 1035535"/>
              <a:gd name="connsiteY5-140" fmla="*/ 486592 h 807449"/>
              <a:gd name="connsiteX6-141" fmla="*/ 12187 w 1035535"/>
              <a:gd name="connsiteY6-142" fmla="*/ 0 h 807449"/>
              <a:gd name="connsiteX0-143" fmla="*/ 1044696 w 1044696"/>
              <a:gd name="connsiteY0-144" fmla="*/ 0 h 832214"/>
              <a:gd name="connsiteX1-145" fmla="*/ 619488 w 1044696"/>
              <a:gd name="connsiteY1-146" fmla="*/ 506595 h 832214"/>
              <a:gd name="connsiteX2-147" fmla="*/ 1035535 w 1044696"/>
              <a:gd name="connsiteY2-148" fmla="*/ 506595 h 832214"/>
              <a:gd name="connsiteX3-149" fmla="*/ 517768 w 1044696"/>
              <a:gd name="connsiteY3-150" fmla="*/ 832214 h 832214"/>
              <a:gd name="connsiteX4-151" fmla="*/ 0 w 1044696"/>
              <a:gd name="connsiteY4-152" fmla="*/ 506595 h 832214"/>
              <a:gd name="connsiteX5-153" fmla="*/ 392234 w 1044696"/>
              <a:gd name="connsiteY5-154" fmla="*/ 511357 h 832214"/>
              <a:gd name="connsiteX6-155" fmla="*/ 12187 w 1044696"/>
              <a:gd name="connsiteY6-156" fmla="*/ 24765 h 832214"/>
              <a:gd name="connsiteX0-157" fmla="*/ 1032509 w 1032509"/>
              <a:gd name="connsiteY0-158" fmla="*/ 0 h 832214"/>
              <a:gd name="connsiteX1-159" fmla="*/ 607301 w 1032509"/>
              <a:gd name="connsiteY1-160" fmla="*/ 506595 h 832214"/>
              <a:gd name="connsiteX2-161" fmla="*/ 1023348 w 1032509"/>
              <a:gd name="connsiteY2-162" fmla="*/ 506595 h 832214"/>
              <a:gd name="connsiteX3-163" fmla="*/ 505581 w 1032509"/>
              <a:gd name="connsiteY3-164" fmla="*/ 832214 h 832214"/>
              <a:gd name="connsiteX4-165" fmla="*/ 237844 w 1032509"/>
              <a:gd name="connsiteY4-166" fmla="*/ 508976 h 832214"/>
              <a:gd name="connsiteX5-167" fmla="*/ 380047 w 1032509"/>
              <a:gd name="connsiteY5-168" fmla="*/ 511357 h 832214"/>
              <a:gd name="connsiteX6-169" fmla="*/ 0 w 1032509"/>
              <a:gd name="connsiteY6-170" fmla="*/ 24765 h 832214"/>
              <a:gd name="connsiteX0-171" fmla="*/ 1032509 w 1032509"/>
              <a:gd name="connsiteY0-172" fmla="*/ 0 h 832214"/>
              <a:gd name="connsiteX1-173" fmla="*/ 607301 w 1032509"/>
              <a:gd name="connsiteY1-174" fmla="*/ 506595 h 832214"/>
              <a:gd name="connsiteX2-175" fmla="*/ 804276 w 1032509"/>
              <a:gd name="connsiteY2-176" fmla="*/ 513741 h 832214"/>
              <a:gd name="connsiteX3-177" fmla="*/ 505581 w 1032509"/>
              <a:gd name="connsiteY3-178" fmla="*/ 832214 h 832214"/>
              <a:gd name="connsiteX4-179" fmla="*/ 237844 w 1032509"/>
              <a:gd name="connsiteY4-180" fmla="*/ 508976 h 832214"/>
              <a:gd name="connsiteX5-181" fmla="*/ 380047 w 1032509"/>
              <a:gd name="connsiteY5-182" fmla="*/ 511357 h 832214"/>
              <a:gd name="connsiteX6-183" fmla="*/ 0 w 1032509"/>
              <a:gd name="connsiteY6-184" fmla="*/ 24765 h 832214"/>
              <a:gd name="connsiteX0-185" fmla="*/ 1032509 w 1032509"/>
              <a:gd name="connsiteY0-186" fmla="*/ 0 h 722679"/>
              <a:gd name="connsiteX1-187" fmla="*/ 607301 w 1032509"/>
              <a:gd name="connsiteY1-188" fmla="*/ 506595 h 722679"/>
              <a:gd name="connsiteX2-189" fmla="*/ 804276 w 1032509"/>
              <a:gd name="connsiteY2-190" fmla="*/ 513741 h 722679"/>
              <a:gd name="connsiteX3-191" fmla="*/ 507965 w 1032509"/>
              <a:gd name="connsiteY3-192" fmla="*/ 722679 h 722679"/>
              <a:gd name="connsiteX4-193" fmla="*/ 237844 w 1032509"/>
              <a:gd name="connsiteY4-194" fmla="*/ 508976 h 722679"/>
              <a:gd name="connsiteX5-195" fmla="*/ 380047 w 1032509"/>
              <a:gd name="connsiteY5-196" fmla="*/ 511357 h 722679"/>
              <a:gd name="connsiteX6-197" fmla="*/ 0 w 1032509"/>
              <a:gd name="connsiteY6-198" fmla="*/ 24765 h 722679"/>
              <a:gd name="connsiteX0-199" fmla="*/ 1032509 w 1032509"/>
              <a:gd name="connsiteY0-200" fmla="*/ 0 h 722679"/>
              <a:gd name="connsiteX1-201" fmla="*/ 607301 w 1032509"/>
              <a:gd name="connsiteY1-202" fmla="*/ 506595 h 722679"/>
              <a:gd name="connsiteX2-203" fmla="*/ 804276 w 1032509"/>
              <a:gd name="connsiteY2-204" fmla="*/ 513741 h 722679"/>
              <a:gd name="connsiteX3-205" fmla="*/ 498440 w 1032509"/>
              <a:gd name="connsiteY3-206" fmla="*/ 722679 h 722679"/>
              <a:gd name="connsiteX4-207" fmla="*/ 237844 w 1032509"/>
              <a:gd name="connsiteY4-208" fmla="*/ 508976 h 722679"/>
              <a:gd name="connsiteX5-209" fmla="*/ 380047 w 1032509"/>
              <a:gd name="connsiteY5-210" fmla="*/ 511357 h 722679"/>
              <a:gd name="connsiteX6-211" fmla="*/ 0 w 1032509"/>
              <a:gd name="connsiteY6-212" fmla="*/ 24765 h 722679"/>
              <a:gd name="connsiteX0-213" fmla="*/ 1032509 w 1032509"/>
              <a:gd name="connsiteY0-214" fmla="*/ 0 h 722679"/>
              <a:gd name="connsiteX1-215" fmla="*/ 607301 w 1032509"/>
              <a:gd name="connsiteY1-216" fmla="*/ 506595 h 722679"/>
              <a:gd name="connsiteX2-217" fmla="*/ 792369 w 1032509"/>
              <a:gd name="connsiteY2-218" fmla="*/ 515732 h 722679"/>
              <a:gd name="connsiteX3-219" fmla="*/ 498440 w 1032509"/>
              <a:gd name="connsiteY3-220" fmla="*/ 722679 h 722679"/>
              <a:gd name="connsiteX4-221" fmla="*/ 237844 w 1032509"/>
              <a:gd name="connsiteY4-222" fmla="*/ 508976 h 722679"/>
              <a:gd name="connsiteX5-223" fmla="*/ 380047 w 1032509"/>
              <a:gd name="connsiteY5-224" fmla="*/ 511357 h 722679"/>
              <a:gd name="connsiteX6-225" fmla="*/ 0 w 1032509"/>
              <a:gd name="connsiteY6-226" fmla="*/ 24765 h 722679"/>
              <a:gd name="connsiteX0-227" fmla="*/ 1032509 w 1032509"/>
              <a:gd name="connsiteY0-228" fmla="*/ 0 h 720688"/>
              <a:gd name="connsiteX1-229" fmla="*/ 607301 w 1032509"/>
              <a:gd name="connsiteY1-230" fmla="*/ 506595 h 720688"/>
              <a:gd name="connsiteX2-231" fmla="*/ 792369 w 1032509"/>
              <a:gd name="connsiteY2-232" fmla="*/ 515732 h 720688"/>
              <a:gd name="connsiteX3-233" fmla="*/ 503202 w 1032509"/>
              <a:gd name="connsiteY3-234" fmla="*/ 720688 h 720688"/>
              <a:gd name="connsiteX4-235" fmla="*/ 237844 w 1032509"/>
              <a:gd name="connsiteY4-236" fmla="*/ 508976 h 720688"/>
              <a:gd name="connsiteX5-237" fmla="*/ 380047 w 1032509"/>
              <a:gd name="connsiteY5-238" fmla="*/ 511357 h 720688"/>
              <a:gd name="connsiteX6-239" fmla="*/ 0 w 1032509"/>
              <a:gd name="connsiteY6-240" fmla="*/ 24765 h 720688"/>
              <a:gd name="connsiteX0-241" fmla="*/ 1044414 w 1044414"/>
              <a:gd name="connsiteY0-242" fmla="*/ 0 h 720688"/>
              <a:gd name="connsiteX1-243" fmla="*/ 619206 w 1044414"/>
              <a:gd name="connsiteY1-244" fmla="*/ 506595 h 720688"/>
              <a:gd name="connsiteX2-245" fmla="*/ 804274 w 1044414"/>
              <a:gd name="connsiteY2-246" fmla="*/ 515732 h 720688"/>
              <a:gd name="connsiteX3-247" fmla="*/ 515107 w 1044414"/>
              <a:gd name="connsiteY3-248" fmla="*/ 720688 h 720688"/>
              <a:gd name="connsiteX4-249" fmla="*/ 249749 w 1044414"/>
              <a:gd name="connsiteY4-250" fmla="*/ 508976 h 720688"/>
              <a:gd name="connsiteX5-251" fmla="*/ 391952 w 1044414"/>
              <a:gd name="connsiteY5-252" fmla="*/ 511357 h 720688"/>
              <a:gd name="connsiteX6-253" fmla="*/ 0 w 1044414"/>
              <a:gd name="connsiteY6-254" fmla="*/ 4852 h 720688"/>
              <a:gd name="connsiteX0-255" fmla="*/ 1082514 w 1082514"/>
              <a:gd name="connsiteY0-256" fmla="*/ 0 h 722679"/>
              <a:gd name="connsiteX1-257" fmla="*/ 619206 w 1082514"/>
              <a:gd name="connsiteY1-258" fmla="*/ 508586 h 722679"/>
              <a:gd name="connsiteX2-259" fmla="*/ 804274 w 1082514"/>
              <a:gd name="connsiteY2-260" fmla="*/ 517723 h 722679"/>
              <a:gd name="connsiteX3-261" fmla="*/ 515107 w 1082514"/>
              <a:gd name="connsiteY3-262" fmla="*/ 722679 h 722679"/>
              <a:gd name="connsiteX4-263" fmla="*/ 249749 w 1082514"/>
              <a:gd name="connsiteY4-264" fmla="*/ 510967 h 722679"/>
              <a:gd name="connsiteX5-265" fmla="*/ 391952 w 1082514"/>
              <a:gd name="connsiteY5-266" fmla="*/ 513348 h 722679"/>
              <a:gd name="connsiteX6-267" fmla="*/ 0 w 1082514"/>
              <a:gd name="connsiteY6-268" fmla="*/ 6843 h 722679"/>
              <a:gd name="connsiteX0-269" fmla="*/ 1082514 w 1082514"/>
              <a:gd name="connsiteY0-270" fmla="*/ 0 h 724672"/>
              <a:gd name="connsiteX1-271" fmla="*/ 619206 w 1082514"/>
              <a:gd name="connsiteY1-272" fmla="*/ 508586 h 724672"/>
              <a:gd name="connsiteX2-273" fmla="*/ 804274 w 1082514"/>
              <a:gd name="connsiteY2-274" fmla="*/ 517723 h 724672"/>
              <a:gd name="connsiteX3-275" fmla="*/ 534160 w 1082514"/>
              <a:gd name="connsiteY3-276" fmla="*/ 724672 h 724672"/>
              <a:gd name="connsiteX4-277" fmla="*/ 249749 w 1082514"/>
              <a:gd name="connsiteY4-278" fmla="*/ 510967 h 724672"/>
              <a:gd name="connsiteX5-279" fmla="*/ 391952 w 1082514"/>
              <a:gd name="connsiteY5-280" fmla="*/ 513348 h 724672"/>
              <a:gd name="connsiteX6-281" fmla="*/ 0 w 1082514"/>
              <a:gd name="connsiteY6-282" fmla="*/ 6843 h 724672"/>
              <a:gd name="connsiteX0-283" fmla="*/ 1082514 w 1082514"/>
              <a:gd name="connsiteY0-284" fmla="*/ 0 h 724672"/>
              <a:gd name="connsiteX1-285" fmla="*/ 619206 w 1082514"/>
              <a:gd name="connsiteY1-286" fmla="*/ 508586 h 724672"/>
              <a:gd name="connsiteX2-287" fmla="*/ 804274 w 1082514"/>
              <a:gd name="connsiteY2-288" fmla="*/ 517723 h 724672"/>
              <a:gd name="connsiteX3-289" fmla="*/ 534160 w 1082514"/>
              <a:gd name="connsiteY3-290" fmla="*/ 724672 h 724672"/>
              <a:gd name="connsiteX4-291" fmla="*/ 249749 w 1082514"/>
              <a:gd name="connsiteY4-292" fmla="*/ 510967 h 724672"/>
              <a:gd name="connsiteX5-293" fmla="*/ 380046 w 1082514"/>
              <a:gd name="connsiteY5-294" fmla="*/ 533263 h 724672"/>
              <a:gd name="connsiteX6-295" fmla="*/ 0 w 1082514"/>
              <a:gd name="connsiteY6-296" fmla="*/ 6843 h 724672"/>
              <a:gd name="connsiteX0-297" fmla="*/ 1082514 w 1082514"/>
              <a:gd name="connsiteY0-298" fmla="*/ 0 h 724672"/>
              <a:gd name="connsiteX1-299" fmla="*/ 619206 w 1082514"/>
              <a:gd name="connsiteY1-300" fmla="*/ 508586 h 724672"/>
              <a:gd name="connsiteX2-301" fmla="*/ 804274 w 1082514"/>
              <a:gd name="connsiteY2-302" fmla="*/ 517723 h 724672"/>
              <a:gd name="connsiteX3-303" fmla="*/ 534160 w 1082514"/>
              <a:gd name="connsiteY3-304" fmla="*/ 724672 h 724672"/>
              <a:gd name="connsiteX4-305" fmla="*/ 249749 w 1082514"/>
              <a:gd name="connsiteY4-306" fmla="*/ 510967 h 724672"/>
              <a:gd name="connsiteX5-307" fmla="*/ 380046 w 1082514"/>
              <a:gd name="connsiteY5-308" fmla="*/ 533263 h 724672"/>
              <a:gd name="connsiteX6-309" fmla="*/ 0 w 1082514"/>
              <a:gd name="connsiteY6-310" fmla="*/ 6843 h 724672"/>
              <a:gd name="connsiteX0-311" fmla="*/ 1082514 w 1082514"/>
              <a:gd name="connsiteY0-312" fmla="*/ 0 h 724672"/>
              <a:gd name="connsiteX1-313" fmla="*/ 619206 w 1082514"/>
              <a:gd name="connsiteY1-314" fmla="*/ 508586 h 724672"/>
              <a:gd name="connsiteX2-315" fmla="*/ 804274 w 1082514"/>
              <a:gd name="connsiteY2-316" fmla="*/ 517723 h 724672"/>
              <a:gd name="connsiteX3-317" fmla="*/ 534160 w 1082514"/>
              <a:gd name="connsiteY3-318" fmla="*/ 724672 h 724672"/>
              <a:gd name="connsiteX4-319" fmla="*/ 249749 w 1082514"/>
              <a:gd name="connsiteY4-320" fmla="*/ 510967 h 724672"/>
              <a:gd name="connsiteX5-321" fmla="*/ 380046 w 1082514"/>
              <a:gd name="connsiteY5-322" fmla="*/ 533263 h 724672"/>
              <a:gd name="connsiteX6-323" fmla="*/ 0 w 1082514"/>
              <a:gd name="connsiteY6-324" fmla="*/ 6843 h 724672"/>
              <a:gd name="connsiteX0-325" fmla="*/ 1082514 w 1082514"/>
              <a:gd name="connsiteY0-326" fmla="*/ 0 h 724672"/>
              <a:gd name="connsiteX1-327" fmla="*/ 619206 w 1082514"/>
              <a:gd name="connsiteY1-328" fmla="*/ 508586 h 724672"/>
              <a:gd name="connsiteX2-329" fmla="*/ 804274 w 1082514"/>
              <a:gd name="connsiteY2-330" fmla="*/ 517723 h 724672"/>
              <a:gd name="connsiteX3-331" fmla="*/ 534160 w 1082514"/>
              <a:gd name="connsiteY3-332" fmla="*/ 724672 h 724672"/>
              <a:gd name="connsiteX4-333" fmla="*/ 233080 w 1082514"/>
              <a:gd name="connsiteY4-334" fmla="*/ 526899 h 724672"/>
              <a:gd name="connsiteX5-335" fmla="*/ 380046 w 1082514"/>
              <a:gd name="connsiteY5-336" fmla="*/ 533263 h 724672"/>
              <a:gd name="connsiteX6-337" fmla="*/ 0 w 1082514"/>
              <a:gd name="connsiteY6-338" fmla="*/ 6843 h 724672"/>
              <a:gd name="connsiteX0-339" fmla="*/ 1082514 w 1082514"/>
              <a:gd name="connsiteY0-340" fmla="*/ 0 h 724672"/>
              <a:gd name="connsiteX1-341" fmla="*/ 619206 w 1082514"/>
              <a:gd name="connsiteY1-342" fmla="*/ 508586 h 724672"/>
              <a:gd name="connsiteX2-343" fmla="*/ 804274 w 1082514"/>
              <a:gd name="connsiteY2-344" fmla="*/ 517723 h 724672"/>
              <a:gd name="connsiteX3-345" fmla="*/ 534160 w 1082514"/>
              <a:gd name="connsiteY3-346" fmla="*/ 724672 h 724672"/>
              <a:gd name="connsiteX4-347" fmla="*/ 237842 w 1082514"/>
              <a:gd name="connsiteY4-348" fmla="*/ 532873 h 724672"/>
              <a:gd name="connsiteX5-349" fmla="*/ 380046 w 1082514"/>
              <a:gd name="connsiteY5-350" fmla="*/ 533263 h 724672"/>
              <a:gd name="connsiteX6-351" fmla="*/ 0 w 1082514"/>
              <a:gd name="connsiteY6-352" fmla="*/ 6843 h 724672"/>
              <a:gd name="connsiteX0-353" fmla="*/ 1082514 w 1082514"/>
              <a:gd name="connsiteY0-354" fmla="*/ 0 h 724672"/>
              <a:gd name="connsiteX1-355" fmla="*/ 690644 w 1082514"/>
              <a:gd name="connsiteY1-356" fmla="*/ 532484 h 724672"/>
              <a:gd name="connsiteX2-357" fmla="*/ 804274 w 1082514"/>
              <a:gd name="connsiteY2-358" fmla="*/ 517723 h 724672"/>
              <a:gd name="connsiteX3-359" fmla="*/ 534160 w 1082514"/>
              <a:gd name="connsiteY3-360" fmla="*/ 724672 h 724672"/>
              <a:gd name="connsiteX4-361" fmla="*/ 237842 w 1082514"/>
              <a:gd name="connsiteY4-362" fmla="*/ 532873 h 724672"/>
              <a:gd name="connsiteX5-363" fmla="*/ 380046 w 1082514"/>
              <a:gd name="connsiteY5-364" fmla="*/ 533263 h 724672"/>
              <a:gd name="connsiteX6-365" fmla="*/ 0 w 1082514"/>
              <a:gd name="connsiteY6-366" fmla="*/ 6843 h 724672"/>
              <a:gd name="connsiteX0-367" fmla="*/ 1082514 w 1082514"/>
              <a:gd name="connsiteY0-368" fmla="*/ 0 h 724672"/>
              <a:gd name="connsiteX1-369" fmla="*/ 690644 w 1082514"/>
              <a:gd name="connsiteY1-370" fmla="*/ 532484 h 724672"/>
              <a:gd name="connsiteX2-371" fmla="*/ 804274 w 1082514"/>
              <a:gd name="connsiteY2-372" fmla="*/ 517723 h 724672"/>
              <a:gd name="connsiteX3-373" fmla="*/ 534160 w 1082514"/>
              <a:gd name="connsiteY3-374" fmla="*/ 724672 h 724672"/>
              <a:gd name="connsiteX4-375" fmla="*/ 237842 w 1082514"/>
              <a:gd name="connsiteY4-376" fmla="*/ 532873 h 724672"/>
              <a:gd name="connsiteX5-377" fmla="*/ 380046 w 1082514"/>
              <a:gd name="connsiteY5-378" fmla="*/ 533263 h 724672"/>
              <a:gd name="connsiteX6-379" fmla="*/ 0 w 1082514"/>
              <a:gd name="connsiteY6-380" fmla="*/ 6843 h 724672"/>
              <a:gd name="connsiteX0-381" fmla="*/ 1082514 w 1082514"/>
              <a:gd name="connsiteY0-382" fmla="*/ 0 h 724672"/>
              <a:gd name="connsiteX1-383" fmla="*/ 690644 w 1082514"/>
              <a:gd name="connsiteY1-384" fmla="*/ 532484 h 724672"/>
              <a:gd name="connsiteX2-385" fmla="*/ 830468 w 1082514"/>
              <a:gd name="connsiteY2-386" fmla="*/ 531664 h 724672"/>
              <a:gd name="connsiteX3-387" fmla="*/ 534160 w 1082514"/>
              <a:gd name="connsiteY3-388" fmla="*/ 724672 h 724672"/>
              <a:gd name="connsiteX4-389" fmla="*/ 237842 w 1082514"/>
              <a:gd name="connsiteY4-390" fmla="*/ 532873 h 724672"/>
              <a:gd name="connsiteX5-391" fmla="*/ 380046 w 1082514"/>
              <a:gd name="connsiteY5-392" fmla="*/ 533263 h 724672"/>
              <a:gd name="connsiteX6-393" fmla="*/ 0 w 1082514"/>
              <a:gd name="connsiteY6-394" fmla="*/ 6843 h 724672"/>
              <a:gd name="connsiteX0-395" fmla="*/ 1082514 w 1082514"/>
              <a:gd name="connsiteY0-396" fmla="*/ 0 h 724672"/>
              <a:gd name="connsiteX1-397" fmla="*/ 690644 w 1082514"/>
              <a:gd name="connsiteY1-398" fmla="*/ 532484 h 724672"/>
              <a:gd name="connsiteX2-399" fmla="*/ 830468 w 1082514"/>
              <a:gd name="connsiteY2-400" fmla="*/ 531664 h 724672"/>
              <a:gd name="connsiteX3-401" fmla="*/ 534160 w 1082514"/>
              <a:gd name="connsiteY3-402" fmla="*/ 724672 h 724672"/>
              <a:gd name="connsiteX4-403" fmla="*/ 237842 w 1082514"/>
              <a:gd name="connsiteY4-404" fmla="*/ 532873 h 724672"/>
              <a:gd name="connsiteX5-405" fmla="*/ 434815 w 1082514"/>
              <a:gd name="connsiteY5-406" fmla="*/ 533263 h 724672"/>
              <a:gd name="connsiteX6-407" fmla="*/ 0 w 1082514"/>
              <a:gd name="connsiteY6-408" fmla="*/ 6843 h 724672"/>
              <a:gd name="connsiteX0-409" fmla="*/ 1082514 w 1082514"/>
              <a:gd name="connsiteY0-410" fmla="*/ 0 h 724672"/>
              <a:gd name="connsiteX1-411" fmla="*/ 690644 w 1082514"/>
              <a:gd name="connsiteY1-412" fmla="*/ 532484 h 724672"/>
              <a:gd name="connsiteX2-413" fmla="*/ 830468 w 1082514"/>
              <a:gd name="connsiteY2-414" fmla="*/ 531664 h 724672"/>
              <a:gd name="connsiteX3-415" fmla="*/ 534160 w 1082514"/>
              <a:gd name="connsiteY3-416" fmla="*/ 724672 h 724672"/>
              <a:gd name="connsiteX4-417" fmla="*/ 297373 w 1082514"/>
              <a:gd name="connsiteY4-418" fmla="*/ 532873 h 724672"/>
              <a:gd name="connsiteX5-419" fmla="*/ 434815 w 1082514"/>
              <a:gd name="connsiteY5-420" fmla="*/ 533263 h 724672"/>
              <a:gd name="connsiteX6-421" fmla="*/ 0 w 1082514"/>
              <a:gd name="connsiteY6-422" fmla="*/ 6843 h 724672"/>
              <a:gd name="connsiteX0-423" fmla="*/ 1082514 w 1082514"/>
              <a:gd name="connsiteY0-424" fmla="*/ 0 h 724672"/>
              <a:gd name="connsiteX1-425" fmla="*/ 690644 w 1082514"/>
              <a:gd name="connsiteY1-426" fmla="*/ 532484 h 724672"/>
              <a:gd name="connsiteX2-427" fmla="*/ 768555 w 1082514"/>
              <a:gd name="connsiteY2-428" fmla="*/ 531664 h 724672"/>
              <a:gd name="connsiteX3-429" fmla="*/ 534160 w 1082514"/>
              <a:gd name="connsiteY3-430" fmla="*/ 724672 h 724672"/>
              <a:gd name="connsiteX4-431" fmla="*/ 297373 w 1082514"/>
              <a:gd name="connsiteY4-432" fmla="*/ 532873 h 724672"/>
              <a:gd name="connsiteX5-433" fmla="*/ 434815 w 1082514"/>
              <a:gd name="connsiteY5-434" fmla="*/ 533263 h 724672"/>
              <a:gd name="connsiteX6-435" fmla="*/ 0 w 1082514"/>
              <a:gd name="connsiteY6-436" fmla="*/ 6843 h 724672"/>
              <a:gd name="connsiteX0-437" fmla="*/ 1082514 w 1082514"/>
              <a:gd name="connsiteY0-438" fmla="*/ 0 h 724672"/>
              <a:gd name="connsiteX1-439" fmla="*/ 638256 w 1082514"/>
              <a:gd name="connsiteY1-440" fmla="*/ 534476 h 724672"/>
              <a:gd name="connsiteX2-441" fmla="*/ 768555 w 1082514"/>
              <a:gd name="connsiteY2-442" fmla="*/ 531664 h 724672"/>
              <a:gd name="connsiteX3-443" fmla="*/ 534160 w 1082514"/>
              <a:gd name="connsiteY3-444" fmla="*/ 724672 h 724672"/>
              <a:gd name="connsiteX4-445" fmla="*/ 297373 w 1082514"/>
              <a:gd name="connsiteY4-446" fmla="*/ 532873 h 724672"/>
              <a:gd name="connsiteX5-447" fmla="*/ 434815 w 1082514"/>
              <a:gd name="connsiteY5-448" fmla="*/ 533263 h 724672"/>
              <a:gd name="connsiteX6-449" fmla="*/ 0 w 1082514"/>
              <a:gd name="connsiteY6-450" fmla="*/ 6843 h 7246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D17D"/>
              </a:gs>
              <a:gs pos="100000">
                <a:schemeClr val="bg1">
                  <a:alpha val="0"/>
                </a:schemeClr>
              </a:gs>
            </a:gsLst>
            <a:lin ang="16200000" scaled="1"/>
            <a:tileRect/>
          </a:gradFill>
          <a:ln w="19050">
            <a:gradFill flip="none" rotWithShape="1">
              <a:gsLst>
                <a:gs pos="100000">
                  <a:schemeClr val="bg1">
                    <a:lumMod val="100000"/>
                    <a:alpha val="0"/>
                  </a:schemeClr>
                </a:gs>
                <a:gs pos="31000">
                  <a:srgbClr val="FF9933"/>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9" name="组合 48"/>
          <p:cNvGrpSpPr/>
          <p:nvPr/>
        </p:nvGrpSpPr>
        <p:grpSpPr>
          <a:xfrm>
            <a:off x="7800417" y="2627151"/>
            <a:ext cx="288000" cy="288000"/>
            <a:chOff x="856677" y="2615810"/>
            <a:chExt cx="288000" cy="288000"/>
          </a:xfrm>
        </p:grpSpPr>
        <p:sp>
          <p:nvSpPr>
            <p:cNvPr id="50" name="椭圆 49"/>
            <p:cNvSpPr/>
            <p:nvPr/>
          </p:nvSpPr>
          <p:spPr>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1" name="组合 50"/>
            <p:cNvGrpSpPr/>
            <p:nvPr/>
          </p:nvGrpSpPr>
          <p:grpSpPr>
            <a:xfrm>
              <a:off x="923444" y="2692169"/>
              <a:ext cx="144001" cy="144002"/>
              <a:chOff x="898853" y="2657982"/>
              <a:chExt cx="203649" cy="203652"/>
            </a:xfrm>
          </p:grpSpPr>
          <p:cxnSp>
            <p:nvCxnSpPr>
              <p:cNvPr id="52" name="直接连接符 51"/>
              <p:cNvCxnSpPr>
                <a:stCxn id="50" idx="3"/>
                <a:endCxn id="50" idx="7"/>
              </p:cNvCxnSpPr>
              <p:nvPr/>
            </p:nvCxnSpPr>
            <p:spPr>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53" name="直接连接符 52"/>
              <p:cNvCxnSpPr>
                <a:stCxn id="50" idx="1"/>
                <a:endCxn id="50" idx="5"/>
              </p:cNvCxnSpPr>
              <p:nvPr/>
            </p:nvCxnSpPr>
            <p:spPr>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问答：二层及三层环路</a:t>
            </a:r>
            <a:endParaRPr lang="zh-CN" altLang="en-US" dirty="0">
              <a:sym typeface="Huawei Sans" panose="020C0503030203020204" pitchFamily="34" charset="0"/>
            </a:endParaRPr>
          </a:p>
        </p:txBody>
      </p:sp>
      <p:sp>
        <p:nvSpPr>
          <p:cNvPr id="23" name="TextBox 18"/>
          <p:cNvSpPr txBox="1"/>
          <p:nvPr/>
        </p:nvSpPr>
        <p:spPr>
          <a:xfrm>
            <a:off x="1017092" y="4178529"/>
            <a:ext cx="4063830" cy="1409938"/>
          </a:xfrm>
          <a:prstGeom prst="rect">
            <a:avLst/>
          </a:prstGeom>
          <a:noFill/>
        </p:spPr>
        <p:txBody>
          <a:bodyPr wrap="square" rtlCol="0">
            <a:spAutoFit/>
          </a:bodyPr>
          <a:lstStyle/>
          <a:p>
            <a:pPr marL="285750" indent="-285750" fontAlgn="auto">
              <a:lnSpc>
                <a:spcPct val="1200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常见根因：路由环路；</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ct val="1200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动态路由协议有一定的防环能力；</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ct val="120000"/>
              </a:lnSpc>
              <a:spcBef>
                <a:spcPts val="0"/>
              </a:spcBef>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报文头部中的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TTL</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字段可用于防止报文被无止尽地转发。</a:t>
            </a:r>
          </a:p>
        </p:txBody>
      </p:sp>
      <p:sp>
        <p:nvSpPr>
          <p:cNvPr id="42" name="TextBox 18"/>
          <p:cNvSpPr txBox="1"/>
          <p:nvPr/>
        </p:nvSpPr>
        <p:spPr>
          <a:xfrm>
            <a:off x="6507067" y="4178529"/>
            <a:ext cx="4185384" cy="1705403"/>
          </a:xfrm>
          <a:prstGeom prst="rect">
            <a:avLst/>
          </a:prstGeom>
          <a:noFill/>
        </p:spPr>
        <p:txBody>
          <a:bodyPr wrap="square" rtlCol="0">
            <a:spAutoFit/>
          </a:bodyPr>
          <a:lstStyle/>
          <a:p>
            <a:pPr marL="285750" indent="-285750" fontAlgn="auto">
              <a:lnSpc>
                <a:spcPct val="1200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常见根因：网络中部署了二层冗余环境，或人为的误接线缆导致；</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ct val="1200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需借助特定的协议或机制实现二层防环；</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ct val="1200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二层帧头中并没有任何信息可用于防止数据帧被无止尽地转发。</a:t>
            </a:r>
          </a:p>
        </p:txBody>
      </p:sp>
      <p:sp>
        <p:nvSpPr>
          <p:cNvPr id="24" name="圆角矩形 75"/>
          <p:cNvSpPr/>
          <p:nvPr/>
        </p:nvSpPr>
        <p:spPr>
          <a:xfrm>
            <a:off x="6134472" y="1435613"/>
            <a:ext cx="5532980"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二层环路（</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Layer 2 Loop</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5" name="圆角矩形 75"/>
          <p:cNvSpPr/>
          <p:nvPr/>
        </p:nvSpPr>
        <p:spPr>
          <a:xfrm>
            <a:off x="524549" y="1435613"/>
            <a:ext cx="5532980"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三层环路（</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Layer 3 Loop</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6" name="圆角矩形 75"/>
          <p:cNvSpPr/>
          <p:nvPr/>
        </p:nvSpPr>
        <p:spPr>
          <a:xfrm>
            <a:off x="6134472" y="1874414"/>
            <a:ext cx="5532980" cy="421888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7" name="圆角矩形 75"/>
          <p:cNvSpPr/>
          <p:nvPr/>
        </p:nvSpPr>
        <p:spPr>
          <a:xfrm>
            <a:off x="524549" y="1874414"/>
            <a:ext cx="5532980" cy="421888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fontAlgn="ctr"/>
            <a:endParaRPr lang="en-US" altLang="zh-CN" sz="1600" b="1" dirty="0">
              <a:solidFill>
                <a:schemeClr val="tx1">
                  <a:lumMod val="75000"/>
                  <a:lumOff val="2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62" name="组合 61"/>
          <p:cNvGrpSpPr/>
          <p:nvPr/>
        </p:nvGrpSpPr>
        <p:grpSpPr>
          <a:xfrm flipV="1">
            <a:off x="7579497" y="2426721"/>
            <a:ext cx="2745630" cy="1250892"/>
            <a:chOff x="6600056" y="4353447"/>
            <a:chExt cx="1296144" cy="833967"/>
          </a:xfrm>
        </p:grpSpPr>
        <p:cxnSp>
          <p:nvCxnSpPr>
            <p:cNvPr id="63" name="直接连接符 62"/>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5" name="直接连接符 64"/>
          <p:cNvCxnSpPr/>
          <p:nvPr/>
        </p:nvCxnSpPr>
        <p:spPr>
          <a:xfrm flipH="1">
            <a:off x="7445441" y="2366035"/>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0" name="图片 76" descr="接入交换机.png"/>
          <p:cNvPicPr>
            <a:picLocks noChangeAspect="1"/>
          </p:cNvPicPr>
          <p:nvPr/>
        </p:nvPicPr>
        <p:blipFill>
          <a:blip r:embed="rId3" cstate="print"/>
          <a:stretch>
            <a:fillRect/>
          </a:stretch>
        </p:blipFill>
        <p:spPr>
          <a:xfrm>
            <a:off x="7212174" y="2180491"/>
            <a:ext cx="490909" cy="401653"/>
          </a:xfrm>
          <a:prstGeom prst="rect">
            <a:avLst/>
          </a:prstGeom>
        </p:spPr>
      </p:pic>
      <p:pic>
        <p:nvPicPr>
          <p:cNvPr id="71" name="图片 76" descr="接入交换机.png"/>
          <p:cNvPicPr>
            <a:picLocks noChangeAspect="1"/>
          </p:cNvPicPr>
          <p:nvPr/>
        </p:nvPicPr>
        <p:blipFill>
          <a:blip r:embed="rId3" cstate="print"/>
          <a:stretch>
            <a:fillRect/>
          </a:stretch>
        </p:blipFill>
        <p:spPr>
          <a:xfrm>
            <a:off x="10201542" y="2180491"/>
            <a:ext cx="490909" cy="401653"/>
          </a:xfrm>
          <a:prstGeom prst="rect">
            <a:avLst/>
          </a:prstGeom>
        </p:spPr>
      </p:pic>
      <p:pic>
        <p:nvPicPr>
          <p:cNvPr id="72" name="图片 76" descr="接入交换机.png"/>
          <p:cNvPicPr>
            <a:picLocks noChangeAspect="1"/>
          </p:cNvPicPr>
          <p:nvPr/>
        </p:nvPicPr>
        <p:blipFill>
          <a:blip r:embed="rId3" cstate="print"/>
          <a:stretch>
            <a:fillRect/>
          </a:stretch>
        </p:blipFill>
        <p:spPr>
          <a:xfrm>
            <a:off x="8706858" y="3454671"/>
            <a:ext cx="490909" cy="401653"/>
          </a:xfrm>
          <a:prstGeom prst="rect">
            <a:avLst/>
          </a:prstGeom>
        </p:spPr>
      </p:pic>
      <p:grpSp>
        <p:nvGrpSpPr>
          <p:cNvPr id="78" name="组合 77"/>
          <p:cNvGrpSpPr/>
          <p:nvPr/>
        </p:nvGrpSpPr>
        <p:grpSpPr>
          <a:xfrm flipV="1">
            <a:off x="1791252" y="2426721"/>
            <a:ext cx="2745630" cy="1250892"/>
            <a:chOff x="6600056" y="4353447"/>
            <a:chExt cx="1296144" cy="833967"/>
          </a:xfrm>
        </p:grpSpPr>
        <p:cxnSp>
          <p:nvCxnSpPr>
            <p:cNvPr id="79" name="直接连接符 78"/>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1" name="直接连接符 80"/>
          <p:cNvCxnSpPr/>
          <p:nvPr/>
        </p:nvCxnSpPr>
        <p:spPr>
          <a:xfrm flipH="1">
            <a:off x="1673480" y="2366035"/>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2"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1452571" y="2183639"/>
            <a:ext cx="490909" cy="401652"/>
          </a:xfrm>
          <a:prstGeom prst="rect">
            <a:avLst/>
          </a:prstGeom>
          <a:noFill/>
        </p:spPr>
      </p:pic>
      <p:pic>
        <p:nvPicPr>
          <p:cNvPr id="8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4384654" y="2183639"/>
            <a:ext cx="490909" cy="401652"/>
          </a:xfrm>
          <a:prstGeom prst="rect">
            <a:avLst/>
          </a:prstGeom>
          <a:noFill/>
        </p:spPr>
      </p:pic>
      <p:pic>
        <p:nvPicPr>
          <p:cNvPr id="8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auto">
          <a:xfrm>
            <a:off x="2918613" y="3459396"/>
            <a:ext cx="490909" cy="401652"/>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生成树协议在园区网络中的应用位置</a:t>
            </a:r>
            <a:endParaRPr lang="zh-CN" altLang="en-US" dirty="0">
              <a:sym typeface="Huawei Sans" panose="020C0503030203020204" pitchFamily="34" charset="0"/>
            </a:endParaRPr>
          </a:p>
        </p:txBody>
      </p:sp>
      <p:grpSp>
        <p:nvGrpSpPr>
          <p:cNvPr id="103" name="组合 102"/>
          <p:cNvGrpSpPr/>
          <p:nvPr/>
        </p:nvGrpSpPr>
        <p:grpSpPr>
          <a:xfrm>
            <a:off x="3811972" y="4229729"/>
            <a:ext cx="1537449" cy="1229328"/>
            <a:chOff x="1186436" y="4371649"/>
            <a:chExt cx="2388156" cy="722762"/>
          </a:xfrm>
        </p:grpSpPr>
        <p:cxnSp>
          <p:nvCxnSpPr>
            <p:cNvPr id="104" name="直接连接符 103"/>
            <p:cNvCxnSpPr/>
            <p:nvPr/>
          </p:nvCxnSpPr>
          <p:spPr>
            <a:xfrm>
              <a:off x="1211124" y="4371651"/>
              <a:ext cx="0"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3566910" y="4371651"/>
              <a:ext cx="0"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1211124" y="4371651"/>
              <a:ext cx="2355785"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V="1">
              <a:off x="1186436" y="4371649"/>
              <a:ext cx="2388156" cy="7227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0" name="文本框 109"/>
          <p:cNvSpPr txBox="1"/>
          <p:nvPr/>
        </p:nvSpPr>
        <p:spPr>
          <a:xfrm>
            <a:off x="4255999" y="5089725"/>
            <a:ext cx="543739" cy="369332"/>
          </a:xfrm>
          <a:prstGeom prst="rect">
            <a:avLst/>
          </a:prstGeom>
          <a:noFill/>
        </p:spPr>
        <p:txBody>
          <a:bodyPr wrap="none" rtlCol="0">
            <a:spAutoFit/>
          </a:bodyPr>
          <a:lstStyle/>
          <a:p>
            <a:pPr fontAlgn="auto">
              <a:spcBef>
                <a:spcPts val="0"/>
              </a:spcBef>
              <a:spcAft>
                <a:spcPts val="0"/>
              </a:spcAft>
            </a:pPr>
            <a:r>
              <a:rPr lang="en-US" altLang="zh-CN" sz="18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8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7" name="直接连接符 36"/>
          <p:cNvCxnSpPr/>
          <p:nvPr/>
        </p:nvCxnSpPr>
        <p:spPr>
          <a:xfrm>
            <a:off x="3970996" y="4200382"/>
            <a:ext cx="1219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6268739" y="4200382"/>
            <a:ext cx="1219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8533939" y="4200382"/>
            <a:ext cx="1219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6151971" y="1431510"/>
            <a:ext cx="1499380" cy="751490"/>
            <a:chOff x="6600056" y="4353447"/>
            <a:chExt cx="1296144" cy="833967"/>
          </a:xfrm>
        </p:grpSpPr>
        <p:cxnSp>
          <p:nvCxnSpPr>
            <p:cNvPr id="10" name="直接连接符 9"/>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3825788" y="3111357"/>
            <a:ext cx="6134459" cy="1076994"/>
            <a:chOff x="6600056" y="4353447"/>
            <a:chExt cx="1716248" cy="833967"/>
          </a:xfrm>
        </p:grpSpPr>
        <p:cxnSp>
          <p:nvCxnSpPr>
            <p:cNvPr id="16" name="直接连接符 15"/>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668232"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702226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227425"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 name="直接连接符 19"/>
          <p:cNvCxnSpPr/>
          <p:nvPr/>
        </p:nvCxnSpPr>
        <p:spPr>
          <a:xfrm>
            <a:off x="6293569" y="2260114"/>
            <a:ext cx="1219400"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293570" y="3101003"/>
            <a:ext cx="1219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组合 24"/>
          <p:cNvGrpSpPr/>
          <p:nvPr/>
        </p:nvGrpSpPr>
        <p:grpSpPr>
          <a:xfrm>
            <a:off x="6151971" y="2285514"/>
            <a:ext cx="1516610" cy="1952972"/>
            <a:chOff x="1211124" y="4371651"/>
            <a:chExt cx="2355786" cy="722760"/>
          </a:xfrm>
        </p:grpSpPr>
        <p:cxnSp>
          <p:nvCxnSpPr>
            <p:cNvPr id="26" name="直接连接符 25"/>
            <p:cNvCxnSpPr/>
            <p:nvPr/>
          </p:nvCxnSpPr>
          <p:spPr>
            <a:xfrm>
              <a:off x="1211124" y="4371651"/>
              <a:ext cx="0"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566910" y="4371651"/>
              <a:ext cx="0"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3" name="组合 42"/>
          <p:cNvGrpSpPr/>
          <p:nvPr/>
        </p:nvGrpSpPr>
        <p:grpSpPr>
          <a:xfrm>
            <a:off x="6136077" y="4229729"/>
            <a:ext cx="1537449" cy="1229328"/>
            <a:chOff x="1186436" y="4371649"/>
            <a:chExt cx="2388156" cy="722762"/>
          </a:xfrm>
        </p:grpSpPr>
        <p:cxnSp>
          <p:nvCxnSpPr>
            <p:cNvPr id="44" name="直接连接符 43"/>
            <p:cNvCxnSpPr/>
            <p:nvPr/>
          </p:nvCxnSpPr>
          <p:spPr>
            <a:xfrm>
              <a:off x="1211124" y="4371651"/>
              <a:ext cx="0"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3566910" y="4371651"/>
              <a:ext cx="0"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1211124" y="4371651"/>
              <a:ext cx="2355785"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1186436" y="4371649"/>
              <a:ext cx="2388156" cy="7227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5" name="文本框 54"/>
          <p:cNvSpPr txBox="1"/>
          <p:nvPr/>
        </p:nvSpPr>
        <p:spPr>
          <a:xfrm>
            <a:off x="6580104" y="5089725"/>
            <a:ext cx="543739" cy="369332"/>
          </a:xfrm>
          <a:prstGeom prst="rect">
            <a:avLst/>
          </a:prstGeom>
          <a:noFill/>
        </p:spPr>
        <p:txBody>
          <a:bodyPr wrap="none" rtlCol="0">
            <a:spAutoFit/>
          </a:bodyPr>
          <a:lstStyle/>
          <a:p>
            <a:pPr fontAlgn="auto">
              <a:spcBef>
                <a:spcPts val="0"/>
              </a:spcBef>
              <a:spcAft>
                <a:spcPts val="0"/>
              </a:spcAft>
            </a:pPr>
            <a:r>
              <a:rPr lang="en-US" altLang="zh-CN" sz="18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8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6" name="组合 55"/>
          <p:cNvGrpSpPr/>
          <p:nvPr/>
        </p:nvGrpSpPr>
        <p:grpSpPr>
          <a:xfrm>
            <a:off x="8458651" y="4229729"/>
            <a:ext cx="1537449" cy="1229328"/>
            <a:chOff x="1186436" y="4371649"/>
            <a:chExt cx="2388156" cy="722762"/>
          </a:xfrm>
        </p:grpSpPr>
        <p:cxnSp>
          <p:nvCxnSpPr>
            <p:cNvPr id="57" name="直接连接符 56"/>
            <p:cNvCxnSpPr/>
            <p:nvPr/>
          </p:nvCxnSpPr>
          <p:spPr>
            <a:xfrm>
              <a:off x="1211124" y="4371651"/>
              <a:ext cx="0"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3566910" y="4371651"/>
              <a:ext cx="0"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1211124" y="4371651"/>
              <a:ext cx="2355785"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V="1">
              <a:off x="1186436" y="4371649"/>
              <a:ext cx="2388156" cy="7227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8" name="文本框 67"/>
          <p:cNvSpPr txBox="1"/>
          <p:nvPr/>
        </p:nvSpPr>
        <p:spPr>
          <a:xfrm>
            <a:off x="8902678" y="5089725"/>
            <a:ext cx="543739" cy="369332"/>
          </a:xfrm>
          <a:prstGeom prst="rect">
            <a:avLst/>
          </a:prstGeom>
          <a:noFill/>
        </p:spPr>
        <p:txBody>
          <a:bodyPr wrap="none" rtlCol="0">
            <a:spAutoFit/>
          </a:bodyPr>
          <a:lstStyle/>
          <a:p>
            <a:pPr fontAlgn="auto">
              <a:spcBef>
                <a:spcPts val="0"/>
              </a:spcBef>
              <a:spcAft>
                <a:spcPts val="0"/>
              </a:spcAft>
            </a:pPr>
            <a:r>
              <a:rPr lang="en-US" altLang="zh-CN" sz="18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8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6" name="组合 75"/>
          <p:cNvGrpSpPr/>
          <p:nvPr/>
        </p:nvGrpSpPr>
        <p:grpSpPr>
          <a:xfrm>
            <a:off x="6385975" y="1116721"/>
            <a:ext cx="1031372" cy="689604"/>
            <a:chOff x="10115549" y="2169453"/>
            <a:chExt cx="1304009" cy="871898"/>
          </a:xfrm>
        </p:grpSpPr>
        <p:grpSp>
          <p:nvGrpSpPr>
            <p:cNvPr id="77" name="组合 76"/>
            <p:cNvGrpSpPr/>
            <p:nvPr/>
          </p:nvGrpSpPr>
          <p:grpSpPr>
            <a:xfrm>
              <a:off x="10115549" y="2169453"/>
              <a:ext cx="1304009" cy="871898"/>
              <a:chOff x="10125075" y="5439766"/>
              <a:chExt cx="1304009" cy="871898"/>
            </a:xfrm>
          </p:grpSpPr>
          <p:sp>
            <p:nvSpPr>
              <p:cNvPr id="84" name="矩形 83"/>
              <p:cNvSpPr/>
              <p:nvPr/>
            </p:nvSpPr>
            <p:spPr>
              <a:xfrm>
                <a:off x="10472174" y="5924694"/>
                <a:ext cx="647760" cy="386970"/>
              </a:xfrm>
              <a:prstGeom prst="rect">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椭圆 84"/>
              <p:cNvSpPr/>
              <p:nvPr/>
            </p:nvSpPr>
            <p:spPr>
              <a:xfrm>
                <a:off x="10379358" y="5439766"/>
                <a:ext cx="604768" cy="60476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椭圆 85"/>
              <p:cNvSpPr/>
              <p:nvPr/>
            </p:nvSpPr>
            <p:spPr>
              <a:xfrm>
                <a:off x="10125075" y="5625254"/>
                <a:ext cx="703036" cy="68641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椭圆 86"/>
              <p:cNvSpPr/>
              <p:nvPr/>
            </p:nvSpPr>
            <p:spPr>
              <a:xfrm>
                <a:off x="10792751" y="5675331"/>
                <a:ext cx="636333" cy="636333"/>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椭圆 87"/>
              <p:cNvSpPr/>
              <p:nvPr/>
            </p:nvSpPr>
            <p:spPr>
              <a:xfrm>
                <a:off x="10723031" y="5515085"/>
                <a:ext cx="463257" cy="46325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8" name="组合 77"/>
            <p:cNvGrpSpPr/>
            <p:nvPr/>
          </p:nvGrpSpPr>
          <p:grpSpPr>
            <a:xfrm>
              <a:off x="10167622" y="2234547"/>
              <a:ext cx="1193311" cy="762588"/>
              <a:chOff x="10181272" y="5508114"/>
              <a:chExt cx="1193311" cy="762588"/>
            </a:xfrm>
          </p:grpSpPr>
          <p:sp>
            <p:nvSpPr>
              <p:cNvPr id="79" name="椭圆 78"/>
              <p:cNvSpPr/>
              <p:nvPr/>
            </p:nvSpPr>
            <p:spPr>
              <a:xfrm>
                <a:off x="10463850" y="5508114"/>
                <a:ext cx="512609" cy="5126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椭圆 79"/>
              <p:cNvSpPr/>
              <p:nvPr/>
            </p:nvSpPr>
            <p:spPr>
              <a:xfrm>
                <a:off x="10181272" y="5697686"/>
                <a:ext cx="573015" cy="5730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椭圆 80"/>
              <p:cNvSpPr/>
              <p:nvPr/>
            </p:nvSpPr>
            <p:spPr>
              <a:xfrm>
                <a:off x="10798583" y="5694702"/>
                <a:ext cx="576000" cy="57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椭圆 81"/>
              <p:cNvSpPr/>
              <p:nvPr/>
            </p:nvSpPr>
            <p:spPr>
              <a:xfrm>
                <a:off x="10805839" y="5569393"/>
                <a:ext cx="345057" cy="34505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矩形 82"/>
              <p:cNvSpPr/>
              <p:nvPr/>
            </p:nvSpPr>
            <p:spPr>
              <a:xfrm>
                <a:off x="10454799" y="5883732"/>
                <a:ext cx="647760" cy="3869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89" name="矩形 88"/>
          <p:cNvSpPr/>
          <p:nvPr/>
        </p:nvSpPr>
        <p:spPr>
          <a:xfrm>
            <a:off x="6462277" y="1345794"/>
            <a:ext cx="878767" cy="323165"/>
          </a:xfrm>
          <a:prstGeom prst="rect">
            <a:avLst/>
          </a:prstGeom>
          <a:noFill/>
        </p:spPr>
        <p:txBody>
          <a:bodyPr wrap="none">
            <a:spAutoFit/>
          </a:bodyPr>
          <a:lstStyle/>
          <a:p>
            <a:pPr algn="ctr" defTabSz="814705" fontAlgn="auto">
              <a:spcBef>
                <a:spcPts val="0"/>
              </a:spcBef>
              <a:spcAft>
                <a:spcPts val="0"/>
              </a:spcAft>
              <a:buClr>
                <a:srgbClr val="4F81BD"/>
              </a:buClr>
              <a:buSzPct val="100000"/>
            </a:pPr>
            <a:r>
              <a:rPr lang="en-US" altLang="zh-CN" sz="15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Internet</a:t>
            </a:r>
            <a:endParaRPr lang="zh-CN" altLang="en-US" sz="1500" kern="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cxnSp>
        <p:nvCxnSpPr>
          <p:cNvPr id="112" name="直接连接符 111"/>
          <p:cNvCxnSpPr/>
          <p:nvPr/>
        </p:nvCxnSpPr>
        <p:spPr>
          <a:xfrm flipH="1">
            <a:off x="1505485" y="3101003"/>
            <a:ext cx="4044942"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flipV="1">
            <a:off x="1505485" y="4188351"/>
            <a:ext cx="1891506"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V="1">
            <a:off x="1867756" y="3111358"/>
            <a:ext cx="0" cy="1076993"/>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20" name="文本框 119"/>
          <p:cNvSpPr txBox="1"/>
          <p:nvPr/>
        </p:nvSpPr>
        <p:spPr>
          <a:xfrm>
            <a:off x="1343242" y="3465188"/>
            <a:ext cx="1005403" cy="369653"/>
          </a:xfrm>
          <a:prstGeom prst="rect">
            <a:avLst/>
          </a:prstGeom>
          <a:solidFill>
            <a:schemeClr val="bg1"/>
          </a:solidFill>
        </p:spPr>
        <p:txBody>
          <a:bodyPr wrap="none" rtlCol="0">
            <a:spAutoFit/>
          </a:bodyPr>
          <a:lstStyle/>
          <a:p>
            <a:pPr fontAlgn="auto">
              <a:lnSpc>
                <a:spcPct val="120000"/>
              </a:lnSpc>
              <a:spcBef>
                <a:spcPts val="0"/>
              </a:spcBef>
              <a:spcAft>
                <a:spcPts val="0"/>
              </a:spcAft>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三层网络</a:t>
            </a:r>
          </a:p>
        </p:txBody>
      </p:sp>
      <p:cxnSp>
        <p:nvCxnSpPr>
          <p:cNvPr id="121" name="直接连接符 120"/>
          <p:cNvCxnSpPr/>
          <p:nvPr/>
        </p:nvCxnSpPr>
        <p:spPr>
          <a:xfrm flipH="1" flipV="1">
            <a:off x="1505485" y="5432707"/>
            <a:ext cx="1891506"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1867756" y="4188352"/>
            <a:ext cx="0" cy="1244355"/>
          </a:xfrm>
          <a:prstGeom prst="line">
            <a:avLst/>
          </a:prstGeom>
          <a:ln w="1905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24" name="文本框 123"/>
          <p:cNvSpPr txBox="1"/>
          <p:nvPr/>
        </p:nvSpPr>
        <p:spPr>
          <a:xfrm>
            <a:off x="1343242" y="4529882"/>
            <a:ext cx="1826141" cy="683264"/>
          </a:xfrm>
          <a:prstGeom prst="rect">
            <a:avLst/>
          </a:prstGeom>
          <a:solidFill>
            <a:schemeClr val="bg1"/>
          </a:solidFill>
        </p:spPr>
        <p:txBody>
          <a:bodyPr wrap="none" rtlCol="0">
            <a:spAutoFit/>
          </a:bodyPr>
          <a:lstStyle/>
          <a:p>
            <a:pPr fontAlgn="auto">
              <a:lnSpc>
                <a:spcPct val="120000"/>
              </a:lnSpc>
              <a:spcBef>
                <a:spcPts val="0"/>
              </a:spcBef>
              <a:spcAft>
                <a:spcPts val="0"/>
              </a:spcAft>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二层网络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fontAlgn="auto">
              <a:lnSpc>
                <a:spcPct val="120000"/>
              </a:lnSpc>
              <a:spcBef>
                <a:spcPts val="0"/>
              </a:spcBef>
              <a:spcAft>
                <a:spcPts val="0"/>
              </a:spcAft>
            </a:pP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生成树工作在这里</a:t>
            </a:r>
          </a:p>
        </p:txBody>
      </p:sp>
      <p:pic>
        <p:nvPicPr>
          <p:cNvPr id="91"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17799" y="2041033"/>
            <a:ext cx="490909" cy="401653"/>
          </a:xfrm>
          <a:prstGeom prst="rect">
            <a:avLst/>
          </a:prstGeom>
        </p:spPr>
      </p:pic>
      <p:pic>
        <p:nvPicPr>
          <p:cNvPr id="92"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22084" y="2041033"/>
            <a:ext cx="490909" cy="401653"/>
          </a:xfrm>
          <a:prstGeom prst="rect">
            <a:avLst/>
          </a:prstGeom>
        </p:spPr>
      </p:pic>
      <p:pic>
        <p:nvPicPr>
          <p:cNvPr id="97" name="图片 86" descr="核心交换机.png"/>
          <p:cNvPicPr>
            <a:picLocks noChangeAspect="1"/>
          </p:cNvPicPr>
          <p:nvPr/>
        </p:nvPicPr>
        <p:blipFill>
          <a:blip r:embed="rId4" cstate="print"/>
          <a:stretch>
            <a:fillRect/>
          </a:stretch>
        </p:blipFill>
        <p:spPr>
          <a:xfrm>
            <a:off x="5917799" y="2881184"/>
            <a:ext cx="490909" cy="401653"/>
          </a:xfrm>
          <a:prstGeom prst="rect">
            <a:avLst/>
          </a:prstGeom>
        </p:spPr>
      </p:pic>
      <p:pic>
        <p:nvPicPr>
          <p:cNvPr id="98" name="图片 86" descr="核心交换机.png"/>
          <p:cNvPicPr>
            <a:picLocks noChangeAspect="1"/>
          </p:cNvPicPr>
          <p:nvPr/>
        </p:nvPicPr>
        <p:blipFill>
          <a:blip r:embed="rId4" cstate="print"/>
          <a:stretch>
            <a:fillRect/>
          </a:stretch>
        </p:blipFill>
        <p:spPr>
          <a:xfrm>
            <a:off x="7422084" y="2881184"/>
            <a:ext cx="490909" cy="401653"/>
          </a:xfrm>
          <a:prstGeom prst="rect">
            <a:avLst/>
          </a:prstGeom>
        </p:spPr>
      </p:pic>
      <p:pic>
        <p:nvPicPr>
          <p:cNvPr id="115" name="图片 87" descr="汇聚交换机.png"/>
          <p:cNvPicPr>
            <a:picLocks noChangeAspect="1"/>
          </p:cNvPicPr>
          <p:nvPr/>
        </p:nvPicPr>
        <p:blipFill>
          <a:blip r:embed="rId5" cstate="print"/>
          <a:stretch>
            <a:fillRect/>
          </a:stretch>
        </p:blipFill>
        <p:spPr>
          <a:xfrm>
            <a:off x="3588379" y="3993540"/>
            <a:ext cx="490909" cy="401653"/>
          </a:xfrm>
          <a:prstGeom prst="rect">
            <a:avLst/>
          </a:prstGeom>
        </p:spPr>
      </p:pic>
      <p:pic>
        <p:nvPicPr>
          <p:cNvPr id="117" name="图片 87" descr="汇聚交换机.png"/>
          <p:cNvPicPr>
            <a:picLocks noChangeAspect="1"/>
          </p:cNvPicPr>
          <p:nvPr/>
        </p:nvPicPr>
        <p:blipFill>
          <a:blip r:embed="rId5" cstate="print"/>
          <a:stretch>
            <a:fillRect/>
          </a:stretch>
        </p:blipFill>
        <p:spPr>
          <a:xfrm>
            <a:off x="5091348" y="3993540"/>
            <a:ext cx="490909" cy="401653"/>
          </a:xfrm>
          <a:prstGeom prst="rect">
            <a:avLst/>
          </a:prstGeom>
        </p:spPr>
      </p:pic>
      <p:pic>
        <p:nvPicPr>
          <p:cNvPr id="118" name="图片 76" descr="接入交换机.png"/>
          <p:cNvPicPr>
            <a:picLocks noChangeAspect="1"/>
          </p:cNvPicPr>
          <p:nvPr/>
        </p:nvPicPr>
        <p:blipFill>
          <a:blip r:embed="rId6" cstate="print"/>
          <a:stretch>
            <a:fillRect/>
          </a:stretch>
        </p:blipFill>
        <p:spPr>
          <a:xfrm>
            <a:off x="3588379" y="5150182"/>
            <a:ext cx="490909" cy="401653"/>
          </a:xfrm>
          <a:prstGeom prst="rect">
            <a:avLst/>
          </a:prstGeom>
        </p:spPr>
      </p:pic>
      <p:pic>
        <p:nvPicPr>
          <p:cNvPr id="119" name="图片 76" descr="接入交换机.png"/>
          <p:cNvPicPr>
            <a:picLocks noChangeAspect="1"/>
          </p:cNvPicPr>
          <p:nvPr/>
        </p:nvPicPr>
        <p:blipFill>
          <a:blip r:embed="rId6" cstate="print"/>
          <a:stretch>
            <a:fillRect/>
          </a:stretch>
        </p:blipFill>
        <p:spPr>
          <a:xfrm>
            <a:off x="5091348" y="5150182"/>
            <a:ext cx="490909" cy="401653"/>
          </a:xfrm>
          <a:prstGeom prst="rect">
            <a:avLst/>
          </a:prstGeom>
        </p:spPr>
      </p:pic>
      <p:pic>
        <p:nvPicPr>
          <p:cNvPr id="123" name="图片 87" descr="汇聚交换机.png"/>
          <p:cNvPicPr>
            <a:picLocks noChangeAspect="1"/>
          </p:cNvPicPr>
          <p:nvPr/>
        </p:nvPicPr>
        <p:blipFill>
          <a:blip r:embed="rId5" cstate="print"/>
          <a:stretch>
            <a:fillRect/>
          </a:stretch>
        </p:blipFill>
        <p:spPr>
          <a:xfrm>
            <a:off x="5917799" y="3993540"/>
            <a:ext cx="490909" cy="401653"/>
          </a:xfrm>
          <a:prstGeom prst="rect">
            <a:avLst/>
          </a:prstGeom>
        </p:spPr>
      </p:pic>
      <p:pic>
        <p:nvPicPr>
          <p:cNvPr id="125" name="图片 87" descr="汇聚交换机.png"/>
          <p:cNvPicPr>
            <a:picLocks noChangeAspect="1"/>
          </p:cNvPicPr>
          <p:nvPr/>
        </p:nvPicPr>
        <p:blipFill>
          <a:blip r:embed="rId5" cstate="print"/>
          <a:stretch>
            <a:fillRect/>
          </a:stretch>
        </p:blipFill>
        <p:spPr>
          <a:xfrm>
            <a:off x="7422084" y="3993540"/>
            <a:ext cx="490909" cy="401653"/>
          </a:xfrm>
          <a:prstGeom prst="rect">
            <a:avLst/>
          </a:prstGeom>
        </p:spPr>
      </p:pic>
      <p:pic>
        <p:nvPicPr>
          <p:cNvPr id="126" name="图片 76" descr="接入交换机.png"/>
          <p:cNvPicPr>
            <a:picLocks noChangeAspect="1"/>
          </p:cNvPicPr>
          <p:nvPr/>
        </p:nvPicPr>
        <p:blipFill>
          <a:blip r:embed="rId6" cstate="print"/>
          <a:stretch>
            <a:fillRect/>
          </a:stretch>
        </p:blipFill>
        <p:spPr>
          <a:xfrm>
            <a:off x="5917799" y="5150182"/>
            <a:ext cx="490909" cy="401653"/>
          </a:xfrm>
          <a:prstGeom prst="rect">
            <a:avLst/>
          </a:prstGeom>
        </p:spPr>
      </p:pic>
      <p:pic>
        <p:nvPicPr>
          <p:cNvPr id="127" name="图片 76" descr="接入交换机.png"/>
          <p:cNvPicPr>
            <a:picLocks noChangeAspect="1"/>
          </p:cNvPicPr>
          <p:nvPr/>
        </p:nvPicPr>
        <p:blipFill>
          <a:blip r:embed="rId6" cstate="print"/>
          <a:stretch>
            <a:fillRect/>
          </a:stretch>
        </p:blipFill>
        <p:spPr>
          <a:xfrm>
            <a:off x="7422084" y="5150182"/>
            <a:ext cx="490909" cy="401653"/>
          </a:xfrm>
          <a:prstGeom prst="rect">
            <a:avLst/>
          </a:prstGeom>
        </p:spPr>
      </p:pic>
      <p:pic>
        <p:nvPicPr>
          <p:cNvPr id="128" name="图片 87" descr="汇聚交换机.png"/>
          <p:cNvPicPr>
            <a:picLocks noChangeAspect="1"/>
          </p:cNvPicPr>
          <p:nvPr/>
        </p:nvPicPr>
        <p:blipFill>
          <a:blip r:embed="rId5" cstate="print"/>
          <a:stretch>
            <a:fillRect/>
          </a:stretch>
        </p:blipFill>
        <p:spPr>
          <a:xfrm>
            <a:off x="8229053" y="3993540"/>
            <a:ext cx="490909" cy="401653"/>
          </a:xfrm>
          <a:prstGeom prst="rect">
            <a:avLst/>
          </a:prstGeom>
        </p:spPr>
      </p:pic>
      <p:pic>
        <p:nvPicPr>
          <p:cNvPr id="129" name="图片 87" descr="汇聚交换机.png"/>
          <p:cNvPicPr>
            <a:picLocks noChangeAspect="1"/>
          </p:cNvPicPr>
          <p:nvPr/>
        </p:nvPicPr>
        <p:blipFill>
          <a:blip r:embed="rId5" cstate="print"/>
          <a:stretch>
            <a:fillRect/>
          </a:stretch>
        </p:blipFill>
        <p:spPr>
          <a:xfrm>
            <a:off x="9732022" y="3993540"/>
            <a:ext cx="490909" cy="401653"/>
          </a:xfrm>
          <a:prstGeom prst="rect">
            <a:avLst/>
          </a:prstGeom>
        </p:spPr>
      </p:pic>
      <p:pic>
        <p:nvPicPr>
          <p:cNvPr id="130" name="图片 76" descr="接入交换机.png"/>
          <p:cNvPicPr>
            <a:picLocks noChangeAspect="1"/>
          </p:cNvPicPr>
          <p:nvPr/>
        </p:nvPicPr>
        <p:blipFill>
          <a:blip r:embed="rId6" cstate="print"/>
          <a:stretch>
            <a:fillRect/>
          </a:stretch>
        </p:blipFill>
        <p:spPr>
          <a:xfrm>
            <a:off x="8229053" y="5150182"/>
            <a:ext cx="490909" cy="401653"/>
          </a:xfrm>
          <a:prstGeom prst="rect">
            <a:avLst/>
          </a:prstGeom>
        </p:spPr>
      </p:pic>
      <p:pic>
        <p:nvPicPr>
          <p:cNvPr id="131" name="图片 76" descr="接入交换机.png"/>
          <p:cNvPicPr>
            <a:picLocks noChangeAspect="1"/>
          </p:cNvPicPr>
          <p:nvPr/>
        </p:nvPicPr>
        <p:blipFill>
          <a:blip r:embed="rId6" cstate="print"/>
          <a:stretch>
            <a:fillRect/>
          </a:stretch>
        </p:blipFill>
        <p:spPr>
          <a:xfrm>
            <a:off x="9732022" y="5150182"/>
            <a:ext cx="490909" cy="40165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概述</a:t>
            </a:r>
            <a:endParaRPr lang="zh-CN" altLang="en-US" dirty="0">
              <a:sym typeface="Huawei Sans" panose="020C0503030203020204" pitchFamily="34" charset="0"/>
            </a:endParaRPr>
          </a:p>
        </p:txBody>
      </p:sp>
      <p:sp>
        <p:nvSpPr>
          <p:cNvPr id="3" name="内容占位符 2"/>
          <p:cNvSpPr>
            <a:spLocks noGrp="1"/>
          </p:cNvSpPr>
          <p:nvPr>
            <p:ph type="body" sz="quarter" idx="10"/>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是一个用于局域网中消除环路的协议。</a:t>
            </a:r>
            <a:endParaRPr lang="en-US" altLang="zh-CN">
              <a:sym typeface="Huawei Sans" panose="020C0503030203020204" pitchFamily="34" charset="0"/>
            </a:endParaRPr>
          </a:p>
          <a:p>
            <a:r>
              <a:rPr lang="zh-CN" altLang="en-US">
                <a:sym typeface="Huawei Sans" panose="020C0503030203020204" pitchFamily="34" charset="0"/>
              </a:rPr>
              <a:t>运行该协议的设备通过彼此交互信息而发现网络中的环路，并对某些接口进行阻塞以消除环路。</a:t>
            </a:r>
            <a:endParaRPr lang="en-US" altLang="zh-CN">
              <a:sym typeface="Huawei Sans" panose="020C0503030203020204" pitchFamily="34" charset="0"/>
            </a:endParaRPr>
          </a:p>
          <a:p>
            <a:r>
              <a:rPr lang="en-US" altLang="zh-CN">
                <a:sym typeface="Huawei Sans" panose="020C0503030203020204" pitchFamily="34" charset="0"/>
              </a:rPr>
              <a:t>STP</a:t>
            </a:r>
            <a:r>
              <a:rPr lang="zh-CN" altLang="en-US">
                <a:sym typeface="Huawei Sans" panose="020C0503030203020204" pitchFamily="34" charset="0"/>
              </a:rPr>
              <a:t>在网络中运行后会持续监控网络的状态，当网络出现拓扑变更时，</a:t>
            </a:r>
            <a:r>
              <a:rPr lang="en-US" altLang="zh-CN">
                <a:sym typeface="Huawei Sans" panose="020C0503030203020204" pitchFamily="34" charset="0"/>
              </a:rPr>
              <a:t>STP</a:t>
            </a:r>
            <a:r>
              <a:rPr lang="zh-CN" altLang="en-US">
                <a:sym typeface="Huawei Sans" panose="020C0503030203020204" pitchFamily="34" charset="0"/>
              </a:rPr>
              <a:t>能够感知并且进行自动响应，从而使得网络状态适应新的拓扑结构，保证网络可靠性。</a:t>
            </a:r>
            <a:endParaRPr lang="en-US" altLang="zh-CN">
              <a:sym typeface="Huawei Sans" panose="020C0503030203020204" pitchFamily="34" charset="0"/>
            </a:endParaRPr>
          </a:p>
          <a:p>
            <a:r>
              <a:rPr lang="zh-CN" altLang="en-US">
                <a:sym typeface="Huawei Sans" panose="020C0503030203020204" pitchFamily="34" charset="0"/>
              </a:rPr>
              <a:t>由于局域网规模的不断增长，生成树协议已经成为了当前最重要的局域网协议之一。</a:t>
            </a:r>
            <a:endParaRPr lang="zh-CN" altLang="en-US" dirty="0">
              <a:sym typeface="Huawei Sans" panose="020C0503030203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a:solidFill>
                  <a:schemeClr val="bg1">
                    <a:lumMod val="50000"/>
                  </a:schemeClr>
                </a:solidFill>
                <a:sym typeface="Huawei Sans" panose="020C0503030203020204" pitchFamily="34" charset="0"/>
              </a:rPr>
              <a:t>生成树技术概述</a:t>
            </a:r>
          </a:p>
          <a:p>
            <a:r>
              <a:rPr lang="en-US" altLang="zh-CN" b="1">
                <a:sym typeface="Huawei Sans" panose="020C0503030203020204" pitchFamily="34" charset="0"/>
              </a:rPr>
              <a:t>STP</a:t>
            </a:r>
            <a:r>
              <a:rPr lang="zh-CN" altLang="en-US" b="1">
                <a:sym typeface="Huawei Sans" panose="020C0503030203020204" pitchFamily="34" charset="0"/>
              </a:rPr>
              <a:t>的基本概念及工作原理</a:t>
            </a:r>
          </a:p>
          <a:p>
            <a:r>
              <a:rPr lang="en-US" altLang="zh-CN">
                <a:solidFill>
                  <a:schemeClr val="bg1">
                    <a:lumMod val="50000"/>
                  </a:schemeClr>
                </a:solidFill>
                <a:sym typeface="Huawei Sans" panose="020C0503030203020204" pitchFamily="34" charset="0"/>
              </a:rPr>
              <a:t>STP</a:t>
            </a:r>
            <a:r>
              <a:rPr lang="zh-CN" altLang="en-US">
                <a:solidFill>
                  <a:schemeClr val="bg1">
                    <a:lumMod val="50000"/>
                  </a:schemeClr>
                </a:solidFill>
                <a:sym typeface="Huawei Sans" panose="020C0503030203020204" pitchFamily="34" charset="0"/>
              </a:rPr>
              <a:t>的基础配置</a:t>
            </a:r>
          </a:p>
          <a:p>
            <a:r>
              <a:rPr lang="en-US" altLang="zh-CN">
                <a:solidFill>
                  <a:schemeClr val="bg1">
                    <a:lumMod val="50000"/>
                  </a:schemeClr>
                </a:solidFill>
                <a:sym typeface="Huawei Sans" panose="020C0503030203020204" pitchFamily="34" charset="0"/>
              </a:rPr>
              <a:t>RSTP</a:t>
            </a:r>
            <a:r>
              <a:rPr lang="zh-CN" altLang="en-US">
                <a:solidFill>
                  <a:schemeClr val="bg1">
                    <a:lumMod val="50000"/>
                  </a:schemeClr>
                </a:solidFill>
                <a:sym typeface="Huawei Sans" panose="020C0503030203020204" pitchFamily="34" charset="0"/>
              </a:rPr>
              <a:t>对</a:t>
            </a:r>
            <a:r>
              <a:rPr lang="en-US" altLang="zh-CN">
                <a:solidFill>
                  <a:schemeClr val="bg1">
                    <a:lumMod val="50000"/>
                  </a:schemeClr>
                </a:solidFill>
                <a:sym typeface="Huawei Sans" panose="020C0503030203020204" pitchFamily="34" charset="0"/>
              </a:rPr>
              <a:t>STP</a:t>
            </a:r>
            <a:r>
              <a:rPr lang="zh-CN" altLang="en-US">
                <a:solidFill>
                  <a:schemeClr val="bg1">
                    <a:lumMod val="50000"/>
                  </a:schemeClr>
                </a:solidFill>
                <a:sym typeface="Huawei Sans" panose="020C0503030203020204" pitchFamily="34" charset="0"/>
              </a:rPr>
              <a:t>的改进</a:t>
            </a:r>
          </a:p>
          <a:p>
            <a:r>
              <a:rPr lang="zh-CN" altLang="en-US">
                <a:solidFill>
                  <a:schemeClr val="bg1">
                    <a:lumMod val="50000"/>
                  </a:schemeClr>
                </a:solidFill>
                <a:sym typeface="Huawei Sans" panose="020C0503030203020204" pitchFamily="34" charset="0"/>
              </a:rPr>
              <a:t>生成树技术进阶</a:t>
            </a:r>
            <a:endParaRPr lang="zh-CN" altLang="en-US" dirty="0">
              <a:solidFill>
                <a:schemeClr val="bg1">
                  <a:lumMod val="50000"/>
                </a:schemeClr>
              </a:solidFill>
              <a:sym typeface="Huawei Sans" panose="020C0503030203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的基本概念：桥</a:t>
            </a:r>
            <a:r>
              <a:rPr lang="en-US" altLang="zh-CN">
                <a:sym typeface="Huawei Sans" panose="020C0503030203020204" pitchFamily="34" charset="0"/>
              </a:rPr>
              <a:t>ID</a:t>
            </a:r>
            <a:endParaRPr lang="zh-CN" altLang="en-US" dirty="0">
              <a:sym typeface="Huawei Sans" panose="020C0503030203020204" pitchFamily="34" charset="0"/>
            </a:endParaRPr>
          </a:p>
        </p:txBody>
      </p:sp>
      <p:sp>
        <p:nvSpPr>
          <p:cNvPr id="17" name="圆角矩形 16"/>
          <p:cNvSpPr/>
          <p:nvPr/>
        </p:nvSpPr>
        <p:spPr>
          <a:xfrm>
            <a:off x="5846031" y="2309269"/>
            <a:ext cx="5688632" cy="37457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桥</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Bridge ID</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BID</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8" name="圆角矩形 17"/>
          <p:cNvSpPr/>
          <p:nvPr/>
        </p:nvSpPr>
        <p:spPr>
          <a:xfrm>
            <a:off x="5846031" y="2740590"/>
            <a:ext cx="5688632" cy="2076512"/>
          </a:xfrm>
          <a:prstGeom prst="roundRect">
            <a:avLst>
              <a:gd name="adj" fmla="val 184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77800" indent="-177800" algn="just" fontAlgn="auto">
              <a:lnSpc>
                <a:spcPts val="2600"/>
              </a:lnSpc>
              <a:spcBef>
                <a:spcPts val="0"/>
              </a:spcBef>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IEEE 802.1D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标准中规定</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由</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16</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位的桥优先级（</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Bridge Priority</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）与桥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地址构成。</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每一台运行</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的交换机都拥有一个唯一的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桥优先级占据高</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16bit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，其余的低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48bit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是桥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a:t>
            </a: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网络中，</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最小的设备会被选举为根桥。</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 name="组合 14"/>
          <p:cNvGrpSpPr/>
          <p:nvPr/>
        </p:nvGrpSpPr>
        <p:grpSpPr>
          <a:xfrm>
            <a:off x="406753" y="1962725"/>
            <a:ext cx="5196925" cy="3168174"/>
            <a:chOff x="406753" y="2389321"/>
            <a:chExt cx="5196925" cy="3168174"/>
          </a:xfrm>
        </p:grpSpPr>
        <p:sp>
          <p:nvSpPr>
            <p:cNvPr id="10" name="文本框 9"/>
            <p:cNvSpPr txBox="1"/>
            <p:nvPr/>
          </p:nvSpPr>
          <p:spPr>
            <a:xfrm>
              <a:off x="657337" y="2774706"/>
              <a:ext cx="628698" cy="338554"/>
            </a:xfrm>
            <a:prstGeom prst="rect">
              <a:avLst/>
            </a:prstGeom>
            <a:noFill/>
          </p:spPr>
          <p:txBody>
            <a:bodyPr wrap="none" rtlCol="0">
              <a:spAutoFit/>
            </a:bodyPr>
            <a:lstStyle/>
            <a:p>
              <a:pPr algn="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p:cNvSpPr txBox="1"/>
            <p:nvPr/>
          </p:nvSpPr>
          <p:spPr>
            <a:xfrm>
              <a:off x="4727103" y="2774706"/>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a:xfrm>
              <a:off x="406753" y="2399053"/>
              <a:ext cx="2222083" cy="338554"/>
            </a:xfrm>
            <a:prstGeom prst="rect">
              <a:avLst/>
            </a:prstGeom>
            <a:noFill/>
          </p:spPr>
          <p:txBody>
            <a:bodyPr wrap="none" rtlCol="0">
              <a:spAutoFit/>
            </a:bodyPr>
            <a:lstStyle/>
            <a:p>
              <a:pPr algn="ct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4096.4c1f-aabc-102a</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a:xfrm>
              <a:off x="3375183" y="2389321"/>
              <a:ext cx="2228495" cy="338554"/>
            </a:xfrm>
            <a:prstGeom prst="rect">
              <a:avLst/>
            </a:prstGeom>
            <a:noFill/>
          </p:spPr>
          <p:txBody>
            <a:bodyPr wrap="none" rtlCol="0">
              <a:spAutoFit/>
            </a:bodyPr>
            <a:lstStyle/>
            <a:p>
              <a:pPr algn="ct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4096.4c1f-aabc-102b</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a:xfrm>
              <a:off x="1881938" y="5218941"/>
              <a:ext cx="2201244" cy="338554"/>
            </a:xfrm>
            <a:prstGeom prst="rect">
              <a:avLst/>
            </a:prstGeom>
            <a:noFill/>
          </p:spPr>
          <p:txBody>
            <a:bodyPr wrap="none" rtlCol="0">
              <a:spAutoFit/>
            </a:bodyPr>
            <a:lstStyle/>
            <a:p>
              <a:pPr algn="ct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4096.4c1f-aabc-102c</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2" name="组合 21"/>
            <p:cNvGrpSpPr/>
            <p:nvPr/>
          </p:nvGrpSpPr>
          <p:grpSpPr>
            <a:xfrm flipV="1">
              <a:off x="1609745" y="2983837"/>
              <a:ext cx="2745630" cy="2115270"/>
              <a:chOff x="6600056" y="4353447"/>
              <a:chExt cx="1296144" cy="833967"/>
            </a:xfrm>
          </p:grpSpPr>
          <p:cxnSp>
            <p:nvCxnSpPr>
              <p:cNvPr id="23" name="直接连接符 22"/>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5" name="直接连接符 24"/>
            <p:cNvCxnSpPr/>
            <p:nvPr/>
          </p:nvCxnSpPr>
          <p:spPr>
            <a:xfrm flipH="1">
              <a:off x="1475689" y="2923151"/>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6" name="图片 76" descr="接入交换机.png"/>
            <p:cNvPicPr>
              <a:picLocks noChangeAspect="1"/>
            </p:cNvPicPr>
            <p:nvPr/>
          </p:nvPicPr>
          <p:blipFill>
            <a:blip r:embed="rId3" cstate="print"/>
            <a:stretch>
              <a:fillRect/>
            </a:stretch>
          </p:blipFill>
          <p:spPr>
            <a:xfrm>
              <a:off x="1242422" y="2737607"/>
              <a:ext cx="490909" cy="401653"/>
            </a:xfrm>
            <a:prstGeom prst="rect">
              <a:avLst/>
            </a:prstGeom>
          </p:spPr>
        </p:pic>
        <p:pic>
          <p:nvPicPr>
            <p:cNvPr id="27" name="图片 76" descr="接入交换机.png"/>
            <p:cNvPicPr>
              <a:picLocks noChangeAspect="1"/>
            </p:cNvPicPr>
            <p:nvPr/>
          </p:nvPicPr>
          <p:blipFill>
            <a:blip r:embed="rId3" cstate="print"/>
            <a:stretch>
              <a:fillRect/>
            </a:stretch>
          </p:blipFill>
          <p:spPr>
            <a:xfrm>
              <a:off x="4231790" y="2737607"/>
              <a:ext cx="490909" cy="401653"/>
            </a:xfrm>
            <a:prstGeom prst="rect">
              <a:avLst/>
            </a:prstGeom>
          </p:spPr>
        </p:pic>
        <p:pic>
          <p:nvPicPr>
            <p:cNvPr id="28" name="图片 76" descr="接入交换机.png"/>
            <p:cNvPicPr>
              <a:picLocks noChangeAspect="1"/>
            </p:cNvPicPr>
            <p:nvPr/>
          </p:nvPicPr>
          <p:blipFill>
            <a:blip r:embed="rId3" cstate="print"/>
            <a:stretch>
              <a:fillRect/>
            </a:stretch>
          </p:blipFill>
          <p:spPr>
            <a:xfrm>
              <a:off x="2737106" y="4749370"/>
              <a:ext cx="490909" cy="401653"/>
            </a:xfrm>
            <a:prstGeom prst="rect">
              <a:avLst/>
            </a:prstGeom>
          </p:spPr>
        </p:pic>
        <p:sp>
          <p:nvSpPr>
            <p:cNvPr id="29" name="文本框 28"/>
            <p:cNvSpPr txBox="1"/>
            <p:nvPr/>
          </p:nvSpPr>
          <p:spPr>
            <a:xfrm>
              <a:off x="3228014" y="4817288"/>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0" name="文本框 29"/>
          <p:cNvSpPr txBox="1"/>
          <p:nvPr/>
        </p:nvSpPr>
        <p:spPr>
          <a:xfrm>
            <a:off x="5846031" y="4982442"/>
            <a:ext cx="5688632"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备注：此处网桥（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Bridge </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），或者桥也就是交换机。</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2" name="直接连接符 31"/>
          <p:cNvCxnSpPr/>
          <p:nvPr/>
        </p:nvCxnSpPr>
        <p:spPr>
          <a:xfrm flipH="1">
            <a:off x="1999657" y="5140275"/>
            <a:ext cx="4599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2559480" y="5140275"/>
            <a:ext cx="13762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1609745" y="5463052"/>
            <a:ext cx="902811" cy="307777"/>
          </a:xfrm>
          <a:prstGeom prst="rect">
            <a:avLst/>
          </a:prstGeom>
          <a:noFill/>
        </p:spPr>
        <p:txBody>
          <a:bodyPr wrap="non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桥优先级</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a:xfrm>
            <a:off x="2696458" y="5463052"/>
            <a:ext cx="1116011" cy="307777"/>
          </a:xfrm>
          <a:prstGeom prst="rect">
            <a:avLst/>
          </a:prstGeom>
          <a:noFill/>
        </p:spPr>
        <p:txBody>
          <a:bodyPr wrap="non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2" name="直接连接符 51"/>
          <p:cNvCxnSpPr/>
          <p:nvPr/>
        </p:nvCxnSpPr>
        <p:spPr>
          <a:xfrm>
            <a:off x="2229626" y="5149652"/>
            <a:ext cx="1" cy="360040"/>
          </a:xfrm>
          <a:prstGeom prst="line">
            <a:avLst/>
          </a:prstGeom>
          <a:ln w="1905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3233579" y="5149652"/>
            <a:ext cx="1" cy="360040"/>
          </a:xfrm>
          <a:prstGeom prst="line">
            <a:avLst/>
          </a:prstGeom>
          <a:ln w="19050">
            <a:solidFill>
              <a:schemeClr val="tx1"/>
            </a:solidFill>
            <a:headEnd type="triangle"/>
          </a:ln>
        </p:spPr>
        <p:style>
          <a:lnRef idx="1">
            <a:schemeClr val="accent1"/>
          </a:lnRef>
          <a:fillRef idx="0">
            <a:schemeClr val="accent1"/>
          </a:fillRef>
          <a:effectRef idx="0">
            <a:schemeClr val="accent1"/>
          </a:effectRef>
          <a:fontRef idx="minor">
            <a:schemeClr val="tx1"/>
          </a:fontRef>
        </p:style>
      </p:cxnSp>
      <p:sp>
        <p:nvSpPr>
          <p:cNvPr id="43" name="五边形 42"/>
          <p:cNvSpPr/>
          <p:nvPr/>
        </p:nvSpPr>
        <p:spPr bwMode="auto">
          <a:xfrm>
            <a:off x="7211868" y="152815"/>
            <a:ext cx="781200" cy="213120"/>
          </a:xfrm>
          <a:prstGeom prst="homePlate">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桥</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43"/>
          <p:cNvSpPr/>
          <p:nvPr/>
        </p:nvSpPr>
        <p:spPr bwMode="auto">
          <a:xfrm>
            <a:off x="7920187"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根桥</a:t>
            </a:r>
          </a:p>
        </p:txBody>
      </p:sp>
      <p:sp>
        <p:nvSpPr>
          <p:cNvPr id="45" name="燕尾形 44"/>
          <p:cNvSpPr/>
          <p:nvPr/>
        </p:nvSpPr>
        <p:spPr bwMode="auto">
          <a:xfrm>
            <a:off x="8628506"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Cost</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auto">
          <a:xfrm>
            <a:off x="9336825"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RPC</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auto">
          <a:xfrm>
            <a:off x="10045144"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Port 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auto">
          <a:xfrm>
            <a:off x="10753463"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BPDU</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的基本概念：根桥</a:t>
            </a:r>
            <a:endParaRPr lang="zh-CN" altLang="en-US" dirty="0">
              <a:sym typeface="Huawei Sans" panose="020C0503030203020204" pitchFamily="34" charset="0"/>
            </a:endParaRPr>
          </a:p>
        </p:txBody>
      </p:sp>
      <p:sp>
        <p:nvSpPr>
          <p:cNvPr id="17" name="圆角矩形 16"/>
          <p:cNvSpPr/>
          <p:nvPr/>
        </p:nvSpPr>
        <p:spPr>
          <a:xfrm>
            <a:off x="5879976" y="1379835"/>
            <a:ext cx="5688632" cy="37457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Root Bridge</a:t>
            </a:r>
            <a:r>
              <a:rPr lang="zh-CN" altLang="en-US"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圆角矩形 17"/>
          <p:cNvSpPr/>
          <p:nvPr/>
        </p:nvSpPr>
        <p:spPr>
          <a:xfrm>
            <a:off x="5879976" y="1811156"/>
            <a:ext cx="5688632" cy="4174128"/>
          </a:xfrm>
          <a:prstGeom prst="roundRect">
            <a:avLst>
              <a:gd name="adj" fmla="val 184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77800" indent="-177800" algn="just" fontAlgn="auto">
              <a:lnSpc>
                <a:spcPts val="2600"/>
              </a:lnSpc>
              <a:spcBef>
                <a:spcPts val="0"/>
              </a:spcBef>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的主要作用之一是在整个交换网络中计算出一棵无环的“树”（</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树）。</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根桥是一个</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交换网络中的“树根”。</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开始工作后，会在交换网络中选举一个根桥，根桥是生成树进行拓扑计算的重要“参考点”，是</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计算得出的无环拓扑的“树根”。</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网络中，桥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最小的设备会被选举为根桥。</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94310" lvl="1" algn="just" fontAlgn="auto">
              <a:lnSpc>
                <a:spcPts val="2600"/>
              </a:lnSpc>
              <a:spcBef>
                <a:spcPts val="0"/>
              </a:spcBef>
              <a:spcAft>
                <a:spcPts val="60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的比较过程中，首先比较桥优先级，优先级的值越小，则越优先，拥有最小优先级值的交换机会成为根桥；如果优先级相等，那么再比较</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地址，拥有最小</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地址的交换机会成为根桥。</a:t>
            </a:r>
          </a:p>
        </p:txBody>
      </p:sp>
      <p:sp>
        <p:nvSpPr>
          <p:cNvPr id="41" name="文本框 40"/>
          <p:cNvSpPr txBox="1"/>
          <p:nvPr/>
        </p:nvSpPr>
        <p:spPr>
          <a:xfrm>
            <a:off x="657337" y="2708150"/>
            <a:ext cx="628698" cy="338554"/>
          </a:xfrm>
          <a:prstGeom prst="rect">
            <a:avLst/>
          </a:prstGeom>
          <a:noFill/>
        </p:spPr>
        <p:txBody>
          <a:bodyPr wrap="none" rtlCol="0">
            <a:spAutoFit/>
          </a:bodyPr>
          <a:lstStyle/>
          <a:p>
            <a:pPr algn="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a:xfrm>
            <a:off x="4727103" y="2708150"/>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a:xfrm>
            <a:off x="364647" y="2240868"/>
            <a:ext cx="2222083" cy="338554"/>
          </a:xfrm>
          <a:prstGeom prst="rect">
            <a:avLst/>
          </a:prstGeom>
          <a:noFill/>
        </p:spPr>
        <p:txBody>
          <a:bodyPr wrap="none" rtlCol="0">
            <a:spAutoFit/>
          </a:bodyPr>
          <a:lstStyle/>
          <a:p>
            <a:pPr algn="ct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4096.4c1f-aabc-102a</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a:xfrm>
            <a:off x="3422114" y="2240868"/>
            <a:ext cx="2178802" cy="338554"/>
          </a:xfrm>
          <a:prstGeom prst="rect">
            <a:avLst/>
          </a:prstGeom>
          <a:noFill/>
        </p:spPr>
        <p:txBody>
          <a:bodyPr wrap="none" rtlCol="0">
            <a:spAutoFit/>
          </a:bodyPr>
          <a:lstStyle/>
          <a:p>
            <a:pPr algn="ctr" fontAlgn="auto">
              <a:spcBef>
                <a:spcPts val="0"/>
              </a:spcBef>
              <a:spcAft>
                <a:spcPts val="0"/>
              </a:spcAft>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4096.4c1f-aabc-102b</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a:xfrm>
            <a:off x="1898769" y="5152385"/>
            <a:ext cx="2167581" cy="338554"/>
          </a:xfrm>
          <a:prstGeom prst="rect">
            <a:avLst/>
          </a:prstGeom>
          <a:noFill/>
        </p:spPr>
        <p:txBody>
          <a:bodyPr wrap="none" rtlCol="0">
            <a:spAutoFit/>
          </a:bodyPr>
          <a:lstStyle/>
          <a:p>
            <a:pPr algn="ctr" fontAlgn="auto">
              <a:spcBef>
                <a:spcPts val="0"/>
              </a:spcBef>
              <a:spcAft>
                <a:spcPts val="0"/>
              </a:spcAft>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4096.4c1f-aabc-102c</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6" name="组合 45"/>
          <p:cNvGrpSpPr/>
          <p:nvPr/>
        </p:nvGrpSpPr>
        <p:grpSpPr>
          <a:xfrm flipV="1">
            <a:off x="1609745" y="2917281"/>
            <a:ext cx="2745630" cy="2115270"/>
            <a:chOff x="6600056" y="4353447"/>
            <a:chExt cx="1296144" cy="833967"/>
          </a:xfrm>
        </p:grpSpPr>
        <p:cxnSp>
          <p:nvCxnSpPr>
            <p:cNvPr id="52" name="直接连接符 51"/>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7" name="直接连接符 46"/>
          <p:cNvCxnSpPr/>
          <p:nvPr/>
        </p:nvCxnSpPr>
        <p:spPr>
          <a:xfrm flipH="1">
            <a:off x="1475689" y="2856595"/>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9" name="图片 76" descr="接入交换机.png"/>
          <p:cNvPicPr>
            <a:picLocks noChangeAspect="1"/>
          </p:cNvPicPr>
          <p:nvPr/>
        </p:nvPicPr>
        <p:blipFill>
          <a:blip r:embed="rId3" cstate="print"/>
          <a:stretch>
            <a:fillRect/>
          </a:stretch>
        </p:blipFill>
        <p:spPr>
          <a:xfrm>
            <a:off x="4231790" y="2671051"/>
            <a:ext cx="490909" cy="401653"/>
          </a:xfrm>
          <a:prstGeom prst="rect">
            <a:avLst/>
          </a:prstGeom>
        </p:spPr>
      </p:pic>
      <p:pic>
        <p:nvPicPr>
          <p:cNvPr id="50" name="图片 76" descr="接入交换机.png"/>
          <p:cNvPicPr>
            <a:picLocks noChangeAspect="1"/>
          </p:cNvPicPr>
          <p:nvPr/>
        </p:nvPicPr>
        <p:blipFill>
          <a:blip r:embed="rId3" cstate="print"/>
          <a:stretch>
            <a:fillRect/>
          </a:stretch>
        </p:blipFill>
        <p:spPr>
          <a:xfrm>
            <a:off x="2737106" y="4682814"/>
            <a:ext cx="490909" cy="401653"/>
          </a:xfrm>
          <a:prstGeom prst="rect">
            <a:avLst/>
          </a:prstGeom>
        </p:spPr>
      </p:pic>
      <p:sp>
        <p:nvSpPr>
          <p:cNvPr id="51" name="文本框 50"/>
          <p:cNvSpPr txBox="1"/>
          <p:nvPr/>
        </p:nvSpPr>
        <p:spPr>
          <a:xfrm>
            <a:off x="3228014" y="4750732"/>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54"/>
          <p:cNvSpPr txBox="1"/>
          <p:nvPr/>
        </p:nvSpPr>
        <p:spPr>
          <a:xfrm>
            <a:off x="1198346" y="3126522"/>
            <a:ext cx="543739" cy="307777"/>
          </a:xfrm>
          <a:prstGeom prst="rect">
            <a:avLst/>
          </a:prstGeom>
          <a:noFill/>
        </p:spPr>
        <p:txBody>
          <a:bodyPr wrap="none" rtlCol="0">
            <a:spAutoFit/>
          </a:bodyPr>
          <a:lstStyle/>
          <a:p>
            <a:pPr algn="ctr" fontAlgn="auto">
              <a:spcBef>
                <a:spcPts val="0"/>
              </a:spcBef>
              <a:spcAft>
                <a:spcPts val="0"/>
              </a:spcAft>
            </a:pPr>
            <a:r>
              <a:rPr lang="zh-CN" altLang="en-US"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根桥</a:t>
            </a:r>
          </a:p>
        </p:txBody>
      </p:sp>
      <p:pic>
        <p:nvPicPr>
          <p:cNvPr id="56" name="图片 97" descr="接入交换机.png"/>
          <p:cNvPicPr>
            <a:picLocks noChangeAspect="1"/>
          </p:cNvPicPr>
          <p:nvPr/>
        </p:nvPicPr>
        <p:blipFill>
          <a:blip r:embed="rId4" cstate="print"/>
          <a:stretch>
            <a:fillRect/>
          </a:stretch>
        </p:blipFill>
        <p:spPr>
          <a:xfrm>
            <a:off x="1239463" y="2671051"/>
            <a:ext cx="493868" cy="404074"/>
          </a:xfrm>
          <a:prstGeom prst="rect">
            <a:avLst/>
          </a:prstGeom>
        </p:spPr>
      </p:pic>
      <p:sp>
        <p:nvSpPr>
          <p:cNvPr id="29" name="五边形 28"/>
          <p:cNvSpPr/>
          <p:nvPr/>
        </p:nvSpPr>
        <p:spPr bwMode="auto">
          <a:xfrm>
            <a:off x="7211868" y="152815"/>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桥</a:t>
            </a: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9"/>
          <p:cNvSpPr/>
          <p:nvPr/>
        </p:nvSpPr>
        <p:spPr bwMode="auto">
          <a:xfrm>
            <a:off x="7920187" y="152815"/>
            <a:ext cx="7812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根桥</a:t>
            </a:r>
          </a:p>
        </p:txBody>
      </p:sp>
      <p:sp>
        <p:nvSpPr>
          <p:cNvPr id="31" name="燕尾形 30"/>
          <p:cNvSpPr/>
          <p:nvPr/>
        </p:nvSpPr>
        <p:spPr bwMode="auto">
          <a:xfrm>
            <a:off x="8628506"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Cost</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燕尾形 31"/>
          <p:cNvSpPr/>
          <p:nvPr/>
        </p:nvSpPr>
        <p:spPr bwMode="auto">
          <a:xfrm>
            <a:off x="9336825"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RPC</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燕尾形 32"/>
          <p:cNvSpPr/>
          <p:nvPr/>
        </p:nvSpPr>
        <p:spPr bwMode="auto">
          <a:xfrm>
            <a:off x="10045144"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Port 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auto">
          <a:xfrm>
            <a:off x="10753463"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BPDU</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的基本概念：</a:t>
            </a:r>
            <a:r>
              <a:rPr lang="en-US" altLang="zh-CN">
                <a:sym typeface="Huawei Sans" panose="020C0503030203020204" pitchFamily="34" charset="0"/>
              </a:rPr>
              <a:t>Cost</a:t>
            </a:r>
            <a:endParaRPr lang="zh-CN" altLang="en-US" dirty="0">
              <a:sym typeface="Huawei Sans" panose="020C0503030203020204" pitchFamily="34" charset="0"/>
            </a:endParaRPr>
          </a:p>
        </p:txBody>
      </p:sp>
      <p:sp>
        <p:nvSpPr>
          <p:cNvPr id="17" name="圆角矩形 16"/>
          <p:cNvSpPr/>
          <p:nvPr/>
        </p:nvSpPr>
        <p:spPr>
          <a:xfrm>
            <a:off x="5879976" y="2459749"/>
            <a:ext cx="5688632" cy="364249"/>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开销（</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8" name="圆角矩形 17"/>
          <p:cNvSpPr/>
          <p:nvPr/>
        </p:nvSpPr>
        <p:spPr>
          <a:xfrm>
            <a:off x="5879976" y="2891070"/>
            <a:ext cx="5688632" cy="2451043"/>
          </a:xfrm>
          <a:prstGeom prst="roundRect">
            <a:avLst>
              <a:gd name="adj" fmla="val 184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每一个激活了</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的接口都维护着一个</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值，接口的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主要用于计算根路径开销，也就是到达根的开销。</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接口的缺省</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除了与其速率、工作模式有关，还与交换机使用的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 Cost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计算方法有关。</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接口带宽越大，则</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值越小。</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用户也可以根据需要通过命令调整接口的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a:xfrm>
            <a:off x="657337" y="2585332"/>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a:xfrm>
            <a:off x="4727103" y="2585332"/>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3" name="组合 32"/>
          <p:cNvGrpSpPr/>
          <p:nvPr/>
        </p:nvGrpSpPr>
        <p:grpSpPr>
          <a:xfrm flipV="1">
            <a:off x="1609745" y="2761647"/>
            <a:ext cx="2745630" cy="2115270"/>
            <a:chOff x="6600056" y="4353447"/>
            <a:chExt cx="1296144" cy="833967"/>
          </a:xfrm>
        </p:grpSpPr>
        <p:cxnSp>
          <p:nvCxnSpPr>
            <p:cNvPr id="34" name="直接连接符 33"/>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6" name="直接连接符 35"/>
          <p:cNvCxnSpPr/>
          <p:nvPr/>
        </p:nvCxnSpPr>
        <p:spPr>
          <a:xfrm flipH="1">
            <a:off x="1475689" y="2700961"/>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7" name="图片 76" descr="接入交换机.png"/>
          <p:cNvPicPr>
            <a:picLocks noChangeAspect="1"/>
          </p:cNvPicPr>
          <p:nvPr/>
        </p:nvPicPr>
        <p:blipFill>
          <a:blip r:embed="rId3" cstate="print"/>
          <a:stretch>
            <a:fillRect/>
          </a:stretch>
        </p:blipFill>
        <p:spPr>
          <a:xfrm>
            <a:off x="4231790" y="2515417"/>
            <a:ext cx="490909" cy="401653"/>
          </a:xfrm>
          <a:prstGeom prst="rect">
            <a:avLst/>
          </a:prstGeom>
        </p:spPr>
      </p:pic>
      <p:pic>
        <p:nvPicPr>
          <p:cNvPr id="38" name="图片 76" descr="接入交换机.png"/>
          <p:cNvPicPr>
            <a:picLocks noChangeAspect="1"/>
          </p:cNvPicPr>
          <p:nvPr/>
        </p:nvPicPr>
        <p:blipFill>
          <a:blip r:embed="rId3" cstate="print"/>
          <a:stretch>
            <a:fillRect/>
          </a:stretch>
        </p:blipFill>
        <p:spPr>
          <a:xfrm>
            <a:off x="2737106" y="4527180"/>
            <a:ext cx="490909" cy="401653"/>
          </a:xfrm>
          <a:prstGeom prst="rect">
            <a:avLst/>
          </a:prstGeom>
        </p:spPr>
      </p:pic>
      <p:sp>
        <p:nvSpPr>
          <p:cNvPr id="39" name="文本框 38"/>
          <p:cNvSpPr txBox="1"/>
          <p:nvPr/>
        </p:nvSpPr>
        <p:spPr>
          <a:xfrm>
            <a:off x="2695462" y="4946150"/>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a:xfrm>
            <a:off x="1738114" y="2728178"/>
            <a:ext cx="1067921" cy="338554"/>
          </a:xfrm>
          <a:prstGeom prst="rect">
            <a:avLst/>
          </a:prstGeom>
          <a:noFill/>
        </p:spPr>
        <p:txBody>
          <a:bodyPr wrap="none" rtlCol="0">
            <a:spAutoFit/>
          </a:bodyPr>
          <a:lstStyle/>
          <a:p>
            <a:pPr algn="ct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Cost=500</a:t>
            </a:r>
          </a:p>
        </p:txBody>
      </p:sp>
      <p:sp>
        <p:nvSpPr>
          <p:cNvPr id="43" name="文本框 42"/>
          <p:cNvSpPr txBox="1"/>
          <p:nvPr/>
        </p:nvSpPr>
        <p:spPr>
          <a:xfrm>
            <a:off x="3230596" y="2414929"/>
            <a:ext cx="1067921" cy="338554"/>
          </a:xfrm>
          <a:prstGeom prst="rect">
            <a:avLst/>
          </a:prstGeom>
          <a:noFill/>
        </p:spPr>
        <p:txBody>
          <a:bodyPr wrap="none" rtlCol="0">
            <a:spAutoFit/>
          </a:bodyPr>
          <a:lstStyle/>
          <a:p>
            <a:pPr algn="ct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Cost=500</a:t>
            </a:r>
          </a:p>
        </p:txBody>
      </p:sp>
      <p:sp>
        <p:nvSpPr>
          <p:cNvPr id="44" name="文本框 43"/>
          <p:cNvSpPr txBox="1"/>
          <p:nvPr/>
        </p:nvSpPr>
        <p:spPr>
          <a:xfrm>
            <a:off x="548469" y="2976467"/>
            <a:ext cx="1295547" cy="338554"/>
          </a:xfrm>
          <a:prstGeom prst="rect">
            <a:avLst/>
          </a:prstGeom>
          <a:noFill/>
        </p:spPr>
        <p:txBody>
          <a:bodyPr wrap="none" rtlCol="0">
            <a:spAutoFit/>
          </a:bodyPr>
          <a:lstStyle/>
          <a:p>
            <a:pPr algn="ct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Cost=20000</a:t>
            </a:r>
          </a:p>
        </p:txBody>
      </p:sp>
      <p:sp>
        <p:nvSpPr>
          <p:cNvPr id="45" name="文本框 44"/>
          <p:cNvSpPr txBox="1"/>
          <p:nvPr/>
        </p:nvSpPr>
        <p:spPr>
          <a:xfrm>
            <a:off x="1396336" y="4362518"/>
            <a:ext cx="1295547" cy="338554"/>
          </a:xfrm>
          <a:prstGeom prst="rect">
            <a:avLst/>
          </a:prstGeom>
          <a:noFill/>
        </p:spPr>
        <p:txBody>
          <a:bodyPr wrap="none" rtlCol="0">
            <a:spAutoFit/>
          </a:bodyPr>
          <a:lstStyle/>
          <a:p>
            <a:pPr algn="ct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Cost=20000</a:t>
            </a:r>
          </a:p>
        </p:txBody>
      </p:sp>
      <p:pic>
        <p:nvPicPr>
          <p:cNvPr id="47" name="图片 76" descr="接入交换机.png"/>
          <p:cNvPicPr>
            <a:picLocks noChangeAspect="1"/>
          </p:cNvPicPr>
          <p:nvPr/>
        </p:nvPicPr>
        <p:blipFill>
          <a:blip r:embed="rId3" cstate="print"/>
          <a:stretch>
            <a:fillRect/>
          </a:stretch>
        </p:blipFill>
        <p:spPr>
          <a:xfrm>
            <a:off x="1242083" y="2511216"/>
            <a:ext cx="490909" cy="401653"/>
          </a:xfrm>
          <a:prstGeom prst="rect">
            <a:avLst/>
          </a:prstGeom>
        </p:spPr>
      </p:pic>
      <p:sp>
        <p:nvSpPr>
          <p:cNvPr id="48" name="文本框 47"/>
          <p:cNvSpPr txBox="1"/>
          <p:nvPr/>
        </p:nvSpPr>
        <p:spPr>
          <a:xfrm>
            <a:off x="4160593" y="2986985"/>
            <a:ext cx="1295547" cy="338554"/>
          </a:xfrm>
          <a:prstGeom prst="rect">
            <a:avLst/>
          </a:prstGeom>
          <a:noFill/>
        </p:spPr>
        <p:txBody>
          <a:bodyPr wrap="none" rtlCol="0">
            <a:spAutoFit/>
          </a:bodyPr>
          <a:lstStyle/>
          <a:p>
            <a:pPr algn="ctr" fontAlgn="auto">
              <a:spcBef>
                <a:spcPts val="0"/>
              </a:spcBef>
              <a:spcAft>
                <a:spcPts val="0"/>
              </a:spcAft>
            </a:pPr>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Cost=20000</a:t>
            </a:r>
          </a:p>
        </p:txBody>
      </p:sp>
      <p:sp>
        <p:nvSpPr>
          <p:cNvPr id="49" name="文本框 48"/>
          <p:cNvSpPr txBox="1"/>
          <p:nvPr/>
        </p:nvSpPr>
        <p:spPr>
          <a:xfrm>
            <a:off x="3228014" y="4362518"/>
            <a:ext cx="1295547" cy="338554"/>
          </a:xfrm>
          <a:prstGeom prst="rect">
            <a:avLst/>
          </a:prstGeom>
          <a:noFill/>
        </p:spPr>
        <p:txBody>
          <a:bodyPr wrap="none" rtlCol="0">
            <a:spAutoFit/>
          </a:bodyPr>
          <a:lstStyle/>
          <a:p>
            <a:pPr algn="ct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Cost=20000</a:t>
            </a:r>
          </a:p>
        </p:txBody>
      </p:sp>
      <p:sp>
        <p:nvSpPr>
          <p:cNvPr id="40" name="五边形 39"/>
          <p:cNvSpPr/>
          <p:nvPr/>
        </p:nvSpPr>
        <p:spPr bwMode="auto">
          <a:xfrm>
            <a:off x="7211868" y="152815"/>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桥</a:t>
            </a: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auto">
          <a:xfrm>
            <a:off x="7920187"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根桥</a:t>
            </a:r>
          </a:p>
        </p:txBody>
      </p:sp>
      <p:sp>
        <p:nvSpPr>
          <p:cNvPr id="46" name="燕尾形 45"/>
          <p:cNvSpPr/>
          <p:nvPr/>
        </p:nvSpPr>
        <p:spPr bwMode="auto">
          <a:xfrm>
            <a:off x="8628506" y="152815"/>
            <a:ext cx="7812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Cost</a:t>
            </a:r>
            <a:endPar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auto">
          <a:xfrm>
            <a:off x="9336825"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RPC</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auto">
          <a:xfrm>
            <a:off x="10045144"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Port 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51"/>
          <p:cNvSpPr/>
          <p:nvPr/>
        </p:nvSpPr>
        <p:spPr bwMode="auto">
          <a:xfrm>
            <a:off x="10753463"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BPDU</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的基本概念：</a:t>
            </a:r>
            <a:r>
              <a:rPr lang="en-US" altLang="zh-CN">
                <a:sym typeface="Huawei Sans" panose="020C0503030203020204" pitchFamily="34" charset="0"/>
              </a:rPr>
              <a:t>Cost</a:t>
            </a:r>
            <a:r>
              <a:rPr lang="zh-CN" altLang="en-US">
                <a:sym typeface="Huawei Sans" panose="020C0503030203020204" pitchFamily="34" charset="0"/>
              </a:rPr>
              <a:t>计算方法</a:t>
            </a:r>
            <a:endParaRPr lang="zh-CN" altLang="en-US" dirty="0">
              <a:sym typeface="Huawei Sans" panose="020C0503030203020204" pitchFamily="34" charset="0"/>
            </a:endParaRPr>
          </a:p>
        </p:txBody>
      </p:sp>
      <p:graphicFrame>
        <p:nvGraphicFramePr>
          <p:cNvPr id="5" name="表格 4"/>
          <p:cNvGraphicFramePr>
            <a:graphicFrameLocks noGrp="1"/>
          </p:cNvGraphicFramePr>
          <p:nvPr/>
        </p:nvGraphicFramePr>
        <p:xfrm>
          <a:off x="976543" y="1353629"/>
          <a:ext cx="10238915" cy="4088598"/>
        </p:xfrm>
        <a:graphic>
          <a:graphicData uri="http://schemas.openxmlformats.org/drawingml/2006/table">
            <a:tbl>
              <a:tblPr/>
              <a:tblGrid>
                <a:gridCol w="1231025">
                  <a:extLst>
                    <a:ext uri="{9D8B030D-6E8A-4147-A177-3AD203B41FA5}">
                      <a16:colId xmlns:a16="http://schemas.microsoft.com/office/drawing/2014/main" val="20000"/>
                    </a:ext>
                  </a:extLst>
                </a:gridCol>
                <a:gridCol w="2376264">
                  <a:extLst>
                    <a:ext uri="{9D8B030D-6E8A-4147-A177-3AD203B41FA5}">
                      <a16:colId xmlns:a16="http://schemas.microsoft.com/office/drawing/2014/main" val="20001"/>
                    </a:ext>
                  </a:extLst>
                </a:gridCol>
                <a:gridCol w="2282734">
                  <a:extLst>
                    <a:ext uri="{9D8B030D-6E8A-4147-A177-3AD203B41FA5}">
                      <a16:colId xmlns:a16="http://schemas.microsoft.com/office/drawing/2014/main" val="20002"/>
                    </a:ext>
                  </a:extLst>
                </a:gridCol>
                <a:gridCol w="1963341">
                  <a:extLst>
                    <a:ext uri="{9D8B030D-6E8A-4147-A177-3AD203B41FA5}">
                      <a16:colId xmlns:a16="http://schemas.microsoft.com/office/drawing/2014/main" val="20003"/>
                    </a:ext>
                  </a:extLst>
                </a:gridCol>
                <a:gridCol w="2385551">
                  <a:extLst>
                    <a:ext uri="{9D8B030D-6E8A-4147-A177-3AD203B41FA5}">
                      <a16:colId xmlns:a16="http://schemas.microsoft.com/office/drawing/2014/main" val="20004"/>
                    </a:ext>
                  </a:extLst>
                </a:gridCol>
              </a:tblGrid>
              <a:tr h="378918">
                <a:tc rowSpan="2">
                  <a:txBody>
                    <a:bodyPr/>
                    <a:lstStyle/>
                    <a:p>
                      <a:pPr algn="ctr"/>
                      <a:r>
                        <a:rPr lang="zh-CN" altLang="en-US" sz="14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接口速率</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tc rowSpan="2">
                  <a:txBody>
                    <a:bodyPr/>
                    <a:lstStyle/>
                    <a:p>
                      <a:pPr algn="ctr"/>
                      <a:r>
                        <a:rPr lang="zh-CN" altLang="en-US" sz="14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接口模式</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tc gridSpan="3">
                  <a:txBody>
                    <a:bodyPr/>
                    <a:lstStyle/>
                    <a:p>
                      <a:pPr algn="ctr"/>
                      <a:r>
                        <a:rPr lang="en-US" altLang="zh-CN" sz="14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4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开销（推荐值）</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44204">
                <a:tc vMerge="1">
                  <a:txBody>
                    <a:bodyPr/>
                    <a:lstStyle/>
                    <a:p>
                      <a:endParaRPr lang="zh-CN"/>
                    </a:p>
                  </a:txBody>
                  <a:tcPr/>
                </a:tc>
                <a:tc vMerge="1">
                  <a:txBody>
                    <a:bodyPr/>
                    <a:lstStyle/>
                    <a:p>
                      <a:endParaRPr lang="zh-CN"/>
                    </a:p>
                  </a:txBody>
                  <a:tcPr/>
                </a:tc>
                <a:tc>
                  <a:txBody>
                    <a:bodyPr/>
                    <a:lstStyle/>
                    <a:p>
                      <a:pPr algn="ctr"/>
                      <a:r>
                        <a:rPr lang="en-US" sz="1400" b="1">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IEEE 802.1d-1998</a:t>
                      </a:r>
                      <a:r>
                        <a:rPr lang="zh-CN" altLang="en-US" sz="1400" b="1">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标准</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tc>
                  <a:txBody>
                    <a:bodyPr/>
                    <a:lstStyle/>
                    <a:p>
                      <a:pPr algn="ctr"/>
                      <a:r>
                        <a:rPr lang="en-US" sz="14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IEEE 802.1t</a:t>
                      </a:r>
                      <a:r>
                        <a:rPr lang="zh-CN" altLang="en-US" sz="14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标准</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tc>
                  <a:txBody>
                    <a:bodyPr/>
                    <a:lstStyle/>
                    <a:p>
                      <a:pPr algn="ctr"/>
                      <a:r>
                        <a:rPr lang="zh-CN" altLang="en-US" sz="14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华为计算方法</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extLst>
                  <a:ext uri="{0D108BD9-81ED-4DB2-BD59-A6C34878D82A}">
                    <a16:rowId xmlns:a16="http://schemas.microsoft.com/office/drawing/2014/main" val="10001"/>
                  </a:ext>
                </a:extLst>
              </a:tr>
              <a:tr h="215637">
                <a:tc rowSpan="3">
                  <a:txBody>
                    <a:bodyPr/>
                    <a:lstStyle/>
                    <a:p>
                      <a:pPr algn="ct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100Mbps</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Half-Duplex</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19</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200,000</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200</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2"/>
                  </a:ext>
                </a:extLst>
              </a:tr>
              <a:tr h="215637">
                <a:tc vMerge="1">
                  <a:txBody>
                    <a:bodyPr/>
                    <a:lstStyle/>
                    <a:p>
                      <a:endParaRPr lang="zh-CN"/>
                    </a:p>
                  </a:txBody>
                  <a:tcPr/>
                </a:tc>
                <a:tc>
                  <a:txBody>
                    <a:bodyPr/>
                    <a:lstStyle/>
                    <a:p>
                      <a:pPr algn="ct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Full-Duplex</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18</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199,999</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199</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3"/>
                  </a:ext>
                </a:extLst>
              </a:tr>
              <a:tr h="215637">
                <a:tc vMerge="1">
                  <a:txBody>
                    <a:bodyPr/>
                    <a:lstStyle/>
                    <a:p>
                      <a:endParaRPr lang="zh-CN"/>
                    </a:p>
                  </a:txBody>
                  <a:tcPr/>
                </a:tc>
                <a:tc>
                  <a:txBody>
                    <a:bodyPr/>
                    <a:lstStyle/>
                    <a:p>
                      <a:pPr algn="ct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Aggregated Link 2 Ports</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15</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100,000</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180</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4"/>
                  </a:ext>
                </a:extLst>
              </a:tr>
              <a:tr h="215637">
                <a:tc rowSpan="2">
                  <a:txBody>
                    <a:bodyPr/>
                    <a:lstStyle/>
                    <a:p>
                      <a:pPr algn="ctr"/>
                      <a:r>
                        <a:rPr lang="en-US" sz="1400">
                          <a:effectLst/>
                          <a:latin typeface="Huawei Sans" panose="020C0503030203020204" pitchFamily="34" charset="0"/>
                          <a:ea typeface="方正兰亭黑简体" panose="02000000000000000000" pitchFamily="2" charset="-122"/>
                          <a:sym typeface="Huawei Sans" panose="020C0503030203020204" pitchFamily="34" charset="0"/>
                        </a:rPr>
                        <a:t>1000Mbps</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Full-Duplex</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4</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20,000</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20</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5"/>
                  </a:ext>
                </a:extLst>
              </a:tr>
              <a:tr h="215637">
                <a:tc vMerge="1">
                  <a:txBody>
                    <a:bodyPr/>
                    <a:lstStyle/>
                    <a:p>
                      <a:endParaRPr lang="zh-CN"/>
                    </a:p>
                  </a:txBody>
                  <a:tcPr/>
                </a:tc>
                <a:tc>
                  <a:txBody>
                    <a:bodyPr/>
                    <a:lstStyle/>
                    <a:p>
                      <a:pPr algn="ct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Aggregated Link 2 Ports</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3</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10,000</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18</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6"/>
                  </a:ext>
                </a:extLst>
              </a:tr>
              <a:tr h="215637">
                <a:tc rowSpan="2">
                  <a:txBody>
                    <a:bodyPr/>
                    <a:lstStyle/>
                    <a:p>
                      <a:pPr algn="ctr"/>
                      <a:r>
                        <a:rPr lang="en-US" sz="1400">
                          <a:effectLst/>
                          <a:latin typeface="Huawei Sans" panose="020C0503030203020204" pitchFamily="34" charset="0"/>
                          <a:ea typeface="方正兰亭黑简体" panose="02000000000000000000" pitchFamily="2" charset="-122"/>
                          <a:sym typeface="Huawei Sans" panose="020C0503030203020204" pitchFamily="34" charset="0"/>
                        </a:rPr>
                        <a:t>10Gbps</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Full-Duplex</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2</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2000</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2</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7"/>
                  </a:ext>
                </a:extLst>
              </a:tr>
              <a:tr h="215637">
                <a:tc vMerge="1">
                  <a:txBody>
                    <a:bodyPr/>
                    <a:lstStyle/>
                    <a:p>
                      <a:endParaRPr lang="zh-CN"/>
                    </a:p>
                  </a:txBody>
                  <a:tcPr/>
                </a:tc>
                <a:tc>
                  <a:txBody>
                    <a:bodyPr/>
                    <a:lstStyle/>
                    <a:p>
                      <a:pPr algn="ct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Aggregated Link 2 Ports</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1</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1000</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1</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8"/>
                  </a:ext>
                </a:extLst>
              </a:tr>
              <a:tr h="215637">
                <a:tc rowSpan="2">
                  <a:txBody>
                    <a:bodyPr/>
                    <a:lstStyle/>
                    <a:p>
                      <a:pPr algn="ctr"/>
                      <a:r>
                        <a:rPr lang="en-US" sz="1400">
                          <a:effectLst/>
                          <a:latin typeface="Huawei Sans" panose="020C0503030203020204" pitchFamily="34" charset="0"/>
                          <a:ea typeface="方正兰亭黑简体" panose="02000000000000000000" pitchFamily="2" charset="-122"/>
                          <a:sym typeface="Huawei Sans" panose="020C0503030203020204" pitchFamily="34" charset="0"/>
                        </a:rPr>
                        <a:t>40Gbps</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Full-Duplex</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1</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500</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1</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9"/>
                  </a:ext>
                </a:extLst>
              </a:tr>
              <a:tr h="215637">
                <a:tc vMerge="1">
                  <a:txBody>
                    <a:bodyPr/>
                    <a:lstStyle/>
                    <a:p>
                      <a:endParaRPr lang="zh-CN"/>
                    </a:p>
                  </a:txBody>
                  <a:tcPr/>
                </a:tc>
                <a:tc>
                  <a:txBody>
                    <a:bodyPr/>
                    <a:lstStyle/>
                    <a:p>
                      <a:pPr algn="ct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Aggregated Link 2 Ports</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1</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250</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1</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10"/>
                  </a:ext>
                </a:extLst>
              </a:tr>
              <a:tr h="215637">
                <a:tc rowSpan="2">
                  <a:txBody>
                    <a:bodyPr/>
                    <a:lstStyle/>
                    <a:p>
                      <a:pPr algn="ctr"/>
                      <a:r>
                        <a:rPr lang="en-US" sz="1400">
                          <a:effectLst/>
                          <a:latin typeface="Huawei Sans" panose="020C0503030203020204" pitchFamily="34" charset="0"/>
                          <a:ea typeface="方正兰亭黑简体" panose="02000000000000000000" pitchFamily="2" charset="-122"/>
                          <a:sym typeface="Huawei Sans" panose="020C0503030203020204" pitchFamily="34" charset="0"/>
                        </a:rPr>
                        <a:t>100Gbps</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sz="1400">
                          <a:effectLst/>
                          <a:latin typeface="Huawei Sans" panose="020C0503030203020204" pitchFamily="34" charset="0"/>
                          <a:ea typeface="方正兰亭黑简体" panose="02000000000000000000" pitchFamily="2" charset="-122"/>
                          <a:sym typeface="Huawei Sans" panose="020C0503030203020204" pitchFamily="34" charset="0"/>
                        </a:rPr>
                        <a:t>Full-Duplex</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1</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200</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1</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11"/>
                  </a:ext>
                </a:extLst>
              </a:tr>
              <a:tr h="215637">
                <a:tc vMerge="1">
                  <a:txBody>
                    <a:bodyPr/>
                    <a:lstStyle/>
                    <a:p>
                      <a:endParaRPr lang="zh-CN"/>
                    </a:p>
                  </a:txBody>
                  <a:tcPr/>
                </a:tc>
                <a:tc>
                  <a:txBody>
                    <a:bodyPr/>
                    <a:lstStyle/>
                    <a:p>
                      <a:pPr algn="ct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Aggregated Link 2 Ports</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1</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a:effectLst/>
                          <a:latin typeface="Huawei Sans" panose="020C0503030203020204" pitchFamily="34" charset="0"/>
                          <a:ea typeface="方正兰亭黑简体" panose="02000000000000000000" pitchFamily="2" charset="-122"/>
                          <a:sym typeface="Huawei Sans" panose="020C0503030203020204" pitchFamily="34" charset="0"/>
                        </a:rPr>
                        <a:t>100</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ct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1</a:t>
                      </a: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12"/>
                  </a:ext>
                </a:extLst>
              </a:tr>
              <a:tr h="215637">
                <a:tc gridSpan="5">
                  <a:txBody>
                    <a:bodyPr/>
                    <a:lstStyle/>
                    <a:p>
                      <a:pPr algn="ctr"/>
                      <a:r>
                        <a:rPr lang="en-US" altLang="zh-CN" sz="14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72000" marR="72000" marT="36000" marB="36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hMerge="1">
                  <a:txBody>
                    <a:bodyPr/>
                    <a:lstStyle/>
                    <a:p>
                      <a:endParaRPr lang="zh-CN"/>
                    </a:p>
                  </a:txBody>
                  <a:tcPr marL="72000" marR="72000" marT="36000" marB="3600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hMerge="1">
                  <a:txBody>
                    <a:bodyPr/>
                    <a:lstStyle/>
                    <a:p>
                      <a:endParaRPr lang="zh-CN"/>
                    </a:p>
                  </a:txBody>
                  <a:tcPr marL="72000" marR="72000" marT="36000" marB="3600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hMerge="1">
                  <a:txBody>
                    <a:bodyPr/>
                    <a:lstStyle/>
                    <a:p>
                      <a:endParaRPr lang="zh-CN"/>
                    </a:p>
                  </a:txBody>
                  <a:tcPr marL="72000" marR="72000" marT="36000" marB="3600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tc hMerge="1">
                  <a:txBody>
                    <a:bodyPr/>
                    <a:lstStyle/>
                    <a:p>
                      <a:endParaRPr lang="zh-CN"/>
                    </a:p>
                  </a:txBody>
                  <a:tcPr marL="72000" marR="72000" marT="36000" marB="3600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6" name="矩形 5"/>
          <p:cNvSpPr/>
          <p:nvPr/>
        </p:nvSpPr>
        <p:spPr>
          <a:xfrm>
            <a:off x="889000" y="5445224"/>
            <a:ext cx="10414000" cy="707886"/>
          </a:xfrm>
          <a:prstGeom prst="rect">
            <a:avLst/>
          </a:prstGeom>
        </p:spPr>
        <p:txBody>
          <a:bodyPr wrap="square">
            <a:spAutoFit/>
          </a:bodyPr>
          <a:lstStyle/>
          <a:p>
            <a:pPr>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是已经激活了</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的接口所维护的一个开销值，该值存在默认值，与接口的速率有关联，并且设备使用不同的算法时，相同的接口速率对应不同的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值。</a:t>
            </a:r>
          </a:p>
        </p:txBody>
      </p:sp>
      <p:sp>
        <p:nvSpPr>
          <p:cNvPr id="17" name="五边形 16"/>
          <p:cNvSpPr/>
          <p:nvPr/>
        </p:nvSpPr>
        <p:spPr bwMode="auto">
          <a:xfrm>
            <a:off x="7211868" y="152815"/>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桥</a:t>
            </a: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auto">
          <a:xfrm>
            <a:off x="7920187"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根桥</a:t>
            </a:r>
          </a:p>
        </p:txBody>
      </p:sp>
      <p:sp>
        <p:nvSpPr>
          <p:cNvPr id="19" name="燕尾形 18"/>
          <p:cNvSpPr/>
          <p:nvPr/>
        </p:nvSpPr>
        <p:spPr bwMode="auto">
          <a:xfrm>
            <a:off x="8628506" y="152815"/>
            <a:ext cx="7812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Cost</a:t>
            </a:r>
            <a:endPar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auto">
          <a:xfrm>
            <a:off x="9336825"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RPC</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auto">
          <a:xfrm>
            <a:off x="10045144"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Port 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auto">
          <a:xfrm>
            <a:off x="10753463"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BPDU</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的基本概念：</a:t>
            </a:r>
            <a:r>
              <a:rPr lang="en-US" altLang="zh-CN">
                <a:sym typeface="Huawei Sans" panose="020C0503030203020204" pitchFamily="34" charset="0"/>
              </a:rPr>
              <a:t>RPC</a:t>
            </a:r>
            <a:endParaRPr lang="zh-CN" altLang="en-US" dirty="0">
              <a:sym typeface="Huawei Sans" panose="020C0503030203020204" pitchFamily="34" charset="0"/>
            </a:endParaRPr>
          </a:p>
        </p:txBody>
      </p:sp>
      <p:sp>
        <p:nvSpPr>
          <p:cNvPr id="17" name="圆角矩形 16"/>
          <p:cNvSpPr/>
          <p:nvPr/>
        </p:nvSpPr>
        <p:spPr>
          <a:xfrm>
            <a:off x="5879976" y="2137168"/>
            <a:ext cx="5688632" cy="40067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根路径开销（</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Root Path Cost</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8" name="圆角矩形 17"/>
          <p:cNvSpPr/>
          <p:nvPr/>
        </p:nvSpPr>
        <p:spPr>
          <a:xfrm>
            <a:off x="5879976" y="2586703"/>
            <a:ext cx="5688632" cy="2400134"/>
          </a:xfrm>
          <a:prstGeom prst="roundRect">
            <a:avLst>
              <a:gd name="adj" fmla="val 184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的拓扑计算过程中，一个非常重要的环节就是“丈量”交换机某个接口到根桥的“成本”，也即</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RPC</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一台设备从某个接口到达根桥的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RPC</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等于从根桥到该设备沿途所有入方向接口的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累加。</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在本例中，</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接口到达根桥的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RPC</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等于接口</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加上接口</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1" name="文本框 20"/>
          <p:cNvSpPr txBox="1"/>
          <p:nvPr/>
        </p:nvSpPr>
        <p:spPr>
          <a:xfrm>
            <a:off x="657337" y="2888940"/>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a:xfrm>
            <a:off x="4727103" y="2924954"/>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组合 28"/>
          <p:cNvGrpSpPr/>
          <p:nvPr/>
        </p:nvGrpSpPr>
        <p:grpSpPr>
          <a:xfrm flipV="1">
            <a:off x="1609745" y="3098071"/>
            <a:ext cx="2745630" cy="2115270"/>
            <a:chOff x="6600056" y="4353447"/>
            <a:chExt cx="1296144" cy="833967"/>
          </a:xfrm>
        </p:grpSpPr>
        <p:cxnSp>
          <p:nvCxnSpPr>
            <p:cNvPr id="30" name="直接连接符 29"/>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2" name="直接连接符 31"/>
          <p:cNvCxnSpPr/>
          <p:nvPr/>
        </p:nvCxnSpPr>
        <p:spPr>
          <a:xfrm flipH="1">
            <a:off x="1475689" y="3037385"/>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3" name="图片 76" descr="接入交换机.png"/>
          <p:cNvPicPr>
            <a:picLocks noChangeAspect="1"/>
          </p:cNvPicPr>
          <p:nvPr/>
        </p:nvPicPr>
        <p:blipFill>
          <a:blip r:embed="rId3" cstate="print"/>
          <a:stretch>
            <a:fillRect/>
          </a:stretch>
        </p:blipFill>
        <p:spPr>
          <a:xfrm>
            <a:off x="4231790" y="2851841"/>
            <a:ext cx="490909" cy="401653"/>
          </a:xfrm>
          <a:prstGeom prst="rect">
            <a:avLst/>
          </a:prstGeom>
        </p:spPr>
      </p:pic>
      <p:pic>
        <p:nvPicPr>
          <p:cNvPr id="34" name="图片 76" descr="接入交换机.png"/>
          <p:cNvPicPr>
            <a:picLocks noChangeAspect="1"/>
          </p:cNvPicPr>
          <p:nvPr/>
        </p:nvPicPr>
        <p:blipFill>
          <a:blip r:embed="rId3" cstate="print"/>
          <a:stretch>
            <a:fillRect/>
          </a:stretch>
        </p:blipFill>
        <p:spPr>
          <a:xfrm>
            <a:off x="2737106" y="4863604"/>
            <a:ext cx="490909" cy="401653"/>
          </a:xfrm>
          <a:prstGeom prst="rect">
            <a:avLst/>
          </a:prstGeom>
        </p:spPr>
      </p:pic>
      <p:sp>
        <p:nvSpPr>
          <p:cNvPr id="35" name="文本框 34"/>
          <p:cNvSpPr txBox="1"/>
          <p:nvPr/>
        </p:nvSpPr>
        <p:spPr>
          <a:xfrm>
            <a:off x="2695462" y="5282574"/>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a:xfrm>
            <a:off x="1697348" y="2724901"/>
            <a:ext cx="1067921" cy="338554"/>
          </a:xfrm>
          <a:prstGeom prst="rect">
            <a:avLst/>
          </a:prstGeom>
          <a:noFill/>
        </p:spPr>
        <p:txBody>
          <a:bodyPr wrap="none" rtlCol="0">
            <a:spAutoFit/>
          </a:bodyPr>
          <a:lstStyle/>
          <a:p>
            <a:pPr algn="ctr" fontAlgn="auto">
              <a:spcBef>
                <a:spcPts val="0"/>
              </a:spcBef>
              <a:spcAft>
                <a:spcPts val="0"/>
              </a:spcAft>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Cost=500</a:t>
            </a:r>
          </a:p>
        </p:txBody>
      </p:sp>
      <p:sp>
        <p:nvSpPr>
          <p:cNvPr id="37" name="文本框 36"/>
          <p:cNvSpPr txBox="1"/>
          <p:nvPr/>
        </p:nvSpPr>
        <p:spPr>
          <a:xfrm>
            <a:off x="3123020" y="2693485"/>
            <a:ext cx="1067921" cy="338554"/>
          </a:xfrm>
          <a:prstGeom prst="rect">
            <a:avLst/>
          </a:prstGeom>
          <a:noFill/>
        </p:spPr>
        <p:txBody>
          <a:bodyPr wrap="none" rtlCol="0">
            <a:spAutoFit/>
          </a:bodyPr>
          <a:lstStyle/>
          <a:p>
            <a:pPr algn="ct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Cost=500</a:t>
            </a:r>
          </a:p>
        </p:txBody>
      </p:sp>
      <p:sp>
        <p:nvSpPr>
          <p:cNvPr id="38" name="文本框 37"/>
          <p:cNvSpPr txBox="1"/>
          <p:nvPr/>
        </p:nvSpPr>
        <p:spPr>
          <a:xfrm>
            <a:off x="518162" y="3280075"/>
            <a:ext cx="1295547" cy="338554"/>
          </a:xfrm>
          <a:prstGeom prst="rect">
            <a:avLst/>
          </a:prstGeom>
          <a:noFill/>
        </p:spPr>
        <p:txBody>
          <a:bodyPr wrap="none" rtlCol="0">
            <a:spAutoFit/>
          </a:bodyPr>
          <a:lstStyle/>
          <a:p>
            <a:pPr algn="ctr" fontAlgn="auto">
              <a:spcBef>
                <a:spcPts val="0"/>
              </a:spcBef>
              <a:spcAft>
                <a:spcPts val="0"/>
              </a:spcAft>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Cost=20000</a:t>
            </a:r>
          </a:p>
        </p:txBody>
      </p:sp>
      <p:sp>
        <p:nvSpPr>
          <p:cNvPr id="39" name="文本框 38"/>
          <p:cNvSpPr txBox="1"/>
          <p:nvPr/>
        </p:nvSpPr>
        <p:spPr>
          <a:xfrm>
            <a:off x="1454268" y="4666126"/>
            <a:ext cx="1295547" cy="338554"/>
          </a:xfrm>
          <a:prstGeom prst="rect">
            <a:avLst/>
          </a:prstGeom>
          <a:noFill/>
        </p:spPr>
        <p:txBody>
          <a:bodyPr wrap="none" rtlCol="0">
            <a:spAutoFit/>
          </a:bodyPr>
          <a:lstStyle/>
          <a:p>
            <a:pPr algn="ctr" fontAlgn="auto">
              <a:spcBef>
                <a:spcPts val="0"/>
              </a:spcBef>
              <a:spcAft>
                <a:spcPts val="0"/>
              </a:spcAft>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Cost=20000</a:t>
            </a:r>
          </a:p>
        </p:txBody>
      </p:sp>
      <p:pic>
        <p:nvPicPr>
          <p:cNvPr id="40" name="图片 76" descr="接入交换机.png"/>
          <p:cNvPicPr>
            <a:picLocks noChangeAspect="1"/>
          </p:cNvPicPr>
          <p:nvPr/>
        </p:nvPicPr>
        <p:blipFill>
          <a:blip r:embed="rId3" cstate="print"/>
          <a:stretch>
            <a:fillRect/>
          </a:stretch>
        </p:blipFill>
        <p:spPr>
          <a:xfrm>
            <a:off x="1242083" y="2847640"/>
            <a:ext cx="490909" cy="401653"/>
          </a:xfrm>
          <a:prstGeom prst="rect">
            <a:avLst/>
          </a:prstGeom>
        </p:spPr>
      </p:pic>
      <p:sp>
        <p:nvSpPr>
          <p:cNvPr id="41" name="文本框 40"/>
          <p:cNvSpPr txBox="1"/>
          <p:nvPr/>
        </p:nvSpPr>
        <p:spPr>
          <a:xfrm>
            <a:off x="4109323" y="3290593"/>
            <a:ext cx="1295547" cy="338554"/>
          </a:xfrm>
          <a:prstGeom prst="rect">
            <a:avLst/>
          </a:prstGeom>
          <a:noFill/>
        </p:spPr>
        <p:txBody>
          <a:bodyPr wrap="none" rtlCol="0">
            <a:spAutoFit/>
          </a:bodyPr>
          <a:lstStyle/>
          <a:p>
            <a:pPr algn="ctr" fontAlgn="auto">
              <a:spcBef>
                <a:spcPts val="0"/>
              </a:spcBef>
              <a:spcAft>
                <a:spcPts val="0"/>
              </a:spcAft>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Cost=20000</a:t>
            </a:r>
          </a:p>
        </p:txBody>
      </p:sp>
      <p:sp>
        <p:nvSpPr>
          <p:cNvPr id="42" name="文本框 41"/>
          <p:cNvSpPr txBox="1"/>
          <p:nvPr/>
        </p:nvSpPr>
        <p:spPr>
          <a:xfrm>
            <a:off x="3282293" y="4666126"/>
            <a:ext cx="1295547" cy="338554"/>
          </a:xfrm>
          <a:prstGeom prst="rect">
            <a:avLst/>
          </a:prstGeom>
          <a:noFill/>
        </p:spPr>
        <p:txBody>
          <a:bodyPr wrap="none" rtlCol="0">
            <a:spAutoFit/>
          </a:bodyPr>
          <a:lstStyle/>
          <a:p>
            <a:pPr algn="ct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Cost=20000</a:t>
            </a:r>
          </a:p>
        </p:txBody>
      </p:sp>
      <p:sp>
        <p:nvSpPr>
          <p:cNvPr id="13" name="任意多边形 12"/>
          <p:cNvSpPr/>
          <p:nvPr/>
        </p:nvSpPr>
        <p:spPr bwMode="auto">
          <a:xfrm>
            <a:off x="1992162" y="3272971"/>
            <a:ext cx="1748052" cy="1262047"/>
          </a:xfrm>
          <a:custGeom>
            <a:avLst/>
            <a:gdLst>
              <a:gd name="connsiteX0" fmla="*/ 1016000 w 1888067"/>
              <a:gd name="connsiteY0" fmla="*/ 1363134 h 1363134"/>
              <a:gd name="connsiteX1" fmla="*/ 1888067 w 1888067"/>
              <a:gd name="connsiteY1" fmla="*/ 0 h 1363134"/>
              <a:gd name="connsiteX2" fmla="*/ 0 w 1888067"/>
              <a:gd name="connsiteY2" fmla="*/ 0 h 1363134"/>
            </a:gdLst>
            <a:ahLst/>
            <a:cxnLst>
              <a:cxn ang="0">
                <a:pos x="connsiteX0" y="connsiteY0"/>
              </a:cxn>
              <a:cxn ang="0">
                <a:pos x="connsiteX1" y="connsiteY1"/>
              </a:cxn>
              <a:cxn ang="0">
                <a:pos x="connsiteX2" y="connsiteY2"/>
              </a:cxn>
            </a:cxnLst>
            <a:rect l="l" t="t" r="r" b="b"/>
            <a:pathLst>
              <a:path w="1888067" h="1363134">
                <a:moveTo>
                  <a:pt x="1016000" y="1363134"/>
                </a:moveTo>
                <a:lnTo>
                  <a:pt x="1888067" y="0"/>
                </a:lnTo>
                <a:lnTo>
                  <a:pt x="0" y="0"/>
                </a:lnTo>
              </a:path>
            </a:pathLst>
          </a:custGeom>
          <a:noFill/>
          <a:ln w="38100" cap="flat" cmpd="sng" algn="ctr">
            <a:solidFill>
              <a:srgbClr val="EC7061"/>
            </a:solidFill>
            <a:prstDash val="solid"/>
            <a:round/>
            <a:headEnd type="triangle" w="med" len="med"/>
            <a:tailEnd type="none" w="med" len="med"/>
          </a:ln>
          <a:effectLst/>
        </p:spPr>
        <p:txBody>
          <a:bodyPr vert="horz" wrap="square" lIns="91440" tIns="45720" rIns="91440" bIns="45720" numCol="1" rtlCol="0" anchor="t" anchorCtr="0" compatLnSpc="1"/>
          <a:lstStyle/>
          <a:p>
            <a:pPr marL="0" marR="0" indent="0" algn="l" defTabSz="914400" rtl="0" eaLnBrk="1" fontAlgn="t" latinLnBrk="0" hangingPunct="1">
              <a:lnSpc>
                <a:spcPct val="100000"/>
              </a:lnSpc>
              <a:spcBef>
                <a:spcPct val="0"/>
              </a:spcBef>
              <a:spcAft>
                <a:spcPct val="0"/>
              </a:spcAft>
              <a:buClrTx/>
              <a:buSzTx/>
              <a:buFontTx/>
              <a:buNone/>
            </a:pPr>
            <a:endParaRPr kumimoji="0" lang="zh-CN" altLang="en-US" sz="105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Oval 4"/>
          <p:cNvSpPr>
            <a:spLocks noChangeAspect="1"/>
          </p:cNvSpPr>
          <p:nvPr/>
        </p:nvSpPr>
        <p:spPr>
          <a:xfrm>
            <a:off x="4108102" y="2931396"/>
            <a:ext cx="211977" cy="211977"/>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Oval 4"/>
          <p:cNvSpPr>
            <a:spLocks noChangeAspect="1"/>
          </p:cNvSpPr>
          <p:nvPr/>
        </p:nvSpPr>
        <p:spPr>
          <a:xfrm>
            <a:off x="3050161" y="4775656"/>
            <a:ext cx="211977" cy="211977"/>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a:xfrm rot="18180915">
            <a:off x="2850274" y="4265958"/>
            <a:ext cx="938078" cy="338554"/>
          </a:xfrm>
          <a:prstGeom prst="rect">
            <a:avLst/>
          </a:prstGeom>
          <a:noFill/>
        </p:spPr>
        <p:txBody>
          <a:bodyPr wrap="none" rtlCol="0">
            <a:spAutoFit/>
          </a:bodyPr>
          <a:lstStyle/>
          <a:p>
            <a:pPr algn="ctr" fontAlgn="auto">
              <a:spcBef>
                <a:spcPts val="0"/>
              </a:spcBef>
              <a:spcAft>
                <a:spcPts val="0"/>
              </a:spcAft>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GE0/0/1</a:t>
            </a:r>
          </a:p>
        </p:txBody>
      </p:sp>
      <p:cxnSp>
        <p:nvCxnSpPr>
          <p:cNvPr id="15" name="直接连接符 14"/>
          <p:cNvCxnSpPr/>
          <p:nvPr/>
        </p:nvCxnSpPr>
        <p:spPr bwMode="auto">
          <a:xfrm flipV="1">
            <a:off x="2855640" y="2089021"/>
            <a:ext cx="0" cy="113847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80" name="文本框 79"/>
          <p:cNvSpPr txBox="1"/>
          <p:nvPr/>
        </p:nvSpPr>
        <p:spPr>
          <a:xfrm>
            <a:off x="1949989" y="1765272"/>
            <a:ext cx="1766829" cy="338554"/>
          </a:xfrm>
          <a:prstGeom prst="rect">
            <a:avLst/>
          </a:prstGeom>
          <a:noFill/>
        </p:spPr>
        <p:txBody>
          <a:bodyPr wrap="none" rtlCol="0">
            <a:spAutoFit/>
          </a:bodyPr>
          <a:lstStyle/>
          <a:p>
            <a:pPr algn="ct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RPC=500+20000</a:t>
            </a:r>
          </a:p>
        </p:txBody>
      </p:sp>
      <p:sp>
        <p:nvSpPr>
          <p:cNvPr id="56" name="五边形 55"/>
          <p:cNvSpPr/>
          <p:nvPr/>
        </p:nvSpPr>
        <p:spPr bwMode="auto">
          <a:xfrm>
            <a:off x="7211868" y="152815"/>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桥</a:t>
            </a: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auto">
          <a:xfrm>
            <a:off x="7920187"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根桥</a:t>
            </a:r>
          </a:p>
        </p:txBody>
      </p:sp>
      <p:sp>
        <p:nvSpPr>
          <p:cNvPr id="58" name="燕尾形 57"/>
          <p:cNvSpPr/>
          <p:nvPr/>
        </p:nvSpPr>
        <p:spPr bwMode="auto">
          <a:xfrm>
            <a:off x="8628506"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Cost</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58"/>
          <p:cNvSpPr/>
          <p:nvPr/>
        </p:nvSpPr>
        <p:spPr bwMode="auto">
          <a:xfrm>
            <a:off x="9336825" y="152815"/>
            <a:ext cx="7812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RPC</a:t>
            </a:r>
            <a:endPar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燕尾形 59"/>
          <p:cNvSpPr/>
          <p:nvPr/>
        </p:nvSpPr>
        <p:spPr bwMode="auto">
          <a:xfrm>
            <a:off x="10045144"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Port 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燕尾形 60"/>
          <p:cNvSpPr/>
          <p:nvPr/>
        </p:nvSpPr>
        <p:spPr bwMode="auto">
          <a:xfrm>
            <a:off x="10753463"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BPDU</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a:xfrm>
            <a:off x="1185515" y="2560513"/>
            <a:ext cx="543739" cy="307777"/>
          </a:xfrm>
          <a:prstGeom prst="rect">
            <a:avLst/>
          </a:prstGeom>
          <a:noFill/>
        </p:spPr>
        <p:txBody>
          <a:bodyPr wrap="none" rtlCol="0">
            <a:spAutoFit/>
          </a:bodyPr>
          <a:lstStyle/>
          <a:p>
            <a:pPr algn="ctr" fontAlgn="auto">
              <a:spcBef>
                <a:spcPts val="0"/>
              </a:spcBef>
              <a:spcAft>
                <a:spcPts val="0"/>
              </a:spcAft>
            </a:pPr>
            <a:r>
              <a:rPr lang="zh-CN" altLang="en-US"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根桥</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的基本概念：</a:t>
            </a:r>
            <a:r>
              <a:rPr lang="en-US" altLang="zh-CN">
                <a:sym typeface="Huawei Sans" panose="020C0503030203020204" pitchFamily="34" charset="0"/>
              </a:rPr>
              <a:t>Port ID</a:t>
            </a:r>
            <a:endParaRPr lang="zh-CN" altLang="en-US" dirty="0">
              <a:sym typeface="Huawei Sans" panose="020C0503030203020204" pitchFamily="34" charset="0"/>
            </a:endParaRPr>
          </a:p>
        </p:txBody>
      </p:sp>
      <p:sp>
        <p:nvSpPr>
          <p:cNvPr id="17" name="圆角矩形 16"/>
          <p:cNvSpPr/>
          <p:nvPr/>
        </p:nvSpPr>
        <p:spPr>
          <a:xfrm>
            <a:off x="5879976" y="2163281"/>
            <a:ext cx="5688632" cy="40067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Port ID</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PID</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8" name="圆角矩形 17"/>
          <p:cNvSpPr/>
          <p:nvPr/>
        </p:nvSpPr>
        <p:spPr>
          <a:xfrm>
            <a:off x="5879976" y="2612815"/>
            <a:ext cx="5688632" cy="2663769"/>
          </a:xfrm>
          <a:prstGeom prst="roundRect">
            <a:avLst>
              <a:gd name="adj" fmla="val 184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运行</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的交换机使用接口</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来标识每个接口，接口</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主要用于在特定场景下选举指定接口。</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由两部分构成的，高</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4 bit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是接口优先级，低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12 bit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是接口编号。</a:t>
            </a: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激活</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的接口会维护一个缺省的接口优先级，在华为交换机上，该值为</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128</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。用户可以根据实际需要，通过命令修改该优先级。</a:t>
            </a:r>
          </a:p>
        </p:txBody>
      </p:sp>
      <p:sp>
        <p:nvSpPr>
          <p:cNvPr id="28" name="文本框 27"/>
          <p:cNvSpPr txBox="1"/>
          <p:nvPr/>
        </p:nvSpPr>
        <p:spPr>
          <a:xfrm>
            <a:off x="657337" y="2464370"/>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a:xfrm>
            <a:off x="4727103" y="2464370"/>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0" name="组合 29"/>
          <p:cNvGrpSpPr/>
          <p:nvPr/>
        </p:nvGrpSpPr>
        <p:grpSpPr>
          <a:xfrm flipV="1">
            <a:off x="1609745" y="2673501"/>
            <a:ext cx="2745630" cy="2115270"/>
            <a:chOff x="6600056" y="4353447"/>
            <a:chExt cx="1296144" cy="833967"/>
          </a:xfrm>
        </p:grpSpPr>
        <p:cxnSp>
          <p:nvCxnSpPr>
            <p:cNvPr id="31" name="直接连接符 30"/>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3" name="直接连接符 32"/>
          <p:cNvCxnSpPr/>
          <p:nvPr/>
        </p:nvCxnSpPr>
        <p:spPr>
          <a:xfrm flipH="1">
            <a:off x="1475689" y="2612815"/>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4" name="图片 76" descr="接入交换机.png"/>
          <p:cNvPicPr>
            <a:picLocks noChangeAspect="1"/>
          </p:cNvPicPr>
          <p:nvPr/>
        </p:nvPicPr>
        <p:blipFill>
          <a:blip r:embed="rId3" cstate="print"/>
          <a:stretch>
            <a:fillRect/>
          </a:stretch>
        </p:blipFill>
        <p:spPr>
          <a:xfrm>
            <a:off x="4231790" y="2427271"/>
            <a:ext cx="490909" cy="401653"/>
          </a:xfrm>
          <a:prstGeom prst="rect">
            <a:avLst/>
          </a:prstGeom>
        </p:spPr>
      </p:pic>
      <p:pic>
        <p:nvPicPr>
          <p:cNvPr id="35" name="图片 76" descr="接入交换机.png"/>
          <p:cNvPicPr>
            <a:picLocks noChangeAspect="1"/>
          </p:cNvPicPr>
          <p:nvPr/>
        </p:nvPicPr>
        <p:blipFill>
          <a:blip r:embed="rId3" cstate="print"/>
          <a:stretch>
            <a:fillRect/>
          </a:stretch>
        </p:blipFill>
        <p:spPr>
          <a:xfrm>
            <a:off x="2737106" y="4439034"/>
            <a:ext cx="490909" cy="401653"/>
          </a:xfrm>
          <a:prstGeom prst="rect">
            <a:avLst/>
          </a:prstGeom>
        </p:spPr>
      </p:pic>
      <p:sp>
        <p:nvSpPr>
          <p:cNvPr id="36" name="文本框 35"/>
          <p:cNvSpPr txBox="1"/>
          <p:nvPr/>
        </p:nvSpPr>
        <p:spPr>
          <a:xfrm>
            <a:off x="2695462" y="4858004"/>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a:xfrm>
            <a:off x="1702858" y="2274261"/>
            <a:ext cx="1273105" cy="338554"/>
          </a:xfrm>
          <a:prstGeom prst="rect">
            <a:avLst/>
          </a:prstGeom>
          <a:noFill/>
        </p:spPr>
        <p:txBody>
          <a:bodyPr wrap="none" rtlCol="0">
            <a:spAutoFit/>
          </a:bodyPr>
          <a:lstStyle/>
          <a:p>
            <a:pPr algn="ct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PID=128.24</a:t>
            </a:r>
          </a:p>
        </p:txBody>
      </p:sp>
      <p:sp>
        <p:nvSpPr>
          <p:cNvPr id="38" name="文本框 37"/>
          <p:cNvSpPr txBox="1"/>
          <p:nvPr/>
        </p:nvSpPr>
        <p:spPr>
          <a:xfrm>
            <a:off x="3020673" y="2274261"/>
            <a:ext cx="1273105" cy="338554"/>
          </a:xfrm>
          <a:prstGeom prst="rect">
            <a:avLst/>
          </a:prstGeom>
          <a:noFill/>
        </p:spPr>
        <p:txBody>
          <a:bodyPr wrap="none" rtlCol="0">
            <a:spAutoFit/>
          </a:bodyPr>
          <a:lstStyle/>
          <a:p>
            <a:pPr algn="ct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PID=128.24</a:t>
            </a:r>
          </a:p>
        </p:txBody>
      </p:sp>
      <p:sp>
        <p:nvSpPr>
          <p:cNvPr id="39" name="文本框 38"/>
          <p:cNvSpPr txBox="1"/>
          <p:nvPr/>
        </p:nvSpPr>
        <p:spPr>
          <a:xfrm>
            <a:off x="585978" y="2855505"/>
            <a:ext cx="1273105" cy="338554"/>
          </a:xfrm>
          <a:prstGeom prst="rect">
            <a:avLst/>
          </a:prstGeom>
          <a:noFill/>
        </p:spPr>
        <p:txBody>
          <a:bodyPr wrap="none" rtlCol="0">
            <a:spAutoFit/>
          </a:bodyPr>
          <a:lstStyle/>
          <a:p>
            <a:pPr algn="ct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PID=128.23</a:t>
            </a:r>
          </a:p>
        </p:txBody>
      </p:sp>
      <p:sp>
        <p:nvSpPr>
          <p:cNvPr id="40" name="文本框 39"/>
          <p:cNvSpPr txBox="1"/>
          <p:nvPr/>
        </p:nvSpPr>
        <p:spPr>
          <a:xfrm>
            <a:off x="1422357" y="4241556"/>
            <a:ext cx="1273105" cy="338554"/>
          </a:xfrm>
          <a:prstGeom prst="rect">
            <a:avLst/>
          </a:prstGeom>
          <a:noFill/>
        </p:spPr>
        <p:txBody>
          <a:bodyPr wrap="none" rtlCol="0">
            <a:spAutoFit/>
          </a:bodyPr>
          <a:lstStyle/>
          <a:p>
            <a:pPr algn="ctr" fontAlgn="auto">
              <a:spcBef>
                <a:spcPts val="0"/>
              </a:spcBef>
              <a:spcAft>
                <a:spcPts val="0"/>
              </a:spcAft>
            </a:pPr>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PID=128.21</a:t>
            </a:r>
          </a:p>
        </p:txBody>
      </p:sp>
      <p:pic>
        <p:nvPicPr>
          <p:cNvPr id="41" name="图片 76" descr="接入交换机.png"/>
          <p:cNvPicPr>
            <a:picLocks noChangeAspect="1"/>
          </p:cNvPicPr>
          <p:nvPr/>
        </p:nvPicPr>
        <p:blipFill>
          <a:blip r:embed="rId3" cstate="print"/>
          <a:stretch>
            <a:fillRect/>
          </a:stretch>
        </p:blipFill>
        <p:spPr>
          <a:xfrm>
            <a:off x="1242083" y="2423070"/>
            <a:ext cx="490909" cy="401653"/>
          </a:xfrm>
          <a:prstGeom prst="rect">
            <a:avLst/>
          </a:prstGeom>
        </p:spPr>
      </p:pic>
      <p:sp>
        <p:nvSpPr>
          <p:cNvPr id="42" name="文本框 41"/>
          <p:cNvSpPr txBox="1"/>
          <p:nvPr/>
        </p:nvSpPr>
        <p:spPr>
          <a:xfrm>
            <a:off x="4139837" y="2855505"/>
            <a:ext cx="1273105" cy="338554"/>
          </a:xfrm>
          <a:prstGeom prst="rect">
            <a:avLst/>
          </a:prstGeom>
          <a:noFill/>
        </p:spPr>
        <p:txBody>
          <a:bodyPr wrap="none" rtlCol="0">
            <a:spAutoFit/>
          </a:bodyPr>
          <a:lstStyle/>
          <a:p>
            <a:pPr algn="ct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PID=128.23</a:t>
            </a:r>
          </a:p>
        </p:txBody>
      </p:sp>
      <p:sp>
        <p:nvSpPr>
          <p:cNvPr id="43" name="文本框 42"/>
          <p:cNvSpPr txBox="1"/>
          <p:nvPr/>
        </p:nvSpPr>
        <p:spPr>
          <a:xfrm>
            <a:off x="3234078" y="4241556"/>
            <a:ext cx="1273105" cy="338554"/>
          </a:xfrm>
          <a:prstGeom prst="rect">
            <a:avLst/>
          </a:prstGeom>
          <a:noFill/>
        </p:spPr>
        <p:txBody>
          <a:bodyPr wrap="none" rtlCol="0">
            <a:spAutoFit/>
          </a:bodyPr>
          <a:lstStyle/>
          <a:p>
            <a:pPr algn="ctr" fontAlgn="auto">
              <a:spcBef>
                <a:spcPts val="0"/>
              </a:spcBef>
              <a:spcAft>
                <a:spcPts val="0"/>
              </a:spcAft>
            </a:pPr>
            <a:r>
              <a:rPr lang="en-US" altLang="zh-CN" sz="160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PID=128.22</a:t>
            </a:r>
          </a:p>
        </p:txBody>
      </p:sp>
      <p:sp>
        <p:nvSpPr>
          <p:cNvPr id="48" name="五边形 47"/>
          <p:cNvSpPr/>
          <p:nvPr/>
        </p:nvSpPr>
        <p:spPr bwMode="auto">
          <a:xfrm>
            <a:off x="7211868" y="152815"/>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桥</a:t>
            </a: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auto">
          <a:xfrm>
            <a:off x="7920187"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根桥</a:t>
            </a:r>
          </a:p>
        </p:txBody>
      </p:sp>
      <p:sp>
        <p:nvSpPr>
          <p:cNvPr id="50" name="燕尾形 49"/>
          <p:cNvSpPr/>
          <p:nvPr/>
        </p:nvSpPr>
        <p:spPr bwMode="auto">
          <a:xfrm>
            <a:off x="8628506"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Cost</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auto">
          <a:xfrm>
            <a:off x="9336825"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RPC</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51"/>
          <p:cNvSpPr/>
          <p:nvPr/>
        </p:nvSpPr>
        <p:spPr bwMode="auto">
          <a:xfrm>
            <a:off x="10045144" y="152815"/>
            <a:ext cx="7812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Port ID</a:t>
            </a:r>
            <a:endPar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auto">
          <a:xfrm>
            <a:off x="10753463"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BPDU</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的基本概念：</a:t>
            </a:r>
            <a:r>
              <a:rPr lang="en-US" altLang="zh-CN">
                <a:sym typeface="Huawei Sans" panose="020C0503030203020204" pitchFamily="34" charset="0"/>
              </a:rPr>
              <a:t>BPDU</a:t>
            </a:r>
            <a:endParaRPr lang="zh-CN" altLang="en-US" dirty="0">
              <a:sym typeface="Huawei Sans" panose="020C0503030203020204" pitchFamily="34" charset="0"/>
            </a:endParaRPr>
          </a:p>
        </p:txBody>
      </p:sp>
      <p:cxnSp>
        <p:nvCxnSpPr>
          <p:cNvPr id="22" name="直接箭头连接符 21"/>
          <p:cNvCxnSpPr/>
          <p:nvPr/>
        </p:nvCxnSpPr>
        <p:spPr>
          <a:xfrm>
            <a:off x="1589686" y="3018755"/>
            <a:ext cx="398154" cy="62626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H="1" flipV="1">
            <a:off x="2402693" y="3517246"/>
            <a:ext cx="386048" cy="607983"/>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V="1">
            <a:off x="3176379" y="3470724"/>
            <a:ext cx="430000" cy="654506"/>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1928248" y="2392805"/>
            <a:ext cx="861042"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a:off x="3081651" y="2785290"/>
            <a:ext cx="855385"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7" name="椭圆 26"/>
          <p:cNvSpPr>
            <a:spLocks noChangeAspect="1"/>
          </p:cNvSpPr>
          <p:nvPr/>
        </p:nvSpPr>
        <p:spPr>
          <a:xfrm>
            <a:off x="3114364" y="3985353"/>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椭圆 27"/>
          <p:cNvSpPr>
            <a:spLocks noChangeAspect="1"/>
          </p:cNvSpPr>
          <p:nvPr/>
        </p:nvSpPr>
        <p:spPr>
          <a:xfrm>
            <a:off x="1838393" y="2276872"/>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椭圆 28"/>
          <p:cNvSpPr>
            <a:spLocks noChangeAspect="1"/>
          </p:cNvSpPr>
          <p:nvPr/>
        </p:nvSpPr>
        <p:spPr>
          <a:xfrm>
            <a:off x="3780563" y="2705151"/>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0" name="直接箭头连接符 29"/>
          <p:cNvCxnSpPr/>
          <p:nvPr/>
        </p:nvCxnSpPr>
        <p:spPr>
          <a:xfrm flipH="1">
            <a:off x="3977267" y="3031124"/>
            <a:ext cx="414670" cy="68643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1" name="椭圆 30"/>
          <p:cNvSpPr>
            <a:spLocks noChangeAspect="1"/>
          </p:cNvSpPr>
          <p:nvPr/>
        </p:nvSpPr>
        <p:spPr>
          <a:xfrm>
            <a:off x="4249702" y="2996985"/>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椭圆 31"/>
          <p:cNvSpPr>
            <a:spLocks noChangeAspect="1"/>
          </p:cNvSpPr>
          <p:nvPr/>
        </p:nvSpPr>
        <p:spPr>
          <a:xfrm>
            <a:off x="1475689" y="2925266"/>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椭圆 32"/>
          <p:cNvSpPr>
            <a:spLocks noChangeAspect="1"/>
          </p:cNvSpPr>
          <p:nvPr/>
        </p:nvSpPr>
        <p:spPr>
          <a:xfrm>
            <a:off x="714775" y="5199168"/>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椭圆 33"/>
          <p:cNvSpPr>
            <a:spLocks noChangeAspect="1"/>
          </p:cNvSpPr>
          <p:nvPr/>
        </p:nvSpPr>
        <p:spPr>
          <a:xfrm>
            <a:off x="2665542" y="3985102"/>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a:xfrm>
            <a:off x="923104" y="5146394"/>
            <a:ext cx="1527860" cy="338554"/>
          </a:xfrm>
          <a:prstGeom prst="rect">
            <a:avLst/>
          </a:prstGeom>
          <a:noFill/>
        </p:spPr>
        <p:txBody>
          <a:bodyPr wrap="square" rtlCol="0">
            <a:spAutoFit/>
          </a:bodyPr>
          <a:lstStyle/>
          <a:p>
            <a:pPr fontAlgn="auto">
              <a:spcBef>
                <a:spcPts val="0"/>
              </a:spcBef>
              <a:spcAft>
                <a:spcPts val="0"/>
              </a:spcAft>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BPDU</a:t>
            </a:r>
          </a:p>
        </p:txBody>
      </p:sp>
      <p:sp>
        <p:nvSpPr>
          <p:cNvPr id="36" name="圆角矩形 35"/>
          <p:cNvSpPr/>
          <p:nvPr/>
        </p:nvSpPr>
        <p:spPr>
          <a:xfrm>
            <a:off x="5879976" y="1827338"/>
            <a:ext cx="5688632" cy="40067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Bridge Protocol Data Unit</a:t>
            </a: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，网桥协议数据单元）</a:t>
            </a:r>
          </a:p>
        </p:txBody>
      </p:sp>
      <p:sp>
        <p:nvSpPr>
          <p:cNvPr id="37" name="圆角矩形 36"/>
          <p:cNvSpPr/>
          <p:nvPr/>
        </p:nvSpPr>
        <p:spPr>
          <a:xfrm>
            <a:off x="5879976" y="2276872"/>
            <a:ext cx="5688632" cy="3203829"/>
          </a:xfrm>
          <a:prstGeom prst="roundRect">
            <a:avLst>
              <a:gd name="adj" fmla="val 184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77800" indent="-177800" algn="just" fontAlgn="auto">
              <a:lnSpc>
                <a:spcPts val="2600"/>
              </a:lnSpc>
              <a:spcBef>
                <a:spcPts val="0"/>
              </a:spcBef>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是</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能够正常工作的根本。</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是</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的协议报文。</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交换机之间会交互</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报文，这些</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报文携带着一些重要信息，正是基于这些信息，</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才能够顺利工作。</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分为两种类型：</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635000" lvl="1"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Configuration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635000" lvl="1" indent="-177800" algn="just" fontAlgn="auto">
              <a:lnSpc>
                <a:spcPts val="2600"/>
              </a:lnSpc>
              <a:spcBef>
                <a:spcPts val="0"/>
              </a:spcBef>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TCN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Topology Change Notification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是</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进行拓扑计算的关键；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TCN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只在网络拓扑发生变更时才会被触发。</a:t>
            </a:r>
          </a:p>
        </p:txBody>
      </p:sp>
      <p:sp>
        <p:nvSpPr>
          <p:cNvPr id="38" name="文本框 37"/>
          <p:cNvSpPr txBox="1"/>
          <p:nvPr/>
        </p:nvSpPr>
        <p:spPr>
          <a:xfrm>
            <a:off x="657337" y="2427271"/>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a:xfrm>
            <a:off x="4727103" y="2464370"/>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0" name="组合 39"/>
          <p:cNvGrpSpPr/>
          <p:nvPr/>
        </p:nvGrpSpPr>
        <p:grpSpPr>
          <a:xfrm flipV="1">
            <a:off x="1609745" y="2673501"/>
            <a:ext cx="2745630" cy="2115270"/>
            <a:chOff x="6600056" y="4353447"/>
            <a:chExt cx="1296144" cy="833967"/>
          </a:xfrm>
        </p:grpSpPr>
        <p:cxnSp>
          <p:nvCxnSpPr>
            <p:cNvPr id="41" name="直接连接符 40"/>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 name="直接连接符 42"/>
          <p:cNvCxnSpPr/>
          <p:nvPr/>
        </p:nvCxnSpPr>
        <p:spPr>
          <a:xfrm flipH="1">
            <a:off x="1475689" y="2612815"/>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4" name="图片 76" descr="接入交换机.png"/>
          <p:cNvPicPr>
            <a:picLocks noChangeAspect="1"/>
          </p:cNvPicPr>
          <p:nvPr/>
        </p:nvPicPr>
        <p:blipFill>
          <a:blip r:embed="rId3" cstate="print"/>
          <a:stretch>
            <a:fillRect/>
          </a:stretch>
        </p:blipFill>
        <p:spPr>
          <a:xfrm>
            <a:off x="4231790" y="2427271"/>
            <a:ext cx="490909" cy="401653"/>
          </a:xfrm>
          <a:prstGeom prst="rect">
            <a:avLst/>
          </a:prstGeom>
        </p:spPr>
      </p:pic>
      <p:pic>
        <p:nvPicPr>
          <p:cNvPr id="45" name="图片 76" descr="接入交换机.png"/>
          <p:cNvPicPr>
            <a:picLocks noChangeAspect="1"/>
          </p:cNvPicPr>
          <p:nvPr/>
        </p:nvPicPr>
        <p:blipFill>
          <a:blip r:embed="rId3" cstate="print"/>
          <a:stretch>
            <a:fillRect/>
          </a:stretch>
        </p:blipFill>
        <p:spPr>
          <a:xfrm>
            <a:off x="2737106" y="4439034"/>
            <a:ext cx="490909" cy="401653"/>
          </a:xfrm>
          <a:prstGeom prst="rect">
            <a:avLst/>
          </a:prstGeom>
        </p:spPr>
      </p:pic>
      <p:sp>
        <p:nvSpPr>
          <p:cNvPr id="46" name="文本框 45"/>
          <p:cNvSpPr txBox="1"/>
          <p:nvPr/>
        </p:nvSpPr>
        <p:spPr>
          <a:xfrm>
            <a:off x="2695462" y="4858004"/>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1" name="图片 76" descr="接入交换机.png"/>
          <p:cNvPicPr>
            <a:picLocks noChangeAspect="1"/>
          </p:cNvPicPr>
          <p:nvPr/>
        </p:nvPicPr>
        <p:blipFill>
          <a:blip r:embed="rId3" cstate="print"/>
          <a:stretch>
            <a:fillRect/>
          </a:stretch>
        </p:blipFill>
        <p:spPr>
          <a:xfrm>
            <a:off x="1242083" y="2423070"/>
            <a:ext cx="490909" cy="401653"/>
          </a:xfrm>
          <a:prstGeom prst="rect">
            <a:avLst/>
          </a:prstGeom>
        </p:spPr>
      </p:pic>
      <p:sp>
        <p:nvSpPr>
          <p:cNvPr id="54" name="五边形 53"/>
          <p:cNvSpPr/>
          <p:nvPr/>
        </p:nvSpPr>
        <p:spPr bwMode="auto">
          <a:xfrm>
            <a:off x="7211868" y="152815"/>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桥</a:t>
            </a: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auto">
          <a:xfrm>
            <a:off x="7920187"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根桥</a:t>
            </a:r>
          </a:p>
        </p:txBody>
      </p:sp>
      <p:sp>
        <p:nvSpPr>
          <p:cNvPr id="56" name="燕尾形 55"/>
          <p:cNvSpPr/>
          <p:nvPr/>
        </p:nvSpPr>
        <p:spPr bwMode="auto">
          <a:xfrm>
            <a:off x="8628506"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Cost</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auto">
          <a:xfrm>
            <a:off x="9336825"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RPC</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燕尾形 57"/>
          <p:cNvSpPr/>
          <p:nvPr/>
        </p:nvSpPr>
        <p:spPr bwMode="auto">
          <a:xfrm>
            <a:off x="10045144"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Port 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58"/>
          <p:cNvSpPr/>
          <p:nvPr/>
        </p:nvSpPr>
        <p:spPr bwMode="auto">
          <a:xfrm>
            <a:off x="10753463" y="152815"/>
            <a:ext cx="7812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BPDU</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配置</a:t>
            </a:r>
            <a:r>
              <a:rPr lang="en-US" altLang="zh-CN">
                <a:sym typeface="Huawei Sans" panose="020C0503030203020204" pitchFamily="34" charset="0"/>
              </a:rPr>
              <a:t>BPDU</a:t>
            </a:r>
            <a:r>
              <a:rPr lang="zh-CN" altLang="en-US">
                <a:sym typeface="Huawei Sans" panose="020C0503030203020204" pitchFamily="34" charset="0"/>
              </a:rPr>
              <a:t>的报文格式</a:t>
            </a:r>
            <a:endParaRPr lang="zh-CN" altLang="en-US" dirty="0">
              <a:sym typeface="Huawei Sans" panose="020C0503030203020204" pitchFamily="34" charset="0"/>
            </a:endParaRPr>
          </a:p>
        </p:txBody>
      </p:sp>
      <p:graphicFrame>
        <p:nvGraphicFramePr>
          <p:cNvPr id="6" name="表格 5"/>
          <p:cNvGraphicFramePr>
            <a:graphicFrameLocks noGrp="1"/>
          </p:cNvGraphicFramePr>
          <p:nvPr/>
        </p:nvGraphicFramePr>
        <p:xfrm>
          <a:off x="1109739" y="2086194"/>
          <a:ext cx="10050146" cy="4222428"/>
        </p:xfrm>
        <a:graphic>
          <a:graphicData uri="http://schemas.openxmlformats.org/drawingml/2006/table">
            <a:tbl>
              <a:tblPr firstRow="1" firstCol="1" lastRow="1" lastCol="1" bandRow="1" bandCol="1">
                <a:tableStyleId>{5940675A-B579-460E-94D1-54222C63F5DA}</a:tableStyleId>
              </a:tblPr>
              <a:tblGrid>
                <a:gridCol w="624494">
                  <a:extLst>
                    <a:ext uri="{9D8B030D-6E8A-4147-A177-3AD203B41FA5}">
                      <a16:colId xmlns:a16="http://schemas.microsoft.com/office/drawing/2014/main" val="20000"/>
                    </a:ext>
                  </a:extLst>
                </a:gridCol>
                <a:gridCol w="1352205">
                  <a:extLst>
                    <a:ext uri="{9D8B030D-6E8A-4147-A177-3AD203B41FA5}">
                      <a16:colId xmlns:a16="http://schemas.microsoft.com/office/drawing/2014/main" val="20001"/>
                    </a:ext>
                  </a:extLst>
                </a:gridCol>
                <a:gridCol w="8073447">
                  <a:extLst>
                    <a:ext uri="{9D8B030D-6E8A-4147-A177-3AD203B41FA5}">
                      <a16:colId xmlns:a16="http://schemas.microsoft.com/office/drawing/2014/main" val="20002"/>
                    </a:ext>
                  </a:extLst>
                </a:gridCol>
              </a:tblGrid>
              <a:tr h="280439">
                <a:tc>
                  <a:txBody>
                    <a:bodyPr/>
                    <a:lstStyle/>
                    <a:p>
                      <a:pPr algn="ctr">
                        <a:lnSpc>
                          <a:spcPts val="1600"/>
                        </a:lnSpc>
                        <a:spcAft>
                          <a:spcPts val="0"/>
                        </a:spcAft>
                      </a:pPr>
                      <a:r>
                        <a:rPr lang="zh-CN" sz="1400" b="1"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字节</a:t>
                      </a:r>
                      <a:endParaRPr lang="zh-CN" sz="1400" b="1" kern="100" dirty="0">
                        <a:solidFill>
                          <a:schemeClr val="bg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lnSpc>
                          <a:spcPts val="1600"/>
                        </a:lnSpc>
                        <a:spcAft>
                          <a:spcPts val="0"/>
                        </a:spcAft>
                      </a:pPr>
                      <a:r>
                        <a:rPr lang="zh-CN" sz="1400" b="1"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字段</a:t>
                      </a:r>
                      <a:endParaRPr lang="zh-CN" sz="1400" b="1" kern="100" dirty="0">
                        <a:solidFill>
                          <a:schemeClr val="bg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lnSpc>
                          <a:spcPts val="1600"/>
                        </a:lnSpc>
                        <a:spcAft>
                          <a:spcPts val="0"/>
                        </a:spcAft>
                      </a:pPr>
                      <a:r>
                        <a:rPr lang="zh-CN" sz="1400" b="1"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描述</a:t>
                      </a:r>
                      <a:endParaRPr lang="zh-CN" sz="1400" b="1" kern="100" dirty="0">
                        <a:solidFill>
                          <a:schemeClr val="bg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0"/>
                  </a:ext>
                </a:extLst>
              </a:tr>
              <a:tr h="280439">
                <a:tc>
                  <a:txBody>
                    <a:bodyPr/>
                    <a:lstStyle/>
                    <a:p>
                      <a:pPr algn="ctr">
                        <a:lnSpc>
                          <a:spcPts val="1600"/>
                        </a:lnSpc>
                        <a:spcAft>
                          <a:spcPts val="0"/>
                        </a:spcAft>
                      </a:pPr>
                      <a:r>
                        <a:rPr 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2</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600"/>
                        </a:lnSpc>
                        <a:spcAft>
                          <a:spcPts val="0"/>
                        </a:spcAft>
                      </a:pPr>
                      <a:r>
                        <a:rPr lang="en-US" altLang="zh-CN" sz="1400" b="0" kern="100" dirty="0">
                          <a:effectLst/>
                          <a:latin typeface="Huawei Sans" panose="020C0503030203020204" pitchFamily="34" charset="0"/>
                          <a:ea typeface="方正兰亭黑简体" panose="02000000000000000000" pitchFamily="2" charset="-122"/>
                          <a:cs typeface="+mn-cs"/>
                          <a:sym typeface="Huawei Sans" panose="020C0503030203020204" pitchFamily="34" charset="0"/>
                        </a:rPr>
                        <a:t>PID</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defTabSz="913765" rtl="0" eaLnBrk="1" fontAlgn="auto" latinLnBrk="0" hangingPunct="1">
                        <a:lnSpc>
                          <a:spcPts val="1600"/>
                        </a:lnSpc>
                        <a:spcBef>
                          <a:spcPts val="0"/>
                        </a:spcBef>
                        <a:spcAft>
                          <a:spcPts val="0"/>
                        </a:spcAft>
                        <a:buClrTx/>
                        <a:buSzTx/>
                        <a:buFontTx/>
                        <a:buNone/>
                        <a:defRPr/>
                      </a:pPr>
                      <a:r>
                        <a:rPr lang="zh-CN"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协议</a:t>
                      </a:r>
                      <a:r>
                        <a:rPr lang="en-US"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ID</a:t>
                      </a:r>
                      <a:r>
                        <a:rPr lang="zh-CN"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rPr>
                        <a:t>，</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对于</a:t>
                      </a:r>
                      <a:r>
                        <a:rPr lang="en-US"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而言，该字段的值总为</a:t>
                      </a:r>
                      <a:r>
                        <a:rPr lang="en-US"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0</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80439">
                <a:tc>
                  <a:txBody>
                    <a:bodyPr/>
                    <a:lstStyle/>
                    <a:p>
                      <a:pPr algn="ctr">
                        <a:lnSpc>
                          <a:spcPts val="1600"/>
                        </a:lnSpc>
                        <a:spcAft>
                          <a:spcPts val="0"/>
                        </a:spcAft>
                      </a:pPr>
                      <a:r>
                        <a:rPr lang="en-US" sz="1400" kern="100">
                          <a:effectLst/>
                          <a:latin typeface="Huawei Sans" panose="020C0503030203020204" pitchFamily="34" charset="0"/>
                          <a:ea typeface="方正兰亭黑简体" panose="02000000000000000000" pitchFamily="2" charset="-122"/>
                          <a:sym typeface="Huawei Sans" panose="020C0503030203020204" pitchFamily="34" charset="0"/>
                        </a:rPr>
                        <a:t>1</a:t>
                      </a:r>
                      <a:endParaRPr lang="zh-CN" sz="1400" b="0" kern="10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600"/>
                        </a:lnSpc>
                        <a:spcAft>
                          <a:spcPts val="0"/>
                        </a:spcAft>
                      </a:pPr>
                      <a:r>
                        <a:rPr lang="en-US" alt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rPr>
                        <a:t>PVI</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defTabSz="913765" rtl="0" eaLnBrk="1" fontAlgn="auto" latinLnBrk="0" hangingPunct="1">
                        <a:lnSpc>
                          <a:spcPts val="1600"/>
                        </a:lnSpc>
                        <a:spcBef>
                          <a:spcPts val="0"/>
                        </a:spcBef>
                        <a:spcAft>
                          <a:spcPts val="0"/>
                        </a:spcAft>
                        <a:buClrTx/>
                        <a:buSzTx/>
                        <a:buFontTx/>
                        <a:buNone/>
                        <a:defRPr/>
                      </a:pP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协议</a:t>
                      </a:r>
                      <a:r>
                        <a:rPr lang="zh-CN"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版本</a:t>
                      </a:r>
                      <a:r>
                        <a:rPr lang="en-US"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rPr>
                        <a:t>，</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对于</a:t>
                      </a:r>
                      <a:r>
                        <a:rPr lang="en-US"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而言，该字段的值总为</a:t>
                      </a:r>
                      <a:r>
                        <a:rPr lang="en-US"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0</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80439">
                <a:tc>
                  <a:txBody>
                    <a:bodyPr/>
                    <a:lstStyle/>
                    <a:p>
                      <a:pPr algn="ctr">
                        <a:lnSpc>
                          <a:spcPts val="1600"/>
                        </a:lnSpc>
                        <a:spcAft>
                          <a:spcPts val="0"/>
                        </a:spcAft>
                      </a:pPr>
                      <a:r>
                        <a:rPr lang="en-US" sz="1400" kern="100">
                          <a:effectLst/>
                          <a:latin typeface="Huawei Sans" panose="020C0503030203020204" pitchFamily="34" charset="0"/>
                          <a:ea typeface="方正兰亭黑简体" panose="02000000000000000000" pitchFamily="2" charset="-122"/>
                          <a:sym typeface="Huawei Sans" panose="020C0503030203020204" pitchFamily="34" charset="0"/>
                        </a:rPr>
                        <a:t>1</a:t>
                      </a:r>
                      <a:endParaRPr lang="zh-CN" sz="1400" b="0" kern="10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600"/>
                        </a:lnSpc>
                        <a:spcAft>
                          <a:spcPts val="0"/>
                        </a:spcAft>
                      </a:pPr>
                      <a:r>
                        <a:rPr lang="en-US" alt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rPr>
                        <a:t>BPDU</a:t>
                      </a:r>
                      <a:r>
                        <a:rPr lang="en-US" altLang="zh-CN" sz="1400" b="0" kern="100" baseline="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rPr>
                        <a:t> Type</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ts val="1600"/>
                        </a:lnSpc>
                        <a:spcAft>
                          <a:spcPts val="0"/>
                        </a:spcAft>
                      </a:pP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指示本</a:t>
                      </a:r>
                      <a:r>
                        <a:rPr lang="en-US"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的类型，若值为</a:t>
                      </a:r>
                      <a:r>
                        <a:rPr lang="en-US"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0x00</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，则表示本报文为配置</a:t>
                      </a:r>
                      <a:r>
                        <a:rPr lang="en-US"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；若值为</a:t>
                      </a:r>
                      <a:r>
                        <a:rPr lang="en-US"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0x80</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，则为</a:t>
                      </a:r>
                      <a:r>
                        <a:rPr lang="en-US"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TCN BPDU</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63372">
                <a:tc>
                  <a:txBody>
                    <a:bodyPr/>
                    <a:lstStyle/>
                    <a:p>
                      <a:pPr algn="ctr">
                        <a:lnSpc>
                          <a:spcPts val="1600"/>
                        </a:lnSpc>
                        <a:spcAft>
                          <a:spcPts val="0"/>
                        </a:spcAft>
                      </a:pPr>
                      <a:r>
                        <a:rPr lang="en-US" sz="1400" kern="100">
                          <a:effectLst/>
                          <a:latin typeface="Huawei Sans" panose="020C0503030203020204" pitchFamily="34" charset="0"/>
                          <a:ea typeface="方正兰亭黑简体" panose="02000000000000000000" pitchFamily="2" charset="-122"/>
                          <a:sym typeface="Huawei Sans" panose="020C0503030203020204" pitchFamily="34" charset="0"/>
                        </a:rPr>
                        <a:t>1</a:t>
                      </a:r>
                      <a:endParaRPr lang="zh-CN" sz="1400" b="0" kern="10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600"/>
                        </a:lnSpc>
                        <a:spcAft>
                          <a:spcPts val="0"/>
                        </a:spcAft>
                      </a:pPr>
                      <a:r>
                        <a:rPr lang="en-US" altLang="zh-CN" sz="1400" b="0" kern="100" dirty="0">
                          <a:effectLst/>
                          <a:latin typeface="Huawei Sans" panose="020C0503030203020204" pitchFamily="34" charset="0"/>
                          <a:ea typeface="方正兰亭黑简体" panose="02000000000000000000" pitchFamily="2" charset="-122"/>
                          <a:cs typeface="+mn-cs"/>
                          <a:sym typeface="Huawei Sans" panose="020C0503030203020204" pitchFamily="34" charset="0"/>
                        </a:rPr>
                        <a:t>Flags</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ts val="1600"/>
                        </a:lnSpc>
                        <a:spcAft>
                          <a:spcPts val="0"/>
                        </a:spcAft>
                      </a:pP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标志，</a:t>
                      </a:r>
                      <a:r>
                        <a:rPr 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只使用了该字段的最高及最低两个比特位，最低位是</a:t>
                      </a:r>
                      <a:r>
                        <a:rPr lang="en-US" sz="1400" kern="100" dirty="0" err="1">
                          <a:effectLst/>
                          <a:latin typeface="Huawei Sans" panose="020C0503030203020204" pitchFamily="34" charset="0"/>
                          <a:ea typeface="方正兰亭黑简体" panose="02000000000000000000" pitchFamily="2" charset="-122"/>
                          <a:sym typeface="Huawei Sans" panose="020C0503030203020204" pitchFamily="34" charset="0"/>
                        </a:rPr>
                        <a:t>TC（Topology</a:t>
                      </a:r>
                      <a:r>
                        <a:rPr 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 Change，</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拓扑变更）标志，最高位是</a:t>
                      </a:r>
                      <a:r>
                        <a:rPr lang="en-US" sz="1400" kern="100" dirty="0" err="1">
                          <a:effectLst/>
                          <a:latin typeface="Huawei Sans" panose="020C0503030203020204" pitchFamily="34" charset="0"/>
                          <a:ea typeface="方正兰亭黑简体" panose="02000000000000000000" pitchFamily="2" charset="-122"/>
                          <a:sym typeface="Huawei Sans" panose="020C0503030203020204" pitchFamily="34" charset="0"/>
                        </a:rPr>
                        <a:t>TCA（Topology</a:t>
                      </a:r>
                      <a:r>
                        <a:rPr 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 Change Acknowledgment，</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拓扑变更确认）标志</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80439">
                <a:tc>
                  <a:txBody>
                    <a:bodyPr/>
                    <a:lstStyle/>
                    <a:p>
                      <a:pPr algn="ctr">
                        <a:lnSpc>
                          <a:spcPts val="1600"/>
                        </a:lnSpc>
                        <a:spcAft>
                          <a:spcPts val="0"/>
                        </a:spcAft>
                      </a:pPr>
                      <a:r>
                        <a:rPr lang="en-US" sz="1400" b="0" kern="10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8</a:t>
                      </a:r>
                      <a:endParaRPr lang="zh-CN" sz="1400" b="0" kern="100">
                        <a:solidFill>
                          <a:schemeClr val="tx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600"/>
                        </a:lnSpc>
                        <a:spcAft>
                          <a:spcPts val="0"/>
                        </a:spcAft>
                      </a:pPr>
                      <a:r>
                        <a:rPr lang="en-US" altLang="zh-CN" sz="1400" b="0" kern="1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Root</a:t>
                      </a:r>
                      <a:r>
                        <a:rPr lang="en-US" altLang="zh-CN" sz="1400" b="0" kern="100" baseline="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 ID</a:t>
                      </a:r>
                      <a:endParaRPr lang="zh-CN" sz="1400" b="0" kern="100" dirty="0">
                        <a:solidFill>
                          <a:schemeClr val="tx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ts val="1600"/>
                        </a:lnSpc>
                        <a:spcAft>
                          <a:spcPts val="0"/>
                        </a:spcAft>
                      </a:pPr>
                      <a:r>
                        <a:rPr lang="zh-CN"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根网桥的桥</a:t>
                      </a:r>
                      <a:r>
                        <a:rPr lang="en-US"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ID</a:t>
                      </a:r>
                      <a:endParaRPr lang="zh-CN" sz="1400" b="0" kern="100" dirty="0">
                        <a:solidFill>
                          <a:schemeClr val="tx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80439">
                <a:tc>
                  <a:txBody>
                    <a:bodyPr/>
                    <a:lstStyle/>
                    <a:p>
                      <a:pPr algn="ctr">
                        <a:lnSpc>
                          <a:spcPts val="1600"/>
                        </a:lnSpc>
                        <a:spcAft>
                          <a:spcPts val="0"/>
                        </a:spcAft>
                      </a:pPr>
                      <a:r>
                        <a:rPr lang="en-US" sz="1400" b="0" kern="10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4</a:t>
                      </a:r>
                      <a:endParaRPr lang="zh-CN" sz="1400" b="0" kern="100">
                        <a:solidFill>
                          <a:schemeClr val="tx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600"/>
                        </a:lnSpc>
                        <a:spcAft>
                          <a:spcPts val="0"/>
                        </a:spcAft>
                      </a:pPr>
                      <a:r>
                        <a:rPr lang="en-US" altLang="zh-CN"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RPC</a:t>
                      </a:r>
                      <a:endParaRPr lang="zh-CN" sz="1400" b="0" kern="100" dirty="0">
                        <a:solidFill>
                          <a:schemeClr val="tx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ts val="1600"/>
                        </a:lnSpc>
                        <a:spcAft>
                          <a:spcPts val="0"/>
                        </a:spcAft>
                      </a:pPr>
                      <a:r>
                        <a:rPr lang="zh-CN" altLang="en-US"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根</a:t>
                      </a:r>
                      <a:r>
                        <a:rPr lang="zh-CN" altLang="zh-CN"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路径开销</a:t>
                      </a:r>
                      <a:r>
                        <a:rPr lang="zh-CN" altLang="en-US"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zh-CN"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到达根桥的</a:t>
                      </a:r>
                      <a:r>
                        <a:rPr lang="en-US"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STP Cost</a:t>
                      </a:r>
                      <a:endParaRPr lang="zh-CN" sz="1400" b="0" kern="100" dirty="0">
                        <a:solidFill>
                          <a:schemeClr val="tx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80439">
                <a:tc>
                  <a:txBody>
                    <a:bodyPr/>
                    <a:lstStyle/>
                    <a:p>
                      <a:pPr algn="ctr">
                        <a:lnSpc>
                          <a:spcPts val="1600"/>
                        </a:lnSpc>
                        <a:spcAft>
                          <a:spcPts val="0"/>
                        </a:spcAft>
                      </a:pPr>
                      <a:r>
                        <a:rPr lang="en-US" sz="1400" b="0" kern="10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8</a:t>
                      </a:r>
                      <a:endParaRPr lang="zh-CN" sz="1400" b="0" kern="100">
                        <a:solidFill>
                          <a:schemeClr val="tx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600"/>
                        </a:lnSpc>
                        <a:spcAft>
                          <a:spcPts val="0"/>
                        </a:spcAft>
                      </a:pPr>
                      <a:r>
                        <a:rPr lang="en-US"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B</a:t>
                      </a:r>
                      <a:r>
                        <a:rPr lang="en-US" altLang="zh-CN"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ridge </a:t>
                      </a:r>
                      <a:r>
                        <a:rPr lang="en-US"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ID</a:t>
                      </a:r>
                      <a:endParaRPr lang="zh-CN" sz="1400" b="0" kern="100" dirty="0">
                        <a:solidFill>
                          <a:schemeClr val="tx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ts val="1600"/>
                        </a:lnSpc>
                        <a:spcAft>
                          <a:spcPts val="0"/>
                        </a:spcAft>
                      </a:pPr>
                      <a:r>
                        <a:rPr lang="en-US"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BPDU</a:t>
                      </a:r>
                      <a:r>
                        <a:rPr lang="zh-CN"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发送桥的</a:t>
                      </a:r>
                      <a:r>
                        <a:rPr lang="en-US"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ID</a:t>
                      </a:r>
                      <a:endParaRPr lang="zh-CN" sz="1400" b="0" kern="100" dirty="0">
                        <a:solidFill>
                          <a:schemeClr val="tx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66686">
                <a:tc>
                  <a:txBody>
                    <a:bodyPr/>
                    <a:lstStyle/>
                    <a:p>
                      <a:pPr algn="ctr">
                        <a:lnSpc>
                          <a:spcPts val="1600"/>
                        </a:lnSpc>
                        <a:spcAft>
                          <a:spcPts val="0"/>
                        </a:spcAft>
                      </a:pPr>
                      <a:r>
                        <a:rPr lang="en-US" sz="1400" b="0" kern="10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2</a:t>
                      </a:r>
                      <a:endParaRPr lang="zh-CN" sz="1400" b="0" kern="100">
                        <a:solidFill>
                          <a:schemeClr val="tx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ts val="1600"/>
                        </a:lnSpc>
                        <a:spcAft>
                          <a:spcPts val="0"/>
                        </a:spcAft>
                      </a:pPr>
                      <a:r>
                        <a:rPr lang="en-US"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a:t>
                      </a:r>
                      <a:r>
                        <a:rPr lang="en-US" altLang="zh-CN"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ort </a:t>
                      </a:r>
                      <a:r>
                        <a:rPr lang="en-US"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ID</a:t>
                      </a:r>
                      <a:endParaRPr lang="zh-CN" sz="1400" b="0" kern="100" dirty="0">
                        <a:solidFill>
                          <a:schemeClr val="tx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ts val="1600"/>
                        </a:lnSpc>
                        <a:spcAft>
                          <a:spcPts val="0"/>
                        </a:spcAft>
                      </a:pPr>
                      <a:r>
                        <a:rPr lang="en-US"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BPDU</a:t>
                      </a:r>
                      <a:r>
                        <a:rPr lang="zh-CN"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发送网桥的</a:t>
                      </a:r>
                      <a:r>
                        <a:rPr lang="zh-CN" altLang="en-US"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接口</a:t>
                      </a:r>
                      <a:r>
                        <a:rPr lang="en-US"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ID</a:t>
                      </a:r>
                      <a:r>
                        <a:rPr lang="zh-CN"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（优先级</a:t>
                      </a:r>
                      <a:r>
                        <a:rPr lang="en-US"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接口</a:t>
                      </a:r>
                      <a:r>
                        <a:rPr lang="zh-CN" sz="1400" b="0" kern="100"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号）</a:t>
                      </a:r>
                      <a:endParaRPr lang="zh-CN" sz="1400" b="0" kern="100" dirty="0">
                        <a:solidFill>
                          <a:schemeClr val="tx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481421">
                <a:tc>
                  <a:txBody>
                    <a:bodyPr/>
                    <a:lstStyle/>
                    <a:p>
                      <a:pPr algn="ctr">
                        <a:lnSpc>
                          <a:spcPts val="1600"/>
                        </a:lnSpc>
                        <a:spcAft>
                          <a:spcPts val="0"/>
                        </a:spcAft>
                      </a:pPr>
                      <a:r>
                        <a:rPr lang="en-US" sz="1400" kern="100">
                          <a:effectLst/>
                          <a:latin typeface="Huawei Sans" panose="020C0503030203020204" pitchFamily="34" charset="0"/>
                          <a:ea typeface="方正兰亭黑简体" panose="02000000000000000000" pitchFamily="2" charset="-122"/>
                          <a:sym typeface="Huawei Sans" panose="020C0503030203020204" pitchFamily="34" charset="0"/>
                        </a:rPr>
                        <a:t>2</a:t>
                      </a:r>
                      <a:endParaRPr lang="zh-CN" sz="1400" b="0" kern="10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Message</a:t>
                      </a:r>
                    </a:p>
                    <a:p>
                      <a:pPr algn="ct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Age</a:t>
                      </a: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defTabSz="913765" rtl="0" eaLnBrk="1" fontAlgn="auto" latinLnBrk="0" hangingPunct="1">
                        <a:lnSpc>
                          <a:spcPts val="1600"/>
                        </a:lnSpc>
                        <a:spcBef>
                          <a:spcPts val="0"/>
                        </a:spcBef>
                        <a:spcAft>
                          <a:spcPts val="0"/>
                        </a:spcAft>
                        <a:buClrTx/>
                        <a:buSzTx/>
                        <a:buFontTx/>
                        <a:buNone/>
                        <a:defRPr/>
                      </a:pPr>
                      <a:r>
                        <a:rPr lang="zh-CN"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消息寿命</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从根网桥发出</a:t>
                      </a:r>
                      <a:r>
                        <a:rPr 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BPDU</a:t>
                      </a:r>
                      <a:r>
                        <a:rPr 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之后的秒数，每经过一个</a:t>
                      </a:r>
                      <a:r>
                        <a:rPr lang="zh-CN" sz="1400" kern="100">
                          <a:effectLst/>
                          <a:latin typeface="Huawei Sans" panose="020C0503030203020204" pitchFamily="34" charset="0"/>
                          <a:ea typeface="方正兰亭黑简体" panose="02000000000000000000" pitchFamily="2" charset="-122"/>
                          <a:sym typeface="Huawei Sans" panose="020C0503030203020204" pitchFamily="34" charset="0"/>
                        </a:rPr>
                        <a:t>网桥都</a:t>
                      </a:r>
                      <a:r>
                        <a:rPr lang="zh-CN" altLang="en-US" sz="1400" kern="100">
                          <a:effectLst/>
                          <a:latin typeface="Huawei Sans" panose="020C0503030203020204" pitchFamily="34" charset="0"/>
                          <a:ea typeface="方正兰亭黑简体" panose="02000000000000000000" pitchFamily="2" charset="-122"/>
                          <a:sym typeface="Huawei Sans" panose="020C0503030203020204" pitchFamily="34" charset="0"/>
                        </a:rPr>
                        <a:t>加</a:t>
                      </a:r>
                      <a:r>
                        <a:rPr lang="en-US" altLang="zh-CN" sz="1400" kern="100">
                          <a:effectLst/>
                          <a:latin typeface="Huawei Sans" panose="020C0503030203020204" pitchFamily="34" charset="0"/>
                          <a:ea typeface="方正兰亭黑简体" panose="02000000000000000000" pitchFamily="2" charset="-122"/>
                          <a:sym typeface="Huawei Sans" panose="020C0503030203020204" pitchFamily="34" charset="0"/>
                        </a:rPr>
                        <a:t>1</a:t>
                      </a:r>
                      <a:r>
                        <a:rPr lang="zh-CN" sz="1400" kern="10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所以它本质上是到达根桥的跳数</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486998">
                <a:tc>
                  <a:txBody>
                    <a:bodyPr/>
                    <a:lstStyle/>
                    <a:p>
                      <a:pPr algn="ctr">
                        <a:lnSpc>
                          <a:spcPts val="1600"/>
                        </a:lnSpc>
                        <a:spcAft>
                          <a:spcPts val="0"/>
                        </a:spcAft>
                      </a:pPr>
                      <a:r>
                        <a:rPr lang="en-US" sz="1400" kern="100">
                          <a:effectLst/>
                          <a:latin typeface="Huawei Sans" panose="020C0503030203020204" pitchFamily="34" charset="0"/>
                          <a:ea typeface="方正兰亭黑简体" panose="02000000000000000000" pitchFamily="2" charset="-122"/>
                          <a:sym typeface="Huawei Sans" panose="020C0503030203020204" pitchFamily="34" charset="0"/>
                        </a:rPr>
                        <a:t>2</a:t>
                      </a:r>
                      <a:endParaRPr lang="zh-CN" sz="1400" b="0" kern="10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600"/>
                        </a:lnSpc>
                        <a:spcAft>
                          <a:spcPts val="0"/>
                        </a:spcAft>
                      </a:pPr>
                      <a:r>
                        <a:rPr lang="en-US"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Max Age</a:t>
                      </a:r>
                      <a:endParaRPr 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defTabSz="913765" rtl="0" eaLnBrk="1" fontAlgn="auto" latinLnBrk="0" hangingPunct="1">
                        <a:lnSpc>
                          <a:spcPts val="1600"/>
                        </a:lnSpc>
                        <a:spcBef>
                          <a:spcPts val="0"/>
                        </a:spcBef>
                        <a:spcAft>
                          <a:spcPts val="0"/>
                        </a:spcAft>
                        <a:buClrTx/>
                        <a:buSzTx/>
                        <a:buFontTx/>
                        <a:buNone/>
                        <a:defRPr/>
                      </a:pPr>
                      <a:r>
                        <a:rPr lang="zh-CN"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最大寿命</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当一段时间未收到任何</a:t>
                      </a:r>
                      <a:r>
                        <a:rPr 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BPDU</a:t>
                      </a:r>
                      <a:r>
                        <a:rPr 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，生存期到达</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最大寿命</a:t>
                      </a:r>
                      <a:r>
                        <a:rPr 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时，网桥认为该</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接口</a:t>
                      </a:r>
                      <a:r>
                        <a:rPr 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连接的链路发生故障。默认</a:t>
                      </a:r>
                      <a:r>
                        <a:rPr 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20s</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280439">
                <a:tc>
                  <a:txBody>
                    <a:bodyPr/>
                    <a:lstStyle/>
                    <a:p>
                      <a:pPr algn="ctr">
                        <a:lnSpc>
                          <a:spcPts val="1600"/>
                        </a:lnSpc>
                        <a:spcAft>
                          <a:spcPts val="0"/>
                        </a:spcAft>
                      </a:pPr>
                      <a:r>
                        <a:rPr lang="en-US" sz="1400" kern="100">
                          <a:effectLst/>
                          <a:latin typeface="Huawei Sans" panose="020C0503030203020204" pitchFamily="34" charset="0"/>
                          <a:ea typeface="方正兰亭黑简体" panose="02000000000000000000" pitchFamily="2" charset="-122"/>
                          <a:sym typeface="Huawei Sans" panose="020C0503030203020204" pitchFamily="34" charset="0"/>
                        </a:rPr>
                        <a:t>2</a:t>
                      </a:r>
                      <a:endParaRPr lang="zh-CN" sz="1400" b="0" kern="10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600"/>
                        </a:lnSpc>
                        <a:spcAft>
                          <a:spcPts val="0"/>
                        </a:spcAft>
                      </a:pPr>
                      <a:r>
                        <a:rPr lang="en-US"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Hello</a:t>
                      </a:r>
                      <a:r>
                        <a:rPr lang="en-US" altLang="zh-CN" sz="1400" kern="100" baseline="0" dirty="0">
                          <a:effectLst/>
                          <a:latin typeface="Huawei Sans" panose="020C0503030203020204" pitchFamily="34" charset="0"/>
                          <a:ea typeface="方正兰亭黑简体" panose="02000000000000000000" pitchFamily="2" charset="-122"/>
                          <a:sym typeface="Huawei Sans" panose="020C0503030203020204" pitchFamily="34" charset="0"/>
                        </a:rPr>
                        <a:t> Time</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ts val="1600"/>
                        </a:lnSpc>
                        <a:spcAft>
                          <a:spcPts val="0"/>
                        </a:spcAft>
                      </a:pPr>
                      <a:r>
                        <a:rPr 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根网桥连续发送的</a:t>
                      </a:r>
                      <a:r>
                        <a:rPr 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BPDU</a:t>
                      </a:r>
                      <a:r>
                        <a:rPr 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之间的时间间隔</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默认</a:t>
                      </a:r>
                      <a:r>
                        <a:rPr 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2s</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80439">
                <a:tc>
                  <a:txBody>
                    <a:bodyPr/>
                    <a:lstStyle/>
                    <a:p>
                      <a:pPr algn="ctr">
                        <a:lnSpc>
                          <a:spcPts val="1600"/>
                        </a:lnSpc>
                        <a:spcAft>
                          <a:spcPts val="0"/>
                        </a:spcAft>
                      </a:pPr>
                      <a:r>
                        <a:rPr lang="en-US" sz="1400" kern="100">
                          <a:effectLst/>
                          <a:latin typeface="Huawei Sans" panose="020C0503030203020204" pitchFamily="34" charset="0"/>
                          <a:ea typeface="方正兰亭黑简体" panose="02000000000000000000" pitchFamily="2" charset="-122"/>
                          <a:sym typeface="Huawei Sans" panose="020C0503030203020204" pitchFamily="34" charset="0"/>
                        </a:rPr>
                        <a:t>2</a:t>
                      </a:r>
                      <a:endParaRPr lang="zh-CN" sz="1400" b="0" kern="10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1600"/>
                        </a:lnSpc>
                        <a:spcAft>
                          <a:spcPts val="0"/>
                        </a:spcAft>
                      </a:pPr>
                      <a:r>
                        <a:rPr lang="en-US" alt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rPr>
                        <a:t>Forward Delay</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defTabSz="913765" rtl="0" eaLnBrk="1" fontAlgn="auto" latinLnBrk="0" hangingPunct="1">
                        <a:lnSpc>
                          <a:spcPts val="1600"/>
                        </a:lnSpc>
                        <a:spcBef>
                          <a:spcPts val="0"/>
                        </a:spcBef>
                        <a:spcAft>
                          <a:spcPts val="0"/>
                        </a:spcAft>
                        <a:buClrTx/>
                        <a:buSzTx/>
                        <a:buFontTx/>
                        <a:buNone/>
                        <a:defRPr/>
                      </a:pPr>
                      <a:r>
                        <a:rPr lang="zh-CN"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转发延迟</a:t>
                      </a:r>
                      <a:r>
                        <a:rPr lang="zh-CN" altLang="en-US"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rPr>
                        <a:t>，</a:t>
                      </a:r>
                      <a:r>
                        <a:rPr 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在</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侦听</a:t>
                      </a:r>
                      <a:r>
                        <a:rPr 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和学习状态所停留的时间间隔</a:t>
                      </a: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a:t>
                      </a:r>
                      <a:r>
                        <a:rPr 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默认</a:t>
                      </a:r>
                      <a:r>
                        <a:rPr 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15s</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99CCFF"/>
                      </a:solidFill>
                      <a:prstDash val="solid"/>
                      <a:round/>
                      <a:headEnd type="none" w="med" len="med"/>
                      <a:tailEnd type="none" w="med" len="med"/>
                    </a:lnL>
                    <a:lnR w="12700" cap="flat" cmpd="sng" algn="ctr">
                      <a:solidFill>
                        <a:srgbClr val="99CCFF"/>
                      </a:solidFill>
                      <a:prstDash val="solid"/>
                      <a:round/>
                      <a:headEnd type="none" w="med" len="med"/>
                      <a:tailEnd type="none" w="med" len="med"/>
                    </a:lnR>
                    <a:lnT w="12700" cap="flat" cmpd="sng" algn="ctr">
                      <a:solidFill>
                        <a:srgbClr val="99CCFF"/>
                      </a:solidFill>
                      <a:prstDash val="solid"/>
                      <a:round/>
                      <a:headEnd type="none" w="med" len="med"/>
                      <a:tailEnd type="none" w="med" len="med"/>
                    </a:lnT>
                    <a:lnB w="12700" cap="flat" cmpd="sng" algn="ctr">
                      <a:solidFill>
                        <a:srgbClr val="99CC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2"/>
                  </a:ext>
                </a:extLst>
              </a:tr>
            </a:tbl>
          </a:graphicData>
        </a:graphic>
      </p:graphicFrame>
      <p:sp>
        <p:nvSpPr>
          <p:cNvPr id="4" name="五边形 3"/>
          <p:cNvSpPr/>
          <p:nvPr/>
        </p:nvSpPr>
        <p:spPr bwMode="auto">
          <a:xfrm>
            <a:off x="7211868" y="152815"/>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桥</a:t>
            </a: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燕尾形 4"/>
          <p:cNvSpPr/>
          <p:nvPr/>
        </p:nvSpPr>
        <p:spPr bwMode="auto">
          <a:xfrm>
            <a:off x="7920187"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根桥</a:t>
            </a:r>
          </a:p>
        </p:txBody>
      </p:sp>
      <p:sp>
        <p:nvSpPr>
          <p:cNvPr id="7" name="燕尾形 6"/>
          <p:cNvSpPr/>
          <p:nvPr/>
        </p:nvSpPr>
        <p:spPr bwMode="auto">
          <a:xfrm>
            <a:off x="8628506"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Cost</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燕尾形 7"/>
          <p:cNvSpPr/>
          <p:nvPr/>
        </p:nvSpPr>
        <p:spPr bwMode="auto">
          <a:xfrm>
            <a:off x="9336825"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RPC</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燕尾形 8"/>
          <p:cNvSpPr/>
          <p:nvPr/>
        </p:nvSpPr>
        <p:spPr bwMode="auto">
          <a:xfrm>
            <a:off x="10045144"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Port 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燕尾形 9"/>
          <p:cNvSpPr/>
          <p:nvPr/>
        </p:nvSpPr>
        <p:spPr bwMode="auto">
          <a:xfrm>
            <a:off x="10753463" y="152815"/>
            <a:ext cx="7812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BPDU</a:t>
            </a:r>
            <a:endPar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11" name="表格 10"/>
          <p:cNvGraphicFramePr>
            <a:graphicFrameLocks noGrp="1"/>
          </p:cNvGraphicFramePr>
          <p:nvPr/>
        </p:nvGraphicFramePr>
        <p:xfrm>
          <a:off x="1376392" y="1444024"/>
          <a:ext cx="9516840" cy="561284"/>
        </p:xfrm>
        <a:graphic>
          <a:graphicData uri="http://schemas.openxmlformats.org/drawingml/2006/table">
            <a:tbl>
              <a:tblPr/>
              <a:tblGrid>
                <a:gridCol w="666585">
                  <a:extLst>
                    <a:ext uri="{9D8B030D-6E8A-4147-A177-3AD203B41FA5}">
                      <a16:colId xmlns:a16="http://schemas.microsoft.com/office/drawing/2014/main" val="20000"/>
                    </a:ext>
                  </a:extLst>
                </a:gridCol>
                <a:gridCol w="608328">
                  <a:extLst>
                    <a:ext uri="{9D8B030D-6E8A-4147-A177-3AD203B41FA5}">
                      <a16:colId xmlns:a16="http://schemas.microsoft.com/office/drawing/2014/main" val="20001"/>
                    </a:ext>
                  </a:extLst>
                </a:gridCol>
                <a:gridCol w="883007">
                  <a:extLst>
                    <a:ext uri="{9D8B030D-6E8A-4147-A177-3AD203B41FA5}">
                      <a16:colId xmlns:a16="http://schemas.microsoft.com/office/drawing/2014/main" val="20002"/>
                    </a:ext>
                  </a:extLst>
                </a:gridCol>
                <a:gridCol w="784892">
                  <a:extLst>
                    <a:ext uri="{9D8B030D-6E8A-4147-A177-3AD203B41FA5}">
                      <a16:colId xmlns:a16="http://schemas.microsoft.com/office/drawing/2014/main" val="20003"/>
                    </a:ext>
                  </a:extLst>
                </a:gridCol>
                <a:gridCol w="866233">
                  <a:extLst>
                    <a:ext uri="{9D8B030D-6E8A-4147-A177-3AD203B41FA5}">
                      <a16:colId xmlns:a16="http://schemas.microsoft.com/office/drawing/2014/main" val="20004"/>
                    </a:ext>
                  </a:extLst>
                </a:gridCol>
                <a:gridCol w="697401">
                  <a:extLst>
                    <a:ext uri="{9D8B030D-6E8A-4147-A177-3AD203B41FA5}">
                      <a16:colId xmlns:a16="http://schemas.microsoft.com/office/drawing/2014/main" val="20005"/>
                    </a:ext>
                  </a:extLst>
                </a:gridCol>
                <a:gridCol w="889699">
                  <a:extLst>
                    <a:ext uri="{9D8B030D-6E8A-4147-A177-3AD203B41FA5}">
                      <a16:colId xmlns:a16="http://schemas.microsoft.com/office/drawing/2014/main" val="20006"/>
                    </a:ext>
                  </a:extLst>
                </a:gridCol>
                <a:gridCol w="686784">
                  <a:extLst>
                    <a:ext uri="{9D8B030D-6E8A-4147-A177-3AD203B41FA5}">
                      <a16:colId xmlns:a16="http://schemas.microsoft.com/office/drawing/2014/main" val="20007"/>
                    </a:ext>
                  </a:extLst>
                </a:gridCol>
                <a:gridCol w="1111502">
                  <a:extLst>
                    <a:ext uri="{9D8B030D-6E8A-4147-A177-3AD203B41FA5}">
                      <a16:colId xmlns:a16="http://schemas.microsoft.com/office/drawing/2014/main" val="20008"/>
                    </a:ext>
                  </a:extLst>
                </a:gridCol>
                <a:gridCol w="804565">
                  <a:extLst>
                    <a:ext uri="{9D8B030D-6E8A-4147-A177-3AD203B41FA5}">
                      <a16:colId xmlns:a16="http://schemas.microsoft.com/office/drawing/2014/main" val="20009"/>
                    </a:ext>
                  </a:extLst>
                </a:gridCol>
                <a:gridCol w="740916">
                  <a:extLst>
                    <a:ext uri="{9D8B030D-6E8A-4147-A177-3AD203B41FA5}">
                      <a16:colId xmlns:a16="http://schemas.microsoft.com/office/drawing/2014/main" val="20010"/>
                    </a:ext>
                  </a:extLst>
                </a:gridCol>
                <a:gridCol w="776928">
                  <a:extLst>
                    <a:ext uri="{9D8B030D-6E8A-4147-A177-3AD203B41FA5}">
                      <a16:colId xmlns:a16="http://schemas.microsoft.com/office/drawing/2014/main" val="20011"/>
                    </a:ext>
                  </a:extLst>
                </a:gridCol>
              </a:tblGrid>
              <a:tr h="561284">
                <a:tc>
                  <a:txBody>
                    <a:bodyPr/>
                    <a:lstStyle>
                      <a:lvl1pPr marL="0" algn="l" defTabSz="914400" rtl="0" eaLnBrk="1" latinLnBrk="0" hangingPunct="1">
                        <a:defRPr sz="1800" kern="1200">
                          <a:solidFill>
                            <a:schemeClr val="tx1"/>
                          </a:solidFill>
                          <a:latin typeface="Arial" panose="020B0604020202020204"/>
                          <a:ea typeface="微软雅黑" panose="020B0503020204020204" pitchFamily="34" charset="-122"/>
                        </a:defRPr>
                      </a:lvl1pPr>
                      <a:lvl2pPr marL="457200" algn="l" defTabSz="914400" rtl="0" eaLnBrk="1" latinLnBrk="0" hangingPunct="1">
                        <a:defRPr sz="1800" kern="1200">
                          <a:solidFill>
                            <a:schemeClr val="tx1"/>
                          </a:solidFill>
                          <a:latin typeface="Arial" panose="020B0604020202020204"/>
                          <a:ea typeface="微软雅黑" panose="020B0503020204020204" pitchFamily="34" charset="-122"/>
                        </a:defRPr>
                      </a:lvl2pPr>
                      <a:lvl3pPr marL="914400" algn="l" defTabSz="914400" rtl="0" eaLnBrk="1" latinLnBrk="0" hangingPunct="1">
                        <a:defRPr sz="1800" kern="1200">
                          <a:solidFill>
                            <a:schemeClr val="tx1"/>
                          </a:solidFill>
                          <a:latin typeface="Arial" panose="020B0604020202020204"/>
                          <a:ea typeface="微软雅黑" panose="020B0503020204020204" pitchFamily="34" charset="-122"/>
                        </a:defRPr>
                      </a:lvl3pPr>
                      <a:lvl4pPr marL="1371600" algn="l" defTabSz="914400" rtl="0" eaLnBrk="1" latinLnBrk="0" hangingPunct="1">
                        <a:defRPr sz="1800" kern="1200">
                          <a:solidFill>
                            <a:schemeClr val="tx1"/>
                          </a:solidFill>
                          <a:latin typeface="Arial" panose="020B0604020202020204"/>
                          <a:ea typeface="微软雅黑" panose="020B0503020204020204" pitchFamily="34" charset="-122"/>
                        </a:defRPr>
                      </a:lvl4pPr>
                      <a:lvl5pPr marL="1828800" algn="l" defTabSz="914400" rtl="0" eaLnBrk="1" latinLnBrk="0" hangingPunct="1">
                        <a:defRPr sz="1800" kern="1200">
                          <a:solidFill>
                            <a:schemeClr val="tx1"/>
                          </a:solidFill>
                          <a:latin typeface="Arial" panose="020B0604020202020204"/>
                          <a:ea typeface="微软雅黑" panose="020B0503020204020204" pitchFamily="34" charset="-122"/>
                        </a:defRPr>
                      </a:lvl5pPr>
                      <a:lvl6pPr marL="2286000" algn="l" defTabSz="914400" rtl="0" eaLnBrk="1" latinLnBrk="0" hangingPunct="1">
                        <a:defRPr sz="1800" kern="1200">
                          <a:solidFill>
                            <a:schemeClr val="tx1"/>
                          </a:solidFill>
                          <a:latin typeface="Arial" panose="020B0604020202020204"/>
                          <a:ea typeface="微软雅黑" panose="020B0503020204020204" pitchFamily="34" charset="-122"/>
                        </a:defRPr>
                      </a:lvl6pPr>
                      <a:lvl7pPr marL="2743200" algn="l" defTabSz="914400" rtl="0" eaLnBrk="1" latinLnBrk="0" hangingPunct="1">
                        <a:defRPr sz="1800" kern="1200">
                          <a:solidFill>
                            <a:schemeClr val="tx1"/>
                          </a:solidFill>
                          <a:latin typeface="Arial" panose="020B0604020202020204"/>
                          <a:ea typeface="微软雅黑" panose="020B0503020204020204" pitchFamily="34" charset="-122"/>
                        </a:defRPr>
                      </a:lvl7pPr>
                      <a:lvl8pPr marL="3200400" algn="l" defTabSz="914400" rtl="0" eaLnBrk="1" latinLnBrk="0" hangingPunct="1">
                        <a:defRPr sz="1800" kern="1200">
                          <a:solidFill>
                            <a:schemeClr val="tx1"/>
                          </a:solidFill>
                          <a:latin typeface="Arial" panose="020B0604020202020204"/>
                          <a:ea typeface="微软雅黑" panose="020B0503020204020204" pitchFamily="34" charset="-122"/>
                        </a:defRPr>
                      </a:lvl8pPr>
                      <a:lvl9pPr marL="3657600" algn="l" defTabSz="914400" rtl="0" eaLnBrk="1" latinLnBrk="0" hangingPunct="1">
                        <a:defRPr sz="1800" kern="1200">
                          <a:solidFill>
                            <a:schemeClr val="tx1"/>
                          </a:solidFill>
                          <a:latin typeface="Arial" panose="020B0604020202020204"/>
                          <a:ea typeface="微软雅黑" panose="020B0503020204020204" pitchFamily="34" charset="-122"/>
                        </a:defRPr>
                      </a:lvl9pPr>
                    </a:lstStyle>
                    <a:p>
                      <a:pPr algn="ct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PID</a:t>
                      </a:r>
                      <a:endPar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1" marR="91441" marT="45710" marB="4571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panose="020B0604020202020204"/>
                          <a:ea typeface="微软雅黑" panose="020B0503020204020204" pitchFamily="34" charset="-122"/>
                        </a:defRPr>
                      </a:lvl1pPr>
                      <a:lvl2pPr marL="457200" algn="l" defTabSz="914400" rtl="0" eaLnBrk="1" latinLnBrk="0" hangingPunct="1">
                        <a:defRPr sz="1800" kern="1200">
                          <a:solidFill>
                            <a:schemeClr val="tx1"/>
                          </a:solidFill>
                          <a:latin typeface="Arial" panose="020B0604020202020204"/>
                          <a:ea typeface="微软雅黑" panose="020B0503020204020204" pitchFamily="34" charset="-122"/>
                        </a:defRPr>
                      </a:lvl2pPr>
                      <a:lvl3pPr marL="914400" algn="l" defTabSz="914400" rtl="0" eaLnBrk="1" latinLnBrk="0" hangingPunct="1">
                        <a:defRPr sz="1800" kern="1200">
                          <a:solidFill>
                            <a:schemeClr val="tx1"/>
                          </a:solidFill>
                          <a:latin typeface="Arial" panose="020B0604020202020204"/>
                          <a:ea typeface="微软雅黑" panose="020B0503020204020204" pitchFamily="34" charset="-122"/>
                        </a:defRPr>
                      </a:lvl3pPr>
                      <a:lvl4pPr marL="1371600" algn="l" defTabSz="914400" rtl="0" eaLnBrk="1" latinLnBrk="0" hangingPunct="1">
                        <a:defRPr sz="1800" kern="1200">
                          <a:solidFill>
                            <a:schemeClr val="tx1"/>
                          </a:solidFill>
                          <a:latin typeface="Arial" panose="020B0604020202020204"/>
                          <a:ea typeface="微软雅黑" panose="020B0503020204020204" pitchFamily="34" charset="-122"/>
                        </a:defRPr>
                      </a:lvl4pPr>
                      <a:lvl5pPr marL="1828800" algn="l" defTabSz="914400" rtl="0" eaLnBrk="1" latinLnBrk="0" hangingPunct="1">
                        <a:defRPr sz="1800" kern="1200">
                          <a:solidFill>
                            <a:schemeClr val="tx1"/>
                          </a:solidFill>
                          <a:latin typeface="Arial" panose="020B0604020202020204"/>
                          <a:ea typeface="微软雅黑" panose="020B0503020204020204" pitchFamily="34" charset="-122"/>
                        </a:defRPr>
                      </a:lvl5pPr>
                      <a:lvl6pPr marL="2286000" algn="l" defTabSz="914400" rtl="0" eaLnBrk="1" latinLnBrk="0" hangingPunct="1">
                        <a:defRPr sz="1800" kern="1200">
                          <a:solidFill>
                            <a:schemeClr val="tx1"/>
                          </a:solidFill>
                          <a:latin typeface="Arial" panose="020B0604020202020204"/>
                          <a:ea typeface="微软雅黑" panose="020B0503020204020204" pitchFamily="34" charset="-122"/>
                        </a:defRPr>
                      </a:lvl6pPr>
                      <a:lvl7pPr marL="2743200" algn="l" defTabSz="914400" rtl="0" eaLnBrk="1" latinLnBrk="0" hangingPunct="1">
                        <a:defRPr sz="1800" kern="1200">
                          <a:solidFill>
                            <a:schemeClr val="tx1"/>
                          </a:solidFill>
                          <a:latin typeface="Arial" panose="020B0604020202020204"/>
                          <a:ea typeface="微软雅黑" panose="020B0503020204020204" pitchFamily="34" charset="-122"/>
                        </a:defRPr>
                      </a:lvl7pPr>
                      <a:lvl8pPr marL="3200400" algn="l" defTabSz="914400" rtl="0" eaLnBrk="1" latinLnBrk="0" hangingPunct="1">
                        <a:defRPr sz="1800" kern="1200">
                          <a:solidFill>
                            <a:schemeClr val="tx1"/>
                          </a:solidFill>
                          <a:latin typeface="Arial" panose="020B0604020202020204"/>
                          <a:ea typeface="微软雅黑" panose="020B0503020204020204" pitchFamily="34" charset="-122"/>
                        </a:defRPr>
                      </a:lvl8pPr>
                      <a:lvl9pPr marL="3657600" algn="l" defTabSz="914400" rtl="0" eaLnBrk="1" latinLnBrk="0" hangingPunct="1">
                        <a:defRPr sz="1800" kern="1200">
                          <a:solidFill>
                            <a:schemeClr val="tx1"/>
                          </a:solidFill>
                          <a:latin typeface="Arial" panose="020B0604020202020204"/>
                          <a:ea typeface="微软雅黑" panose="020B0503020204020204" pitchFamily="34" charset="-122"/>
                        </a:defRPr>
                      </a:lvl9pPr>
                    </a:lstStyle>
                    <a:p>
                      <a:pPr algn="ct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PVI</a:t>
                      </a:r>
                      <a:endPar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1" marR="91441" marT="45710" marB="4571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panose="020B0604020202020204"/>
                          <a:ea typeface="微软雅黑" panose="020B0503020204020204" pitchFamily="34" charset="-122"/>
                        </a:defRPr>
                      </a:lvl1pPr>
                      <a:lvl2pPr marL="457200" algn="l" defTabSz="914400" rtl="0" eaLnBrk="1" latinLnBrk="0" hangingPunct="1">
                        <a:defRPr sz="1800" kern="1200">
                          <a:solidFill>
                            <a:schemeClr val="tx1"/>
                          </a:solidFill>
                          <a:latin typeface="Arial" panose="020B0604020202020204"/>
                          <a:ea typeface="微软雅黑" panose="020B0503020204020204" pitchFamily="34" charset="-122"/>
                        </a:defRPr>
                      </a:lvl2pPr>
                      <a:lvl3pPr marL="914400" algn="l" defTabSz="914400" rtl="0" eaLnBrk="1" latinLnBrk="0" hangingPunct="1">
                        <a:defRPr sz="1800" kern="1200">
                          <a:solidFill>
                            <a:schemeClr val="tx1"/>
                          </a:solidFill>
                          <a:latin typeface="Arial" panose="020B0604020202020204"/>
                          <a:ea typeface="微软雅黑" panose="020B0503020204020204" pitchFamily="34" charset="-122"/>
                        </a:defRPr>
                      </a:lvl3pPr>
                      <a:lvl4pPr marL="1371600" algn="l" defTabSz="914400" rtl="0" eaLnBrk="1" latinLnBrk="0" hangingPunct="1">
                        <a:defRPr sz="1800" kern="1200">
                          <a:solidFill>
                            <a:schemeClr val="tx1"/>
                          </a:solidFill>
                          <a:latin typeface="Arial" panose="020B0604020202020204"/>
                          <a:ea typeface="微软雅黑" panose="020B0503020204020204" pitchFamily="34" charset="-122"/>
                        </a:defRPr>
                      </a:lvl4pPr>
                      <a:lvl5pPr marL="1828800" algn="l" defTabSz="914400" rtl="0" eaLnBrk="1" latinLnBrk="0" hangingPunct="1">
                        <a:defRPr sz="1800" kern="1200">
                          <a:solidFill>
                            <a:schemeClr val="tx1"/>
                          </a:solidFill>
                          <a:latin typeface="Arial" panose="020B0604020202020204"/>
                          <a:ea typeface="微软雅黑" panose="020B0503020204020204" pitchFamily="34" charset="-122"/>
                        </a:defRPr>
                      </a:lvl5pPr>
                      <a:lvl6pPr marL="2286000" algn="l" defTabSz="914400" rtl="0" eaLnBrk="1" latinLnBrk="0" hangingPunct="1">
                        <a:defRPr sz="1800" kern="1200">
                          <a:solidFill>
                            <a:schemeClr val="tx1"/>
                          </a:solidFill>
                          <a:latin typeface="Arial" panose="020B0604020202020204"/>
                          <a:ea typeface="微软雅黑" panose="020B0503020204020204" pitchFamily="34" charset="-122"/>
                        </a:defRPr>
                      </a:lvl6pPr>
                      <a:lvl7pPr marL="2743200" algn="l" defTabSz="914400" rtl="0" eaLnBrk="1" latinLnBrk="0" hangingPunct="1">
                        <a:defRPr sz="1800" kern="1200">
                          <a:solidFill>
                            <a:schemeClr val="tx1"/>
                          </a:solidFill>
                          <a:latin typeface="Arial" panose="020B0604020202020204"/>
                          <a:ea typeface="微软雅黑" panose="020B0503020204020204" pitchFamily="34" charset="-122"/>
                        </a:defRPr>
                      </a:lvl7pPr>
                      <a:lvl8pPr marL="3200400" algn="l" defTabSz="914400" rtl="0" eaLnBrk="1" latinLnBrk="0" hangingPunct="1">
                        <a:defRPr sz="1800" kern="1200">
                          <a:solidFill>
                            <a:schemeClr val="tx1"/>
                          </a:solidFill>
                          <a:latin typeface="Arial" panose="020B0604020202020204"/>
                          <a:ea typeface="微软雅黑" panose="020B0503020204020204" pitchFamily="34" charset="-122"/>
                        </a:defRPr>
                      </a:lvl8pPr>
                      <a:lvl9pPr marL="3657600" algn="l" defTabSz="914400" rtl="0" eaLnBrk="1" latinLnBrk="0" hangingPunct="1">
                        <a:defRPr sz="1800" kern="1200">
                          <a:solidFill>
                            <a:schemeClr val="tx1"/>
                          </a:solidFill>
                          <a:latin typeface="Arial" panose="020B0604020202020204"/>
                          <a:ea typeface="微软雅黑" panose="020B0503020204020204" pitchFamily="34" charset="-122"/>
                        </a:defRPr>
                      </a:lvl9pPr>
                    </a:lstStyle>
                    <a:p>
                      <a:pPr algn="ct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BPDU Type</a:t>
                      </a:r>
                      <a:endPar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1" marR="91441" marT="45710" marB="4571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panose="020B0604020202020204"/>
                          <a:ea typeface="微软雅黑" panose="020B0503020204020204" pitchFamily="34" charset="-122"/>
                        </a:defRPr>
                      </a:lvl1pPr>
                      <a:lvl2pPr marL="457200" algn="l" defTabSz="914400" rtl="0" eaLnBrk="1" latinLnBrk="0" hangingPunct="1">
                        <a:defRPr sz="1800" kern="1200">
                          <a:solidFill>
                            <a:schemeClr val="tx1"/>
                          </a:solidFill>
                          <a:latin typeface="Arial" panose="020B0604020202020204"/>
                          <a:ea typeface="微软雅黑" panose="020B0503020204020204" pitchFamily="34" charset="-122"/>
                        </a:defRPr>
                      </a:lvl2pPr>
                      <a:lvl3pPr marL="914400" algn="l" defTabSz="914400" rtl="0" eaLnBrk="1" latinLnBrk="0" hangingPunct="1">
                        <a:defRPr sz="1800" kern="1200">
                          <a:solidFill>
                            <a:schemeClr val="tx1"/>
                          </a:solidFill>
                          <a:latin typeface="Arial" panose="020B0604020202020204"/>
                          <a:ea typeface="微软雅黑" panose="020B0503020204020204" pitchFamily="34" charset="-122"/>
                        </a:defRPr>
                      </a:lvl3pPr>
                      <a:lvl4pPr marL="1371600" algn="l" defTabSz="914400" rtl="0" eaLnBrk="1" latinLnBrk="0" hangingPunct="1">
                        <a:defRPr sz="1800" kern="1200">
                          <a:solidFill>
                            <a:schemeClr val="tx1"/>
                          </a:solidFill>
                          <a:latin typeface="Arial" panose="020B0604020202020204"/>
                          <a:ea typeface="微软雅黑" panose="020B0503020204020204" pitchFamily="34" charset="-122"/>
                        </a:defRPr>
                      </a:lvl4pPr>
                      <a:lvl5pPr marL="1828800" algn="l" defTabSz="914400" rtl="0" eaLnBrk="1" latinLnBrk="0" hangingPunct="1">
                        <a:defRPr sz="1800" kern="1200">
                          <a:solidFill>
                            <a:schemeClr val="tx1"/>
                          </a:solidFill>
                          <a:latin typeface="Arial" panose="020B0604020202020204"/>
                          <a:ea typeface="微软雅黑" panose="020B0503020204020204" pitchFamily="34" charset="-122"/>
                        </a:defRPr>
                      </a:lvl5pPr>
                      <a:lvl6pPr marL="2286000" algn="l" defTabSz="914400" rtl="0" eaLnBrk="1" latinLnBrk="0" hangingPunct="1">
                        <a:defRPr sz="1800" kern="1200">
                          <a:solidFill>
                            <a:schemeClr val="tx1"/>
                          </a:solidFill>
                          <a:latin typeface="Arial" panose="020B0604020202020204"/>
                          <a:ea typeface="微软雅黑" panose="020B0503020204020204" pitchFamily="34" charset="-122"/>
                        </a:defRPr>
                      </a:lvl6pPr>
                      <a:lvl7pPr marL="2743200" algn="l" defTabSz="914400" rtl="0" eaLnBrk="1" latinLnBrk="0" hangingPunct="1">
                        <a:defRPr sz="1800" kern="1200">
                          <a:solidFill>
                            <a:schemeClr val="tx1"/>
                          </a:solidFill>
                          <a:latin typeface="Arial" panose="020B0604020202020204"/>
                          <a:ea typeface="微软雅黑" panose="020B0503020204020204" pitchFamily="34" charset="-122"/>
                        </a:defRPr>
                      </a:lvl7pPr>
                      <a:lvl8pPr marL="3200400" algn="l" defTabSz="914400" rtl="0" eaLnBrk="1" latinLnBrk="0" hangingPunct="1">
                        <a:defRPr sz="1800" kern="1200">
                          <a:solidFill>
                            <a:schemeClr val="tx1"/>
                          </a:solidFill>
                          <a:latin typeface="Arial" panose="020B0604020202020204"/>
                          <a:ea typeface="微软雅黑" panose="020B0503020204020204" pitchFamily="34" charset="-122"/>
                        </a:defRPr>
                      </a:lvl8pPr>
                      <a:lvl9pPr marL="3657600" algn="l" defTabSz="914400" rtl="0" eaLnBrk="1" latinLnBrk="0" hangingPunct="1">
                        <a:defRPr sz="1800" kern="1200">
                          <a:solidFill>
                            <a:schemeClr val="tx1"/>
                          </a:solidFill>
                          <a:latin typeface="Arial" panose="020B0604020202020204"/>
                          <a:ea typeface="微软雅黑" panose="020B0503020204020204" pitchFamily="34" charset="-122"/>
                        </a:defRPr>
                      </a:lvl9pPr>
                    </a:lstStyle>
                    <a:p>
                      <a:pPr algn="ct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Flags</a:t>
                      </a:r>
                      <a:endPar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1" marR="91441" marT="45710" marB="4571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panose="020B0604020202020204"/>
                          <a:ea typeface="微软雅黑" panose="020B0503020204020204" pitchFamily="34" charset="-122"/>
                        </a:defRPr>
                      </a:lvl1pPr>
                      <a:lvl2pPr marL="457200" algn="l" defTabSz="914400" rtl="0" eaLnBrk="1" latinLnBrk="0" hangingPunct="1">
                        <a:defRPr sz="1800" kern="1200">
                          <a:solidFill>
                            <a:schemeClr val="tx1"/>
                          </a:solidFill>
                          <a:latin typeface="Arial" panose="020B0604020202020204"/>
                          <a:ea typeface="微软雅黑" panose="020B0503020204020204" pitchFamily="34" charset="-122"/>
                        </a:defRPr>
                      </a:lvl2pPr>
                      <a:lvl3pPr marL="914400" algn="l" defTabSz="914400" rtl="0" eaLnBrk="1" latinLnBrk="0" hangingPunct="1">
                        <a:defRPr sz="1800" kern="1200">
                          <a:solidFill>
                            <a:schemeClr val="tx1"/>
                          </a:solidFill>
                          <a:latin typeface="Arial" panose="020B0604020202020204"/>
                          <a:ea typeface="微软雅黑" panose="020B0503020204020204" pitchFamily="34" charset="-122"/>
                        </a:defRPr>
                      </a:lvl3pPr>
                      <a:lvl4pPr marL="1371600" algn="l" defTabSz="914400" rtl="0" eaLnBrk="1" latinLnBrk="0" hangingPunct="1">
                        <a:defRPr sz="1800" kern="1200">
                          <a:solidFill>
                            <a:schemeClr val="tx1"/>
                          </a:solidFill>
                          <a:latin typeface="Arial" panose="020B0604020202020204"/>
                          <a:ea typeface="微软雅黑" panose="020B0503020204020204" pitchFamily="34" charset="-122"/>
                        </a:defRPr>
                      </a:lvl4pPr>
                      <a:lvl5pPr marL="1828800" algn="l" defTabSz="914400" rtl="0" eaLnBrk="1" latinLnBrk="0" hangingPunct="1">
                        <a:defRPr sz="1800" kern="1200">
                          <a:solidFill>
                            <a:schemeClr val="tx1"/>
                          </a:solidFill>
                          <a:latin typeface="Arial" panose="020B0604020202020204"/>
                          <a:ea typeface="微软雅黑" panose="020B0503020204020204" pitchFamily="34" charset="-122"/>
                        </a:defRPr>
                      </a:lvl5pPr>
                      <a:lvl6pPr marL="2286000" algn="l" defTabSz="914400" rtl="0" eaLnBrk="1" latinLnBrk="0" hangingPunct="1">
                        <a:defRPr sz="1800" kern="1200">
                          <a:solidFill>
                            <a:schemeClr val="tx1"/>
                          </a:solidFill>
                          <a:latin typeface="Arial" panose="020B0604020202020204"/>
                          <a:ea typeface="微软雅黑" panose="020B0503020204020204" pitchFamily="34" charset="-122"/>
                        </a:defRPr>
                      </a:lvl6pPr>
                      <a:lvl7pPr marL="2743200" algn="l" defTabSz="914400" rtl="0" eaLnBrk="1" latinLnBrk="0" hangingPunct="1">
                        <a:defRPr sz="1800" kern="1200">
                          <a:solidFill>
                            <a:schemeClr val="tx1"/>
                          </a:solidFill>
                          <a:latin typeface="Arial" panose="020B0604020202020204"/>
                          <a:ea typeface="微软雅黑" panose="020B0503020204020204" pitchFamily="34" charset="-122"/>
                        </a:defRPr>
                      </a:lvl7pPr>
                      <a:lvl8pPr marL="3200400" algn="l" defTabSz="914400" rtl="0" eaLnBrk="1" latinLnBrk="0" hangingPunct="1">
                        <a:defRPr sz="1800" kern="1200">
                          <a:solidFill>
                            <a:schemeClr val="tx1"/>
                          </a:solidFill>
                          <a:latin typeface="Arial" panose="020B0604020202020204"/>
                          <a:ea typeface="微软雅黑" panose="020B0503020204020204" pitchFamily="34" charset="-122"/>
                        </a:defRPr>
                      </a:lvl8pPr>
                      <a:lvl9pPr marL="3657600" algn="l" defTabSz="914400" rtl="0" eaLnBrk="1" latinLnBrk="0" hangingPunct="1">
                        <a:defRPr sz="1800" kern="1200">
                          <a:solidFill>
                            <a:schemeClr val="tx1"/>
                          </a:solidFill>
                          <a:latin typeface="Arial" panose="020B0604020202020204"/>
                          <a:ea typeface="微软雅黑" panose="020B0503020204020204" pitchFamily="34" charset="-122"/>
                        </a:defRPr>
                      </a:lvl9pPr>
                    </a:lstStyle>
                    <a:p>
                      <a:pPr algn="ct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Root ID</a:t>
                      </a:r>
                      <a:endPar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1" marR="91441" marT="45710" marB="4571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panose="020B0604020202020204"/>
                          <a:ea typeface="微软雅黑" panose="020B0503020204020204" pitchFamily="34" charset="-122"/>
                        </a:defRPr>
                      </a:lvl1pPr>
                      <a:lvl2pPr marL="457200" algn="l" defTabSz="914400" rtl="0" eaLnBrk="1" latinLnBrk="0" hangingPunct="1">
                        <a:defRPr sz="1800" kern="1200">
                          <a:solidFill>
                            <a:schemeClr val="tx1"/>
                          </a:solidFill>
                          <a:latin typeface="Arial" panose="020B0604020202020204"/>
                          <a:ea typeface="微软雅黑" panose="020B0503020204020204" pitchFamily="34" charset="-122"/>
                        </a:defRPr>
                      </a:lvl2pPr>
                      <a:lvl3pPr marL="914400" algn="l" defTabSz="914400" rtl="0" eaLnBrk="1" latinLnBrk="0" hangingPunct="1">
                        <a:defRPr sz="1800" kern="1200">
                          <a:solidFill>
                            <a:schemeClr val="tx1"/>
                          </a:solidFill>
                          <a:latin typeface="Arial" panose="020B0604020202020204"/>
                          <a:ea typeface="微软雅黑" panose="020B0503020204020204" pitchFamily="34" charset="-122"/>
                        </a:defRPr>
                      </a:lvl3pPr>
                      <a:lvl4pPr marL="1371600" algn="l" defTabSz="914400" rtl="0" eaLnBrk="1" latinLnBrk="0" hangingPunct="1">
                        <a:defRPr sz="1800" kern="1200">
                          <a:solidFill>
                            <a:schemeClr val="tx1"/>
                          </a:solidFill>
                          <a:latin typeface="Arial" panose="020B0604020202020204"/>
                          <a:ea typeface="微软雅黑" panose="020B0503020204020204" pitchFamily="34" charset="-122"/>
                        </a:defRPr>
                      </a:lvl4pPr>
                      <a:lvl5pPr marL="1828800" algn="l" defTabSz="914400" rtl="0" eaLnBrk="1" latinLnBrk="0" hangingPunct="1">
                        <a:defRPr sz="1800" kern="1200">
                          <a:solidFill>
                            <a:schemeClr val="tx1"/>
                          </a:solidFill>
                          <a:latin typeface="Arial" panose="020B0604020202020204"/>
                          <a:ea typeface="微软雅黑" panose="020B0503020204020204" pitchFamily="34" charset="-122"/>
                        </a:defRPr>
                      </a:lvl5pPr>
                      <a:lvl6pPr marL="2286000" algn="l" defTabSz="914400" rtl="0" eaLnBrk="1" latinLnBrk="0" hangingPunct="1">
                        <a:defRPr sz="1800" kern="1200">
                          <a:solidFill>
                            <a:schemeClr val="tx1"/>
                          </a:solidFill>
                          <a:latin typeface="Arial" panose="020B0604020202020204"/>
                          <a:ea typeface="微软雅黑" panose="020B0503020204020204" pitchFamily="34" charset="-122"/>
                        </a:defRPr>
                      </a:lvl6pPr>
                      <a:lvl7pPr marL="2743200" algn="l" defTabSz="914400" rtl="0" eaLnBrk="1" latinLnBrk="0" hangingPunct="1">
                        <a:defRPr sz="1800" kern="1200">
                          <a:solidFill>
                            <a:schemeClr val="tx1"/>
                          </a:solidFill>
                          <a:latin typeface="Arial" panose="020B0604020202020204"/>
                          <a:ea typeface="微软雅黑" panose="020B0503020204020204" pitchFamily="34" charset="-122"/>
                        </a:defRPr>
                      </a:lvl7pPr>
                      <a:lvl8pPr marL="3200400" algn="l" defTabSz="914400" rtl="0" eaLnBrk="1" latinLnBrk="0" hangingPunct="1">
                        <a:defRPr sz="1800" kern="1200">
                          <a:solidFill>
                            <a:schemeClr val="tx1"/>
                          </a:solidFill>
                          <a:latin typeface="Arial" panose="020B0604020202020204"/>
                          <a:ea typeface="微软雅黑" panose="020B0503020204020204" pitchFamily="34" charset="-122"/>
                        </a:defRPr>
                      </a:lvl8pPr>
                      <a:lvl9pPr marL="3657600" algn="l" defTabSz="914400" rtl="0" eaLnBrk="1" latinLnBrk="0" hangingPunct="1">
                        <a:defRPr sz="1800" kern="1200">
                          <a:solidFill>
                            <a:schemeClr val="tx1"/>
                          </a:solidFill>
                          <a:latin typeface="Arial" panose="020B0604020202020204"/>
                          <a:ea typeface="微软雅黑" panose="020B0503020204020204" pitchFamily="34" charset="-122"/>
                        </a:defRPr>
                      </a:lvl9pPr>
                    </a:lstStyle>
                    <a:p>
                      <a:pPr algn="ct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RPC</a:t>
                      </a:r>
                      <a:endPar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1" marR="91441" marT="45710" marB="4571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panose="020B0604020202020204"/>
                          <a:ea typeface="微软雅黑" panose="020B0503020204020204" pitchFamily="34" charset="-122"/>
                        </a:defRPr>
                      </a:lvl1pPr>
                      <a:lvl2pPr marL="457200" algn="l" defTabSz="914400" rtl="0" eaLnBrk="1" latinLnBrk="0" hangingPunct="1">
                        <a:defRPr sz="1800" kern="1200">
                          <a:solidFill>
                            <a:schemeClr val="tx1"/>
                          </a:solidFill>
                          <a:latin typeface="Arial" panose="020B0604020202020204"/>
                          <a:ea typeface="微软雅黑" panose="020B0503020204020204" pitchFamily="34" charset="-122"/>
                        </a:defRPr>
                      </a:lvl2pPr>
                      <a:lvl3pPr marL="914400" algn="l" defTabSz="914400" rtl="0" eaLnBrk="1" latinLnBrk="0" hangingPunct="1">
                        <a:defRPr sz="1800" kern="1200">
                          <a:solidFill>
                            <a:schemeClr val="tx1"/>
                          </a:solidFill>
                          <a:latin typeface="Arial" panose="020B0604020202020204"/>
                          <a:ea typeface="微软雅黑" panose="020B0503020204020204" pitchFamily="34" charset="-122"/>
                        </a:defRPr>
                      </a:lvl3pPr>
                      <a:lvl4pPr marL="1371600" algn="l" defTabSz="914400" rtl="0" eaLnBrk="1" latinLnBrk="0" hangingPunct="1">
                        <a:defRPr sz="1800" kern="1200">
                          <a:solidFill>
                            <a:schemeClr val="tx1"/>
                          </a:solidFill>
                          <a:latin typeface="Arial" panose="020B0604020202020204"/>
                          <a:ea typeface="微软雅黑" panose="020B0503020204020204" pitchFamily="34" charset="-122"/>
                        </a:defRPr>
                      </a:lvl4pPr>
                      <a:lvl5pPr marL="1828800" algn="l" defTabSz="914400" rtl="0" eaLnBrk="1" latinLnBrk="0" hangingPunct="1">
                        <a:defRPr sz="1800" kern="1200">
                          <a:solidFill>
                            <a:schemeClr val="tx1"/>
                          </a:solidFill>
                          <a:latin typeface="Arial" panose="020B0604020202020204"/>
                          <a:ea typeface="微软雅黑" panose="020B0503020204020204" pitchFamily="34" charset="-122"/>
                        </a:defRPr>
                      </a:lvl5pPr>
                      <a:lvl6pPr marL="2286000" algn="l" defTabSz="914400" rtl="0" eaLnBrk="1" latinLnBrk="0" hangingPunct="1">
                        <a:defRPr sz="1800" kern="1200">
                          <a:solidFill>
                            <a:schemeClr val="tx1"/>
                          </a:solidFill>
                          <a:latin typeface="Arial" panose="020B0604020202020204"/>
                          <a:ea typeface="微软雅黑" panose="020B0503020204020204" pitchFamily="34" charset="-122"/>
                        </a:defRPr>
                      </a:lvl6pPr>
                      <a:lvl7pPr marL="2743200" algn="l" defTabSz="914400" rtl="0" eaLnBrk="1" latinLnBrk="0" hangingPunct="1">
                        <a:defRPr sz="1800" kern="1200">
                          <a:solidFill>
                            <a:schemeClr val="tx1"/>
                          </a:solidFill>
                          <a:latin typeface="Arial" panose="020B0604020202020204"/>
                          <a:ea typeface="微软雅黑" panose="020B0503020204020204" pitchFamily="34" charset="-122"/>
                        </a:defRPr>
                      </a:lvl7pPr>
                      <a:lvl8pPr marL="3200400" algn="l" defTabSz="914400" rtl="0" eaLnBrk="1" latinLnBrk="0" hangingPunct="1">
                        <a:defRPr sz="1800" kern="1200">
                          <a:solidFill>
                            <a:schemeClr val="tx1"/>
                          </a:solidFill>
                          <a:latin typeface="Arial" panose="020B0604020202020204"/>
                          <a:ea typeface="微软雅黑" panose="020B0503020204020204" pitchFamily="34" charset="-122"/>
                        </a:defRPr>
                      </a:lvl8pPr>
                      <a:lvl9pPr marL="3657600" algn="l" defTabSz="914400" rtl="0" eaLnBrk="1" latinLnBrk="0" hangingPunct="1">
                        <a:defRPr sz="1800" kern="1200">
                          <a:solidFill>
                            <a:schemeClr val="tx1"/>
                          </a:solidFill>
                          <a:latin typeface="Arial" panose="020B0604020202020204"/>
                          <a:ea typeface="微软雅黑" panose="020B0503020204020204" pitchFamily="34" charset="-122"/>
                        </a:defRPr>
                      </a:lvl9pPr>
                    </a:lstStyle>
                    <a:p>
                      <a:pPr algn="ctr"/>
                      <a:r>
                        <a:rPr lang="en-US" altLang="zh-CN" sz="1200" b="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Bridge</a:t>
                      </a:r>
                      <a:r>
                        <a:rPr lang="en-US" altLang="zh-CN" sz="1200" b="0" baseline="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ID</a:t>
                      </a:r>
                      <a:endParaRPr lang="zh-CN" altLang="en-US" sz="1200" b="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1" marR="91441" marT="45710" marB="4571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panose="020B0604020202020204"/>
                          <a:ea typeface="微软雅黑" panose="020B0503020204020204" pitchFamily="34" charset="-122"/>
                        </a:defRPr>
                      </a:lvl1pPr>
                      <a:lvl2pPr marL="457200" algn="l" defTabSz="914400" rtl="0" eaLnBrk="1" latinLnBrk="0" hangingPunct="1">
                        <a:defRPr sz="1800" kern="1200">
                          <a:solidFill>
                            <a:schemeClr val="tx1"/>
                          </a:solidFill>
                          <a:latin typeface="Arial" panose="020B0604020202020204"/>
                          <a:ea typeface="微软雅黑" panose="020B0503020204020204" pitchFamily="34" charset="-122"/>
                        </a:defRPr>
                      </a:lvl2pPr>
                      <a:lvl3pPr marL="914400" algn="l" defTabSz="914400" rtl="0" eaLnBrk="1" latinLnBrk="0" hangingPunct="1">
                        <a:defRPr sz="1800" kern="1200">
                          <a:solidFill>
                            <a:schemeClr val="tx1"/>
                          </a:solidFill>
                          <a:latin typeface="Arial" panose="020B0604020202020204"/>
                          <a:ea typeface="微软雅黑" panose="020B0503020204020204" pitchFamily="34" charset="-122"/>
                        </a:defRPr>
                      </a:lvl3pPr>
                      <a:lvl4pPr marL="1371600" algn="l" defTabSz="914400" rtl="0" eaLnBrk="1" latinLnBrk="0" hangingPunct="1">
                        <a:defRPr sz="1800" kern="1200">
                          <a:solidFill>
                            <a:schemeClr val="tx1"/>
                          </a:solidFill>
                          <a:latin typeface="Arial" panose="020B0604020202020204"/>
                          <a:ea typeface="微软雅黑" panose="020B0503020204020204" pitchFamily="34" charset="-122"/>
                        </a:defRPr>
                      </a:lvl4pPr>
                      <a:lvl5pPr marL="1828800" algn="l" defTabSz="914400" rtl="0" eaLnBrk="1" latinLnBrk="0" hangingPunct="1">
                        <a:defRPr sz="1800" kern="1200">
                          <a:solidFill>
                            <a:schemeClr val="tx1"/>
                          </a:solidFill>
                          <a:latin typeface="Arial" panose="020B0604020202020204"/>
                          <a:ea typeface="微软雅黑" panose="020B0503020204020204" pitchFamily="34" charset="-122"/>
                        </a:defRPr>
                      </a:lvl5pPr>
                      <a:lvl6pPr marL="2286000" algn="l" defTabSz="914400" rtl="0" eaLnBrk="1" latinLnBrk="0" hangingPunct="1">
                        <a:defRPr sz="1800" kern="1200">
                          <a:solidFill>
                            <a:schemeClr val="tx1"/>
                          </a:solidFill>
                          <a:latin typeface="Arial" panose="020B0604020202020204"/>
                          <a:ea typeface="微软雅黑" panose="020B0503020204020204" pitchFamily="34" charset="-122"/>
                        </a:defRPr>
                      </a:lvl6pPr>
                      <a:lvl7pPr marL="2743200" algn="l" defTabSz="914400" rtl="0" eaLnBrk="1" latinLnBrk="0" hangingPunct="1">
                        <a:defRPr sz="1800" kern="1200">
                          <a:solidFill>
                            <a:schemeClr val="tx1"/>
                          </a:solidFill>
                          <a:latin typeface="Arial" panose="020B0604020202020204"/>
                          <a:ea typeface="微软雅黑" panose="020B0503020204020204" pitchFamily="34" charset="-122"/>
                        </a:defRPr>
                      </a:lvl7pPr>
                      <a:lvl8pPr marL="3200400" algn="l" defTabSz="914400" rtl="0" eaLnBrk="1" latinLnBrk="0" hangingPunct="1">
                        <a:defRPr sz="1800" kern="1200">
                          <a:solidFill>
                            <a:schemeClr val="tx1"/>
                          </a:solidFill>
                          <a:latin typeface="Arial" panose="020B0604020202020204"/>
                          <a:ea typeface="微软雅黑" panose="020B0503020204020204" pitchFamily="34" charset="-122"/>
                        </a:defRPr>
                      </a:lvl8pPr>
                      <a:lvl9pPr marL="3657600" algn="l" defTabSz="914400" rtl="0" eaLnBrk="1" latinLnBrk="0" hangingPunct="1">
                        <a:defRPr sz="1800" kern="1200">
                          <a:solidFill>
                            <a:schemeClr val="tx1"/>
                          </a:solidFill>
                          <a:latin typeface="Arial" panose="020B0604020202020204"/>
                          <a:ea typeface="微软雅黑" panose="020B0503020204020204" pitchFamily="34" charset="-122"/>
                        </a:defRPr>
                      </a:lvl9pPr>
                    </a:lstStyle>
                    <a:p>
                      <a:pPr algn="ct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Port ID</a:t>
                      </a:r>
                      <a:endPar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1" marR="91441" marT="45710" marB="4571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panose="020B0604020202020204"/>
                          <a:ea typeface="微软雅黑" panose="020B0503020204020204" pitchFamily="34" charset="-122"/>
                        </a:defRPr>
                      </a:lvl1pPr>
                      <a:lvl2pPr marL="457200" algn="l" defTabSz="914400" rtl="0" eaLnBrk="1" latinLnBrk="0" hangingPunct="1">
                        <a:defRPr sz="1800" kern="1200">
                          <a:solidFill>
                            <a:schemeClr val="tx1"/>
                          </a:solidFill>
                          <a:latin typeface="Arial" panose="020B0604020202020204"/>
                          <a:ea typeface="微软雅黑" panose="020B0503020204020204" pitchFamily="34" charset="-122"/>
                        </a:defRPr>
                      </a:lvl2pPr>
                      <a:lvl3pPr marL="914400" algn="l" defTabSz="914400" rtl="0" eaLnBrk="1" latinLnBrk="0" hangingPunct="1">
                        <a:defRPr sz="1800" kern="1200">
                          <a:solidFill>
                            <a:schemeClr val="tx1"/>
                          </a:solidFill>
                          <a:latin typeface="Arial" panose="020B0604020202020204"/>
                          <a:ea typeface="微软雅黑" panose="020B0503020204020204" pitchFamily="34" charset="-122"/>
                        </a:defRPr>
                      </a:lvl3pPr>
                      <a:lvl4pPr marL="1371600" algn="l" defTabSz="914400" rtl="0" eaLnBrk="1" latinLnBrk="0" hangingPunct="1">
                        <a:defRPr sz="1800" kern="1200">
                          <a:solidFill>
                            <a:schemeClr val="tx1"/>
                          </a:solidFill>
                          <a:latin typeface="Arial" panose="020B0604020202020204"/>
                          <a:ea typeface="微软雅黑" panose="020B0503020204020204" pitchFamily="34" charset="-122"/>
                        </a:defRPr>
                      </a:lvl4pPr>
                      <a:lvl5pPr marL="1828800" algn="l" defTabSz="914400" rtl="0" eaLnBrk="1" latinLnBrk="0" hangingPunct="1">
                        <a:defRPr sz="1800" kern="1200">
                          <a:solidFill>
                            <a:schemeClr val="tx1"/>
                          </a:solidFill>
                          <a:latin typeface="Arial" panose="020B0604020202020204"/>
                          <a:ea typeface="微软雅黑" panose="020B0503020204020204" pitchFamily="34" charset="-122"/>
                        </a:defRPr>
                      </a:lvl5pPr>
                      <a:lvl6pPr marL="2286000" algn="l" defTabSz="914400" rtl="0" eaLnBrk="1" latinLnBrk="0" hangingPunct="1">
                        <a:defRPr sz="1800" kern="1200">
                          <a:solidFill>
                            <a:schemeClr val="tx1"/>
                          </a:solidFill>
                          <a:latin typeface="Arial" panose="020B0604020202020204"/>
                          <a:ea typeface="微软雅黑" panose="020B0503020204020204" pitchFamily="34" charset="-122"/>
                        </a:defRPr>
                      </a:lvl6pPr>
                      <a:lvl7pPr marL="2743200" algn="l" defTabSz="914400" rtl="0" eaLnBrk="1" latinLnBrk="0" hangingPunct="1">
                        <a:defRPr sz="1800" kern="1200">
                          <a:solidFill>
                            <a:schemeClr val="tx1"/>
                          </a:solidFill>
                          <a:latin typeface="Arial" panose="020B0604020202020204"/>
                          <a:ea typeface="微软雅黑" panose="020B0503020204020204" pitchFamily="34" charset="-122"/>
                        </a:defRPr>
                      </a:lvl7pPr>
                      <a:lvl8pPr marL="3200400" algn="l" defTabSz="914400" rtl="0" eaLnBrk="1" latinLnBrk="0" hangingPunct="1">
                        <a:defRPr sz="1800" kern="1200">
                          <a:solidFill>
                            <a:schemeClr val="tx1"/>
                          </a:solidFill>
                          <a:latin typeface="Arial" panose="020B0604020202020204"/>
                          <a:ea typeface="微软雅黑" panose="020B0503020204020204" pitchFamily="34" charset="-122"/>
                        </a:defRPr>
                      </a:lvl8pPr>
                      <a:lvl9pPr marL="3657600" algn="l" defTabSz="914400" rtl="0" eaLnBrk="1" latinLnBrk="0" hangingPunct="1">
                        <a:defRPr sz="1800" kern="1200">
                          <a:solidFill>
                            <a:schemeClr val="tx1"/>
                          </a:solidFill>
                          <a:latin typeface="Arial" panose="020B0604020202020204"/>
                          <a:ea typeface="微软雅黑" panose="020B0503020204020204" pitchFamily="34" charset="-122"/>
                        </a:defRPr>
                      </a:lvl9pPr>
                    </a:lstStyle>
                    <a:p>
                      <a:pPr algn="ct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Message</a:t>
                      </a:r>
                    </a:p>
                    <a:p>
                      <a:pPr algn="ct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Age</a:t>
                      </a:r>
                      <a:endPar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1" marR="91441" marT="45710" marB="4571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panose="020B0604020202020204"/>
                          <a:ea typeface="微软雅黑" panose="020B0503020204020204" pitchFamily="34" charset="-122"/>
                        </a:defRPr>
                      </a:lvl1pPr>
                      <a:lvl2pPr marL="457200" algn="l" defTabSz="914400" rtl="0" eaLnBrk="1" latinLnBrk="0" hangingPunct="1">
                        <a:defRPr sz="1800" kern="1200">
                          <a:solidFill>
                            <a:schemeClr val="tx1"/>
                          </a:solidFill>
                          <a:latin typeface="Arial" panose="020B0604020202020204"/>
                          <a:ea typeface="微软雅黑" panose="020B0503020204020204" pitchFamily="34" charset="-122"/>
                        </a:defRPr>
                      </a:lvl2pPr>
                      <a:lvl3pPr marL="914400" algn="l" defTabSz="914400" rtl="0" eaLnBrk="1" latinLnBrk="0" hangingPunct="1">
                        <a:defRPr sz="1800" kern="1200">
                          <a:solidFill>
                            <a:schemeClr val="tx1"/>
                          </a:solidFill>
                          <a:latin typeface="Arial" panose="020B0604020202020204"/>
                          <a:ea typeface="微软雅黑" panose="020B0503020204020204" pitchFamily="34" charset="-122"/>
                        </a:defRPr>
                      </a:lvl3pPr>
                      <a:lvl4pPr marL="1371600" algn="l" defTabSz="914400" rtl="0" eaLnBrk="1" latinLnBrk="0" hangingPunct="1">
                        <a:defRPr sz="1800" kern="1200">
                          <a:solidFill>
                            <a:schemeClr val="tx1"/>
                          </a:solidFill>
                          <a:latin typeface="Arial" panose="020B0604020202020204"/>
                          <a:ea typeface="微软雅黑" panose="020B0503020204020204" pitchFamily="34" charset="-122"/>
                        </a:defRPr>
                      </a:lvl4pPr>
                      <a:lvl5pPr marL="1828800" algn="l" defTabSz="914400" rtl="0" eaLnBrk="1" latinLnBrk="0" hangingPunct="1">
                        <a:defRPr sz="1800" kern="1200">
                          <a:solidFill>
                            <a:schemeClr val="tx1"/>
                          </a:solidFill>
                          <a:latin typeface="Arial" panose="020B0604020202020204"/>
                          <a:ea typeface="微软雅黑" panose="020B0503020204020204" pitchFamily="34" charset="-122"/>
                        </a:defRPr>
                      </a:lvl5pPr>
                      <a:lvl6pPr marL="2286000" algn="l" defTabSz="914400" rtl="0" eaLnBrk="1" latinLnBrk="0" hangingPunct="1">
                        <a:defRPr sz="1800" kern="1200">
                          <a:solidFill>
                            <a:schemeClr val="tx1"/>
                          </a:solidFill>
                          <a:latin typeface="Arial" panose="020B0604020202020204"/>
                          <a:ea typeface="微软雅黑" panose="020B0503020204020204" pitchFamily="34" charset="-122"/>
                        </a:defRPr>
                      </a:lvl6pPr>
                      <a:lvl7pPr marL="2743200" algn="l" defTabSz="914400" rtl="0" eaLnBrk="1" latinLnBrk="0" hangingPunct="1">
                        <a:defRPr sz="1800" kern="1200">
                          <a:solidFill>
                            <a:schemeClr val="tx1"/>
                          </a:solidFill>
                          <a:latin typeface="Arial" panose="020B0604020202020204"/>
                          <a:ea typeface="微软雅黑" panose="020B0503020204020204" pitchFamily="34" charset="-122"/>
                        </a:defRPr>
                      </a:lvl7pPr>
                      <a:lvl8pPr marL="3200400" algn="l" defTabSz="914400" rtl="0" eaLnBrk="1" latinLnBrk="0" hangingPunct="1">
                        <a:defRPr sz="1800" kern="1200">
                          <a:solidFill>
                            <a:schemeClr val="tx1"/>
                          </a:solidFill>
                          <a:latin typeface="Arial" panose="020B0604020202020204"/>
                          <a:ea typeface="微软雅黑" panose="020B0503020204020204" pitchFamily="34" charset="-122"/>
                        </a:defRPr>
                      </a:lvl8pPr>
                      <a:lvl9pPr marL="3657600" algn="l" defTabSz="914400" rtl="0" eaLnBrk="1" latinLnBrk="0" hangingPunct="1">
                        <a:defRPr sz="1800" kern="1200">
                          <a:solidFill>
                            <a:schemeClr val="tx1"/>
                          </a:solidFill>
                          <a:latin typeface="Arial" panose="020B0604020202020204"/>
                          <a:ea typeface="微软雅黑" panose="020B0503020204020204" pitchFamily="34" charset="-122"/>
                        </a:defRPr>
                      </a:lvl9pPr>
                    </a:lstStyle>
                    <a:p>
                      <a:pPr algn="ct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Max Age</a:t>
                      </a:r>
                      <a:endPar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1" marR="91441" marT="45710" marB="4571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panose="020B0604020202020204"/>
                          <a:ea typeface="微软雅黑" panose="020B0503020204020204" pitchFamily="34" charset="-122"/>
                        </a:defRPr>
                      </a:lvl1pPr>
                      <a:lvl2pPr marL="457200" algn="l" defTabSz="914400" rtl="0" eaLnBrk="1" latinLnBrk="0" hangingPunct="1">
                        <a:defRPr sz="1800" kern="1200">
                          <a:solidFill>
                            <a:schemeClr val="tx1"/>
                          </a:solidFill>
                          <a:latin typeface="Arial" panose="020B0604020202020204"/>
                          <a:ea typeface="微软雅黑" panose="020B0503020204020204" pitchFamily="34" charset="-122"/>
                        </a:defRPr>
                      </a:lvl2pPr>
                      <a:lvl3pPr marL="914400" algn="l" defTabSz="914400" rtl="0" eaLnBrk="1" latinLnBrk="0" hangingPunct="1">
                        <a:defRPr sz="1800" kern="1200">
                          <a:solidFill>
                            <a:schemeClr val="tx1"/>
                          </a:solidFill>
                          <a:latin typeface="Arial" panose="020B0604020202020204"/>
                          <a:ea typeface="微软雅黑" panose="020B0503020204020204" pitchFamily="34" charset="-122"/>
                        </a:defRPr>
                      </a:lvl3pPr>
                      <a:lvl4pPr marL="1371600" algn="l" defTabSz="914400" rtl="0" eaLnBrk="1" latinLnBrk="0" hangingPunct="1">
                        <a:defRPr sz="1800" kern="1200">
                          <a:solidFill>
                            <a:schemeClr val="tx1"/>
                          </a:solidFill>
                          <a:latin typeface="Arial" panose="020B0604020202020204"/>
                          <a:ea typeface="微软雅黑" panose="020B0503020204020204" pitchFamily="34" charset="-122"/>
                        </a:defRPr>
                      </a:lvl4pPr>
                      <a:lvl5pPr marL="1828800" algn="l" defTabSz="914400" rtl="0" eaLnBrk="1" latinLnBrk="0" hangingPunct="1">
                        <a:defRPr sz="1800" kern="1200">
                          <a:solidFill>
                            <a:schemeClr val="tx1"/>
                          </a:solidFill>
                          <a:latin typeface="Arial" panose="020B0604020202020204"/>
                          <a:ea typeface="微软雅黑" panose="020B0503020204020204" pitchFamily="34" charset="-122"/>
                        </a:defRPr>
                      </a:lvl5pPr>
                      <a:lvl6pPr marL="2286000" algn="l" defTabSz="914400" rtl="0" eaLnBrk="1" latinLnBrk="0" hangingPunct="1">
                        <a:defRPr sz="1800" kern="1200">
                          <a:solidFill>
                            <a:schemeClr val="tx1"/>
                          </a:solidFill>
                          <a:latin typeface="Arial" panose="020B0604020202020204"/>
                          <a:ea typeface="微软雅黑" panose="020B0503020204020204" pitchFamily="34" charset="-122"/>
                        </a:defRPr>
                      </a:lvl6pPr>
                      <a:lvl7pPr marL="2743200" algn="l" defTabSz="914400" rtl="0" eaLnBrk="1" latinLnBrk="0" hangingPunct="1">
                        <a:defRPr sz="1800" kern="1200">
                          <a:solidFill>
                            <a:schemeClr val="tx1"/>
                          </a:solidFill>
                          <a:latin typeface="Arial" panose="020B0604020202020204"/>
                          <a:ea typeface="微软雅黑" panose="020B0503020204020204" pitchFamily="34" charset="-122"/>
                        </a:defRPr>
                      </a:lvl7pPr>
                      <a:lvl8pPr marL="3200400" algn="l" defTabSz="914400" rtl="0" eaLnBrk="1" latinLnBrk="0" hangingPunct="1">
                        <a:defRPr sz="1800" kern="1200">
                          <a:solidFill>
                            <a:schemeClr val="tx1"/>
                          </a:solidFill>
                          <a:latin typeface="Arial" panose="020B0604020202020204"/>
                          <a:ea typeface="微软雅黑" panose="020B0503020204020204" pitchFamily="34" charset="-122"/>
                        </a:defRPr>
                      </a:lvl8pPr>
                      <a:lvl9pPr marL="3657600" algn="l" defTabSz="914400" rtl="0" eaLnBrk="1" latinLnBrk="0" hangingPunct="1">
                        <a:defRPr sz="1800" kern="1200">
                          <a:solidFill>
                            <a:schemeClr val="tx1"/>
                          </a:solidFill>
                          <a:latin typeface="Arial" panose="020B0604020202020204"/>
                          <a:ea typeface="微软雅黑" panose="020B0503020204020204" pitchFamily="34" charset="-122"/>
                        </a:defRPr>
                      </a:lvl9pPr>
                    </a:lstStyle>
                    <a:p>
                      <a:pPr algn="ct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Hello Time</a:t>
                      </a:r>
                      <a:endPar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1" marR="91441" marT="45710" marB="4571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rial" panose="020B0604020202020204"/>
                          <a:ea typeface="微软雅黑" panose="020B0503020204020204" pitchFamily="34" charset="-122"/>
                        </a:defRPr>
                      </a:lvl1pPr>
                      <a:lvl2pPr marL="457200" algn="l" defTabSz="914400" rtl="0" eaLnBrk="1" latinLnBrk="0" hangingPunct="1">
                        <a:defRPr sz="1800" kern="1200">
                          <a:solidFill>
                            <a:schemeClr val="tx1"/>
                          </a:solidFill>
                          <a:latin typeface="Arial" panose="020B0604020202020204"/>
                          <a:ea typeface="微软雅黑" panose="020B0503020204020204" pitchFamily="34" charset="-122"/>
                        </a:defRPr>
                      </a:lvl2pPr>
                      <a:lvl3pPr marL="914400" algn="l" defTabSz="914400" rtl="0" eaLnBrk="1" latinLnBrk="0" hangingPunct="1">
                        <a:defRPr sz="1800" kern="1200">
                          <a:solidFill>
                            <a:schemeClr val="tx1"/>
                          </a:solidFill>
                          <a:latin typeface="Arial" panose="020B0604020202020204"/>
                          <a:ea typeface="微软雅黑" panose="020B0503020204020204" pitchFamily="34" charset="-122"/>
                        </a:defRPr>
                      </a:lvl3pPr>
                      <a:lvl4pPr marL="1371600" algn="l" defTabSz="914400" rtl="0" eaLnBrk="1" latinLnBrk="0" hangingPunct="1">
                        <a:defRPr sz="1800" kern="1200">
                          <a:solidFill>
                            <a:schemeClr val="tx1"/>
                          </a:solidFill>
                          <a:latin typeface="Arial" panose="020B0604020202020204"/>
                          <a:ea typeface="微软雅黑" panose="020B0503020204020204" pitchFamily="34" charset="-122"/>
                        </a:defRPr>
                      </a:lvl4pPr>
                      <a:lvl5pPr marL="1828800" algn="l" defTabSz="914400" rtl="0" eaLnBrk="1" latinLnBrk="0" hangingPunct="1">
                        <a:defRPr sz="1800" kern="1200">
                          <a:solidFill>
                            <a:schemeClr val="tx1"/>
                          </a:solidFill>
                          <a:latin typeface="Arial" panose="020B0604020202020204"/>
                          <a:ea typeface="微软雅黑" panose="020B0503020204020204" pitchFamily="34" charset="-122"/>
                        </a:defRPr>
                      </a:lvl5pPr>
                      <a:lvl6pPr marL="2286000" algn="l" defTabSz="914400" rtl="0" eaLnBrk="1" latinLnBrk="0" hangingPunct="1">
                        <a:defRPr sz="1800" kern="1200">
                          <a:solidFill>
                            <a:schemeClr val="tx1"/>
                          </a:solidFill>
                          <a:latin typeface="Arial" panose="020B0604020202020204"/>
                          <a:ea typeface="微软雅黑" panose="020B0503020204020204" pitchFamily="34" charset="-122"/>
                        </a:defRPr>
                      </a:lvl6pPr>
                      <a:lvl7pPr marL="2743200" algn="l" defTabSz="914400" rtl="0" eaLnBrk="1" latinLnBrk="0" hangingPunct="1">
                        <a:defRPr sz="1800" kern="1200">
                          <a:solidFill>
                            <a:schemeClr val="tx1"/>
                          </a:solidFill>
                          <a:latin typeface="Arial" panose="020B0604020202020204"/>
                          <a:ea typeface="微软雅黑" panose="020B0503020204020204" pitchFamily="34" charset="-122"/>
                        </a:defRPr>
                      </a:lvl7pPr>
                      <a:lvl8pPr marL="3200400" algn="l" defTabSz="914400" rtl="0" eaLnBrk="1" latinLnBrk="0" hangingPunct="1">
                        <a:defRPr sz="1800" kern="1200">
                          <a:solidFill>
                            <a:schemeClr val="tx1"/>
                          </a:solidFill>
                          <a:latin typeface="Arial" panose="020B0604020202020204"/>
                          <a:ea typeface="微软雅黑" panose="020B0503020204020204" pitchFamily="34" charset="-122"/>
                        </a:defRPr>
                      </a:lvl8pPr>
                      <a:lvl9pPr marL="3657600" algn="l" defTabSz="914400" rtl="0" eaLnBrk="1" latinLnBrk="0" hangingPunct="1">
                        <a:defRPr sz="1800" kern="1200">
                          <a:solidFill>
                            <a:schemeClr val="tx1"/>
                          </a:solidFill>
                          <a:latin typeface="Arial" panose="020B0604020202020204"/>
                          <a:ea typeface="微软雅黑" panose="020B0503020204020204" pitchFamily="34" charset="-122"/>
                        </a:defRPr>
                      </a:lvl9pPr>
                    </a:lstStyle>
                    <a:p>
                      <a:pPr algn="ctr"/>
                      <a:r>
                        <a:rPr lang="en-US" altLang="zh-CN"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Forward Delay</a:t>
                      </a:r>
                      <a:endParaRPr lang="zh-CN" altLang="en-US" sz="12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1" marR="91441" marT="45710" marB="45710" anchor="ctr">
                    <a:lnL w="3175" cap="flat" cmpd="sng" algn="ctr">
                      <a:solidFill>
                        <a:sysClr val="windowText" lastClr="000000"/>
                      </a:solidFill>
                      <a:prstDash val="solid"/>
                      <a:round/>
                      <a:headEnd type="none" w="med" len="med"/>
                      <a:tailEnd type="none" w="med" len="med"/>
                    </a:lnL>
                    <a:lnR w="3175" cap="flat" cmpd="sng" algn="ctr">
                      <a:solidFill>
                        <a:sysClr val="windowText" lastClr="000000"/>
                      </a:solidFill>
                      <a:prstDash val="solid"/>
                      <a:round/>
                      <a:headEnd type="none" w="med" len="med"/>
                      <a:tailEnd type="none" w="med" len="med"/>
                    </a:lnR>
                    <a:lnT w="3175" cap="flat" cmpd="sng" algn="ctr">
                      <a:solidFill>
                        <a:sysClr val="windowText" lastClr="000000"/>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配置</a:t>
            </a:r>
            <a:r>
              <a:rPr lang="en-US" altLang="zh-CN">
                <a:sym typeface="Huawei Sans" panose="020C0503030203020204" pitchFamily="34" charset="0"/>
              </a:rPr>
              <a:t>BPDU</a:t>
            </a:r>
            <a:r>
              <a:rPr lang="zh-CN" altLang="en-US">
                <a:sym typeface="Huawei Sans" panose="020C0503030203020204" pitchFamily="34" charset="0"/>
              </a:rPr>
              <a:t>的比较原则</a:t>
            </a:r>
            <a:endParaRPr lang="zh-CN" altLang="en-US" dirty="0">
              <a:sym typeface="Huawei Sans" panose="020C0503030203020204" pitchFamily="34" charset="0"/>
            </a:endParaRPr>
          </a:p>
        </p:txBody>
      </p:sp>
      <p:graphicFrame>
        <p:nvGraphicFramePr>
          <p:cNvPr id="3" name="表格 2"/>
          <p:cNvGraphicFramePr>
            <a:graphicFrameLocks noGrp="1"/>
          </p:cNvGraphicFramePr>
          <p:nvPr/>
        </p:nvGraphicFramePr>
        <p:xfrm>
          <a:off x="682661" y="1655808"/>
          <a:ext cx="2268252" cy="4176458"/>
        </p:xfrm>
        <a:graphic>
          <a:graphicData uri="http://schemas.openxmlformats.org/drawingml/2006/table">
            <a:tbl>
              <a:tblPr firstRow="1" firstCol="1" lastRow="1" lastCol="1" bandRow="1" bandCol="1">
                <a:tableStyleId>{5940675A-B579-460E-94D1-54222C63F5DA}</a:tableStyleId>
              </a:tblPr>
              <a:tblGrid>
                <a:gridCol w="2268252">
                  <a:extLst>
                    <a:ext uri="{9D8B030D-6E8A-4147-A177-3AD203B41FA5}">
                      <a16:colId xmlns:a16="http://schemas.microsoft.com/office/drawing/2014/main" val="20000"/>
                    </a:ext>
                  </a:extLst>
                </a:gridCol>
              </a:tblGrid>
              <a:tr h="321266">
                <a:tc>
                  <a:txBody>
                    <a:bodyPr/>
                    <a:lstStyle/>
                    <a:p>
                      <a:pPr algn="ctr">
                        <a:lnSpc>
                          <a:spcPts val="1600"/>
                        </a:lnSpc>
                        <a:spcAft>
                          <a:spcPts val="0"/>
                        </a:spcAft>
                      </a:pPr>
                      <a:r>
                        <a:rPr lang="zh-CN" sz="1400" b="1"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字段</a:t>
                      </a:r>
                      <a:endParaRPr lang="zh-CN" sz="1400" b="1" kern="100" dirty="0">
                        <a:solidFill>
                          <a:schemeClr val="bg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0"/>
                  </a:ext>
                </a:extLst>
              </a:tr>
              <a:tr h="321266">
                <a:tc>
                  <a:txBody>
                    <a:bodyPr/>
                    <a:lstStyle/>
                    <a:p>
                      <a:pPr algn="ctr">
                        <a:lnSpc>
                          <a:spcPts val="1600"/>
                        </a:lnSpc>
                        <a:spcAft>
                          <a:spcPts val="0"/>
                        </a:spcAft>
                      </a:pPr>
                      <a:r>
                        <a:rPr lang="zh-CN" sz="1400" kern="100">
                          <a:effectLst/>
                          <a:latin typeface="Huawei Sans" panose="020C0503030203020204" pitchFamily="34" charset="0"/>
                          <a:ea typeface="方正兰亭黑简体" panose="02000000000000000000" pitchFamily="2" charset="-122"/>
                          <a:sym typeface="Huawei Sans" panose="020C0503030203020204" pitchFamily="34" charset="0"/>
                        </a:rPr>
                        <a:t>协议</a:t>
                      </a:r>
                      <a:r>
                        <a:rPr lang="en-US" altLang="zh-CN" sz="1400" kern="100">
                          <a:effectLst/>
                          <a:latin typeface="Huawei Sans" panose="020C0503030203020204" pitchFamily="34" charset="0"/>
                          <a:ea typeface="方正兰亭黑简体" panose="02000000000000000000" pitchFamily="2" charset="-122"/>
                          <a:sym typeface="Huawei Sans" panose="020C0503030203020204" pitchFamily="34" charset="0"/>
                        </a:rPr>
                        <a:t>ID</a:t>
                      </a:r>
                      <a:r>
                        <a:rPr lang="zh-CN" sz="1400" kern="100">
                          <a:effectLst/>
                          <a:latin typeface="Huawei Sans" panose="020C0503030203020204" pitchFamily="34" charset="0"/>
                          <a:ea typeface="方正兰亭黑简体" panose="02000000000000000000" pitchFamily="2" charset="-122"/>
                          <a:sym typeface="Huawei Sans" panose="020C0503030203020204" pitchFamily="34" charset="0"/>
                        </a:rPr>
                        <a:t> </a:t>
                      </a:r>
                      <a:endParaRPr lang="zh-CN" sz="1400" b="0" kern="10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21266">
                <a:tc>
                  <a:txBody>
                    <a:bodyPr/>
                    <a:lstStyle/>
                    <a:p>
                      <a:pPr algn="ctr">
                        <a:lnSpc>
                          <a:spcPts val="1600"/>
                        </a:lnSpc>
                        <a:spcAft>
                          <a:spcPts val="0"/>
                        </a:spcAft>
                      </a:pPr>
                      <a:r>
                        <a:rPr lang="zh-CN" altLang="en-US" sz="1400" kern="100" dirty="0">
                          <a:effectLst/>
                          <a:latin typeface="Huawei Sans" panose="020C0503030203020204" pitchFamily="34" charset="0"/>
                          <a:ea typeface="方正兰亭黑简体" panose="02000000000000000000" pitchFamily="2" charset="-122"/>
                          <a:sym typeface="Huawei Sans" panose="020C0503030203020204" pitchFamily="34" charset="0"/>
                        </a:rPr>
                        <a:t>协议</a:t>
                      </a:r>
                      <a:r>
                        <a:rPr 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版本</a:t>
                      </a:r>
                      <a:r>
                        <a:rPr lang="en-US" alt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ID</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21266">
                <a:tc>
                  <a:txBody>
                    <a:bodyPr/>
                    <a:lstStyle/>
                    <a:p>
                      <a:pPr algn="ctr">
                        <a:lnSpc>
                          <a:spcPts val="1600"/>
                        </a:lnSpc>
                        <a:spcAft>
                          <a:spcPts val="0"/>
                        </a:spcAft>
                      </a:pPr>
                      <a:r>
                        <a:rPr lang="zh-CN" altLang="en-US" sz="1400" kern="100">
                          <a:effectLst/>
                          <a:latin typeface="Huawei Sans" panose="020C0503030203020204" pitchFamily="34" charset="0"/>
                          <a:ea typeface="方正兰亭黑简体" panose="02000000000000000000" pitchFamily="2" charset="-122"/>
                          <a:sym typeface="Huawei Sans" panose="020C0503030203020204" pitchFamily="34" charset="0"/>
                        </a:rPr>
                        <a:t>类型</a:t>
                      </a:r>
                      <a:endParaRPr lang="zh-CN" sz="1400" b="0" kern="10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21266">
                <a:tc>
                  <a:txBody>
                    <a:bodyPr/>
                    <a:lstStyle/>
                    <a:p>
                      <a:pPr algn="ctr">
                        <a:lnSpc>
                          <a:spcPts val="1600"/>
                        </a:lnSpc>
                        <a:spcAft>
                          <a:spcPts val="0"/>
                        </a:spcAft>
                      </a:pPr>
                      <a:r>
                        <a:rPr lang="zh-CN" sz="1400" kern="100">
                          <a:effectLst/>
                          <a:latin typeface="Huawei Sans" panose="020C0503030203020204" pitchFamily="34" charset="0"/>
                          <a:ea typeface="方正兰亭黑简体" panose="02000000000000000000" pitchFamily="2" charset="-122"/>
                          <a:sym typeface="Huawei Sans" panose="020C0503030203020204" pitchFamily="34" charset="0"/>
                        </a:rPr>
                        <a:t>标志</a:t>
                      </a:r>
                      <a:endParaRPr lang="zh-CN" sz="1400" b="0" kern="10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21266">
                <a:tc>
                  <a:txBody>
                    <a:bodyPr/>
                    <a:lstStyle/>
                    <a:p>
                      <a:pPr algn="ctr">
                        <a:lnSpc>
                          <a:spcPts val="1600"/>
                        </a:lnSpc>
                        <a:spcAft>
                          <a:spcPts val="0"/>
                        </a:spcAft>
                      </a:pPr>
                      <a:r>
                        <a:rPr lang="zh-CN" sz="1400" b="0" kern="100">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根</a:t>
                      </a:r>
                      <a:r>
                        <a:rPr lang="zh-CN" altLang="en-US" sz="1400" b="0" kern="100">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桥</a:t>
                      </a:r>
                      <a:r>
                        <a:rPr lang="en-US" sz="1400" b="0" kern="100">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ID</a:t>
                      </a:r>
                      <a:endParaRPr lang="zh-CN" sz="1400" b="0" kern="100">
                        <a:solidFill>
                          <a:srgbClr val="EC706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321266">
                <a:tc>
                  <a:txBody>
                    <a:bodyPr/>
                    <a:lstStyle/>
                    <a:p>
                      <a:pPr algn="ctr">
                        <a:lnSpc>
                          <a:spcPts val="1600"/>
                        </a:lnSpc>
                        <a:spcAft>
                          <a:spcPts val="0"/>
                        </a:spcAft>
                      </a:pPr>
                      <a:r>
                        <a:rPr lang="zh-CN" altLang="en-US" sz="1400" b="0" kern="100" dirty="0">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根</a:t>
                      </a:r>
                      <a:r>
                        <a:rPr lang="zh-CN" sz="1400" b="0" kern="100" dirty="0">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路径开销</a:t>
                      </a:r>
                      <a:endParaRPr lang="zh-CN" sz="1400" b="0" kern="100" dirty="0">
                        <a:solidFill>
                          <a:srgbClr val="EC706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321266">
                <a:tc>
                  <a:txBody>
                    <a:bodyPr/>
                    <a:lstStyle/>
                    <a:p>
                      <a:pPr algn="ctr">
                        <a:lnSpc>
                          <a:spcPts val="1600"/>
                        </a:lnSpc>
                        <a:spcAft>
                          <a:spcPts val="0"/>
                        </a:spcAft>
                      </a:pPr>
                      <a:r>
                        <a:rPr lang="zh-CN" sz="1400" b="0" kern="100">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网桥</a:t>
                      </a:r>
                      <a:r>
                        <a:rPr lang="en-US" sz="1400" b="0" kern="100">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ID</a:t>
                      </a:r>
                      <a:endParaRPr lang="zh-CN" sz="1400" b="0" kern="100">
                        <a:solidFill>
                          <a:srgbClr val="EC706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321266">
                <a:tc>
                  <a:txBody>
                    <a:bodyPr/>
                    <a:lstStyle/>
                    <a:p>
                      <a:pPr algn="ctr">
                        <a:lnSpc>
                          <a:spcPts val="1600"/>
                        </a:lnSpc>
                        <a:spcAft>
                          <a:spcPts val="0"/>
                        </a:spcAft>
                      </a:pPr>
                      <a:r>
                        <a:rPr lang="zh-CN" altLang="en-US" sz="1400" b="0" kern="100" dirty="0">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接口</a:t>
                      </a:r>
                      <a:r>
                        <a:rPr lang="en-US" sz="1400" b="0" kern="100" dirty="0">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ID</a:t>
                      </a:r>
                      <a:endParaRPr lang="zh-CN" sz="1400" b="0" kern="100" dirty="0">
                        <a:solidFill>
                          <a:srgbClr val="EC706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321266">
                <a:tc>
                  <a:txBody>
                    <a:bodyPr/>
                    <a:lstStyle/>
                    <a:p>
                      <a:pPr algn="ctr">
                        <a:lnSpc>
                          <a:spcPts val="1600"/>
                        </a:lnSpc>
                        <a:spcAft>
                          <a:spcPts val="0"/>
                        </a:spcAft>
                      </a:pPr>
                      <a:r>
                        <a:rPr lang="zh-CN" sz="1400" kern="100">
                          <a:effectLst/>
                          <a:latin typeface="Huawei Sans" panose="020C0503030203020204" pitchFamily="34" charset="0"/>
                          <a:ea typeface="方正兰亭黑简体" panose="02000000000000000000" pitchFamily="2" charset="-122"/>
                          <a:sym typeface="Huawei Sans" panose="020C0503030203020204" pitchFamily="34" charset="0"/>
                        </a:rPr>
                        <a:t>消息寿命</a:t>
                      </a: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321266">
                <a:tc>
                  <a:txBody>
                    <a:bodyPr/>
                    <a:lstStyle/>
                    <a:p>
                      <a:pPr algn="ctr">
                        <a:lnSpc>
                          <a:spcPts val="1600"/>
                        </a:lnSpc>
                        <a:spcAft>
                          <a:spcPts val="0"/>
                        </a:spcAft>
                      </a:pPr>
                      <a:r>
                        <a:rPr lang="zh-CN" sz="1400" kern="100">
                          <a:effectLst/>
                          <a:latin typeface="Huawei Sans" panose="020C0503030203020204" pitchFamily="34" charset="0"/>
                          <a:ea typeface="方正兰亭黑简体" panose="02000000000000000000" pitchFamily="2" charset="-122"/>
                          <a:sym typeface="Huawei Sans" panose="020C0503030203020204" pitchFamily="34" charset="0"/>
                        </a:rPr>
                        <a:t>最大寿命</a:t>
                      </a: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321266">
                <a:tc>
                  <a:txBody>
                    <a:bodyPr/>
                    <a:lstStyle/>
                    <a:p>
                      <a:pPr algn="ctr">
                        <a:lnSpc>
                          <a:spcPts val="1600"/>
                        </a:lnSpc>
                        <a:spcAft>
                          <a:spcPts val="0"/>
                        </a:spcAft>
                      </a:pPr>
                      <a:r>
                        <a:rPr lang="en-US" altLang="zh-CN" sz="1400" kern="100">
                          <a:effectLst/>
                          <a:latin typeface="Huawei Sans" panose="020C0503030203020204" pitchFamily="34" charset="0"/>
                          <a:ea typeface="方正兰亭黑简体" panose="02000000000000000000" pitchFamily="2" charset="-122"/>
                          <a:sym typeface="Huawei Sans" panose="020C0503030203020204" pitchFamily="34" charset="0"/>
                        </a:rPr>
                        <a:t>Hello</a:t>
                      </a:r>
                      <a:r>
                        <a:rPr lang="zh-CN" sz="1400" kern="100">
                          <a:effectLst/>
                          <a:latin typeface="Huawei Sans" panose="020C0503030203020204" pitchFamily="34" charset="0"/>
                          <a:ea typeface="方正兰亭黑简体" panose="02000000000000000000" pitchFamily="2" charset="-122"/>
                          <a:sym typeface="Huawei Sans" panose="020C0503030203020204" pitchFamily="34" charset="0"/>
                        </a:rPr>
                        <a:t>时间</a:t>
                      </a:r>
                      <a:endParaRPr lang="zh-CN" sz="1400" b="0" kern="10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321266">
                <a:tc>
                  <a:txBody>
                    <a:bodyPr/>
                    <a:lstStyle/>
                    <a:p>
                      <a:pPr algn="ctr">
                        <a:lnSpc>
                          <a:spcPts val="1600"/>
                        </a:lnSpc>
                        <a:spcAft>
                          <a:spcPts val="0"/>
                        </a:spcAft>
                      </a:pPr>
                      <a:r>
                        <a:rPr lang="zh-CN" sz="1400" kern="100" dirty="0">
                          <a:effectLst/>
                          <a:latin typeface="Huawei Sans" panose="020C0503030203020204" pitchFamily="34" charset="0"/>
                          <a:ea typeface="方正兰亭黑简体" panose="02000000000000000000" pitchFamily="2" charset="-122"/>
                          <a:sym typeface="Huawei Sans" panose="020C0503030203020204" pitchFamily="34" charset="0"/>
                        </a:rPr>
                        <a:t>转发延迟</a:t>
                      </a:r>
                      <a:endParaRPr lang="zh-CN" sz="1400" b="0" kern="100" dirty="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2"/>
                  </a:ext>
                </a:extLst>
              </a:tr>
            </a:tbl>
          </a:graphicData>
        </a:graphic>
      </p:graphicFrame>
      <p:sp>
        <p:nvSpPr>
          <p:cNvPr id="4" name="矩形 3"/>
          <p:cNvSpPr/>
          <p:nvPr/>
        </p:nvSpPr>
        <p:spPr>
          <a:xfrm>
            <a:off x="3107668" y="1556792"/>
            <a:ext cx="8426744" cy="3323987"/>
          </a:xfrm>
          <a:prstGeom prst="rect">
            <a:avLst/>
          </a:prstGeom>
        </p:spPr>
        <p:txBody>
          <a:bodyPr wrap="square">
            <a:spAutoFit/>
          </a:bodyPr>
          <a:lstStyle/>
          <a:p>
            <a:pPr algn="just">
              <a:lnSpc>
                <a:spcPts val="2400"/>
              </a:lnSpc>
              <a:spcAft>
                <a:spcPts val="60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对于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而言，最重要的工作就是在交换网络中计算出一个无环拓扑。在拓扑计算的过程中，一个非常重要的内容就是配置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的比较。在配置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中，有四个字段非常关键，它们是“根桥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、“根</a:t>
            </a:r>
            <a:r>
              <a:rPr lang="zh-CN"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路径开销</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以及“接口</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，这四个字段便是交换机进行配置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比较的关键内容。</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 </a:t>
            </a:r>
          </a:p>
          <a:p>
            <a:pPr algn="just" fontAlgn="auto">
              <a:lnSpc>
                <a:spcPts val="2400"/>
              </a:lnSpc>
              <a:spcBef>
                <a:spcPts val="0"/>
              </a:spcBef>
              <a:spcAft>
                <a:spcPts val="60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按照如下顺序选择最优的配置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a:p>
            <a:pPr marL="342900" indent="-342900" algn="just" fontAlgn="auto">
              <a:lnSpc>
                <a:spcPts val="2400"/>
              </a:lnSpc>
              <a:spcBef>
                <a:spcPts val="0"/>
              </a:spcBef>
              <a:spcAft>
                <a:spcPts val="6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最小的根桥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fontAlgn="auto">
              <a:lnSpc>
                <a:spcPts val="2400"/>
              </a:lnSpc>
              <a:spcBef>
                <a:spcPts val="0"/>
              </a:spcBef>
              <a:spcAft>
                <a:spcPts val="6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最小的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RPC</a:t>
            </a: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fontAlgn="auto">
              <a:lnSpc>
                <a:spcPts val="2400"/>
              </a:lnSpc>
              <a:spcBef>
                <a:spcPts val="0"/>
              </a:spcBef>
              <a:spcAft>
                <a:spcPts val="6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最小的网桥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fontAlgn="auto">
              <a:lnSpc>
                <a:spcPts val="2400"/>
              </a:lnSpc>
              <a:spcBef>
                <a:spcPts val="0"/>
              </a:spcBef>
              <a:spcAft>
                <a:spcPts val="6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最小的接口</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矩形 5"/>
          <p:cNvSpPr/>
          <p:nvPr/>
        </p:nvSpPr>
        <p:spPr>
          <a:xfrm>
            <a:off x="3155400" y="5193196"/>
            <a:ext cx="8379012" cy="707886"/>
          </a:xfrm>
          <a:prstGeom prst="rect">
            <a:avLst/>
          </a:prstGeom>
        </p:spPr>
        <p:txBody>
          <a:bodyPr wrap="square">
            <a:spAutoFit/>
          </a:bodyPr>
          <a:lstStyle/>
          <a:p>
            <a:pPr algn="just" fontAlgn="auto">
              <a:lnSpc>
                <a:spcPts val="2400"/>
              </a:lnSpc>
              <a:spcBef>
                <a:spcPts val="0"/>
              </a:spcBef>
              <a:spcAft>
                <a:spcPts val="60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在这四条原则中（每条原则都对应配置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中的相应字段），第一条原则主要用于在网络中选举根桥，后面的原则主要用于选举根接口及指定接口。</a:t>
            </a:r>
          </a:p>
        </p:txBody>
      </p:sp>
      <p:sp>
        <p:nvSpPr>
          <p:cNvPr id="7" name="五边形 6"/>
          <p:cNvSpPr/>
          <p:nvPr/>
        </p:nvSpPr>
        <p:spPr bwMode="auto">
          <a:xfrm>
            <a:off x="7211868" y="152815"/>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桥</a:t>
            </a: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燕尾形 7"/>
          <p:cNvSpPr/>
          <p:nvPr/>
        </p:nvSpPr>
        <p:spPr bwMode="auto">
          <a:xfrm>
            <a:off x="7920187"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根桥</a:t>
            </a:r>
          </a:p>
        </p:txBody>
      </p:sp>
      <p:sp>
        <p:nvSpPr>
          <p:cNvPr id="9" name="燕尾形 8"/>
          <p:cNvSpPr/>
          <p:nvPr/>
        </p:nvSpPr>
        <p:spPr bwMode="auto">
          <a:xfrm>
            <a:off x="8628506"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Cost</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燕尾形 9"/>
          <p:cNvSpPr/>
          <p:nvPr/>
        </p:nvSpPr>
        <p:spPr bwMode="auto">
          <a:xfrm>
            <a:off x="9336825"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RPC</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p:nvPr/>
        </p:nvSpPr>
        <p:spPr bwMode="auto">
          <a:xfrm>
            <a:off x="10045144"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Port 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auto">
          <a:xfrm>
            <a:off x="10753463" y="152815"/>
            <a:ext cx="7812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BPDU</a:t>
            </a:r>
            <a:endPar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配置</a:t>
            </a:r>
            <a:r>
              <a:rPr lang="en-US" altLang="zh-CN">
                <a:sym typeface="Huawei Sans" panose="020C0503030203020204" pitchFamily="34" charset="0"/>
              </a:rPr>
              <a:t>BPDU</a:t>
            </a:r>
            <a:r>
              <a:rPr lang="zh-CN" altLang="en-US">
                <a:sym typeface="Huawei Sans" panose="020C0503030203020204" pitchFamily="34" charset="0"/>
              </a:rPr>
              <a:t>的转发过程</a:t>
            </a:r>
            <a:endParaRPr lang="zh-CN" altLang="en-US" dirty="0">
              <a:sym typeface="Huawei Sans" panose="020C0503030203020204" pitchFamily="34" charset="0"/>
            </a:endParaRPr>
          </a:p>
        </p:txBody>
      </p:sp>
      <p:cxnSp>
        <p:nvCxnSpPr>
          <p:cNvPr id="22" name="直接连接符 21"/>
          <p:cNvCxnSpPr/>
          <p:nvPr/>
        </p:nvCxnSpPr>
        <p:spPr>
          <a:xfrm flipH="1">
            <a:off x="2675621" y="2874105"/>
            <a:ext cx="67327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2281695" y="2334362"/>
            <a:ext cx="628698" cy="740207"/>
            <a:chOff x="2570721" y="2334362"/>
            <a:chExt cx="628698" cy="740207"/>
          </a:xfrm>
        </p:grpSpPr>
        <p:sp>
          <p:nvSpPr>
            <p:cNvPr id="3" name="文本框 2"/>
            <p:cNvSpPr txBox="1"/>
            <p:nvPr/>
          </p:nvSpPr>
          <p:spPr>
            <a:xfrm>
              <a:off x="2570721" y="2334362"/>
              <a:ext cx="628698" cy="338554"/>
            </a:xfrm>
            <a:prstGeom prst="rect">
              <a:avLst/>
            </a:prstGeom>
            <a:noFill/>
          </p:spPr>
          <p:txBody>
            <a:bodyPr wrap="none" rtlCol="0">
              <a:spAutoFit/>
            </a:bodyPr>
            <a:lstStyle/>
            <a:p>
              <a:pPr algn="ct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 name="图片 76" descr="接入交换机.png"/>
            <p:cNvPicPr>
              <a:picLocks noChangeAspect="1"/>
            </p:cNvPicPr>
            <p:nvPr/>
          </p:nvPicPr>
          <p:blipFill>
            <a:blip r:embed="rId3" cstate="print"/>
            <a:stretch>
              <a:fillRect/>
            </a:stretch>
          </p:blipFill>
          <p:spPr>
            <a:xfrm>
              <a:off x="2639616" y="2672916"/>
              <a:ext cx="490909" cy="401653"/>
            </a:xfrm>
            <a:prstGeom prst="rect">
              <a:avLst/>
            </a:prstGeom>
          </p:spPr>
        </p:pic>
      </p:grpSp>
      <p:grpSp>
        <p:nvGrpSpPr>
          <p:cNvPr id="8" name="组合 7"/>
          <p:cNvGrpSpPr/>
          <p:nvPr/>
        </p:nvGrpSpPr>
        <p:grpSpPr>
          <a:xfrm>
            <a:off x="5778398" y="2334362"/>
            <a:ext cx="628698" cy="740207"/>
            <a:chOff x="2570721" y="2334362"/>
            <a:chExt cx="628698" cy="740207"/>
          </a:xfrm>
        </p:grpSpPr>
        <p:sp>
          <p:nvSpPr>
            <p:cNvPr id="9" name="文本框 8"/>
            <p:cNvSpPr txBox="1"/>
            <p:nvPr/>
          </p:nvSpPr>
          <p:spPr>
            <a:xfrm>
              <a:off x="2570721" y="2334362"/>
              <a:ext cx="628698" cy="338554"/>
            </a:xfrm>
            <a:prstGeom prst="rect">
              <a:avLst/>
            </a:prstGeom>
            <a:noFill/>
          </p:spPr>
          <p:txBody>
            <a:bodyPr wrap="none" rtlCol="0">
              <a:spAutoFit/>
            </a:bodyPr>
            <a:lstStyle/>
            <a:p>
              <a:pPr algn="ct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 name="图片 76" descr="接入交换机.png"/>
            <p:cNvPicPr>
              <a:picLocks noChangeAspect="1"/>
            </p:cNvPicPr>
            <p:nvPr/>
          </p:nvPicPr>
          <p:blipFill>
            <a:blip r:embed="rId3" cstate="print"/>
            <a:stretch>
              <a:fillRect/>
            </a:stretch>
          </p:blipFill>
          <p:spPr>
            <a:xfrm>
              <a:off x="2639616" y="2672916"/>
              <a:ext cx="490909" cy="401653"/>
            </a:xfrm>
            <a:prstGeom prst="rect">
              <a:avLst/>
            </a:prstGeom>
          </p:spPr>
        </p:pic>
      </p:grpSp>
      <p:grpSp>
        <p:nvGrpSpPr>
          <p:cNvPr id="11" name="组合 10"/>
          <p:cNvGrpSpPr/>
          <p:nvPr/>
        </p:nvGrpSpPr>
        <p:grpSpPr>
          <a:xfrm>
            <a:off x="9275102" y="2334362"/>
            <a:ext cx="628698" cy="740207"/>
            <a:chOff x="2570721" y="2334362"/>
            <a:chExt cx="628698" cy="740207"/>
          </a:xfrm>
        </p:grpSpPr>
        <p:sp>
          <p:nvSpPr>
            <p:cNvPr id="12" name="文本框 11"/>
            <p:cNvSpPr txBox="1"/>
            <p:nvPr/>
          </p:nvSpPr>
          <p:spPr>
            <a:xfrm>
              <a:off x="2570721" y="2334362"/>
              <a:ext cx="628698" cy="338554"/>
            </a:xfrm>
            <a:prstGeom prst="rect">
              <a:avLst/>
            </a:prstGeom>
            <a:noFill/>
          </p:spPr>
          <p:txBody>
            <a:bodyPr wrap="none" rtlCol="0">
              <a:spAutoFit/>
            </a:bodyPr>
            <a:lstStyle/>
            <a:p>
              <a:pPr algn="ct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 name="图片 76" descr="接入交换机.png"/>
            <p:cNvPicPr>
              <a:picLocks noChangeAspect="1"/>
            </p:cNvPicPr>
            <p:nvPr/>
          </p:nvPicPr>
          <p:blipFill>
            <a:blip r:embed="rId3" cstate="print"/>
            <a:stretch>
              <a:fillRect/>
            </a:stretch>
          </p:blipFill>
          <p:spPr>
            <a:xfrm>
              <a:off x="2639616" y="2672916"/>
              <a:ext cx="490909" cy="401653"/>
            </a:xfrm>
            <a:prstGeom prst="rect">
              <a:avLst/>
            </a:prstGeom>
          </p:spPr>
        </p:pic>
      </p:grpSp>
      <p:sp>
        <p:nvSpPr>
          <p:cNvPr id="15" name="矩形 14"/>
          <p:cNvSpPr/>
          <p:nvPr/>
        </p:nvSpPr>
        <p:spPr>
          <a:xfrm>
            <a:off x="1496365" y="1976090"/>
            <a:ext cx="2167581" cy="338554"/>
          </a:xfrm>
          <a:prstGeom prst="rect">
            <a:avLst/>
          </a:prstGeom>
        </p:spPr>
        <p:txBody>
          <a:bodyPr wrap="none">
            <a:spAutoFit/>
          </a:bodyPr>
          <a:lstStyle/>
          <a:p>
            <a:pPr algn="ctr" fontAlgn="auto">
              <a:spcBef>
                <a:spcPts val="0"/>
              </a:spcBef>
              <a:spcAft>
                <a:spcPts val="0"/>
              </a:spcAft>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4096.4c1f-aabc-102a</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a:xfrm>
            <a:off x="5002903" y="1976090"/>
            <a:ext cx="2178802" cy="338554"/>
          </a:xfrm>
          <a:prstGeom prst="rect">
            <a:avLst/>
          </a:prstGeom>
          <a:noFill/>
        </p:spPr>
        <p:txBody>
          <a:bodyPr wrap="none" rtlCol="0">
            <a:spAutoFit/>
          </a:bodyPr>
          <a:lstStyle/>
          <a:p>
            <a:pPr algn="ctr" fontAlgn="auto">
              <a:spcBef>
                <a:spcPts val="0"/>
              </a:spcBef>
              <a:spcAft>
                <a:spcPts val="0"/>
              </a:spcAft>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4096.4c1f-aabc-102b</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a:xfrm>
            <a:off x="8528055" y="1976090"/>
            <a:ext cx="2167581" cy="338554"/>
          </a:xfrm>
          <a:prstGeom prst="rect">
            <a:avLst/>
          </a:prstGeom>
          <a:noFill/>
        </p:spPr>
        <p:txBody>
          <a:bodyPr wrap="none" rtlCol="0">
            <a:spAutoFit/>
          </a:bodyPr>
          <a:lstStyle/>
          <a:p>
            <a:pPr algn="ctr" fontAlgn="auto">
              <a:spcBef>
                <a:spcPts val="0"/>
              </a:spcBef>
              <a:spcAft>
                <a:spcPts val="0"/>
              </a:spcAft>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4096.4c1f-aabc-102c</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a:xfrm>
            <a:off x="2846588" y="2526841"/>
            <a:ext cx="1513556" cy="338554"/>
          </a:xfrm>
          <a:prstGeom prst="rect">
            <a:avLst/>
          </a:prstGeom>
          <a:noFill/>
        </p:spPr>
        <p:txBody>
          <a:bodyPr wrap="none" rtlCol="0">
            <a:spAutoFit/>
          </a:bodyPr>
          <a:lstStyle/>
          <a:p>
            <a:pPr algn="ctr" fontAlgn="auto">
              <a:spcBef>
                <a:spcPts val="0"/>
              </a:spcBef>
              <a:spcAft>
                <a:spcPts val="0"/>
              </a:spcAft>
            </a:pPr>
            <a:r>
              <a:rPr lang="en-US" altLang="zh-CN" sz="1600" dirty="0" err="1">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PortID</a:t>
            </a: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=128.24</a:t>
            </a:r>
          </a:p>
        </p:txBody>
      </p:sp>
      <p:sp>
        <p:nvSpPr>
          <p:cNvPr id="19" name="文本框 18"/>
          <p:cNvSpPr txBox="1"/>
          <p:nvPr/>
        </p:nvSpPr>
        <p:spPr>
          <a:xfrm>
            <a:off x="6336911" y="2526841"/>
            <a:ext cx="1513556" cy="338554"/>
          </a:xfrm>
          <a:prstGeom prst="rect">
            <a:avLst/>
          </a:prstGeom>
          <a:noFill/>
        </p:spPr>
        <p:txBody>
          <a:bodyPr wrap="none" rtlCol="0">
            <a:spAutoFit/>
          </a:bodyPr>
          <a:lstStyle/>
          <a:p>
            <a:pPr algn="ctr" fontAlgn="auto">
              <a:spcBef>
                <a:spcPts val="0"/>
              </a:spcBef>
              <a:spcAft>
                <a:spcPts val="0"/>
              </a:spcAft>
            </a:pPr>
            <a:r>
              <a:rPr lang="en-US" altLang="zh-CN" sz="1600" dirty="0" err="1">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PortID</a:t>
            </a: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=128.23</a:t>
            </a:r>
          </a:p>
        </p:txBody>
      </p:sp>
      <p:sp>
        <p:nvSpPr>
          <p:cNvPr id="20" name="文本框 19"/>
          <p:cNvSpPr txBox="1"/>
          <p:nvPr/>
        </p:nvSpPr>
        <p:spPr>
          <a:xfrm>
            <a:off x="4551746" y="2859475"/>
            <a:ext cx="1295547" cy="338554"/>
          </a:xfrm>
          <a:prstGeom prst="rect">
            <a:avLst/>
          </a:prstGeom>
          <a:noFill/>
        </p:spPr>
        <p:txBody>
          <a:bodyPr wrap="none" rtlCol="0">
            <a:spAutoFit/>
          </a:bodyPr>
          <a:lstStyle/>
          <a:p>
            <a:pPr algn="ct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Cost=20000</a:t>
            </a:r>
          </a:p>
        </p:txBody>
      </p:sp>
      <p:sp>
        <p:nvSpPr>
          <p:cNvPr id="21" name="文本框 20"/>
          <p:cNvSpPr txBox="1"/>
          <p:nvPr/>
        </p:nvSpPr>
        <p:spPr>
          <a:xfrm>
            <a:off x="8052075" y="2859475"/>
            <a:ext cx="1295547" cy="338554"/>
          </a:xfrm>
          <a:prstGeom prst="rect">
            <a:avLst/>
          </a:prstGeom>
          <a:noFill/>
        </p:spPr>
        <p:txBody>
          <a:bodyPr wrap="none" rtlCol="0">
            <a:spAutoFit/>
          </a:bodyPr>
          <a:lstStyle/>
          <a:p>
            <a:pPr algn="ct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Cost=20000</a:t>
            </a:r>
          </a:p>
        </p:txBody>
      </p:sp>
      <p:cxnSp>
        <p:nvCxnSpPr>
          <p:cNvPr id="23" name="直接箭头连接符 22"/>
          <p:cNvCxnSpPr/>
          <p:nvPr/>
        </p:nvCxnSpPr>
        <p:spPr>
          <a:xfrm>
            <a:off x="2387588" y="3356992"/>
            <a:ext cx="3476554"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5987988" y="3356992"/>
            <a:ext cx="2953749"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9" name="表格 28"/>
          <p:cNvGraphicFramePr>
            <a:graphicFrameLocks noGrp="1"/>
          </p:cNvGraphicFramePr>
          <p:nvPr/>
        </p:nvGraphicFramePr>
        <p:xfrm>
          <a:off x="2463519" y="3546731"/>
          <a:ext cx="3259187" cy="2222528"/>
        </p:xfrm>
        <a:graphic>
          <a:graphicData uri="http://schemas.openxmlformats.org/drawingml/2006/table">
            <a:tbl>
              <a:tblPr firstRow="1" firstCol="1" lastRow="1" lastCol="1" bandRow="1" bandCol="1">
                <a:tableStyleId>{5940675A-B579-460E-94D1-54222C63F5DA}</a:tableStyleId>
              </a:tblPr>
              <a:tblGrid>
                <a:gridCol w="3259187">
                  <a:extLst>
                    <a:ext uri="{9D8B030D-6E8A-4147-A177-3AD203B41FA5}">
                      <a16:colId xmlns:a16="http://schemas.microsoft.com/office/drawing/2014/main" val="20000"/>
                    </a:ext>
                  </a:extLst>
                </a:gridCol>
              </a:tblGrid>
              <a:tr h="317504">
                <a:tc>
                  <a:txBody>
                    <a:bodyPr/>
                    <a:lstStyle/>
                    <a:p>
                      <a:pPr algn="ctr">
                        <a:lnSpc>
                          <a:spcPct val="100000"/>
                        </a:lnSpc>
                        <a:spcAft>
                          <a:spcPts val="0"/>
                        </a:spcAft>
                      </a:pPr>
                      <a:r>
                        <a:rPr lang="zh-CN" altLang="en-US" sz="1600" b="1"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b="1"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BPDU</a:t>
                      </a:r>
                      <a:endParaRPr lang="en-US" sz="1600" b="1"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317504">
                <a:tc>
                  <a:txBody>
                    <a:bodyPr/>
                    <a:lstStyle/>
                    <a:p>
                      <a:pPr algn="ctr">
                        <a:lnSpc>
                          <a:spcPct val="100000"/>
                        </a:lnSpc>
                        <a:spcAft>
                          <a:spcPts val="0"/>
                        </a:spcAft>
                      </a:pPr>
                      <a:r>
                        <a:rPr lang="en-US" alt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7504">
                <a:tc>
                  <a:txBody>
                    <a:bodyPr/>
                    <a:lstStyle/>
                    <a:p>
                      <a:pPr algn="ctr">
                        <a:lnSpc>
                          <a:spcPct val="100000"/>
                        </a:lnSpc>
                        <a:spcAft>
                          <a:spcPts val="0"/>
                        </a:spcAft>
                      </a:pP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根</a:t>
                      </a:r>
                      <a:r>
                        <a:rPr lang="zh-CN" alt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桥</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ID=4096.4c1f-aabc-102a</a:t>
                      </a: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7504">
                <a:tc>
                  <a:txBody>
                    <a:bodyPr/>
                    <a:lstStyle/>
                    <a:p>
                      <a:pPr algn="ctr">
                        <a:lnSpc>
                          <a:spcPct val="100000"/>
                        </a:lnSpc>
                        <a:spcAft>
                          <a:spcPts val="0"/>
                        </a:spcAft>
                      </a:pPr>
                      <a:r>
                        <a:rPr lang="zh-CN" sz="1600" kern="100">
                          <a:effectLst/>
                          <a:latin typeface="Huawei Sans" panose="020C0503030203020204" pitchFamily="34" charset="0"/>
                          <a:ea typeface="方正兰亭黑简体" panose="02000000000000000000" pitchFamily="2" charset="-122"/>
                          <a:sym typeface="Huawei Sans" panose="020C0503030203020204" pitchFamily="34" charset="0"/>
                        </a:rPr>
                        <a:t>路径开销</a:t>
                      </a:r>
                      <a:r>
                        <a:rPr lang="en-US" altLang="zh-CN" sz="1600" kern="100">
                          <a:effectLst/>
                          <a:latin typeface="Huawei Sans" panose="020C0503030203020204" pitchFamily="34" charset="0"/>
                          <a:ea typeface="方正兰亭黑简体" panose="02000000000000000000" pitchFamily="2" charset="-122"/>
                          <a:sym typeface="Huawei Sans" panose="020C0503030203020204" pitchFamily="34" charset="0"/>
                        </a:rPr>
                        <a:t>=0</a:t>
                      </a:r>
                      <a:endParaRPr lang="zh-CN" sz="1600" b="0" kern="10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17504">
                <a:tc>
                  <a:txBody>
                    <a:bodyPr/>
                    <a:lstStyle/>
                    <a:p>
                      <a:pPr algn="ctr">
                        <a:lnSpc>
                          <a:spcPct val="100000"/>
                        </a:lnSpc>
                        <a:spcAft>
                          <a:spcPts val="0"/>
                        </a:spcAft>
                      </a:pPr>
                      <a:r>
                        <a:rPr lang="zh-CN" sz="1600" kern="100">
                          <a:effectLst/>
                          <a:latin typeface="Huawei Sans" panose="020C0503030203020204" pitchFamily="34" charset="0"/>
                          <a:ea typeface="方正兰亭黑简体" panose="02000000000000000000" pitchFamily="2" charset="-122"/>
                          <a:sym typeface="Huawei Sans" panose="020C0503030203020204" pitchFamily="34" charset="0"/>
                        </a:rPr>
                        <a:t>桥</a:t>
                      </a:r>
                      <a:r>
                        <a:rPr lang="en-US" sz="1600" kern="100">
                          <a:effectLst/>
                          <a:latin typeface="Huawei Sans" panose="020C0503030203020204" pitchFamily="34" charset="0"/>
                          <a:ea typeface="方正兰亭黑简体" panose="02000000000000000000" pitchFamily="2" charset="-122"/>
                          <a:sym typeface="Huawei Sans" panose="020C0503030203020204" pitchFamily="34" charset="0"/>
                        </a:rPr>
                        <a:t>ID=</a:t>
                      </a:r>
                      <a:r>
                        <a:rPr lang="en-US" altLang="zh-CN" sz="1600" kern="100">
                          <a:effectLst/>
                          <a:latin typeface="Huawei Sans" panose="020C0503030203020204" pitchFamily="34" charset="0"/>
                          <a:ea typeface="方正兰亭黑简体" panose="02000000000000000000" pitchFamily="2" charset="-122"/>
                          <a:sym typeface="Huawei Sans" panose="020C0503030203020204" pitchFamily="34" charset="0"/>
                        </a:rPr>
                        <a:t>4096.4c1f-aabc-102a</a:t>
                      </a:r>
                      <a:endParaRPr lang="zh-CN" sz="1600" b="0" kern="10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7504">
                <a:tc>
                  <a:txBody>
                    <a:bodyPr/>
                    <a:lstStyle/>
                    <a:p>
                      <a:pPr algn="ctr">
                        <a:lnSpc>
                          <a:spcPct val="100000"/>
                        </a:lnSpc>
                        <a:spcAft>
                          <a:spcPts val="0"/>
                        </a:spcAft>
                      </a:pPr>
                      <a:r>
                        <a:rPr lang="zh-CN" altLang="en-US" sz="1600" kern="100">
                          <a:effectLst/>
                          <a:latin typeface="Huawei Sans" panose="020C0503030203020204" pitchFamily="34" charset="0"/>
                          <a:ea typeface="方正兰亭黑简体" panose="02000000000000000000" pitchFamily="2" charset="-122"/>
                          <a:sym typeface="Huawei Sans" panose="020C0503030203020204" pitchFamily="34" charset="0"/>
                        </a:rPr>
                        <a:t>接口</a:t>
                      </a:r>
                      <a:r>
                        <a:rPr lang="en-US" sz="1600" kern="100">
                          <a:effectLst/>
                          <a:latin typeface="Huawei Sans" panose="020C0503030203020204" pitchFamily="34" charset="0"/>
                          <a:ea typeface="方正兰亭黑简体" panose="02000000000000000000" pitchFamily="2" charset="-122"/>
                          <a:sym typeface="Huawei Sans" panose="020C0503030203020204" pitchFamily="34" charset="0"/>
                        </a:rPr>
                        <a:t>ID=128.24</a:t>
                      </a:r>
                      <a:endParaRPr lang="zh-CN" sz="1600" b="0" kern="100">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17504">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a:t>
                      </a: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graphicFrame>
        <p:nvGraphicFramePr>
          <p:cNvPr id="32" name="表格 31"/>
          <p:cNvGraphicFramePr>
            <a:graphicFrameLocks noGrp="1"/>
          </p:cNvGraphicFramePr>
          <p:nvPr/>
        </p:nvGraphicFramePr>
        <p:xfrm>
          <a:off x="5987988" y="3546731"/>
          <a:ext cx="3269028" cy="2222528"/>
        </p:xfrm>
        <a:graphic>
          <a:graphicData uri="http://schemas.openxmlformats.org/drawingml/2006/table">
            <a:tbl>
              <a:tblPr firstRow="1" firstCol="1" lastRow="1" lastCol="1" bandRow="1" bandCol="1">
                <a:tableStyleId>{5940675A-B579-460E-94D1-54222C63F5DA}</a:tableStyleId>
              </a:tblPr>
              <a:tblGrid>
                <a:gridCol w="3269028">
                  <a:extLst>
                    <a:ext uri="{9D8B030D-6E8A-4147-A177-3AD203B41FA5}">
                      <a16:colId xmlns:a16="http://schemas.microsoft.com/office/drawing/2014/main" val="20000"/>
                    </a:ext>
                  </a:extLst>
                </a:gridCol>
              </a:tblGrid>
              <a:tr h="317504">
                <a:tc>
                  <a:txBody>
                    <a:bodyPr/>
                    <a:lstStyle/>
                    <a:p>
                      <a:pPr algn="ctr">
                        <a:lnSpc>
                          <a:spcPts val="1600"/>
                        </a:lnSpc>
                        <a:spcAft>
                          <a:spcPts val="0"/>
                        </a:spcAft>
                      </a:pPr>
                      <a:r>
                        <a:rPr lang="zh-CN" altLang="en-US" sz="1600" b="1"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b="1"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BPDU</a:t>
                      </a:r>
                      <a:endParaRPr lang="en-US" sz="1600" b="1"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317504">
                <a:tc>
                  <a:txBody>
                    <a:bodyPr/>
                    <a:lstStyle/>
                    <a:p>
                      <a:pPr algn="ctr">
                        <a:lnSpc>
                          <a:spcPts val="1600"/>
                        </a:lnSpc>
                        <a:spcAft>
                          <a:spcPts val="0"/>
                        </a:spcAft>
                      </a:pPr>
                      <a:r>
                        <a:rPr lang="en-US" alt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7504">
                <a:tc>
                  <a:txBody>
                    <a:bodyPr/>
                    <a:lstStyle/>
                    <a:p>
                      <a:pPr algn="ctr">
                        <a:lnSpc>
                          <a:spcPts val="1600"/>
                        </a:lnSpc>
                        <a:spcAft>
                          <a:spcPts val="0"/>
                        </a:spcAft>
                      </a:pPr>
                      <a:r>
                        <a:rPr lang="zh-CN" sz="1600" b="0" kern="100" dirty="0">
                          <a:effectLst/>
                          <a:latin typeface="Huawei Sans" panose="020C0503030203020204" pitchFamily="34" charset="0"/>
                          <a:ea typeface="方正兰亭黑简体" panose="02000000000000000000" pitchFamily="2" charset="-122"/>
                          <a:sym typeface="Huawei Sans" panose="020C0503030203020204" pitchFamily="34" charset="0"/>
                        </a:rPr>
                        <a:t>根</a:t>
                      </a:r>
                      <a:r>
                        <a:rPr lang="zh-CN" altLang="en-US" sz="1600" b="0" kern="100" dirty="0">
                          <a:effectLst/>
                          <a:latin typeface="Huawei Sans" panose="020C0503030203020204" pitchFamily="34" charset="0"/>
                          <a:ea typeface="方正兰亭黑简体" panose="02000000000000000000" pitchFamily="2" charset="-122"/>
                          <a:sym typeface="Huawei Sans" panose="020C0503030203020204" pitchFamily="34" charset="0"/>
                        </a:rPr>
                        <a:t>桥</a:t>
                      </a:r>
                      <a:r>
                        <a:rPr lang="en-US" sz="1600" b="0" kern="100" dirty="0">
                          <a:effectLst/>
                          <a:latin typeface="Huawei Sans" panose="020C0503030203020204" pitchFamily="34" charset="0"/>
                          <a:ea typeface="方正兰亭黑简体" panose="02000000000000000000" pitchFamily="2" charset="-122"/>
                          <a:sym typeface="Huawei Sans" panose="020C0503030203020204" pitchFamily="34" charset="0"/>
                        </a:rPr>
                        <a:t>ID=4096.4c1f-aabc-102a</a:t>
                      </a: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7504">
                <a:tc>
                  <a:txBody>
                    <a:bodyPr/>
                    <a:lstStyle/>
                    <a:p>
                      <a:pPr algn="ctr">
                        <a:lnSpc>
                          <a:spcPts val="1600"/>
                        </a:lnSpc>
                        <a:spcAft>
                          <a:spcPts val="0"/>
                        </a:spcAft>
                      </a:pPr>
                      <a:r>
                        <a:rPr lang="zh-CN" sz="1600" b="0" kern="100" dirty="0">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路径开销</a:t>
                      </a:r>
                      <a:r>
                        <a:rPr lang="en-US" altLang="zh-CN" sz="1600" b="0" kern="100" dirty="0">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=0+20000</a:t>
                      </a:r>
                      <a:endParaRPr lang="zh-CN" sz="1600" b="0" kern="100" dirty="0">
                        <a:solidFill>
                          <a:srgbClr val="EC706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17504">
                <a:tc>
                  <a:txBody>
                    <a:bodyPr/>
                    <a:lstStyle/>
                    <a:p>
                      <a:pPr algn="ctr">
                        <a:lnSpc>
                          <a:spcPts val="1600"/>
                        </a:lnSpc>
                        <a:spcAft>
                          <a:spcPts val="0"/>
                        </a:spcAft>
                      </a:pPr>
                      <a:r>
                        <a:rPr lang="zh-CN" sz="1600" b="0" kern="100" dirty="0">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桥</a:t>
                      </a:r>
                      <a:r>
                        <a:rPr lang="en-US" sz="1600" b="0" kern="100" dirty="0">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ID=</a:t>
                      </a:r>
                      <a:r>
                        <a:rPr lang="en-US" altLang="zh-CN" sz="1600" b="0" kern="100" dirty="0">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4096.4c1f-aabc-102b</a:t>
                      </a:r>
                      <a:endParaRPr lang="zh-CN" sz="1600" b="0" kern="100" dirty="0">
                        <a:solidFill>
                          <a:srgbClr val="EC706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7504">
                <a:tc>
                  <a:txBody>
                    <a:bodyPr/>
                    <a:lstStyle/>
                    <a:p>
                      <a:pPr algn="ctr">
                        <a:lnSpc>
                          <a:spcPts val="1600"/>
                        </a:lnSpc>
                        <a:spcAft>
                          <a:spcPts val="0"/>
                        </a:spcAft>
                      </a:pPr>
                      <a:r>
                        <a:rPr lang="zh-CN" altLang="en-US" sz="1600" b="0" kern="100" dirty="0">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接口</a:t>
                      </a:r>
                      <a:r>
                        <a:rPr lang="en-US" sz="1600" b="0" kern="100" dirty="0">
                          <a:solidFill>
                            <a:srgbClr val="EC7061"/>
                          </a:solidFill>
                          <a:effectLst/>
                          <a:latin typeface="Huawei Sans" panose="020C0503030203020204" pitchFamily="34" charset="0"/>
                          <a:ea typeface="方正兰亭黑简体" panose="02000000000000000000" pitchFamily="2" charset="-122"/>
                          <a:sym typeface="Huawei Sans" panose="020C0503030203020204" pitchFamily="34" charset="0"/>
                        </a:rPr>
                        <a:t>ID=128.23</a:t>
                      </a:r>
                      <a:endParaRPr lang="zh-CN" sz="1600" b="0" kern="100" dirty="0">
                        <a:solidFill>
                          <a:srgbClr val="EC7061"/>
                        </a:solidFill>
                        <a:effectLst/>
                        <a:latin typeface="Huawei Sans" panose="020C0503030203020204" pitchFamily="34" charset="0"/>
                        <a:ea typeface="方正兰亭黑简体" panose="02000000000000000000" pitchFamily="2" charset="-122"/>
                        <a:cs typeface="Times New Roman" panose="02020603050405020304"/>
                        <a:sym typeface="Huawei Sans" panose="020C0503030203020204" pitchFamily="34" charset="0"/>
                      </a:endParaRP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17504">
                <a:tc>
                  <a:txBody>
                    <a:bodyPr/>
                    <a:lstStyle/>
                    <a:p>
                      <a:pPr marL="0" marR="0" lvl="0" indent="0" algn="ctr" defTabSz="914400" rtl="0" eaLnBrk="1" fontAlgn="auto" latinLnBrk="0" hangingPunct="1">
                        <a:lnSpc>
                          <a:spcPts val="1600"/>
                        </a:lnSpc>
                        <a:spcBef>
                          <a:spcPts val="0"/>
                        </a:spcBef>
                        <a:spcAft>
                          <a:spcPts val="0"/>
                        </a:spcAft>
                        <a:buClrTx/>
                        <a:buSzTx/>
                        <a:buFontTx/>
                        <a:buNone/>
                        <a:defRPr/>
                      </a:pPr>
                      <a:r>
                        <a:rPr lang="en-US" alt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a:t>
                      </a:r>
                    </a:p>
                  </a:txBody>
                  <a:tcPr marL="43127" marR="43127" marT="0" marB="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4" name="五边形 23"/>
          <p:cNvSpPr/>
          <p:nvPr/>
        </p:nvSpPr>
        <p:spPr bwMode="auto">
          <a:xfrm>
            <a:off x="7211868" y="152815"/>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桥</a:t>
            </a: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auto">
          <a:xfrm>
            <a:off x="7920187"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根桥</a:t>
            </a:r>
          </a:p>
        </p:txBody>
      </p:sp>
      <p:sp>
        <p:nvSpPr>
          <p:cNvPr id="26" name="燕尾形 25"/>
          <p:cNvSpPr/>
          <p:nvPr/>
        </p:nvSpPr>
        <p:spPr bwMode="auto">
          <a:xfrm>
            <a:off x="8628506"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Cost</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auto">
          <a:xfrm>
            <a:off x="9336825"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RPC</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9"/>
          <p:cNvSpPr/>
          <p:nvPr/>
        </p:nvSpPr>
        <p:spPr bwMode="auto">
          <a:xfrm>
            <a:off x="10045144" y="152815"/>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Port ID</a:t>
            </a:r>
            <a:endParaRPr lang="zh-CN" altLang="en-US"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燕尾形 30"/>
          <p:cNvSpPr/>
          <p:nvPr/>
        </p:nvSpPr>
        <p:spPr bwMode="auto">
          <a:xfrm>
            <a:off x="10753463" y="152815"/>
            <a:ext cx="7812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BPDU</a:t>
            </a:r>
            <a:endPar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的计算过程 </a:t>
            </a:r>
            <a:r>
              <a:rPr lang="en-US" altLang="zh-CN">
                <a:sym typeface="Huawei Sans" panose="020C0503030203020204" pitchFamily="34" charset="0"/>
              </a:rPr>
              <a:t>(1)</a:t>
            </a:r>
            <a:endParaRPr lang="zh-CN" altLang="en-US" dirty="0">
              <a:sym typeface="Huawei Sans" panose="020C0503030203020204" pitchFamily="34" charset="0"/>
            </a:endParaRPr>
          </a:p>
        </p:txBody>
      </p:sp>
      <p:sp>
        <p:nvSpPr>
          <p:cNvPr id="17" name="圆角矩形 16"/>
          <p:cNvSpPr/>
          <p:nvPr/>
        </p:nvSpPr>
        <p:spPr>
          <a:xfrm>
            <a:off x="5879976" y="1827338"/>
            <a:ext cx="5688632" cy="40067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在交换网络中选举一个根桥</a:t>
            </a:r>
          </a:p>
        </p:txBody>
      </p:sp>
      <p:sp>
        <p:nvSpPr>
          <p:cNvPr id="18" name="圆角矩形 17"/>
          <p:cNvSpPr/>
          <p:nvPr/>
        </p:nvSpPr>
        <p:spPr>
          <a:xfrm>
            <a:off x="5879976" y="2276872"/>
            <a:ext cx="5688632" cy="2807965"/>
          </a:xfrm>
          <a:prstGeom prst="roundRect">
            <a:avLst>
              <a:gd name="adj" fmla="val 184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77800" indent="-177800" algn="just" fontAlgn="auto">
              <a:lnSpc>
                <a:spcPts val="2600"/>
              </a:lnSpc>
              <a:spcBef>
                <a:spcPts val="0"/>
              </a:spcBef>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在交换网络中开始工作后，每个交换机都会向网络中发送配置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中包含交换机自己的桥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网络中拥有最小桥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的交换机成为根桥。</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在一个连续的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交换网络中只会存在一个根桥。</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根桥的角色是可抢占的。</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为了确保交换网络的稳定，建议提前规划</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组网，并将规划为根桥的交换机的桥优先级设置为最小值</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p:txBody>
      </p:sp>
      <p:cxnSp>
        <p:nvCxnSpPr>
          <p:cNvPr id="37" name="直接箭头连接符 36"/>
          <p:cNvCxnSpPr/>
          <p:nvPr/>
        </p:nvCxnSpPr>
        <p:spPr>
          <a:xfrm>
            <a:off x="1589686" y="3018755"/>
            <a:ext cx="398154" cy="62626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flipH="1" flipV="1">
            <a:off x="2402693" y="3517246"/>
            <a:ext cx="386048" cy="607983"/>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flipV="1">
            <a:off x="3176379" y="3470724"/>
            <a:ext cx="430000" cy="654506"/>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1928248" y="2392805"/>
            <a:ext cx="861042"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flipH="1">
            <a:off x="3081651" y="2785290"/>
            <a:ext cx="855385"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2" name="椭圆 41"/>
          <p:cNvSpPr>
            <a:spLocks noChangeAspect="1"/>
          </p:cNvSpPr>
          <p:nvPr/>
        </p:nvSpPr>
        <p:spPr>
          <a:xfrm>
            <a:off x="3114364" y="3985353"/>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椭圆 42"/>
          <p:cNvSpPr>
            <a:spLocks noChangeAspect="1"/>
          </p:cNvSpPr>
          <p:nvPr/>
        </p:nvSpPr>
        <p:spPr>
          <a:xfrm>
            <a:off x="1838393" y="2276872"/>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椭圆 43"/>
          <p:cNvSpPr>
            <a:spLocks noChangeAspect="1"/>
          </p:cNvSpPr>
          <p:nvPr/>
        </p:nvSpPr>
        <p:spPr>
          <a:xfrm>
            <a:off x="3780563" y="2705151"/>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5" name="直接箭头连接符 44"/>
          <p:cNvCxnSpPr/>
          <p:nvPr/>
        </p:nvCxnSpPr>
        <p:spPr>
          <a:xfrm flipH="1">
            <a:off x="3977267" y="3031124"/>
            <a:ext cx="414670" cy="68643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6" name="椭圆 45"/>
          <p:cNvSpPr>
            <a:spLocks noChangeAspect="1"/>
          </p:cNvSpPr>
          <p:nvPr/>
        </p:nvSpPr>
        <p:spPr>
          <a:xfrm>
            <a:off x="4249702" y="2996985"/>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椭圆 46"/>
          <p:cNvSpPr>
            <a:spLocks noChangeAspect="1"/>
          </p:cNvSpPr>
          <p:nvPr/>
        </p:nvSpPr>
        <p:spPr>
          <a:xfrm>
            <a:off x="1475689" y="2925266"/>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椭圆 47"/>
          <p:cNvSpPr>
            <a:spLocks noChangeAspect="1"/>
          </p:cNvSpPr>
          <p:nvPr/>
        </p:nvSpPr>
        <p:spPr>
          <a:xfrm>
            <a:off x="714775" y="5199168"/>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椭圆 48"/>
          <p:cNvSpPr>
            <a:spLocks noChangeAspect="1"/>
          </p:cNvSpPr>
          <p:nvPr/>
        </p:nvSpPr>
        <p:spPr>
          <a:xfrm>
            <a:off x="2665542" y="3985102"/>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a:xfrm>
            <a:off x="923104" y="5146394"/>
            <a:ext cx="1527860" cy="338554"/>
          </a:xfrm>
          <a:prstGeom prst="rect">
            <a:avLst/>
          </a:prstGeom>
          <a:noFill/>
        </p:spPr>
        <p:txBody>
          <a:bodyPr wrap="square" rtlCol="0">
            <a:spAutoFit/>
          </a:bodyPr>
          <a:lstStyle/>
          <a:p>
            <a:pPr fontAlgn="auto">
              <a:spcBef>
                <a:spcPts val="0"/>
              </a:spcBef>
              <a:spcAft>
                <a:spcPts val="0"/>
              </a:spcAft>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BPDU</a:t>
            </a:r>
          </a:p>
        </p:txBody>
      </p:sp>
      <p:sp>
        <p:nvSpPr>
          <p:cNvPr id="51" name="文本框 50"/>
          <p:cNvSpPr txBox="1"/>
          <p:nvPr/>
        </p:nvSpPr>
        <p:spPr>
          <a:xfrm>
            <a:off x="657337" y="2464370"/>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a:xfrm>
            <a:off x="4727103" y="2464370"/>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3" name="组合 52"/>
          <p:cNvGrpSpPr/>
          <p:nvPr/>
        </p:nvGrpSpPr>
        <p:grpSpPr>
          <a:xfrm flipV="1">
            <a:off x="1609745" y="2673501"/>
            <a:ext cx="2745630" cy="2115270"/>
            <a:chOff x="6600056" y="4353447"/>
            <a:chExt cx="1296144" cy="833967"/>
          </a:xfrm>
        </p:grpSpPr>
        <p:cxnSp>
          <p:nvCxnSpPr>
            <p:cNvPr id="54" name="直接连接符 53"/>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6" name="直接连接符 55"/>
          <p:cNvCxnSpPr/>
          <p:nvPr/>
        </p:nvCxnSpPr>
        <p:spPr>
          <a:xfrm flipH="1">
            <a:off x="1475689" y="2612815"/>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7" name="图片 76" descr="接入交换机.png"/>
          <p:cNvPicPr>
            <a:picLocks noChangeAspect="1"/>
          </p:cNvPicPr>
          <p:nvPr/>
        </p:nvPicPr>
        <p:blipFill>
          <a:blip r:embed="rId3" cstate="print"/>
          <a:stretch>
            <a:fillRect/>
          </a:stretch>
        </p:blipFill>
        <p:spPr>
          <a:xfrm>
            <a:off x="4231790" y="2427271"/>
            <a:ext cx="490909" cy="401653"/>
          </a:xfrm>
          <a:prstGeom prst="rect">
            <a:avLst/>
          </a:prstGeom>
        </p:spPr>
      </p:pic>
      <p:pic>
        <p:nvPicPr>
          <p:cNvPr id="58" name="图片 76" descr="接入交换机.png"/>
          <p:cNvPicPr>
            <a:picLocks noChangeAspect="1"/>
          </p:cNvPicPr>
          <p:nvPr/>
        </p:nvPicPr>
        <p:blipFill>
          <a:blip r:embed="rId3" cstate="print"/>
          <a:stretch>
            <a:fillRect/>
          </a:stretch>
        </p:blipFill>
        <p:spPr>
          <a:xfrm>
            <a:off x="2737106" y="4439034"/>
            <a:ext cx="490909" cy="401653"/>
          </a:xfrm>
          <a:prstGeom prst="rect">
            <a:avLst/>
          </a:prstGeom>
        </p:spPr>
      </p:pic>
      <p:sp>
        <p:nvSpPr>
          <p:cNvPr id="59" name="文本框 58"/>
          <p:cNvSpPr txBox="1"/>
          <p:nvPr/>
        </p:nvSpPr>
        <p:spPr>
          <a:xfrm>
            <a:off x="2695462" y="4858004"/>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p:cNvSpPr txBox="1"/>
          <p:nvPr/>
        </p:nvSpPr>
        <p:spPr>
          <a:xfrm>
            <a:off x="449478" y="1901311"/>
            <a:ext cx="2222083"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4096.4c1f-aabc-102a</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a:xfrm>
            <a:off x="3324160" y="1901311"/>
            <a:ext cx="2228495" cy="338554"/>
          </a:xfrm>
          <a:prstGeom prst="rect">
            <a:avLst/>
          </a:prstGeom>
          <a:noFill/>
        </p:spPr>
        <p:txBody>
          <a:bodyPr wrap="none" rtlCol="0">
            <a:spAutoFit/>
          </a:bodyPr>
          <a:lstStyle/>
          <a:p>
            <a:pPr fontAlgn="auto">
              <a:spcBef>
                <a:spcPts val="0"/>
              </a:spcBef>
              <a:spcAft>
                <a:spcPts val="0"/>
              </a:spcAft>
            </a:pPr>
            <a:r>
              <a:rPr lang="en-US" altLang="zh-CN" sz="1600" b="1">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4096.4c1f-aabc-102b</a:t>
            </a:r>
            <a:endParaRPr lang="zh-CN" altLang="en-US" sz="1600" b="1">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p:cNvSpPr txBox="1"/>
          <p:nvPr/>
        </p:nvSpPr>
        <p:spPr>
          <a:xfrm>
            <a:off x="3250843" y="4481867"/>
            <a:ext cx="2201244"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4096.4c1f-aabc-102c</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五边形 63"/>
          <p:cNvSpPr/>
          <p:nvPr/>
        </p:nvSpPr>
        <p:spPr bwMode="auto">
          <a:xfrm>
            <a:off x="7032105" y="152815"/>
            <a:ext cx="900100" cy="213120"/>
          </a:xfrm>
          <a:prstGeom prst="homePlate">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选举根桥</a:t>
            </a:r>
          </a:p>
        </p:txBody>
      </p:sp>
      <p:sp>
        <p:nvSpPr>
          <p:cNvPr id="65" name="燕尾形 64"/>
          <p:cNvSpPr/>
          <p:nvPr/>
        </p:nvSpPr>
        <p:spPr bwMode="auto">
          <a:xfrm>
            <a:off x="7848195" y="152815"/>
            <a:ext cx="126014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选举根接口</a:t>
            </a:r>
          </a:p>
        </p:txBody>
      </p:sp>
      <p:sp>
        <p:nvSpPr>
          <p:cNvPr id="66" name="燕尾形 65"/>
          <p:cNvSpPr/>
          <p:nvPr/>
        </p:nvSpPr>
        <p:spPr bwMode="auto">
          <a:xfrm>
            <a:off x="9024325" y="152815"/>
            <a:ext cx="122413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选举指定接口</a:t>
            </a:r>
          </a:p>
        </p:txBody>
      </p:sp>
      <p:sp>
        <p:nvSpPr>
          <p:cNvPr id="67" name="燕尾形 66"/>
          <p:cNvSpPr/>
          <p:nvPr/>
        </p:nvSpPr>
        <p:spPr bwMode="auto">
          <a:xfrm>
            <a:off x="10164452" y="152815"/>
            <a:ext cx="14041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阻塞非指定接口</a:t>
            </a:r>
          </a:p>
        </p:txBody>
      </p:sp>
      <p:sp>
        <p:nvSpPr>
          <p:cNvPr id="70" name="文本框 69"/>
          <p:cNvSpPr txBox="1"/>
          <p:nvPr/>
        </p:nvSpPr>
        <p:spPr>
          <a:xfrm>
            <a:off x="791983" y="2878541"/>
            <a:ext cx="543739" cy="307777"/>
          </a:xfrm>
          <a:prstGeom prst="rect">
            <a:avLst/>
          </a:prstGeom>
          <a:noFill/>
        </p:spPr>
        <p:txBody>
          <a:bodyPr wrap="none" rtlCol="0">
            <a:spAutoFit/>
          </a:bodyPr>
          <a:lstStyle/>
          <a:p>
            <a:pPr algn="ctr" fontAlgn="auto">
              <a:spcBef>
                <a:spcPts val="0"/>
              </a:spcBef>
              <a:spcAft>
                <a:spcPts val="0"/>
              </a:spcAft>
            </a:pPr>
            <a:r>
              <a:rPr lang="zh-CN" altLang="en-US" sz="1400" b="1">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根桥</a:t>
            </a:r>
          </a:p>
        </p:txBody>
      </p:sp>
      <p:pic>
        <p:nvPicPr>
          <p:cNvPr id="71" name="图片 97" descr="接入交换机.png"/>
          <p:cNvPicPr>
            <a:picLocks noChangeAspect="1"/>
          </p:cNvPicPr>
          <p:nvPr/>
        </p:nvPicPr>
        <p:blipFill>
          <a:blip r:embed="rId4" cstate="print"/>
          <a:stretch>
            <a:fillRect/>
          </a:stretch>
        </p:blipFill>
        <p:spPr>
          <a:xfrm>
            <a:off x="1239463" y="2423070"/>
            <a:ext cx="493868" cy="40407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的计算过程 </a:t>
            </a:r>
            <a:r>
              <a:rPr lang="en-US" altLang="zh-CN">
                <a:sym typeface="Huawei Sans" panose="020C0503030203020204" pitchFamily="34" charset="0"/>
              </a:rPr>
              <a:t>(2)</a:t>
            </a:r>
            <a:endParaRPr lang="zh-CN" altLang="en-US" dirty="0">
              <a:sym typeface="Huawei Sans" panose="020C0503030203020204" pitchFamily="34" charset="0"/>
            </a:endParaRPr>
          </a:p>
        </p:txBody>
      </p:sp>
      <p:sp>
        <p:nvSpPr>
          <p:cNvPr id="17" name="圆角矩形 16"/>
          <p:cNvSpPr/>
          <p:nvPr/>
        </p:nvSpPr>
        <p:spPr>
          <a:xfrm>
            <a:off x="5879976" y="2062322"/>
            <a:ext cx="5688632" cy="40067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在每台非根桥上选举一个根接口</a:t>
            </a:r>
          </a:p>
        </p:txBody>
      </p:sp>
      <p:sp>
        <p:nvSpPr>
          <p:cNvPr id="18" name="圆角矩形 17"/>
          <p:cNvSpPr/>
          <p:nvPr/>
        </p:nvSpPr>
        <p:spPr>
          <a:xfrm>
            <a:off x="5879976" y="2511857"/>
            <a:ext cx="5688632" cy="2448272"/>
          </a:xfrm>
          <a:prstGeom prst="roundRect">
            <a:avLst>
              <a:gd name="adj" fmla="val 184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每一台非根桥交换机都会在自己的接口中选举出一个接口。</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非根桥交换机上有且只会有一个根接口。</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当非根桥交换机有多个接口接入网络中时，根接口是其收到最优配置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的接口。</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可以形象地理解为，根接口是每台非根桥上“朝向”根桥的接口。</a:t>
            </a:r>
          </a:p>
        </p:txBody>
      </p:sp>
      <p:sp>
        <p:nvSpPr>
          <p:cNvPr id="34" name="五边形 33"/>
          <p:cNvSpPr/>
          <p:nvPr/>
        </p:nvSpPr>
        <p:spPr bwMode="auto">
          <a:xfrm>
            <a:off x="7032105" y="152815"/>
            <a:ext cx="9001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选举根桥</a:t>
            </a:r>
          </a:p>
        </p:txBody>
      </p:sp>
      <p:sp>
        <p:nvSpPr>
          <p:cNvPr id="36" name="燕尾形 35"/>
          <p:cNvSpPr/>
          <p:nvPr/>
        </p:nvSpPr>
        <p:spPr bwMode="auto">
          <a:xfrm>
            <a:off x="7848195" y="152815"/>
            <a:ext cx="126014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选举根接口</a:t>
            </a:r>
          </a:p>
        </p:txBody>
      </p:sp>
      <p:sp>
        <p:nvSpPr>
          <p:cNvPr id="41" name="燕尾形 40"/>
          <p:cNvSpPr/>
          <p:nvPr/>
        </p:nvSpPr>
        <p:spPr bwMode="auto">
          <a:xfrm>
            <a:off x="9024325" y="152815"/>
            <a:ext cx="122413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选举指定接口</a:t>
            </a:r>
          </a:p>
        </p:txBody>
      </p:sp>
      <p:sp>
        <p:nvSpPr>
          <p:cNvPr id="42" name="燕尾形 41"/>
          <p:cNvSpPr/>
          <p:nvPr/>
        </p:nvSpPr>
        <p:spPr bwMode="auto">
          <a:xfrm>
            <a:off x="10164452" y="152815"/>
            <a:ext cx="14041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阻塞非指定接口</a:t>
            </a:r>
          </a:p>
        </p:txBody>
      </p:sp>
      <p:cxnSp>
        <p:nvCxnSpPr>
          <p:cNvPr id="70" name="直接箭头连接符 69"/>
          <p:cNvCxnSpPr/>
          <p:nvPr/>
        </p:nvCxnSpPr>
        <p:spPr>
          <a:xfrm>
            <a:off x="1589686" y="3018755"/>
            <a:ext cx="398154" cy="62626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p:nvPr/>
        </p:nvCxnSpPr>
        <p:spPr>
          <a:xfrm>
            <a:off x="1928248" y="2392805"/>
            <a:ext cx="861042"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76" name="椭圆 75"/>
          <p:cNvSpPr>
            <a:spLocks noChangeAspect="1"/>
          </p:cNvSpPr>
          <p:nvPr/>
        </p:nvSpPr>
        <p:spPr>
          <a:xfrm>
            <a:off x="1838393" y="2276872"/>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8" name="直接箭头连接符 77"/>
          <p:cNvCxnSpPr/>
          <p:nvPr/>
        </p:nvCxnSpPr>
        <p:spPr>
          <a:xfrm flipH="1">
            <a:off x="3977267" y="3031124"/>
            <a:ext cx="414670" cy="68643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79" name="椭圆 78"/>
          <p:cNvSpPr>
            <a:spLocks noChangeAspect="1"/>
          </p:cNvSpPr>
          <p:nvPr/>
        </p:nvSpPr>
        <p:spPr>
          <a:xfrm>
            <a:off x="4249702" y="2996985"/>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椭圆 79"/>
          <p:cNvSpPr>
            <a:spLocks noChangeAspect="1"/>
          </p:cNvSpPr>
          <p:nvPr/>
        </p:nvSpPr>
        <p:spPr>
          <a:xfrm>
            <a:off x="1475689" y="2925266"/>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文本框 83"/>
          <p:cNvSpPr txBox="1"/>
          <p:nvPr/>
        </p:nvSpPr>
        <p:spPr>
          <a:xfrm>
            <a:off x="657337" y="2464370"/>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文本框 84"/>
          <p:cNvSpPr txBox="1"/>
          <p:nvPr/>
        </p:nvSpPr>
        <p:spPr>
          <a:xfrm>
            <a:off x="4727103" y="2464370"/>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6" name="组合 85"/>
          <p:cNvGrpSpPr/>
          <p:nvPr/>
        </p:nvGrpSpPr>
        <p:grpSpPr>
          <a:xfrm flipV="1">
            <a:off x="1609745" y="2673501"/>
            <a:ext cx="2745630" cy="2115270"/>
            <a:chOff x="6600056" y="4353447"/>
            <a:chExt cx="1296144" cy="833967"/>
          </a:xfrm>
        </p:grpSpPr>
        <p:cxnSp>
          <p:nvCxnSpPr>
            <p:cNvPr id="87" name="直接连接符 86"/>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9" name="直接连接符 88"/>
          <p:cNvCxnSpPr/>
          <p:nvPr/>
        </p:nvCxnSpPr>
        <p:spPr>
          <a:xfrm flipH="1">
            <a:off x="1475689" y="2612815"/>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90" name="图片 76" descr="接入交换机.png"/>
          <p:cNvPicPr>
            <a:picLocks noChangeAspect="1"/>
          </p:cNvPicPr>
          <p:nvPr/>
        </p:nvPicPr>
        <p:blipFill>
          <a:blip r:embed="rId3" cstate="print"/>
          <a:stretch>
            <a:fillRect/>
          </a:stretch>
        </p:blipFill>
        <p:spPr>
          <a:xfrm>
            <a:off x="4231790" y="2427271"/>
            <a:ext cx="490909" cy="401653"/>
          </a:xfrm>
          <a:prstGeom prst="rect">
            <a:avLst/>
          </a:prstGeom>
        </p:spPr>
      </p:pic>
      <p:pic>
        <p:nvPicPr>
          <p:cNvPr id="91" name="图片 76" descr="接入交换机.png"/>
          <p:cNvPicPr>
            <a:picLocks noChangeAspect="1"/>
          </p:cNvPicPr>
          <p:nvPr/>
        </p:nvPicPr>
        <p:blipFill>
          <a:blip r:embed="rId3" cstate="print"/>
          <a:stretch>
            <a:fillRect/>
          </a:stretch>
        </p:blipFill>
        <p:spPr>
          <a:xfrm>
            <a:off x="2737106" y="4439034"/>
            <a:ext cx="490909" cy="401653"/>
          </a:xfrm>
          <a:prstGeom prst="rect">
            <a:avLst/>
          </a:prstGeom>
        </p:spPr>
      </p:pic>
      <p:sp>
        <p:nvSpPr>
          <p:cNvPr id="92" name="文本框 91"/>
          <p:cNvSpPr txBox="1"/>
          <p:nvPr/>
        </p:nvSpPr>
        <p:spPr>
          <a:xfrm>
            <a:off x="2695462" y="4858004"/>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3" name="图片 76" descr="接入交换机.png"/>
          <p:cNvPicPr>
            <a:picLocks noChangeAspect="1"/>
          </p:cNvPicPr>
          <p:nvPr/>
        </p:nvPicPr>
        <p:blipFill>
          <a:blip r:embed="rId3" cstate="print"/>
          <a:stretch>
            <a:fillRect/>
          </a:stretch>
        </p:blipFill>
        <p:spPr>
          <a:xfrm>
            <a:off x="1242083" y="2423070"/>
            <a:ext cx="490909" cy="401653"/>
          </a:xfrm>
          <a:prstGeom prst="rect">
            <a:avLst/>
          </a:prstGeom>
        </p:spPr>
      </p:pic>
      <p:sp>
        <p:nvSpPr>
          <p:cNvPr id="94" name="文本框 93"/>
          <p:cNvSpPr txBox="1"/>
          <p:nvPr/>
        </p:nvSpPr>
        <p:spPr>
          <a:xfrm>
            <a:off x="449478" y="1901311"/>
            <a:ext cx="2222083"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4096.4c1f-aabc-102a</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文本框 94"/>
          <p:cNvSpPr txBox="1"/>
          <p:nvPr/>
        </p:nvSpPr>
        <p:spPr>
          <a:xfrm>
            <a:off x="3324160" y="1901311"/>
            <a:ext cx="2228495"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4096.4c1f-aabc-102b</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文本框 95"/>
          <p:cNvSpPr txBox="1"/>
          <p:nvPr/>
        </p:nvSpPr>
        <p:spPr>
          <a:xfrm>
            <a:off x="3250843" y="4481867"/>
            <a:ext cx="2201244"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4096.4c1f-aabc-102c</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椭圆 106"/>
          <p:cNvSpPr>
            <a:spLocks noChangeAspect="1"/>
          </p:cNvSpPr>
          <p:nvPr/>
        </p:nvSpPr>
        <p:spPr>
          <a:xfrm>
            <a:off x="1121347" y="5568751"/>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文本框 107"/>
          <p:cNvSpPr txBox="1"/>
          <p:nvPr/>
        </p:nvSpPr>
        <p:spPr>
          <a:xfrm>
            <a:off x="1329676" y="5520535"/>
            <a:ext cx="1125714"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BPDU</a:t>
            </a:r>
          </a:p>
        </p:txBody>
      </p:sp>
      <p:sp>
        <p:nvSpPr>
          <p:cNvPr id="110" name="文本框 109"/>
          <p:cNvSpPr txBox="1"/>
          <p:nvPr/>
        </p:nvSpPr>
        <p:spPr>
          <a:xfrm>
            <a:off x="2852317" y="5520535"/>
            <a:ext cx="792656"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根接口</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椭圆 34"/>
          <p:cNvSpPr>
            <a:spLocks noChangeAspect="1"/>
          </p:cNvSpPr>
          <p:nvPr/>
        </p:nvSpPr>
        <p:spPr>
          <a:xfrm>
            <a:off x="2633675" y="5559418"/>
            <a:ext cx="230010" cy="23001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椭圆 36"/>
          <p:cNvSpPr>
            <a:spLocks noChangeAspect="1"/>
          </p:cNvSpPr>
          <p:nvPr/>
        </p:nvSpPr>
        <p:spPr>
          <a:xfrm>
            <a:off x="2644435" y="4351001"/>
            <a:ext cx="230010" cy="23001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椭圆 37"/>
          <p:cNvSpPr>
            <a:spLocks noChangeAspect="1"/>
          </p:cNvSpPr>
          <p:nvPr/>
        </p:nvSpPr>
        <p:spPr>
          <a:xfrm>
            <a:off x="4156874" y="2494508"/>
            <a:ext cx="230010" cy="23001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的计算过程 </a:t>
            </a:r>
            <a:r>
              <a:rPr lang="en-US" altLang="zh-CN">
                <a:sym typeface="Huawei Sans" panose="020C0503030203020204" pitchFamily="34" charset="0"/>
              </a:rPr>
              <a:t>(3)</a:t>
            </a:r>
            <a:endParaRPr lang="zh-CN" altLang="en-US" dirty="0">
              <a:sym typeface="Huawei Sans" panose="020C0503030203020204" pitchFamily="34" charset="0"/>
            </a:endParaRPr>
          </a:p>
        </p:txBody>
      </p:sp>
      <p:sp>
        <p:nvSpPr>
          <p:cNvPr id="17" name="圆角矩形 16"/>
          <p:cNvSpPr/>
          <p:nvPr/>
        </p:nvSpPr>
        <p:spPr>
          <a:xfrm>
            <a:off x="5879976" y="2043361"/>
            <a:ext cx="5688632" cy="40067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在每条链路上选举</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一个指定接口</a:t>
            </a:r>
          </a:p>
        </p:txBody>
      </p:sp>
      <p:sp>
        <p:nvSpPr>
          <p:cNvPr id="18" name="圆角矩形 17"/>
          <p:cNvSpPr/>
          <p:nvPr/>
        </p:nvSpPr>
        <p:spPr>
          <a:xfrm>
            <a:off x="5879976" y="2492896"/>
            <a:ext cx="5688632" cy="2412268"/>
          </a:xfrm>
          <a:prstGeom prst="roundRect">
            <a:avLst>
              <a:gd name="adj" fmla="val 184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根接口选举出来后，非根桥会使用其在该接口上收到的最优</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进行计算，然后将计算得到的配置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与除了根接口之外的其他所有接口所收到的配置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进行比较：</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635000" lvl="1"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如果前者更优，则该接口为指定接口；</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635000" lvl="1"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如果后者更优，则该接口为非指定接口。</a:t>
            </a:r>
          </a:p>
          <a:p>
            <a:pPr marL="177800" indent="-177800" algn="just" fontAlgn="auto">
              <a:lnSpc>
                <a:spcPts val="2600"/>
              </a:lnSpc>
              <a:spcBef>
                <a:spcPts val="0"/>
              </a:spcBef>
              <a:spcAft>
                <a:spcPts val="600"/>
              </a:spcAft>
              <a:buFont typeface="Arial" panose="020B0604020202020204" pitchFamily="34" charset="0"/>
              <a:buChar char="•"/>
            </a:pPr>
            <a:r>
              <a:rPr lang="zh-CN" altLang="en-US"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一般情况下，根</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桥的所有接口都是指定接口。</a:t>
            </a:r>
          </a:p>
        </p:txBody>
      </p:sp>
      <p:sp>
        <p:nvSpPr>
          <p:cNvPr id="33" name="椭圆 32"/>
          <p:cNvSpPr>
            <a:spLocks noChangeAspect="1"/>
          </p:cNvSpPr>
          <p:nvPr/>
        </p:nvSpPr>
        <p:spPr>
          <a:xfrm>
            <a:off x="1121347" y="5568751"/>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a:xfrm>
            <a:off x="1329676" y="5520535"/>
            <a:ext cx="1125714"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BPDU</a:t>
            </a:r>
          </a:p>
        </p:txBody>
      </p:sp>
      <p:sp>
        <p:nvSpPr>
          <p:cNvPr id="36" name="文本框 35"/>
          <p:cNvSpPr txBox="1"/>
          <p:nvPr/>
        </p:nvSpPr>
        <p:spPr>
          <a:xfrm>
            <a:off x="2852317" y="5520535"/>
            <a:ext cx="792656"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根接口</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椭圆 38"/>
          <p:cNvSpPr>
            <a:spLocks noChangeAspect="1"/>
          </p:cNvSpPr>
          <p:nvPr/>
        </p:nvSpPr>
        <p:spPr>
          <a:xfrm>
            <a:off x="3849784" y="5558183"/>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a:xfrm>
            <a:off x="4032703" y="5520535"/>
            <a:ext cx="913456" cy="307777"/>
          </a:xfrm>
          <a:prstGeom prst="rect">
            <a:avLst/>
          </a:prstGeom>
          <a:noFill/>
        </p:spPr>
        <p:txBody>
          <a:bodyPr wrap="square" rtlCol="0">
            <a:spAutoFit/>
          </a:bodyPr>
          <a:lstStyle/>
          <a:p>
            <a:pPr fontAlgn="auto">
              <a:spcBef>
                <a:spcPts val="0"/>
              </a:spcBef>
              <a:spcAft>
                <a:spcPts val="0"/>
              </a:spcAft>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指定接口</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五边形 41"/>
          <p:cNvSpPr/>
          <p:nvPr/>
        </p:nvSpPr>
        <p:spPr bwMode="auto">
          <a:xfrm>
            <a:off x="7032105" y="152815"/>
            <a:ext cx="9001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选举根桥</a:t>
            </a:r>
          </a:p>
        </p:txBody>
      </p:sp>
      <p:sp>
        <p:nvSpPr>
          <p:cNvPr id="47" name="燕尾形 46"/>
          <p:cNvSpPr/>
          <p:nvPr/>
        </p:nvSpPr>
        <p:spPr bwMode="auto">
          <a:xfrm>
            <a:off x="7848195" y="152815"/>
            <a:ext cx="126014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选举根接口</a:t>
            </a:r>
          </a:p>
        </p:txBody>
      </p:sp>
      <p:sp>
        <p:nvSpPr>
          <p:cNvPr id="48" name="燕尾形 47"/>
          <p:cNvSpPr/>
          <p:nvPr/>
        </p:nvSpPr>
        <p:spPr bwMode="auto">
          <a:xfrm>
            <a:off x="9024325" y="152815"/>
            <a:ext cx="1224136"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选举指定接口</a:t>
            </a:r>
          </a:p>
        </p:txBody>
      </p:sp>
      <p:sp>
        <p:nvSpPr>
          <p:cNvPr id="49" name="燕尾形 48"/>
          <p:cNvSpPr/>
          <p:nvPr/>
        </p:nvSpPr>
        <p:spPr bwMode="auto">
          <a:xfrm>
            <a:off x="10164452" y="152815"/>
            <a:ext cx="140415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阻塞非指定接口</a:t>
            </a:r>
          </a:p>
        </p:txBody>
      </p:sp>
      <p:cxnSp>
        <p:nvCxnSpPr>
          <p:cNvPr id="50" name="直接箭头连接符 49"/>
          <p:cNvCxnSpPr/>
          <p:nvPr/>
        </p:nvCxnSpPr>
        <p:spPr>
          <a:xfrm>
            <a:off x="1589686" y="3112077"/>
            <a:ext cx="398154" cy="62626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1928248" y="2392805"/>
            <a:ext cx="861042"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52" name="椭圆 51"/>
          <p:cNvSpPr>
            <a:spLocks noChangeAspect="1"/>
          </p:cNvSpPr>
          <p:nvPr/>
        </p:nvSpPr>
        <p:spPr>
          <a:xfrm>
            <a:off x="1838393" y="2276872"/>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3" name="直接箭头连接符 52"/>
          <p:cNvCxnSpPr/>
          <p:nvPr/>
        </p:nvCxnSpPr>
        <p:spPr>
          <a:xfrm flipH="1">
            <a:off x="3932502" y="3140036"/>
            <a:ext cx="414670" cy="68643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54" name="椭圆 53"/>
          <p:cNvSpPr>
            <a:spLocks noChangeAspect="1"/>
          </p:cNvSpPr>
          <p:nvPr/>
        </p:nvSpPr>
        <p:spPr>
          <a:xfrm>
            <a:off x="4204937" y="3105897"/>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椭圆 54"/>
          <p:cNvSpPr>
            <a:spLocks noChangeAspect="1"/>
          </p:cNvSpPr>
          <p:nvPr/>
        </p:nvSpPr>
        <p:spPr>
          <a:xfrm>
            <a:off x="1475689" y="3018588"/>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a:xfrm>
            <a:off x="657337" y="2464370"/>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p:cNvSpPr txBox="1"/>
          <p:nvPr/>
        </p:nvSpPr>
        <p:spPr>
          <a:xfrm>
            <a:off x="4727103" y="2464370"/>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8" name="组合 57"/>
          <p:cNvGrpSpPr/>
          <p:nvPr/>
        </p:nvGrpSpPr>
        <p:grpSpPr>
          <a:xfrm flipV="1">
            <a:off x="1609745" y="2673501"/>
            <a:ext cx="2745630" cy="2115270"/>
            <a:chOff x="6600056" y="4353447"/>
            <a:chExt cx="1296144" cy="833967"/>
          </a:xfrm>
        </p:grpSpPr>
        <p:cxnSp>
          <p:nvCxnSpPr>
            <p:cNvPr id="59" name="直接连接符 58"/>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1" name="直接连接符 60"/>
          <p:cNvCxnSpPr/>
          <p:nvPr/>
        </p:nvCxnSpPr>
        <p:spPr>
          <a:xfrm flipH="1">
            <a:off x="1475689" y="2612815"/>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2" name="图片 76" descr="接入交换机.png"/>
          <p:cNvPicPr>
            <a:picLocks noChangeAspect="1"/>
          </p:cNvPicPr>
          <p:nvPr/>
        </p:nvPicPr>
        <p:blipFill>
          <a:blip r:embed="rId3" cstate="print"/>
          <a:stretch>
            <a:fillRect/>
          </a:stretch>
        </p:blipFill>
        <p:spPr>
          <a:xfrm>
            <a:off x="4231790" y="2427271"/>
            <a:ext cx="490909" cy="401653"/>
          </a:xfrm>
          <a:prstGeom prst="rect">
            <a:avLst/>
          </a:prstGeom>
        </p:spPr>
      </p:pic>
      <p:pic>
        <p:nvPicPr>
          <p:cNvPr id="63" name="图片 76" descr="接入交换机.png"/>
          <p:cNvPicPr>
            <a:picLocks noChangeAspect="1"/>
          </p:cNvPicPr>
          <p:nvPr/>
        </p:nvPicPr>
        <p:blipFill>
          <a:blip r:embed="rId3" cstate="print"/>
          <a:stretch>
            <a:fillRect/>
          </a:stretch>
        </p:blipFill>
        <p:spPr>
          <a:xfrm>
            <a:off x="2737106" y="4439034"/>
            <a:ext cx="490909" cy="401653"/>
          </a:xfrm>
          <a:prstGeom prst="rect">
            <a:avLst/>
          </a:prstGeom>
        </p:spPr>
      </p:pic>
      <p:sp>
        <p:nvSpPr>
          <p:cNvPr id="64" name="文本框 63"/>
          <p:cNvSpPr txBox="1"/>
          <p:nvPr/>
        </p:nvSpPr>
        <p:spPr>
          <a:xfrm>
            <a:off x="2695462" y="4858004"/>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5" name="图片 76" descr="接入交换机.png"/>
          <p:cNvPicPr>
            <a:picLocks noChangeAspect="1"/>
          </p:cNvPicPr>
          <p:nvPr/>
        </p:nvPicPr>
        <p:blipFill>
          <a:blip r:embed="rId3" cstate="print"/>
          <a:stretch>
            <a:fillRect/>
          </a:stretch>
        </p:blipFill>
        <p:spPr>
          <a:xfrm>
            <a:off x="1242083" y="2423070"/>
            <a:ext cx="490909" cy="401653"/>
          </a:xfrm>
          <a:prstGeom prst="rect">
            <a:avLst/>
          </a:prstGeom>
        </p:spPr>
      </p:pic>
      <p:sp>
        <p:nvSpPr>
          <p:cNvPr id="66" name="文本框 65"/>
          <p:cNvSpPr txBox="1"/>
          <p:nvPr/>
        </p:nvSpPr>
        <p:spPr>
          <a:xfrm>
            <a:off x="449478" y="1901311"/>
            <a:ext cx="2222083"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4096.4c1f-aabc-102a</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文本框 66"/>
          <p:cNvSpPr txBox="1"/>
          <p:nvPr/>
        </p:nvSpPr>
        <p:spPr>
          <a:xfrm>
            <a:off x="3324160" y="1901311"/>
            <a:ext cx="2228495"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4096.4c1f-aabc-102b</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文本框 67"/>
          <p:cNvSpPr txBox="1"/>
          <p:nvPr/>
        </p:nvSpPr>
        <p:spPr>
          <a:xfrm>
            <a:off x="3250843" y="4481867"/>
            <a:ext cx="2201244"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4096.4c1f-aabc-102c</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椭圆 70"/>
          <p:cNvSpPr>
            <a:spLocks noChangeAspect="1"/>
          </p:cNvSpPr>
          <p:nvPr/>
        </p:nvSpPr>
        <p:spPr>
          <a:xfrm>
            <a:off x="1614524" y="2497408"/>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椭圆 71"/>
          <p:cNvSpPr>
            <a:spLocks noChangeAspect="1"/>
          </p:cNvSpPr>
          <p:nvPr/>
        </p:nvSpPr>
        <p:spPr>
          <a:xfrm>
            <a:off x="1606601" y="2737414"/>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椭圆 72"/>
          <p:cNvSpPr>
            <a:spLocks noChangeAspect="1"/>
          </p:cNvSpPr>
          <p:nvPr/>
        </p:nvSpPr>
        <p:spPr>
          <a:xfrm>
            <a:off x="4141176" y="2737414"/>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椭圆 40"/>
          <p:cNvSpPr>
            <a:spLocks noChangeAspect="1"/>
          </p:cNvSpPr>
          <p:nvPr/>
        </p:nvSpPr>
        <p:spPr>
          <a:xfrm>
            <a:off x="2674285" y="5559418"/>
            <a:ext cx="230010" cy="23001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椭圆 42"/>
          <p:cNvSpPr>
            <a:spLocks noChangeAspect="1"/>
          </p:cNvSpPr>
          <p:nvPr/>
        </p:nvSpPr>
        <p:spPr>
          <a:xfrm>
            <a:off x="2659241" y="4351001"/>
            <a:ext cx="230010" cy="23001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椭圆 43"/>
          <p:cNvSpPr>
            <a:spLocks noChangeAspect="1"/>
          </p:cNvSpPr>
          <p:nvPr/>
        </p:nvSpPr>
        <p:spPr>
          <a:xfrm>
            <a:off x="4134506" y="2513092"/>
            <a:ext cx="230010" cy="23001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的计算过程 </a:t>
            </a:r>
            <a:r>
              <a:rPr lang="en-US" altLang="zh-CN">
                <a:sym typeface="Huawei Sans" panose="020C0503030203020204" pitchFamily="34" charset="0"/>
              </a:rPr>
              <a:t>(4)</a:t>
            </a:r>
            <a:endParaRPr lang="zh-CN" altLang="en-US" dirty="0">
              <a:sym typeface="Huawei Sans" panose="020C0503030203020204" pitchFamily="34" charset="0"/>
            </a:endParaRPr>
          </a:p>
        </p:txBody>
      </p:sp>
      <p:sp>
        <p:nvSpPr>
          <p:cNvPr id="17" name="圆角矩形 16"/>
          <p:cNvSpPr/>
          <p:nvPr/>
        </p:nvSpPr>
        <p:spPr>
          <a:xfrm>
            <a:off x="5879976" y="2043361"/>
            <a:ext cx="5688632" cy="40067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非指定接口被阻塞</a:t>
            </a:r>
          </a:p>
        </p:txBody>
      </p:sp>
      <p:sp>
        <p:nvSpPr>
          <p:cNvPr id="18" name="圆角矩形 17"/>
          <p:cNvSpPr/>
          <p:nvPr/>
        </p:nvSpPr>
        <p:spPr>
          <a:xfrm>
            <a:off x="5879976" y="2492896"/>
            <a:ext cx="5688632" cy="1632614"/>
          </a:xfrm>
          <a:prstGeom prst="roundRect">
            <a:avLst>
              <a:gd name="adj" fmla="val 184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一台交换机上，既不是根接口，又不是指定接口的接口被称为非指定接口。</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操作的最后一步是阻塞网络中的非指定接口。这一步完成后，网络中的二层环路就此消除。</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五边形 41"/>
          <p:cNvSpPr/>
          <p:nvPr/>
        </p:nvSpPr>
        <p:spPr bwMode="auto">
          <a:xfrm>
            <a:off x="7032105" y="152815"/>
            <a:ext cx="9001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选举根桥</a:t>
            </a:r>
          </a:p>
        </p:txBody>
      </p:sp>
      <p:sp>
        <p:nvSpPr>
          <p:cNvPr id="47" name="燕尾形 46"/>
          <p:cNvSpPr/>
          <p:nvPr/>
        </p:nvSpPr>
        <p:spPr bwMode="auto">
          <a:xfrm>
            <a:off x="7848195" y="152815"/>
            <a:ext cx="126014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选举根接口</a:t>
            </a:r>
          </a:p>
        </p:txBody>
      </p:sp>
      <p:sp>
        <p:nvSpPr>
          <p:cNvPr id="48" name="燕尾形 47"/>
          <p:cNvSpPr/>
          <p:nvPr/>
        </p:nvSpPr>
        <p:spPr bwMode="auto">
          <a:xfrm>
            <a:off x="9024325" y="152815"/>
            <a:ext cx="1224136"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选举指定接口</a:t>
            </a:r>
          </a:p>
        </p:txBody>
      </p:sp>
      <p:sp>
        <p:nvSpPr>
          <p:cNvPr id="56" name="燕尾形 55"/>
          <p:cNvSpPr/>
          <p:nvPr/>
        </p:nvSpPr>
        <p:spPr bwMode="auto">
          <a:xfrm>
            <a:off x="10164452" y="152815"/>
            <a:ext cx="1404156"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pPr>
            <a:r>
              <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阻塞非指定接口</a:t>
            </a:r>
          </a:p>
        </p:txBody>
      </p:sp>
      <p:sp>
        <p:nvSpPr>
          <p:cNvPr id="57" name="椭圆 56"/>
          <p:cNvSpPr>
            <a:spLocks noChangeAspect="1"/>
          </p:cNvSpPr>
          <p:nvPr/>
        </p:nvSpPr>
        <p:spPr>
          <a:xfrm>
            <a:off x="1121347" y="5568751"/>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57"/>
          <p:cNvSpPr txBox="1"/>
          <p:nvPr/>
        </p:nvSpPr>
        <p:spPr>
          <a:xfrm>
            <a:off x="1329676" y="5520535"/>
            <a:ext cx="1125714"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BPDU</a:t>
            </a:r>
          </a:p>
        </p:txBody>
      </p:sp>
      <p:sp>
        <p:nvSpPr>
          <p:cNvPr id="59" name="椭圆 58"/>
          <p:cNvSpPr>
            <a:spLocks noChangeAspect="1"/>
          </p:cNvSpPr>
          <p:nvPr/>
        </p:nvSpPr>
        <p:spPr>
          <a:xfrm>
            <a:off x="2669398" y="5558183"/>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p:cNvSpPr txBox="1"/>
          <p:nvPr/>
        </p:nvSpPr>
        <p:spPr>
          <a:xfrm>
            <a:off x="2852317" y="5520535"/>
            <a:ext cx="792656"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根接口</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椭圆 60"/>
          <p:cNvSpPr>
            <a:spLocks noChangeAspect="1"/>
          </p:cNvSpPr>
          <p:nvPr/>
        </p:nvSpPr>
        <p:spPr>
          <a:xfrm>
            <a:off x="3849784" y="5558183"/>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a:xfrm>
            <a:off x="4032703" y="5520535"/>
            <a:ext cx="913456"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指定接口</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3" name="直接箭头连接符 62"/>
          <p:cNvCxnSpPr/>
          <p:nvPr/>
        </p:nvCxnSpPr>
        <p:spPr>
          <a:xfrm>
            <a:off x="1589686" y="3112077"/>
            <a:ext cx="398154" cy="62626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a:off x="1928248" y="2392805"/>
            <a:ext cx="861042"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65" name="椭圆 64"/>
          <p:cNvSpPr>
            <a:spLocks noChangeAspect="1"/>
          </p:cNvSpPr>
          <p:nvPr/>
        </p:nvSpPr>
        <p:spPr>
          <a:xfrm>
            <a:off x="1838393" y="2276872"/>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6" name="直接箭头连接符 65"/>
          <p:cNvCxnSpPr/>
          <p:nvPr/>
        </p:nvCxnSpPr>
        <p:spPr>
          <a:xfrm flipH="1">
            <a:off x="3932502" y="3140036"/>
            <a:ext cx="414670" cy="68643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67" name="椭圆 66"/>
          <p:cNvSpPr>
            <a:spLocks noChangeAspect="1"/>
          </p:cNvSpPr>
          <p:nvPr/>
        </p:nvSpPr>
        <p:spPr>
          <a:xfrm>
            <a:off x="4204937" y="3105897"/>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椭圆 67"/>
          <p:cNvSpPr>
            <a:spLocks noChangeAspect="1"/>
          </p:cNvSpPr>
          <p:nvPr/>
        </p:nvSpPr>
        <p:spPr>
          <a:xfrm>
            <a:off x="1475689" y="3018588"/>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文本框 68"/>
          <p:cNvSpPr txBox="1"/>
          <p:nvPr/>
        </p:nvSpPr>
        <p:spPr>
          <a:xfrm>
            <a:off x="657337" y="2464370"/>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文本框 69"/>
          <p:cNvSpPr txBox="1"/>
          <p:nvPr/>
        </p:nvSpPr>
        <p:spPr>
          <a:xfrm>
            <a:off x="4727103" y="2464370"/>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1" name="组合 70"/>
          <p:cNvGrpSpPr/>
          <p:nvPr/>
        </p:nvGrpSpPr>
        <p:grpSpPr>
          <a:xfrm flipV="1">
            <a:off x="1609745" y="2673501"/>
            <a:ext cx="2745630" cy="2115270"/>
            <a:chOff x="6600056" y="4353447"/>
            <a:chExt cx="1296144" cy="833967"/>
          </a:xfrm>
        </p:grpSpPr>
        <p:cxnSp>
          <p:nvCxnSpPr>
            <p:cNvPr id="72" name="直接连接符 71"/>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4" name="直接连接符 73"/>
          <p:cNvCxnSpPr/>
          <p:nvPr/>
        </p:nvCxnSpPr>
        <p:spPr>
          <a:xfrm flipH="1">
            <a:off x="1475689" y="2612815"/>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5" name="图片 76" descr="接入交换机.png"/>
          <p:cNvPicPr>
            <a:picLocks noChangeAspect="1"/>
          </p:cNvPicPr>
          <p:nvPr/>
        </p:nvPicPr>
        <p:blipFill>
          <a:blip r:embed="rId3" cstate="print"/>
          <a:stretch>
            <a:fillRect/>
          </a:stretch>
        </p:blipFill>
        <p:spPr>
          <a:xfrm>
            <a:off x="4231790" y="2427271"/>
            <a:ext cx="490909" cy="401653"/>
          </a:xfrm>
          <a:prstGeom prst="rect">
            <a:avLst/>
          </a:prstGeom>
        </p:spPr>
      </p:pic>
      <p:pic>
        <p:nvPicPr>
          <p:cNvPr id="76" name="图片 76" descr="接入交换机.png"/>
          <p:cNvPicPr>
            <a:picLocks noChangeAspect="1"/>
          </p:cNvPicPr>
          <p:nvPr/>
        </p:nvPicPr>
        <p:blipFill>
          <a:blip r:embed="rId3" cstate="print"/>
          <a:stretch>
            <a:fillRect/>
          </a:stretch>
        </p:blipFill>
        <p:spPr>
          <a:xfrm>
            <a:off x="2737106" y="4439034"/>
            <a:ext cx="490909" cy="401653"/>
          </a:xfrm>
          <a:prstGeom prst="rect">
            <a:avLst/>
          </a:prstGeom>
        </p:spPr>
      </p:pic>
      <p:sp>
        <p:nvSpPr>
          <p:cNvPr id="77" name="文本框 76"/>
          <p:cNvSpPr txBox="1"/>
          <p:nvPr/>
        </p:nvSpPr>
        <p:spPr>
          <a:xfrm>
            <a:off x="2695462" y="4858004"/>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8" name="图片 76" descr="接入交换机.png"/>
          <p:cNvPicPr>
            <a:picLocks noChangeAspect="1"/>
          </p:cNvPicPr>
          <p:nvPr/>
        </p:nvPicPr>
        <p:blipFill>
          <a:blip r:embed="rId3" cstate="print"/>
          <a:stretch>
            <a:fillRect/>
          </a:stretch>
        </p:blipFill>
        <p:spPr>
          <a:xfrm>
            <a:off x="1242083" y="2423070"/>
            <a:ext cx="490909" cy="401653"/>
          </a:xfrm>
          <a:prstGeom prst="rect">
            <a:avLst/>
          </a:prstGeom>
        </p:spPr>
      </p:pic>
      <p:sp>
        <p:nvSpPr>
          <p:cNvPr id="82" name="椭圆 81"/>
          <p:cNvSpPr>
            <a:spLocks noChangeAspect="1"/>
          </p:cNvSpPr>
          <p:nvPr/>
        </p:nvSpPr>
        <p:spPr>
          <a:xfrm>
            <a:off x="2627353" y="4367565"/>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椭圆 82"/>
          <p:cNvSpPr>
            <a:spLocks noChangeAspect="1"/>
          </p:cNvSpPr>
          <p:nvPr/>
        </p:nvSpPr>
        <p:spPr>
          <a:xfrm>
            <a:off x="4117778" y="2511857"/>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椭圆 83"/>
          <p:cNvSpPr>
            <a:spLocks noChangeAspect="1"/>
          </p:cNvSpPr>
          <p:nvPr/>
        </p:nvSpPr>
        <p:spPr>
          <a:xfrm>
            <a:off x="1614524" y="2497408"/>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椭圆 84"/>
          <p:cNvSpPr>
            <a:spLocks noChangeAspect="1"/>
          </p:cNvSpPr>
          <p:nvPr/>
        </p:nvSpPr>
        <p:spPr>
          <a:xfrm>
            <a:off x="1606601" y="2737414"/>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椭圆 85"/>
          <p:cNvSpPr>
            <a:spLocks noChangeAspect="1"/>
          </p:cNvSpPr>
          <p:nvPr/>
        </p:nvSpPr>
        <p:spPr>
          <a:xfrm>
            <a:off x="4141176" y="2737414"/>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a:xfrm>
            <a:off x="3295842" y="4340816"/>
            <a:ext cx="1163198"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接口被阻塞</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0" name="组合 28"/>
          <p:cNvGrpSpPr>
            <a:grpSpLocks noChangeAspect="1"/>
          </p:cNvGrpSpPr>
          <p:nvPr/>
        </p:nvGrpSpPr>
        <p:grpSpPr>
          <a:xfrm>
            <a:off x="3061955" y="4336249"/>
            <a:ext cx="245486" cy="245486"/>
            <a:chOff x="5076056" y="3356992"/>
            <a:chExt cx="436268" cy="436268"/>
          </a:xfrm>
        </p:grpSpPr>
        <p:sp>
          <p:nvSpPr>
            <p:cNvPr id="41"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00000"/>
                </a:lnSpc>
                <a:spcBef>
                  <a:spcPct val="0"/>
                </a:spcBef>
                <a:spcAft>
                  <a:spcPct val="0"/>
                </a:spcAft>
                <a:buClrTx/>
                <a:buSzTx/>
                <a:buFontTx/>
                <a:buNone/>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思考题</a:t>
            </a:r>
            <a:r>
              <a:rPr lang="en-US" altLang="zh-CN">
                <a:sym typeface="Huawei Sans" panose="020C0503030203020204" pitchFamily="34" charset="0"/>
              </a:rPr>
              <a:t>1</a:t>
            </a:r>
            <a:r>
              <a:rPr lang="zh-CN" altLang="en-US">
                <a:sym typeface="Huawei Sans" panose="020C0503030203020204" pitchFamily="34" charset="0"/>
              </a:rPr>
              <a:t>：识别以下拓扑中的根桥及各种接口角色</a:t>
            </a:r>
            <a:endParaRPr lang="zh-CN" altLang="en-US" dirty="0">
              <a:sym typeface="Huawei Sans" panose="020C0503030203020204" pitchFamily="34" charset="0"/>
            </a:endParaRPr>
          </a:p>
        </p:txBody>
      </p:sp>
      <p:grpSp>
        <p:nvGrpSpPr>
          <p:cNvPr id="13" name="组合 12"/>
          <p:cNvGrpSpPr/>
          <p:nvPr/>
        </p:nvGrpSpPr>
        <p:grpSpPr>
          <a:xfrm flipV="1">
            <a:off x="3880395" y="2337816"/>
            <a:ext cx="4176040" cy="2090998"/>
            <a:chOff x="1497448" y="2492896"/>
            <a:chExt cx="3013742" cy="1759759"/>
          </a:xfrm>
        </p:grpSpPr>
        <p:grpSp>
          <p:nvGrpSpPr>
            <p:cNvPr id="6" name="组合 5"/>
            <p:cNvGrpSpPr/>
            <p:nvPr/>
          </p:nvGrpSpPr>
          <p:grpSpPr>
            <a:xfrm flipV="1">
              <a:off x="1631504" y="2553582"/>
              <a:ext cx="2745630" cy="1699073"/>
              <a:chOff x="6600056" y="4353447"/>
              <a:chExt cx="1296144" cy="833967"/>
            </a:xfrm>
          </p:grpSpPr>
          <p:cxnSp>
            <p:nvCxnSpPr>
              <p:cNvPr id="7" name="直接连接符 6"/>
              <p:cNvCxnSpPr/>
              <p:nvPr/>
            </p:nvCxnSpPr>
            <p:spPr>
              <a:xfrm flipH="1">
                <a:off x="6600056" y="4353447"/>
                <a:ext cx="648072" cy="83396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7248128" y="4353447"/>
                <a:ext cx="648072" cy="83396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 name="直接连接符 8"/>
            <p:cNvCxnSpPr/>
            <p:nvPr/>
          </p:nvCxnSpPr>
          <p:spPr>
            <a:xfrm flipH="1">
              <a:off x="1497448" y="2492896"/>
              <a:ext cx="301374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2691789" y="4734817"/>
            <a:ext cx="273183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 </a:t>
            </a:r>
            <a:r>
              <a:rPr lang="en-US" altLang="zh-CN"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4096.4c1f-aabc-0002</a:t>
            </a:r>
            <a:endParaRPr lang="zh-CN" altLang="en-US"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a:xfrm>
            <a:off x="6830892" y="4734817"/>
            <a:ext cx="273183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 </a:t>
            </a:r>
            <a:r>
              <a:rPr lang="en-US" altLang="zh-CN" sz="1600" b="1">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4096.4c1f-aabc-0003</a:t>
            </a:r>
            <a:endParaRPr lang="zh-CN" altLang="en-US" sz="1600" b="1">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a:xfrm rot="18883900">
            <a:off x="4371703" y="3095757"/>
            <a:ext cx="837089" cy="338554"/>
          </a:xfrm>
          <a:prstGeom prst="rect">
            <a:avLst/>
          </a:prstGeom>
        </p:spPr>
        <p:txBody>
          <a:bodyPr wrap="none">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1000M</a:t>
            </a:r>
          </a:p>
        </p:txBody>
      </p:sp>
      <p:sp>
        <p:nvSpPr>
          <p:cNvPr id="26" name="文本框 25"/>
          <p:cNvSpPr txBox="1"/>
          <p:nvPr/>
        </p:nvSpPr>
        <p:spPr>
          <a:xfrm>
            <a:off x="4633755" y="1784629"/>
            <a:ext cx="273183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 </a:t>
            </a:r>
            <a:r>
              <a:rPr lang="en-US" altLang="zh-CN"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4096.4c1f-aabc-0001</a:t>
            </a:r>
            <a:endParaRPr lang="zh-CN" altLang="en-US"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29"/>
          <p:cNvSpPr/>
          <p:nvPr/>
        </p:nvSpPr>
        <p:spPr>
          <a:xfrm rot="2705542">
            <a:off x="6679763" y="3095247"/>
            <a:ext cx="837089" cy="338554"/>
          </a:xfrm>
          <a:prstGeom prst="rect">
            <a:avLst/>
          </a:prstGeom>
        </p:spPr>
        <p:txBody>
          <a:bodyPr wrap="none">
            <a:spAutoFit/>
          </a:bodyPr>
          <a:lstStyle/>
          <a:p>
            <a:pPr fontAlgn="auto">
              <a:spcBef>
                <a:spcPts val="0"/>
              </a:spcBef>
              <a:spcAft>
                <a:spcPts val="0"/>
              </a:spcAft>
            </a:pPr>
            <a:r>
              <a:rPr lang="en-US" altLang="zh-CN"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1000M</a:t>
            </a:r>
          </a:p>
        </p:txBody>
      </p:sp>
      <p:sp>
        <p:nvSpPr>
          <p:cNvPr id="31" name="矩形 30"/>
          <p:cNvSpPr/>
          <p:nvPr/>
        </p:nvSpPr>
        <p:spPr>
          <a:xfrm>
            <a:off x="5510748" y="4460363"/>
            <a:ext cx="837089" cy="338554"/>
          </a:xfrm>
          <a:prstGeom prst="rect">
            <a:avLst/>
          </a:prstGeom>
        </p:spPr>
        <p:txBody>
          <a:bodyPr wrap="none">
            <a:spAutoFit/>
          </a:bodyPr>
          <a:lstStyle/>
          <a:p>
            <a:pPr fontAlgn="auto">
              <a:spcBef>
                <a:spcPts val="0"/>
              </a:spcBef>
              <a:spcAft>
                <a:spcPts val="0"/>
              </a:spcAft>
            </a:pPr>
            <a:r>
              <a:rPr lang="en-US" altLang="zh-CN"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1000M</a:t>
            </a:r>
          </a:p>
        </p:txBody>
      </p:sp>
      <p:pic>
        <p:nvPicPr>
          <p:cNvPr id="32" name="图片 76" descr="接入交换机.png"/>
          <p:cNvPicPr>
            <a:picLocks noChangeAspect="1"/>
          </p:cNvPicPr>
          <p:nvPr/>
        </p:nvPicPr>
        <p:blipFill>
          <a:blip r:embed="rId3" cstate="print"/>
          <a:stretch>
            <a:fillRect/>
          </a:stretch>
        </p:blipFill>
        <p:spPr>
          <a:xfrm>
            <a:off x="5671186" y="2136242"/>
            <a:ext cx="594000" cy="486000"/>
          </a:xfrm>
          <a:prstGeom prst="rect">
            <a:avLst/>
          </a:prstGeom>
        </p:spPr>
      </p:pic>
      <p:pic>
        <p:nvPicPr>
          <p:cNvPr id="33" name="图片 76" descr="接入交换机.png"/>
          <p:cNvPicPr>
            <a:picLocks noChangeAspect="1"/>
          </p:cNvPicPr>
          <p:nvPr/>
        </p:nvPicPr>
        <p:blipFill>
          <a:blip r:embed="rId3" cstate="print"/>
          <a:stretch>
            <a:fillRect/>
          </a:stretch>
        </p:blipFill>
        <p:spPr>
          <a:xfrm>
            <a:off x="3646061" y="4185813"/>
            <a:ext cx="594000" cy="486000"/>
          </a:xfrm>
          <a:prstGeom prst="rect">
            <a:avLst/>
          </a:prstGeom>
        </p:spPr>
      </p:pic>
      <p:pic>
        <p:nvPicPr>
          <p:cNvPr id="34" name="图片 76" descr="接入交换机.png"/>
          <p:cNvPicPr>
            <a:picLocks noChangeAspect="1"/>
          </p:cNvPicPr>
          <p:nvPr/>
        </p:nvPicPr>
        <p:blipFill>
          <a:blip r:embed="rId3" cstate="print"/>
          <a:stretch>
            <a:fillRect/>
          </a:stretch>
        </p:blipFill>
        <p:spPr>
          <a:xfrm>
            <a:off x="7675894" y="4185813"/>
            <a:ext cx="594000" cy="486000"/>
          </a:xfrm>
          <a:prstGeom prst="rect">
            <a:avLst/>
          </a:prstGeom>
        </p:spPr>
      </p:pic>
      <p:grpSp>
        <p:nvGrpSpPr>
          <p:cNvPr id="3" name="组合 2"/>
          <p:cNvGrpSpPr/>
          <p:nvPr/>
        </p:nvGrpSpPr>
        <p:grpSpPr>
          <a:xfrm>
            <a:off x="3407348" y="2489020"/>
            <a:ext cx="5135985" cy="2269243"/>
            <a:chOff x="3407348" y="2489020"/>
            <a:chExt cx="5135985" cy="2269243"/>
          </a:xfrm>
        </p:grpSpPr>
        <p:sp>
          <p:nvSpPr>
            <p:cNvPr id="17" name="矩形 16"/>
            <p:cNvSpPr/>
            <p:nvPr/>
          </p:nvSpPr>
          <p:spPr>
            <a:xfrm>
              <a:off x="4732024" y="2489020"/>
              <a:ext cx="946093" cy="338554"/>
            </a:xfrm>
            <a:prstGeom prst="rect">
              <a:avLst/>
            </a:prstGeom>
          </p:spPr>
          <p:txBody>
            <a:bodyPr wrap="none">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GE0/0/0</a:t>
              </a:r>
            </a:p>
          </p:txBody>
        </p:sp>
        <p:sp>
          <p:nvSpPr>
            <p:cNvPr id="20" name="矩形 19"/>
            <p:cNvSpPr/>
            <p:nvPr/>
          </p:nvSpPr>
          <p:spPr>
            <a:xfrm>
              <a:off x="3407348" y="3799483"/>
              <a:ext cx="946093" cy="338554"/>
            </a:xfrm>
            <a:prstGeom prst="rect">
              <a:avLst/>
            </a:prstGeom>
          </p:spPr>
          <p:txBody>
            <a:bodyPr wrap="none">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p>
          </p:txBody>
        </p:sp>
        <p:sp>
          <p:nvSpPr>
            <p:cNvPr id="21" name="矩形 20"/>
            <p:cNvSpPr/>
            <p:nvPr/>
          </p:nvSpPr>
          <p:spPr>
            <a:xfrm>
              <a:off x="4239009" y="4419709"/>
              <a:ext cx="946093" cy="338554"/>
            </a:xfrm>
            <a:prstGeom prst="rect">
              <a:avLst/>
            </a:prstGeom>
          </p:spPr>
          <p:txBody>
            <a:bodyPr wrap="none">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a:t>
              </a:r>
            </a:p>
          </p:txBody>
        </p:sp>
        <p:sp>
          <p:nvSpPr>
            <p:cNvPr id="22" name="矩形 21"/>
            <p:cNvSpPr/>
            <p:nvPr/>
          </p:nvSpPr>
          <p:spPr>
            <a:xfrm>
              <a:off x="6277687" y="2505481"/>
              <a:ext cx="946093" cy="338554"/>
            </a:xfrm>
            <a:prstGeom prst="rect">
              <a:avLst/>
            </a:prstGeom>
          </p:spPr>
          <p:txBody>
            <a:bodyPr wrap="none">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p>
          </p:txBody>
        </p:sp>
        <p:sp>
          <p:nvSpPr>
            <p:cNvPr id="23" name="矩形 22"/>
            <p:cNvSpPr/>
            <p:nvPr/>
          </p:nvSpPr>
          <p:spPr>
            <a:xfrm>
              <a:off x="6803621" y="4419709"/>
              <a:ext cx="946093" cy="338554"/>
            </a:xfrm>
            <a:prstGeom prst="rect">
              <a:avLst/>
            </a:prstGeom>
          </p:spPr>
          <p:txBody>
            <a:bodyPr wrap="none">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a:t>
              </a:r>
            </a:p>
          </p:txBody>
        </p:sp>
        <p:sp>
          <p:nvSpPr>
            <p:cNvPr id="25" name="矩形 24"/>
            <p:cNvSpPr/>
            <p:nvPr/>
          </p:nvSpPr>
          <p:spPr>
            <a:xfrm>
              <a:off x="7597240" y="3799483"/>
              <a:ext cx="946093" cy="338554"/>
            </a:xfrm>
            <a:prstGeom prst="rect">
              <a:avLst/>
            </a:prstGeom>
          </p:spPr>
          <p:txBody>
            <a:bodyPr wrap="none">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思考题</a:t>
            </a:r>
            <a:r>
              <a:rPr lang="en-US" altLang="zh-CN">
                <a:sym typeface="Huawei Sans" panose="020C0503030203020204" pitchFamily="34" charset="0"/>
              </a:rPr>
              <a:t>2</a:t>
            </a:r>
            <a:r>
              <a:rPr lang="zh-CN" altLang="en-US">
                <a:sym typeface="Huawei Sans" panose="020C0503030203020204" pitchFamily="34" charset="0"/>
              </a:rPr>
              <a:t>：识别以下拓扑中的根桥及各种接口角色</a:t>
            </a:r>
            <a:endParaRPr lang="zh-CN" altLang="en-US" dirty="0">
              <a:sym typeface="Huawei Sans" panose="020C0503030203020204" pitchFamily="34" charset="0"/>
            </a:endParaRPr>
          </a:p>
        </p:txBody>
      </p:sp>
      <p:cxnSp>
        <p:nvCxnSpPr>
          <p:cNvPr id="20" name="直接连接符 19"/>
          <p:cNvCxnSpPr/>
          <p:nvPr/>
        </p:nvCxnSpPr>
        <p:spPr>
          <a:xfrm rot="10800000" flipH="1">
            <a:off x="6110978" y="3769898"/>
            <a:ext cx="1902263" cy="12739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rot="10800000">
            <a:off x="4208715" y="3769898"/>
            <a:ext cx="1902263" cy="12739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H="1">
            <a:off x="4208714" y="2312876"/>
            <a:ext cx="1902263" cy="12739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6110977" y="2312876"/>
            <a:ext cx="1902263" cy="12739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4742483" y="1782203"/>
            <a:ext cx="2731838" cy="338554"/>
          </a:xfrm>
          <a:prstGeom prst="rect">
            <a:avLst/>
          </a:prstGeom>
          <a:noFill/>
        </p:spPr>
        <p:txBody>
          <a:bodyPr wrap="none" rtlCol="0">
            <a:spAutoFit/>
          </a:bodyPr>
          <a:lstStyle/>
          <a:p>
            <a:pPr algn="ct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 </a:t>
            </a:r>
            <a:r>
              <a:rPr lang="en-US" altLang="zh-CN"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4096.4c1f-aabc-0001</a:t>
            </a:r>
            <a:endParaRPr lang="zh-CN" altLang="en-US"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p:cNvSpPr txBox="1"/>
          <p:nvPr/>
        </p:nvSpPr>
        <p:spPr>
          <a:xfrm>
            <a:off x="1097537" y="3431343"/>
            <a:ext cx="273183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 </a:t>
            </a:r>
            <a:r>
              <a:rPr lang="en-US" altLang="zh-CN"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4096.4c1f-aabc-0002</a:t>
            </a:r>
            <a:endParaRPr lang="zh-CN" altLang="en-US"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p:cNvSpPr txBox="1"/>
          <p:nvPr/>
        </p:nvSpPr>
        <p:spPr>
          <a:xfrm>
            <a:off x="8425144" y="3431343"/>
            <a:ext cx="273183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 </a:t>
            </a:r>
            <a:r>
              <a:rPr lang="en-US" altLang="zh-CN" sz="1600" b="1">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4096.4c1f-aabc-0003</a:t>
            </a:r>
            <a:endParaRPr lang="zh-CN" altLang="en-US" sz="1600" b="1">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a:xfrm>
            <a:off x="4742483" y="5390740"/>
            <a:ext cx="2731838" cy="338554"/>
          </a:xfrm>
          <a:prstGeom prst="rect">
            <a:avLst/>
          </a:prstGeom>
          <a:noFill/>
        </p:spPr>
        <p:txBody>
          <a:bodyPr wrap="none" rtlCol="0">
            <a:spAutoFit/>
          </a:bodyPr>
          <a:lstStyle/>
          <a:p>
            <a:pPr algn="ct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SW4 </a:t>
            </a:r>
            <a:r>
              <a:rPr lang="en-US" altLang="zh-CN" sz="1600" b="1">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4096.4c1f-aabc-0004</a:t>
            </a:r>
            <a:endParaRPr lang="zh-CN" altLang="en-US" sz="1600" b="1">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8" name="图片 76" descr="接入交换机.png"/>
          <p:cNvPicPr>
            <a:picLocks noChangeAspect="1"/>
          </p:cNvPicPr>
          <p:nvPr/>
        </p:nvPicPr>
        <p:blipFill>
          <a:blip r:embed="rId3" cstate="print"/>
          <a:stretch>
            <a:fillRect/>
          </a:stretch>
        </p:blipFill>
        <p:spPr>
          <a:xfrm>
            <a:off x="5813977" y="2133286"/>
            <a:ext cx="594000" cy="486000"/>
          </a:xfrm>
          <a:prstGeom prst="rect">
            <a:avLst/>
          </a:prstGeom>
        </p:spPr>
      </p:pic>
      <p:pic>
        <p:nvPicPr>
          <p:cNvPr id="29" name="图片 76" descr="接入交换机.png"/>
          <p:cNvPicPr>
            <a:picLocks noChangeAspect="1"/>
          </p:cNvPicPr>
          <p:nvPr/>
        </p:nvPicPr>
        <p:blipFill>
          <a:blip r:embed="rId3" cstate="print"/>
          <a:stretch>
            <a:fillRect/>
          </a:stretch>
        </p:blipFill>
        <p:spPr>
          <a:xfrm>
            <a:off x="5813977" y="4773481"/>
            <a:ext cx="594000" cy="486000"/>
          </a:xfrm>
          <a:prstGeom prst="rect">
            <a:avLst/>
          </a:prstGeom>
        </p:spPr>
      </p:pic>
      <p:pic>
        <p:nvPicPr>
          <p:cNvPr id="30" name="图片 76" descr="接入交换机.png"/>
          <p:cNvPicPr>
            <a:picLocks noChangeAspect="1"/>
          </p:cNvPicPr>
          <p:nvPr/>
        </p:nvPicPr>
        <p:blipFill>
          <a:blip r:embed="rId3" cstate="print"/>
          <a:stretch>
            <a:fillRect/>
          </a:stretch>
        </p:blipFill>
        <p:spPr>
          <a:xfrm>
            <a:off x="3745264" y="3390770"/>
            <a:ext cx="594000" cy="486000"/>
          </a:xfrm>
          <a:prstGeom prst="rect">
            <a:avLst/>
          </a:prstGeom>
        </p:spPr>
      </p:pic>
      <p:pic>
        <p:nvPicPr>
          <p:cNvPr id="31" name="图片 76" descr="接入交换机.png"/>
          <p:cNvPicPr>
            <a:picLocks noChangeAspect="1"/>
          </p:cNvPicPr>
          <p:nvPr/>
        </p:nvPicPr>
        <p:blipFill>
          <a:blip r:embed="rId3" cstate="print"/>
          <a:stretch>
            <a:fillRect/>
          </a:stretch>
        </p:blipFill>
        <p:spPr>
          <a:xfrm>
            <a:off x="7882689" y="3390770"/>
            <a:ext cx="594000" cy="486000"/>
          </a:xfrm>
          <a:prstGeom prst="rect">
            <a:avLst/>
          </a:prstGeom>
        </p:spPr>
      </p:pic>
      <p:grpSp>
        <p:nvGrpSpPr>
          <p:cNvPr id="15" name="组合 14"/>
          <p:cNvGrpSpPr/>
          <p:nvPr/>
        </p:nvGrpSpPr>
        <p:grpSpPr>
          <a:xfrm>
            <a:off x="3735667" y="2330608"/>
            <a:ext cx="4799163" cy="2002587"/>
            <a:chOff x="3615008" y="2240340"/>
            <a:chExt cx="4799163" cy="2002587"/>
          </a:xfrm>
        </p:grpSpPr>
        <p:sp>
          <p:nvSpPr>
            <p:cNvPr id="16" name="矩形 15"/>
            <p:cNvSpPr/>
            <p:nvPr/>
          </p:nvSpPr>
          <p:spPr>
            <a:xfrm>
              <a:off x="4676910" y="2286018"/>
              <a:ext cx="946093" cy="338554"/>
            </a:xfrm>
            <a:prstGeom prst="rect">
              <a:avLst/>
            </a:prstGeom>
          </p:spPr>
          <p:txBody>
            <a:bodyPr wrap="none">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GE0/0/0</a:t>
              </a:r>
            </a:p>
          </p:txBody>
        </p:sp>
        <p:sp>
          <p:nvSpPr>
            <p:cNvPr id="17" name="矩形 16"/>
            <p:cNvSpPr/>
            <p:nvPr/>
          </p:nvSpPr>
          <p:spPr>
            <a:xfrm>
              <a:off x="3655019" y="2895648"/>
              <a:ext cx="946093" cy="338554"/>
            </a:xfrm>
            <a:prstGeom prst="rect">
              <a:avLst/>
            </a:prstGeom>
          </p:spPr>
          <p:txBody>
            <a:bodyPr wrap="none">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p>
          </p:txBody>
        </p:sp>
        <p:sp>
          <p:nvSpPr>
            <p:cNvPr id="18" name="矩形 17"/>
            <p:cNvSpPr/>
            <p:nvPr/>
          </p:nvSpPr>
          <p:spPr>
            <a:xfrm>
              <a:off x="3615008" y="3904373"/>
              <a:ext cx="946093" cy="338554"/>
            </a:xfrm>
            <a:prstGeom prst="rect">
              <a:avLst/>
            </a:prstGeom>
          </p:spPr>
          <p:txBody>
            <a:bodyPr wrap="none">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a:t>
              </a:r>
            </a:p>
          </p:txBody>
        </p:sp>
        <p:sp>
          <p:nvSpPr>
            <p:cNvPr id="19" name="矩形 18"/>
            <p:cNvSpPr/>
            <p:nvPr/>
          </p:nvSpPr>
          <p:spPr>
            <a:xfrm>
              <a:off x="6403127" y="2240340"/>
              <a:ext cx="946093" cy="338554"/>
            </a:xfrm>
            <a:prstGeom prst="rect">
              <a:avLst/>
            </a:prstGeom>
          </p:spPr>
          <p:txBody>
            <a:bodyPr wrap="none">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p>
          </p:txBody>
        </p:sp>
        <p:sp>
          <p:nvSpPr>
            <p:cNvPr id="22" name="矩形 21"/>
            <p:cNvSpPr/>
            <p:nvPr/>
          </p:nvSpPr>
          <p:spPr>
            <a:xfrm>
              <a:off x="7468078" y="2895648"/>
              <a:ext cx="946093" cy="338554"/>
            </a:xfrm>
            <a:prstGeom prst="rect">
              <a:avLst/>
            </a:prstGeom>
          </p:spPr>
          <p:txBody>
            <a:bodyPr wrap="none">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a:t>
              </a:r>
            </a:p>
          </p:txBody>
        </p:sp>
        <p:sp>
          <p:nvSpPr>
            <p:cNvPr id="23" name="矩形 22"/>
            <p:cNvSpPr/>
            <p:nvPr/>
          </p:nvSpPr>
          <p:spPr>
            <a:xfrm>
              <a:off x="7468078" y="3827075"/>
              <a:ext cx="946093" cy="338554"/>
            </a:xfrm>
            <a:prstGeom prst="rect">
              <a:avLst/>
            </a:prstGeom>
          </p:spPr>
          <p:txBody>
            <a:bodyPr wrap="none">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p>
          </p:txBody>
        </p:sp>
      </p:grpSp>
      <p:sp>
        <p:nvSpPr>
          <p:cNvPr id="25" name="矩形 24"/>
          <p:cNvSpPr/>
          <p:nvPr/>
        </p:nvSpPr>
        <p:spPr>
          <a:xfrm>
            <a:off x="6490317" y="4773481"/>
            <a:ext cx="946093" cy="338554"/>
          </a:xfrm>
          <a:prstGeom prst="rect">
            <a:avLst/>
          </a:prstGeom>
        </p:spPr>
        <p:txBody>
          <a:bodyPr wrap="none">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a:t>
            </a:r>
          </a:p>
        </p:txBody>
      </p:sp>
      <p:sp>
        <p:nvSpPr>
          <p:cNvPr id="26" name="矩形 25"/>
          <p:cNvSpPr/>
          <p:nvPr/>
        </p:nvSpPr>
        <p:spPr>
          <a:xfrm>
            <a:off x="4832714" y="4773481"/>
            <a:ext cx="946093" cy="338554"/>
          </a:xfrm>
          <a:prstGeom prst="rect">
            <a:avLst/>
          </a:prstGeom>
        </p:spPr>
        <p:txBody>
          <a:bodyPr wrap="none">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思考题</a:t>
            </a:r>
            <a:r>
              <a:rPr lang="en-US" altLang="zh-CN">
                <a:sym typeface="Huawei Sans" panose="020C0503030203020204" pitchFamily="34" charset="0"/>
              </a:rPr>
              <a:t>3</a:t>
            </a:r>
            <a:r>
              <a:rPr lang="zh-CN" altLang="en-US">
                <a:sym typeface="Huawei Sans" panose="020C0503030203020204" pitchFamily="34" charset="0"/>
              </a:rPr>
              <a:t>：识别以下拓扑中的根桥及各种接口角色</a:t>
            </a:r>
            <a:endParaRPr lang="zh-CN" altLang="en-US" dirty="0">
              <a:sym typeface="Huawei Sans" panose="020C0503030203020204" pitchFamily="34" charset="0"/>
            </a:endParaRPr>
          </a:p>
        </p:txBody>
      </p:sp>
      <p:cxnSp>
        <p:nvCxnSpPr>
          <p:cNvPr id="6" name="直接连接符 5"/>
          <p:cNvCxnSpPr/>
          <p:nvPr/>
        </p:nvCxnSpPr>
        <p:spPr>
          <a:xfrm flipH="1">
            <a:off x="4475382" y="3079224"/>
            <a:ext cx="307776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4475382" y="3439264"/>
            <a:ext cx="307776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626312" y="3079224"/>
            <a:ext cx="2286203"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4096.4c1f-aabc-0001</a:t>
            </a:r>
            <a:endParaRPr lang="zh-CN" altLang="en-US"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p:cNvSpPr txBox="1"/>
          <p:nvPr/>
        </p:nvSpPr>
        <p:spPr>
          <a:xfrm>
            <a:off x="8271888" y="3079224"/>
            <a:ext cx="2286203"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4096.4c1f-aabc-0002</a:t>
            </a:r>
            <a:endParaRPr lang="zh-CN" altLang="en-US"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a:xfrm>
            <a:off x="4558799" y="2740670"/>
            <a:ext cx="938077" cy="338554"/>
          </a:xfrm>
          <a:prstGeom prst="rect">
            <a:avLst/>
          </a:prstGeom>
          <a:noFill/>
        </p:spPr>
        <p:txBody>
          <a:bodyPr wrap="none" rtlCol="0">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600"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a:xfrm>
            <a:off x="6687527" y="2740670"/>
            <a:ext cx="938077" cy="338554"/>
          </a:xfrm>
          <a:prstGeom prst="rect">
            <a:avLst/>
          </a:prstGeom>
          <a:noFill/>
        </p:spPr>
        <p:txBody>
          <a:bodyPr wrap="none" rtlCol="0">
            <a:spAutoFit/>
          </a:bodyPr>
          <a:lstStyle/>
          <a:p>
            <a:pPr fontAlgn="auto">
              <a:spcBef>
                <a:spcPts val="0"/>
              </a:spcBef>
              <a:spcAft>
                <a:spcPts val="0"/>
              </a:spcAft>
            </a:pPr>
            <a:r>
              <a:rPr lang="en-US" altLang="zh-CN"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60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a:xfrm>
            <a:off x="4558799" y="3439263"/>
            <a:ext cx="938077" cy="338554"/>
          </a:xfrm>
          <a:prstGeom prst="rect">
            <a:avLst/>
          </a:prstGeom>
          <a:noFill/>
        </p:spPr>
        <p:txBody>
          <a:bodyPr wrap="none" rtlCol="0">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600"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a:xfrm>
            <a:off x="6687527" y="3439263"/>
            <a:ext cx="938077" cy="338554"/>
          </a:xfrm>
          <a:prstGeom prst="rect">
            <a:avLst/>
          </a:prstGeom>
          <a:noFill/>
        </p:spPr>
        <p:txBody>
          <a:bodyPr wrap="none" rtlCol="0">
            <a:spAutoFit/>
          </a:bodyPr>
          <a:lstStyle/>
          <a:p>
            <a:pPr fontAlgn="auto">
              <a:spcBef>
                <a:spcPts val="0"/>
              </a:spcBef>
              <a:spcAft>
                <a:spcPts val="0"/>
              </a:spcAft>
            </a:pPr>
            <a:r>
              <a:rPr lang="en-US" altLang="zh-CN"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60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76" descr="接入交换机.png"/>
          <p:cNvPicPr>
            <a:picLocks noChangeAspect="1"/>
          </p:cNvPicPr>
          <p:nvPr/>
        </p:nvPicPr>
        <p:blipFill>
          <a:blip r:embed="rId3" cstate="print"/>
          <a:stretch>
            <a:fillRect/>
          </a:stretch>
        </p:blipFill>
        <p:spPr>
          <a:xfrm>
            <a:off x="3917396" y="2960948"/>
            <a:ext cx="718740" cy="588060"/>
          </a:xfrm>
          <a:prstGeom prst="rect">
            <a:avLst/>
          </a:prstGeom>
        </p:spPr>
      </p:pic>
      <p:pic>
        <p:nvPicPr>
          <p:cNvPr id="19" name="图片 76" descr="接入交换机.png"/>
          <p:cNvPicPr>
            <a:picLocks noChangeAspect="1"/>
          </p:cNvPicPr>
          <p:nvPr/>
        </p:nvPicPr>
        <p:blipFill>
          <a:blip r:embed="rId3" cstate="print"/>
          <a:stretch>
            <a:fillRect/>
          </a:stretch>
        </p:blipFill>
        <p:spPr>
          <a:xfrm>
            <a:off x="7553148" y="2960948"/>
            <a:ext cx="718740" cy="588060"/>
          </a:xfrm>
          <a:prstGeom prst="rect">
            <a:avLst/>
          </a:prstGeom>
        </p:spPr>
      </p:pic>
      <p:sp>
        <p:nvSpPr>
          <p:cNvPr id="17" name="文本框 16"/>
          <p:cNvSpPr txBox="1"/>
          <p:nvPr/>
        </p:nvSpPr>
        <p:spPr>
          <a:xfrm>
            <a:off x="3928498" y="3685001"/>
            <a:ext cx="630301"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a:xfrm>
            <a:off x="7553148" y="3685001"/>
            <a:ext cx="630301"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的接口状态</a:t>
            </a:r>
            <a:endParaRPr lang="zh-CN" altLang="en-US" dirty="0">
              <a:sym typeface="Huawei Sans" panose="020C0503030203020204" pitchFamily="34" charset="0"/>
            </a:endParaRPr>
          </a:p>
        </p:txBody>
      </p:sp>
      <p:graphicFrame>
        <p:nvGraphicFramePr>
          <p:cNvPr id="4" name="表格 3"/>
          <p:cNvGraphicFramePr>
            <a:graphicFrameLocks noGrp="1"/>
          </p:cNvGraphicFramePr>
          <p:nvPr/>
        </p:nvGraphicFramePr>
        <p:xfrm>
          <a:off x="1254000" y="1700808"/>
          <a:ext cx="9684000" cy="3960441"/>
        </p:xfrm>
        <a:graphic>
          <a:graphicData uri="http://schemas.openxmlformats.org/drawingml/2006/table">
            <a:tbl>
              <a:tblPr firstRow="1" firstCol="1" bandRow="1">
                <a:tableStyleId>{5940675A-B579-460E-94D1-54222C63F5DA}</a:tableStyleId>
              </a:tblPr>
              <a:tblGrid>
                <a:gridCol w="2484000">
                  <a:extLst>
                    <a:ext uri="{9D8B030D-6E8A-4147-A177-3AD203B41FA5}">
                      <a16:colId xmlns:a16="http://schemas.microsoft.com/office/drawing/2014/main" val="20000"/>
                    </a:ext>
                  </a:extLst>
                </a:gridCol>
                <a:gridCol w="7200000">
                  <a:extLst>
                    <a:ext uri="{9D8B030D-6E8A-4147-A177-3AD203B41FA5}">
                      <a16:colId xmlns:a16="http://schemas.microsoft.com/office/drawing/2014/main" val="20001"/>
                    </a:ext>
                  </a:extLst>
                </a:gridCol>
              </a:tblGrid>
              <a:tr h="433140">
                <a:tc>
                  <a:txBody>
                    <a:bodyPr/>
                    <a:lstStyle/>
                    <a:p>
                      <a:pPr algn="l">
                        <a:spcAft>
                          <a:spcPts val="0"/>
                        </a:spcAft>
                      </a:pPr>
                      <a:r>
                        <a:rPr lang="zh-CN" sz="1600" kern="1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状态名称</a:t>
                      </a:r>
                      <a:endParaRPr lang="zh-CN" sz="2000" kern="100" dirty="0">
                        <a:solidFill>
                          <a:schemeClr val="bg1"/>
                        </a:solidFill>
                        <a:effectLst/>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txBody>
                  <a:tcPr marL="72000" marR="72000" marT="72000" marB="72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tc>
                  <a:txBody>
                    <a:bodyPr/>
                    <a:lstStyle/>
                    <a:p>
                      <a:pPr algn="l">
                        <a:spcAft>
                          <a:spcPts val="0"/>
                        </a:spcAft>
                      </a:pPr>
                      <a:r>
                        <a:rPr lang="zh-CN" sz="1600" kern="10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状态描述</a:t>
                      </a:r>
                      <a:endParaRPr lang="zh-CN" sz="2000" kern="100">
                        <a:solidFill>
                          <a:schemeClr val="bg1"/>
                        </a:solidFill>
                        <a:effectLst/>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txBody>
                  <a:tcPr marL="72000" marR="72000" marT="72000" marB="72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433140">
                <a:tc>
                  <a:txBody>
                    <a:bodyPr/>
                    <a:lstStyle/>
                    <a:p>
                      <a:pPr algn="l">
                        <a:spcAft>
                          <a:spcPts val="0"/>
                        </a:spcAft>
                      </a:pP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禁用（</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Disable</a:t>
                      </a: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sz="2000" kern="100" dirty="0">
                        <a:effectLst/>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txBody>
                  <a:tcPr marL="72000" marR="72000" marT="72000" marB="72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l">
                        <a:spcAft>
                          <a:spcPts val="0"/>
                        </a:spcAft>
                      </a:pP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该接口不能收发</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BPDU</a:t>
                      </a: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，也不能收发业务数据帧，例如接口为</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down</a:t>
                      </a:r>
                      <a:endParaRPr lang="zh-CN" sz="2000" kern="100" dirty="0">
                        <a:effectLst/>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txBody>
                  <a:tcPr marL="72000" marR="72000" marT="72000" marB="72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1"/>
                  </a:ext>
                </a:extLst>
              </a:tr>
              <a:tr h="705460">
                <a:tc>
                  <a:txBody>
                    <a:bodyPr/>
                    <a:lstStyle/>
                    <a:p>
                      <a:pPr algn="l">
                        <a:spcAft>
                          <a:spcPts val="0"/>
                        </a:spcAft>
                      </a:pP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阻塞（</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Blocking</a:t>
                      </a: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sz="2000" kern="100" dirty="0">
                        <a:effectLst/>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txBody>
                  <a:tcPr marL="72000" marR="72000" marT="72000" marB="72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l">
                        <a:spcAft>
                          <a:spcPts val="0"/>
                        </a:spcAft>
                      </a:pP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该接口被</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STP</a:t>
                      </a: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阻塞。处于阻塞状态的接口不能发送</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BPDU</a:t>
                      </a: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，但是会持续侦听</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BPDU</a:t>
                      </a: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，而且不能收发业务数据帧，也不会进行</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地址学习</a:t>
                      </a:r>
                      <a:endParaRPr lang="zh-CN" sz="2000" kern="100" dirty="0">
                        <a:effectLst/>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txBody>
                  <a:tcPr marL="72000" marR="72000" marT="72000" marB="72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2"/>
                  </a:ext>
                </a:extLst>
              </a:tr>
              <a:tr h="977781">
                <a:tc>
                  <a:txBody>
                    <a:bodyPr/>
                    <a:lstStyle/>
                    <a:p>
                      <a:pPr algn="l">
                        <a:spcAft>
                          <a:spcPts val="0"/>
                        </a:spcAft>
                      </a:pP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侦听（</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Listening</a:t>
                      </a: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sz="2000" kern="100" dirty="0">
                        <a:effectLst/>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txBody>
                  <a:tcPr marL="72000" marR="72000" marT="72000" marB="72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l">
                        <a:spcAft>
                          <a:spcPts val="0"/>
                        </a:spcAft>
                      </a:pP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当接口处于该状态时，表明</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STP</a:t>
                      </a: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初步认定该接口为根接口或指定接口，但接口依然处于</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STP</a:t>
                      </a: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计算的过程中，此时接口可以收发</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BPDU</a:t>
                      </a: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，但是不能收发业务数据帧，也不会进行</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地址学习</a:t>
                      </a:r>
                      <a:endParaRPr lang="zh-CN" sz="2000" kern="100" dirty="0">
                        <a:effectLst/>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txBody>
                  <a:tcPr marL="72000" marR="72000" marT="72000" marB="72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3"/>
                  </a:ext>
                </a:extLst>
              </a:tr>
              <a:tr h="705460">
                <a:tc>
                  <a:txBody>
                    <a:bodyPr/>
                    <a:lstStyle/>
                    <a:p>
                      <a:pPr algn="l">
                        <a:spcAft>
                          <a:spcPts val="0"/>
                        </a:spcAft>
                      </a:pPr>
                      <a:r>
                        <a:rPr lang="zh-CN" sz="1600" kern="100">
                          <a:effectLst/>
                          <a:latin typeface="Huawei Sans" panose="020C0503030203020204" pitchFamily="34" charset="0"/>
                          <a:ea typeface="方正兰亭黑简体" panose="02000000000000000000" pitchFamily="2" charset="-122"/>
                          <a:sym typeface="Huawei Sans" panose="020C0503030203020204" pitchFamily="34" charset="0"/>
                        </a:rPr>
                        <a:t>学习（</a:t>
                      </a:r>
                      <a:r>
                        <a:rPr lang="en-US" sz="1600" kern="100">
                          <a:effectLst/>
                          <a:latin typeface="Huawei Sans" panose="020C0503030203020204" pitchFamily="34" charset="0"/>
                          <a:ea typeface="方正兰亭黑简体" panose="02000000000000000000" pitchFamily="2" charset="-122"/>
                          <a:sym typeface="Huawei Sans" panose="020C0503030203020204" pitchFamily="34" charset="0"/>
                        </a:rPr>
                        <a:t>Learning</a:t>
                      </a:r>
                      <a:r>
                        <a:rPr lang="zh-CN" sz="1600" kern="10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sz="2000" kern="100">
                        <a:effectLst/>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txBody>
                  <a:tcPr marL="72000" marR="72000" marT="72000" marB="72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l">
                        <a:spcAft>
                          <a:spcPts val="0"/>
                        </a:spcAft>
                      </a:pP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当接口处于该状态时，会侦听业务数据帧（但是不能转发业务数据帧），并且在收到业务数据帧后进行</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地址学习</a:t>
                      </a:r>
                      <a:endParaRPr lang="zh-CN" sz="2000" kern="100" dirty="0">
                        <a:effectLst/>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txBody>
                  <a:tcPr marL="72000" marR="72000" marT="72000" marB="72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4"/>
                  </a:ext>
                </a:extLst>
              </a:tr>
              <a:tr h="705460">
                <a:tc>
                  <a:txBody>
                    <a:bodyPr/>
                    <a:lstStyle/>
                    <a:p>
                      <a:pPr algn="l">
                        <a:spcAft>
                          <a:spcPts val="0"/>
                        </a:spcAft>
                      </a:pP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转发（</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Forwarding</a:t>
                      </a: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a:t>
                      </a:r>
                      <a:endParaRPr lang="zh-CN" sz="2000" kern="100" dirty="0">
                        <a:effectLst/>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txBody>
                  <a:tcPr marL="72000" marR="72000" marT="72000" marB="72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l">
                        <a:spcAft>
                          <a:spcPts val="0"/>
                        </a:spcAft>
                      </a:pP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处于该状态的接口可以正常地收发业务数据帧，也会进行</a:t>
                      </a:r>
                      <a:r>
                        <a:rPr lang="en-US" sz="1600" kern="100" dirty="0">
                          <a:effectLst/>
                          <a:latin typeface="Huawei Sans" panose="020C0503030203020204" pitchFamily="34" charset="0"/>
                          <a:ea typeface="方正兰亭黑简体" panose="02000000000000000000" pitchFamily="2" charset="-122"/>
                          <a:sym typeface="Huawei Sans" panose="020C0503030203020204" pitchFamily="34" charset="0"/>
                        </a:rPr>
                        <a:t>BPDU</a:t>
                      </a:r>
                      <a:r>
                        <a:rPr lang="zh-CN" sz="1600" kern="100" dirty="0">
                          <a:effectLst/>
                          <a:latin typeface="Huawei Sans" panose="020C0503030203020204" pitchFamily="34" charset="0"/>
                          <a:ea typeface="方正兰亭黑简体" panose="02000000000000000000" pitchFamily="2" charset="-122"/>
                          <a:sym typeface="Huawei Sans" panose="020C0503030203020204" pitchFamily="34" charset="0"/>
                        </a:rPr>
                        <a:t>处理。接口的角色需是根接口或指定接口才能进入转发状态</a:t>
                      </a:r>
                      <a:endParaRPr lang="zh-CN" sz="2000" kern="100" dirty="0">
                        <a:effectLst/>
                        <a:latin typeface="Huawei Sans" panose="020C0503030203020204" pitchFamily="34" charset="0"/>
                        <a:ea typeface="方正兰亭黑简体" panose="02000000000000000000" pitchFamily="2" charset="-122"/>
                        <a:cs typeface="Times New Roman" panose="02020603050405020304" pitchFamily="18" charset="0"/>
                        <a:sym typeface="Huawei Sans" panose="020C0503030203020204" pitchFamily="34" charset="0"/>
                      </a:endParaRPr>
                    </a:p>
                  </a:txBody>
                  <a:tcPr marL="72000" marR="72000" marT="72000" marB="72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的接口状态迁移</a:t>
            </a:r>
            <a:endParaRPr lang="zh-CN" altLang="en-US" dirty="0">
              <a:sym typeface="Huawei Sans" panose="020C0503030203020204" pitchFamily="34" charset="0"/>
            </a:endParaRPr>
          </a:p>
        </p:txBody>
      </p:sp>
      <p:sp>
        <p:nvSpPr>
          <p:cNvPr id="28" name="圆角矩形 27"/>
          <p:cNvSpPr/>
          <p:nvPr/>
        </p:nvSpPr>
        <p:spPr>
          <a:xfrm>
            <a:off x="2125994" y="1501924"/>
            <a:ext cx="1983260" cy="522779"/>
          </a:xfrm>
          <a:prstGeom prst="roundRect">
            <a:avLst>
              <a:gd name="adj" fmla="val 4298"/>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禁用或</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Down</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圆角矩形 29"/>
          <p:cNvSpPr/>
          <p:nvPr/>
        </p:nvSpPr>
        <p:spPr>
          <a:xfrm>
            <a:off x="2125994" y="2384022"/>
            <a:ext cx="1983260" cy="522779"/>
          </a:xfrm>
          <a:prstGeom prst="roundRect">
            <a:avLst>
              <a:gd name="adj" fmla="val 4298"/>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阻塞</a:t>
            </a:r>
          </a:p>
        </p:txBody>
      </p:sp>
      <p:sp>
        <p:nvSpPr>
          <p:cNvPr id="31" name="圆角矩形 30"/>
          <p:cNvSpPr/>
          <p:nvPr/>
        </p:nvSpPr>
        <p:spPr>
          <a:xfrm>
            <a:off x="2125994" y="3266120"/>
            <a:ext cx="1983260" cy="522779"/>
          </a:xfrm>
          <a:prstGeom prst="roundRect">
            <a:avLst>
              <a:gd name="adj" fmla="val 4298"/>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侦听</a:t>
            </a:r>
          </a:p>
        </p:txBody>
      </p:sp>
      <p:sp>
        <p:nvSpPr>
          <p:cNvPr id="33" name="圆角矩形 32"/>
          <p:cNvSpPr/>
          <p:nvPr/>
        </p:nvSpPr>
        <p:spPr>
          <a:xfrm>
            <a:off x="2125994" y="4148218"/>
            <a:ext cx="1983260" cy="522779"/>
          </a:xfrm>
          <a:prstGeom prst="roundRect">
            <a:avLst>
              <a:gd name="adj" fmla="val 4298"/>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学习</a:t>
            </a:r>
          </a:p>
        </p:txBody>
      </p:sp>
      <p:sp>
        <p:nvSpPr>
          <p:cNvPr id="34" name="圆角矩形 33"/>
          <p:cNvSpPr/>
          <p:nvPr/>
        </p:nvSpPr>
        <p:spPr>
          <a:xfrm>
            <a:off x="2125994" y="5030316"/>
            <a:ext cx="1983260" cy="522779"/>
          </a:xfrm>
          <a:prstGeom prst="roundRect">
            <a:avLst>
              <a:gd name="adj" fmla="val 4298"/>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转发</a:t>
            </a:r>
          </a:p>
        </p:txBody>
      </p:sp>
      <p:cxnSp>
        <p:nvCxnSpPr>
          <p:cNvPr id="5" name="直接箭头连接符 4"/>
          <p:cNvCxnSpPr>
            <a:stCxn id="28" idx="2"/>
            <a:endCxn id="30" idx="0"/>
          </p:cNvCxnSpPr>
          <p:nvPr/>
        </p:nvCxnSpPr>
        <p:spPr bwMode="auto">
          <a:xfrm>
            <a:off x="3117624" y="2024703"/>
            <a:ext cx="0" cy="359319"/>
          </a:xfrm>
          <a:prstGeom prst="straightConnector1">
            <a:avLst/>
          </a:prstGeom>
          <a:noFill/>
          <a:ln w="19050" cap="flat" cmpd="sng" algn="ctr">
            <a:solidFill>
              <a:schemeClr val="tx1"/>
            </a:solidFill>
            <a:prstDash val="solid"/>
            <a:round/>
            <a:headEnd type="none" w="med" len="med"/>
            <a:tailEnd type="triangle"/>
          </a:ln>
          <a:effectLst/>
        </p:spPr>
      </p:cxnSp>
      <p:cxnSp>
        <p:nvCxnSpPr>
          <p:cNvPr id="36" name="直接箭头连接符 35"/>
          <p:cNvCxnSpPr>
            <a:stCxn id="30" idx="2"/>
            <a:endCxn id="31" idx="0"/>
          </p:cNvCxnSpPr>
          <p:nvPr/>
        </p:nvCxnSpPr>
        <p:spPr bwMode="auto">
          <a:xfrm>
            <a:off x="3117624" y="2906801"/>
            <a:ext cx="0" cy="359319"/>
          </a:xfrm>
          <a:prstGeom prst="straightConnector1">
            <a:avLst/>
          </a:prstGeom>
          <a:noFill/>
          <a:ln w="19050" cap="flat" cmpd="sng" algn="ctr">
            <a:solidFill>
              <a:schemeClr val="tx1"/>
            </a:solidFill>
            <a:prstDash val="solid"/>
            <a:round/>
            <a:headEnd type="none" w="med" len="med"/>
            <a:tailEnd type="triangle"/>
          </a:ln>
          <a:effectLst/>
        </p:spPr>
      </p:cxnSp>
      <p:cxnSp>
        <p:nvCxnSpPr>
          <p:cNvPr id="41" name="直接箭头连接符 40"/>
          <p:cNvCxnSpPr>
            <a:stCxn id="31" idx="2"/>
            <a:endCxn id="33" idx="0"/>
          </p:cNvCxnSpPr>
          <p:nvPr/>
        </p:nvCxnSpPr>
        <p:spPr bwMode="auto">
          <a:xfrm>
            <a:off x="3117624" y="3788899"/>
            <a:ext cx="0" cy="359319"/>
          </a:xfrm>
          <a:prstGeom prst="straightConnector1">
            <a:avLst/>
          </a:prstGeom>
          <a:noFill/>
          <a:ln w="19050" cap="flat" cmpd="sng" algn="ctr">
            <a:solidFill>
              <a:schemeClr val="tx1"/>
            </a:solidFill>
            <a:prstDash val="solid"/>
            <a:round/>
            <a:headEnd type="none" w="med" len="med"/>
            <a:tailEnd type="triangle"/>
          </a:ln>
          <a:effectLst/>
        </p:spPr>
      </p:cxnSp>
      <p:cxnSp>
        <p:nvCxnSpPr>
          <p:cNvPr id="53" name="直接箭头连接符 52"/>
          <p:cNvCxnSpPr>
            <a:stCxn id="33" idx="2"/>
            <a:endCxn id="34" idx="0"/>
          </p:cNvCxnSpPr>
          <p:nvPr/>
        </p:nvCxnSpPr>
        <p:spPr bwMode="auto">
          <a:xfrm>
            <a:off x="3117624" y="4670997"/>
            <a:ext cx="0" cy="359319"/>
          </a:xfrm>
          <a:prstGeom prst="straightConnector1">
            <a:avLst/>
          </a:prstGeom>
          <a:noFill/>
          <a:ln w="19050" cap="flat" cmpd="sng" algn="ctr">
            <a:solidFill>
              <a:schemeClr val="tx1"/>
            </a:solidFill>
            <a:prstDash val="solid"/>
            <a:round/>
            <a:headEnd type="none" w="med" len="med"/>
            <a:tailEnd type="triangle"/>
          </a:ln>
          <a:effectLst/>
        </p:spPr>
      </p:cxnSp>
      <p:sp>
        <p:nvSpPr>
          <p:cNvPr id="54" name="Oval 4"/>
          <p:cNvSpPr>
            <a:spLocks noChangeAspect="1"/>
          </p:cNvSpPr>
          <p:nvPr/>
        </p:nvSpPr>
        <p:spPr>
          <a:xfrm>
            <a:off x="3195943" y="2082731"/>
            <a:ext cx="233175" cy="23317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Oval 4"/>
          <p:cNvSpPr>
            <a:spLocks noChangeAspect="1"/>
          </p:cNvSpPr>
          <p:nvPr/>
        </p:nvSpPr>
        <p:spPr>
          <a:xfrm>
            <a:off x="3195943" y="2969872"/>
            <a:ext cx="233175" cy="23317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Oval 4"/>
          <p:cNvSpPr>
            <a:spLocks noChangeAspect="1"/>
          </p:cNvSpPr>
          <p:nvPr/>
        </p:nvSpPr>
        <p:spPr>
          <a:xfrm>
            <a:off x="3195943" y="3851971"/>
            <a:ext cx="233175" cy="23317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Oval 4"/>
          <p:cNvSpPr>
            <a:spLocks noChangeAspect="1"/>
          </p:cNvSpPr>
          <p:nvPr/>
        </p:nvSpPr>
        <p:spPr>
          <a:xfrm>
            <a:off x="3195943" y="4734069"/>
            <a:ext cx="233175" cy="23317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任意多边形 16"/>
          <p:cNvSpPr/>
          <p:nvPr/>
        </p:nvSpPr>
        <p:spPr bwMode="auto">
          <a:xfrm>
            <a:off x="4108007" y="1878481"/>
            <a:ext cx="471054" cy="748145"/>
          </a:xfrm>
          <a:custGeom>
            <a:avLst/>
            <a:gdLst>
              <a:gd name="connsiteX0" fmla="*/ 0 w 471054"/>
              <a:gd name="connsiteY0" fmla="*/ 748145 h 748145"/>
              <a:gd name="connsiteX1" fmla="*/ 471054 w 471054"/>
              <a:gd name="connsiteY1" fmla="*/ 748145 h 748145"/>
              <a:gd name="connsiteX2" fmla="*/ 471054 w 471054"/>
              <a:gd name="connsiteY2" fmla="*/ 0 h 748145"/>
              <a:gd name="connsiteX3" fmla="*/ 18472 w 471054"/>
              <a:gd name="connsiteY3" fmla="*/ 0 h 748145"/>
            </a:gdLst>
            <a:ahLst/>
            <a:cxnLst>
              <a:cxn ang="0">
                <a:pos x="connsiteX0" y="connsiteY0"/>
              </a:cxn>
              <a:cxn ang="0">
                <a:pos x="connsiteX1" y="connsiteY1"/>
              </a:cxn>
              <a:cxn ang="0">
                <a:pos x="connsiteX2" y="connsiteY2"/>
              </a:cxn>
              <a:cxn ang="0">
                <a:pos x="connsiteX3" y="connsiteY3"/>
              </a:cxn>
            </a:cxnLst>
            <a:rect l="l" t="t" r="r" b="b"/>
            <a:pathLst>
              <a:path w="471054" h="748145">
                <a:moveTo>
                  <a:pt x="0" y="748145"/>
                </a:moveTo>
                <a:lnTo>
                  <a:pt x="471054" y="748145"/>
                </a:lnTo>
                <a:lnTo>
                  <a:pt x="471054" y="0"/>
                </a:lnTo>
                <a:lnTo>
                  <a:pt x="18472" y="0"/>
                </a:lnTo>
              </a:path>
            </a:pathLst>
          </a:custGeom>
          <a:noFill/>
          <a:ln w="19050" cap="flat" cmpd="sng" algn="ctr">
            <a:solidFill>
              <a:schemeClr val="tx1"/>
            </a:solidFill>
            <a:prstDash val="solid"/>
            <a:round/>
            <a:headEnd type="none" w="med" len="med"/>
            <a:tailEnd type="triangle"/>
          </a:ln>
          <a:effectLst/>
        </p:spPr>
        <p:txBody>
          <a:bodyPr vert="horz" wrap="square" lIns="91440" tIns="45720" rIns="91440" bIns="45720" numCol="1" rtlCol="0" anchor="t" anchorCtr="0" compatLnSpc="1"/>
          <a:lstStyle/>
          <a:p>
            <a:pPr marL="0" marR="0" indent="0" algn="l" defTabSz="914400" rtl="0" eaLnBrk="1" fontAlgn="t"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任意多边形 57"/>
          <p:cNvSpPr/>
          <p:nvPr/>
        </p:nvSpPr>
        <p:spPr bwMode="auto">
          <a:xfrm>
            <a:off x="4108006" y="1763314"/>
            <a:ext cx="649319" cy="1782668"/>
          </a:xfrm>
          <a:custGeom>
            <a:avLst/>
            <a:gdLst>
              <a:gd name="connsiteX0" fmla="*/ 0 w 471054"/>
              <a:gd name="connsiteY0" fmla="*/ 748145 h 748145"/>
              <a:gd name="connsiteX1" fmla="*/ 471054 w 471054"/>
              <a:gd name="connsiteY1" fmla="*/ 748145 h 748145"/>
              <a:gd name="connsiteX2" fmla="*/ 471054 w 471054"/>
              <a:gd name="connsiteY2" fmla="*/ 0 h 748145"/>
              <a:gd name="connsiteX3" fmla="*/ 18472 w 471054"/>
              <a:gd name="connsiteY3" fmla="*/ 0 h 748145"/>
            </a:gdLst>
            <a:ahLst/>
            <a:cxnLst>
              <a:cxn ang="0">
                <a:pos x="connsiteX0" y="connsiteY0"/>
              </a:cxn>
              <a:cxn ang="0">
                <a:pos x="connsiteX1" y="connsiteY1"/>
              </a:cxn>
              <a:cxn ang="0">
                <a:pos x="connsiteX2" y="connsiteY2"/>
              </a:cxn>
              <a:cxn ang="0">
                <a:pos x="connsiteX3" y="connsiteY3"/>
              </a:cxn>
            </a:cxnLst>
            <a:rect l="l" t="t" r="r" b="b"/>
            <a:pathLst>
              <a:path w="471054" h="748145">
                <a:moveTo>
                  <a:pt x="0" y="748145"/>
                </a:moveTo>
                <a:lnTo>
                  <a:pt x="471054" y="748145"/>
                </a:lnTo>
                <a:lnTo>
                  <a:pt x="471054" y="0"/>
                </a:lnTo>
                <a:lnTo>
                  <a:pt x="18472" y="0"/>
                </a:lnTo>
              </a:path>
            </a:pathLst>
          </a:custGeom>
          <a:noFill/>
          <a:ln w="19050" cap="flat" cmpd="sng" algn="ctr">
            <a:solidFill>
              <a:schemeClr val="tx1"/>
            </a:solidFill>
            <a:prstDash val="solid"/>
            <a:round/>
            <a:headEnd type="none" w="med" len="med"/>
            <a:tailEnd type="triangle"/>
          </a:ln>
          <a:effectLst/>
        </p:spPr>
        <p:txBody>
          <a:bodyPr vert="horz" wrap="square" lIns="91440" tIns="45720" rIns="91440" bIns="45720" numCol="1" rtlCol="0" anchor="t" anchorCtr="0" compatLnSpc="1"/>
          <a:lstStyle/>
          <a:p>
            <a:pPr marL="0" marR="0" indent="0" algn="l" defTabSz="914400" rtl="0" eaLnBrk="1" fontAlgn="t"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任意多边形 58"/>
          <p:cNvSpPr/>
          <p:nvPr/>
        </p:nvSpPr>
        <p:spPr bwMode="auto">
          <a:xfrm>
            <a:off x="4108006" y="1655301"/>
            <a:ext cx="865344" cy="2753993"/>
          </a:xfrm>
          <a:custGeom>
            <a:avLst/>
            <a:gdLst>
              <a:gd name="connsiteX0" fmla="*/ 0 w 471054"/>
              <a:gd name="connsiteY0" fmla="*/ 748145 h 748145"/>
              <a:gd name="connsiteX1" fmla="*/ 471054 w 471054"/>
              <a:gd name="connsiteY1" fmla="*/ 748145 h 748145"/>
              <a:gd name="connsiteX2" fmla="*/ 471054 w 471054"/>
              <a:gd name="connsiteY2" fmla="*/ 0 h 748145"/>
              <a:gd name="connsiteX3" fmla="*/ 18472 w 471054"/>
              <a:gd name="connsiteY3" fmla="*/ 0 h 748145"/>
            </a:gdLst>
            <a:ahLst/>
            <a:cxnLst>
              <a:cxn ang="0">
                <a:pos x="connsiteX0" y="connsiteY0"/>
              </a:cxn>
              <a:cxn ang="0">
                <a:pos x="connsiteX1" y="connsiteY1"/>
              </a:cxn>
              <a:cxn ang="0">
                <a:pos x="connsiteX2" y="connsiteY2"/>
              </a:cxn>
              <a:cxn ang="0">
                <a:pos x="connsiteX3" y="connsiteY3"/>
              </a:cxn>
            </a:cxnLst>
            <a:rect l="l" t="t" r="r" b="b"/>
            <a:pathLst>
              <a:path w="471054" h="748145">
                <a:moveTo>
                  <a:pt x="0" y="748145"/>
                </a:moveTo>
                <a:lnTo>
                  <a:pt x="471054" y="748145"/>
                </a:lnTo>
                <a:lnTo>
                  <a:pt x="471054" y="0"/>
                </a:lnTo>
                <a:lnTo>
                  <a:pt x="18472" y="0"/>
                </a:lnTo>
              </a:path>
            </a:pathLst>
          </a:custGeom>
          <a:noFill/>
          <a:ln w="19050" cap="flat" cmpd="sng" algn="ctr">
            <a:solidFill>
              <a:schemeClr val="tx1"/>
            </a:solidFill>
            <a:prstDash val="solid"/>
            <a:round/>
            <a:headEnd type="none" w="med" len="med"/>
            <a:tailEnd type="triangle"/>
          </a:ln>
          <a:effectLst/>
        </p:spPr>
        <p:txBody>
          <a:bodyPr vert="horz" wrap="square" lIns="91440" tIns="45720" rIns="91440" bIns="45720" numCol="1" rtlCol="0" anchor="t" anchorCtr="0" compatLnSpc="1"/>
          <a:lstStyle/>
          <a:p>
            <a:pPr marL="0" marR="0" indent="0" algn="l" defTabSz="914400" rtl="0" eaLnBrk="1" fontAlgn="t"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任意多边形 59"/>
          <p:cNvSpPr/>
          <p:nvPr/>
        </p:nvSpPr>
        <p:spPr bwMode="auto">
          <a:xfrm>
            <a:off x="4108006" y="1547289"/>
            <a:ext cx="1045364" cy="3807346"/>
          </a:xfrm>
          <a:custGeom>
            <a:avLst/>
            <a:gdLst>
              <a:gd name="connsiteX0" fmla="*/ 0 w 471054"/>
              <a:gd name="connsiteY0" fmla="*/ 748145 h 748145"/>
              <a:gd name="connsiteX1" fmla="*/ 471054 w 471054"/>
              <a:gd name="connsiteY1" fmla="*/ 748145 h 748145"/>
              <a:gd name="connsiteX2" fmla="*/ 471054 w 471054"/>
              <a:gd name="connsiteY2" fmla="*/ 0 h 748145"/>
              <a:gd name="connsiteX3" fmla="*/ 18472 w 471054"/>
              <a:gd name="connsiteY3" fmla="*/ 0 h 748145"/>
            </a:gdLst>
            <a:ahLst/>
            <a:cxnLst>
              <a:cxn ang="0">
                <a:pos x="connsiteX0" y="connsiteY0"/>
              </a:cxn>
              <a:cxn ang="0">
                <a:pos x="connsiteX1" y="connsiteY1"/>
              </a:cxn>
              <a:cxn ang="0">
                <a:pos x="connsiteX2" y="connsiteY2"/>
              </a:cxn>
              <a:cxn ang="0">
                <a:pos x="connsiteX3" y="connsiteY3"/>
              </a:cxn>
            </a:cxnLst>
            <a:rect l="l" t="t" r="r" b="b"/>
            <a:pathLst>
              <a:path w="471054" h="748145">
                <a:moveTo>
                  <a:pt x="0" y="748145"/>
                </a:moveTo>
                <a:lnTo>
                  <a:pt x="471054" y="748145"/>
                </a:lnTo>
                <a:lnTo>
                  <a:pt x="471054" y="0"/>
                </a:lnTo>
                <a:lnTo>
                  <a:pt x="18472" y="0"/>
                </a:lnTo>
              </a:path>
            </a:pathLst>
          </a:custGeom>
          <a:noFill/>
          <a:ln w="19050" cap="flat" cmpd="sng" algn="ctr">
            <a:solidFill>
              <a:schemeClr val="tx1"/>
            </a:solidFill>
            <a:prstDash val="solid"/>
            <a:round/>
            <a:headEnd type="none" w="med" len="med"/>
            <a:tailEnd type="triangle"/>
          </a:ln>
          <a:effectLst/>
        </p:spPr>
        <p:txBody>
          <a:bodyPr vert="horz" wrap="square" lIns="91440" tIns="45720" rIns="91440" bIns="45720" numCol="1" rtlCol="0" anchor="t" anchorCtr="0" compatLnSpc="1"/>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Oval 4"/>
          <p:cNvSpPr>
            <a:spLocks noChangeAspect="1"/>
          </p:cNvSpPr>
          <p:nvPr/>
        </p:nvSpPr>
        <p:spPr>
          <a:xfrm>
            <a:off x="4427980" y="2184611"/>
            <a:ext cx="233175" cy="23317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Oval 4"/>
          <p:cNvSpPr>
            <a:spLocks noChangeAspect="1"/>
          </p:cNvSpPr>
          <p:nvPr/>
        </p:nvSpPr>
        <p:spPr>
          <a:xfrm>
            <a:off x="4613282" y="2790213"/>
            <a:ext cx="233175" cy="23317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Oval 4"/>
          <p:cNvSpPr>
            <a:spLocks noChangeAspect="1"/>
          </p:cNvSpPr>
          <p:nvPr/>
        </p:nvSpPr>
        <p:spPr>
          <a:xfrm>
            <a:off x="4846457" y="3527509"/>
            <a:ext cx="233175" cy="23317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Oval 4"/>
          <p:cNvSpPr>
            <a:spLocks noChangeAspect="1"/>
          </p:cNvSpPr>
          <p:nvPr/>
        </p:nvSpPr>
        <p:spPr>
          <a:xfrm>
            <a:off x="5062673" y="4582005"/>
            <a:ext cx="233175" cy="23317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任意多边形 64"/>
          <p:cNvSpPr/>
          <p:nvPr/>
        </p:nvSpPr>
        <p:spPr bwMode="auto">
          <a:xfrm flipH="1">
            <a:off x="1656186" y="2790213"/>
            <a:ext cx="482251" cy="748145"/>
          </a:xfrm>
          <a:custGeom>
            <a:avLst/>
            <a:gdLst>
              <a:gd name="connsiteX0" fmla="*/ 0 w 471054"/>
              <a:gd name="connsiteY0" fmla="*/ 748145 h 748145"/>
              <a:gd name="connsiteX1" fmla="*/ 471054 w 471054"/>
              <a:gd name="connsiteY1" fmla="*/ 748145 h 748145"/>
              <a:gd name="connsiteX2" fmla="*/ 471054 w 471054"/>
              <a:gd name="connsiteY2" fmla="*/ 0 h 748145"/>
              <a:gd name="connsiteX3" fmla="*/ 18472 w 471054"/>
              <a:gd name="connsiteY3" fmla="*/ 0 h 748145"/>
            </a:gdLst>
            <a:ahLst/>
            <a:cxnLst>
              <a:cxn ang="0">
                <a:pos x="connsiteX0" y="connsiteY0"/>
              </a:cxn>
              <a:cxn ang="0">
                <a:pos x="connsiteX1" y="connsiteY1"/>
              </a:cxn>
              <a:cxn ang="0">
                <a:pos x="connsiteX2" y="connsiteY2"/>
              </a:cxn>
              <a:cxn ang="0">
                <a:pos x="connsiteX3" y="connsiteY3"/>
              </a:cxn>
            </a:cxnLst>
            <a:rect l="l" t="t" r="r" b="b"/>
            <a:pathLst>
              <a:path w="471054" h="748145">
                <a:moveTo>
                  <a:pt x="0" y="748145"/>
                </a:moveTo>
                <a:lnTo>
                  <a:pt x="471054" y="748145"/>
                </a:lnTo>
                <a:lnTo>
                  <a:pt x="471054" y="0"/>
                </a:lnTo>
                <a:lnTo>
                  <a:pt x="18472" y="0"/>
                </a:lnTo>
              </a:path>
            </a:pathLst>
          </a:custGeom>
          <a:noFill/>
          <a:ln w="19050" cap="flat" cmpd="sng" algn="ctr">
            <a:solidFill>
              <a:schemeClr val="tx1"/>
            </a:solidFill>
            <a:prstDash val="solid"/>
            <a:round/>
            <a:headEnd type="none" w="med" len="med"/>
            <a:tailEnd type="triangle"/>
          </a:ln>
          <a:effectLst/>
        </p:spPr>
        <p:txBody>
          <a:bodyPr vert="horz" wrap="square" lIns="91440" tIns="45720" rIns="91440" bIns="45720" numCol="1" rtlCol="0" anchor="t" anchorCtr="0" compatLnSpc="1"/>
          <a:lstStyle/>
          <a:p>
            <a:pPr marL="0" marR="0" indent="0" algn="l" defTabSz="914400" rtl="0" eaLnBrk="1" fontAlgn="t"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任意多边形 65"/>
          <p:cNvSpPr/>
          <p:nvPr/>
        </p:nvSpPr>
        <p:spPr bwMode="auto">
          <a:xfrm flipH="1">
            <a:off x="1510132" y="2654648"/>
            <a:ext cx="628303" cy="1754646"/>
          </a:xfrm>
          <a:custGeom>
            <a:avLst/>
            <a:gdLst>
              <a:gd name="connsiteX0" fmla="*/ 0 w 471054"/>
              <a:gd name="connsiteY0" fmla="*/ 748145 h 748145"/>
              <a:gd name="connsiteX1" fmla="*/ 471054 w 471054"/>
              <a:gd name="connsiteY1" fmla="*/ 748145 h 748145"/>
              <a:gd name="connsiteX2" fmla="*/ 471054 w 471054"/>
              <a:gd name="connsiteY2" fmla="*/ 0 h 748145"/>
              <a:gd name="connsiteX3" fmla="*/ 18472 w 471054"/>
              <a:gd name="connsiteY3" fmla="*/ 0 h 748145"/>
            </a:gdLst>
            <a:ahLst/>
            <a:cxnLst>
              <a:cxn ang="0">
                <a:pos x="connsiteX0" y="connsiteY0"/>
              </a:cxn>
              <a:cxn ang="0">
                <a:pos x="connsiteX1" y="connsiteY1"/>
              </a:cxn>
              <a:cxn ang="0">
                <a:pos x="connsiteX2" y="connsiteY2"/>
              </a:cxn>
              <a:cxn ang="0">
                <a:pos x="connsiteX3" y="connsiteY3"/>
              </a:cxn>
            </a:cxnLst>
            <a:rect l="l" t="t" r="r" b="b"/>
            <a:pathLst>
              <a:path w="471054" h="748145">
                <a:moveTo>
                  <a:pt x="0" y="748145"/>
                </a:moveTo>
                <a:lnTo>
                  <a:pt x="471054" y="748145"/>
                </a:lnTo>
                <a:lnTo>
                  <a:pt x="471054" y="0"/>
                </a:lnTo>
                <a:lnTo>
                  <a:pt x="18472" y="0"/>
                </a:lnTo>
              </a:path>
            </a:pathLst>
          </a:custGeom>
          <a:noFill/>
          <a:ln w="19050" cap="flat" cmpd="sng" algn="ctr">
            <a:solidFill>
              <a:schemeClr val="tx1"/>
            </a:solidFill>
            <a:prstDash val="solid"/>
            <a:round/>
            <a:headEnd type="none" w="med" len="med"/>
            <a:tailEnd type="triangle"/>
          </a:ln>
          <a:effectLst/>
        </p:spPr>
        <p:txBody>
          <a:bodyPr vert="horz" wrap="square" lIns="91440" tIns="45720" rIns="91440" bIns="45720" numCol="1" rtlCol="0" anchor="t" anchorCtr="0" compatLnSpc="1"/>
          <a:lstStyle/>
          <a:p>
            <a:pPr marL="0" marR="0" indent="0" algn="l" defTabSz="914400" rtl="0" eaLnBrk="1" fontAlgn="t"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任意多边形 66"/>
          <p:cNvSpPr/>
          <p:nvPr/>
        </p:nvSpPr>
        <p:spPr bwMode="auto">
          <a:xfrm flipH="1">
            <a:off x="1336945" y="2519397"/>
            <a:ext cx="801491" cy="2736309"/>
          </a:xfrm>
          <a:custGeom>
            <a:avLst/>
            <a:gdLst>
              <a:gd name="connsiteX0" fmla="*/ 0 w 471054"/>
              <a:gd name="connsiteY0" fmla="*/ 748145 h 748145"/>
              <a:gd name="connsiteX1" fmla="*/ 471054 w 471054"/>
              <a:gd name="connsiteY1" fmla="*/ 748145 h 748145"/>
              <a:gd name="connsiteX2" fmla="*/ 471054 w 471054"/>
              <a:gd name="connsiteY2" fmla="*/ 0 h 748145"/>
              <a:gd name="connsiteX3" fmla="*/ 18472 w 471054"/>
              <a:gd name="connsiteY3" fmla="*/ 0 h 748145"/>
            </a:gdLst>
            <a:ahLst/>
            <a:cxnLst>
              <a:cxn ang="0">
                <a:pos x="connsiteX0" y="connsiteY0"/>
              </a:cxn>
              <a:cxn ang="0">
                <a:pos x="connsiteX1" y="connsiteY1"/>
              </a:cxn>
              <a:cxn ang="0">
                <a:pos x="connsiteX2" y="connsiteY2"/>
              </a:cxn>
              <a:cxn ang="0">
                <a:pos x="connsiteX3" y="connsiteY3"/>
              </a:cxn>
            </a:cxnLst>
            <a:rect l="l" t="t" r="r" b="b"/>
            <a:pathLst>
              <a:path w="471054" h="748145">
                <a:moveTo>
                  <a:pt x="0" y="748145"/>
                </a:moveTo>
                <a:lnTo>
                  <a:pt x="471054" y="748145"/>
                </a:lnTo>
                <a:lnTo>
                  <a:pt x="471054" y="0"/>
                </a:lnTo>
                <a:lnTo>
                  <a:pt x="18472" y="0"/>
                </a:lnTo>
              </a:path>
            </a:pathLst>
          </a:custGeom>
          <a:noFill/>
          <a:ln w="19050" cap="flat" cmpd="sng" algn="ctr">
            <a:solidFill>
              <a:schemeClr val="tx1"/>
            </a:solidFill>
            <a:prstDash val="solid"/>
            <a:round/>
            <a:headEnd type="none" w="med" len="med"/>
            <a:tailEnd type="triangle"/>
          </a:ln>
          <a:effectLst/>
        </p:spPr>
        <p:txBody>
          <a:bodyPr vert="horz" wrap="square" lIns="91440" tIns="45720" rIns="91440" bIns="45720" numCol="1" rtlCol="0" anchor="t" anchorCtr="0" compatLnSpc="1"/>
          <a:lstStyle/>
          <a:p>
            <a:pPr marL="0" marR="0" indent="0" algn="l" defTabSz="914400" rtl="0" eaLnBrk="1" fontAlgn="t"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Oval 4"/>
          <p:cNvSpPr>
            <a:spLocks noChangeAspect="1"/>
          </p:cNvSpPr>
          <p:nvPr/>
        </p:nvSpPr>
        <p:spPr>
          <a:xfrm>
            <a:off x="1606240" y="3410921"/>
            <a:ext cx="233175" cy="23317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Oval 4"/>
          <p:cNvSpPr>
            <a:spLocks noChangeAspect="1"/>
          </p:cNvSpPr>
          <p:nvPr/>
        </p:nvSpPr>
        <p:spPr>
          <a:xfrm>
            <a:off x="1462493" y="4276137"/>
            <a:ext cx="233175" cy="23317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Oval 4"/>
          <p:cNvSpPr>
            <a:spLocks noChangeAspect="1"/>
          </p:cNvSpPr>
          <p:nvPr/>
        </p:nvSpPr>
        <p:spPr>
          <a:xfrm>
            <a:off x="1220356" y="5119526"/>
            <a:ext cx="233175" cy="23317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椭圆 70"/>
          <p:cNvSpPr>
            <a:spLocks noChangeAspect="1"/>
          </p:cNvSpPr>
          <p:nvPr/>
        </p:nvSpPr>
        <p:spPr>
          <a:xfrm>
            <a:off x="5886920" y="2089978"/>
            <a:ext cx="210355" cy="21035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文本框 71"/>
          <p:cNvSpPr txBox="1"/>
          <p:nvPr/>
        </p:nvSpPr>
        <p:spPr>
          <a:xfrm>
            <a:off x="6087714" y="2039064"/>
            <a:ext cx="3672800" cy="338554"/>
          </a:xfrm>
          <a:prstGeom prst="rect">
            <a:avLst/>
          </a:prstGeom>
          <a:noFill/>
        </p:spPr>
        <p:txBody>
          <a:bodyPr wrap="none" rtlCol="0">
            <a:spAutoFit/>
          </a:bodyPr>
          <a:lstStyle/>
          <a:p>
            <a:pPr fontAlgn="auto">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接口初始化或激活，自动进入阻塞状态</a:t>
            </a:r>
          </a:p>
        </p:txBody>
      </p:sp>
      <p:sp>
        <p:nvSpPr>
          <p:cNvPr id="73" name="椭圆 72"/>
          <p:cNvSpPr>
            <a:spLocks noChangeAspect="1"/>
          </p:cNvSpPr>
          <p:nvPr/>
        </p:nvSpPr>
        <p:spPr>
          <a:xfrm>
            <a:off x="5886920" y="2855396"/>
            <a:ext cx="210355" cy="21035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p:cNvSpPr txBox="1"/>
          <p:nvPr/>
        </p:nvSpPr>
        <p:spPr>
          <a:xfrm>
            <a:off x="6087714" y="2804482"/>
            <a:ext cx="4903907" cy="338554"/>
          </a:xfrm>
          <a:prstGeom prst="rect">
            <a:avLst/>
          </a:prstGeom>
          <a:noFill/>
        </p:spPr>
        <p:txBody>
          <a:bodyPr wrap="none" rtlCol="0">
            <a:spAutoFit/>
          </a:bodyPr>
          <a:lstStyle/>
          <a:p>
            <a:pPr fontAlgn="auto">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接口被选举为根接口或指定接口，自动进入侦听状态</a:t>
            </a:r>
          </a:p>
        </p:txBody>
      </p:sp>
      <p:sp>
        <p:nvSpPr>
          <p:cNvPr id="80" name="椭圆 79"/>
          <p:cNvSpPr>
            <a:spLocks noChangeAspect="1"/>
          </p:cNvSpPr>
          <p:nvPr/>
        </p:nvSpPr>
        <p:spPr>
          <a:xfrm>
            <a:off x="5886920" y="3620814"/>
            <a:ext cx="210355" cy="21035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文本框 80"/>
          <p:cNvSpPr txBox="1"/>
          <p:nvPr/>
        </p:nvSpPr>
        <p:spPr>
          <a:xfrm>
            <a:off x="6087714" y="3569900"/>
            <a:ext cx="4903907" cy="338554"/>
          </a:xfrm>
          <a:prstGeom prst="rect">
            <a:avLst/>
          </a:prstGeom>
          <a:noFill/>
        </p:spPr>
        <p:txBody>
          <a:bodyPr wrap="none" rtlCol="0">
            <a:spAutoFit/>
          </a:bodyPr>
          <a:lstStyle/>
          <a:p>
            <a:pPr fontAlgn="auto">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转发延迟计时器超时且接口依然为根接口或指定接口</a:t>
            </a:r>
          </a:p>
        </p:txBody>
      </p:sp>
      <p:sp>
        <p:nvSpPr>
          <p:cNvPr id="83" name="椭圆 82"/>
          <p:cNvSpPr>
            <a:spLocks noChangeAspect="1"/>
          </p:cNvSpPr>
          <p:nvPr/>
        </p:nvSpPr>
        <p:spPr>
          <a:xfrm>
            <a:off x="5886920" y="4386232"/>
            <a:ext cx="210355" cy="21035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文本框 83"/>
          <p:cNvSpPr txBox="1"/>
          <p:nvPr/>
        </p:nvSpPr>
        <p:spPr>
          <a:xfrm>
            <a:off x="6087714" y="4335318"/>
            <a:ext cx="3877985" cy="338554"/>
          </a:xfrm>
          <a:prstGeom prst="rect">
            <a:avLst/>
          </a:prstGeom>
          <a:noFill/>
        </p:spPr>
        <p:txBody>
          <a:bodyPr wrap="none" rtlCol="0">
            <a:spAutoFit/>
          </a:bodyPr>
          <a:lstStyle/>
          <a:p>
            <a:pPr fontAlgn="auto">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接口不再是根接口或指定接口或指定状态</a:t>
            </a:r>
          </a:p>
        </p:txBody>
      </p:sp>
      <p:sp>
        <p:nvSpPr>
          <p:cNvPr id="86" name="椭圆 85"/>
          <p:cNvSpPr>
            <a:spLocks noChangeAspect="1"/>
          </p:cNvSpPr>
          <p:nvPr/>
        </p:nvSpPr>
        <p:spPr>
          <a:xfrm>
            <a:off x="5886920" y="5151648"/>
            <a:ext cx="210355" cy="210355"/>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文本框 86"/>
          <p:cNvSpPr txBox="1"/>
          <p:nvPr/>
        </p:nvSpPr>
        <p:spPr>
          <a:xfrm>
            <a:off x="6087714" y="5100734"/>
            <a:ext cx="2441694" cy="338554"/>
          </a:xfrm>
          <a:prstGeom prst="rect">
            <a:avLst/>
          </a:prstGeom>
          <a:noFill/>
        </p:spPr>
        <p:txBody>
          <a:bodyPr wrap="none" rtlCol="0">
            <a:spAutoFit/>
          </a:bodyPr>
          <a:lstStyle/>
          <a:p>
            <a:pPr fontAlgn="auto">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接口被禁用或者链路失效</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拓扑变化 </a:t>
            </a:r>
            <a:r>
              <a:rPr lang="en-US" altLang="zh-CN">
                <a:sym typeface="Huawei Sans" panose="020C0503030203020204" pitchFamily="34" charset="0"/>
              </a:rPr>
              <a:t>- </a:t>
            </a:r>
            <a:r>
              <a:rPr lang="zh-CN" altLang="en-US">
                <a:sym typeface="Huawei Sans" panose="020C0503030203020204" pitchFamily="34" charset="0"/>
              </a:rPr>
              <a:t>根桥故障</a:t>
            </a:r>
            <a:endParaRPr lang="zh-CN" altLang="en-US" dirty="0">
              <a:sym typeface="Huawei Sans" panose="020C0503030203020204" pitchFamily="34" charset="0"/>
            </a:endParaRPr>
          </a:p>
        </p:txBody>
      </p:sp>
      <p:cxnSp>
        <p:nvCxnSpPr>
          <p:cNvPr id="22" name="直接箭头连接符 21"/>
          <p:cNvCxnSpPr/>
          <p:nvPr/>
        </p:nvCxnSpPr>
        <p:spPr>
          <a:xfrm>
            <a:off x="1589686" y="3018755"/>
            <a:ext cx="398154" cy="62626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V="1">
            <a:off x="3176379" y="3470724"/>
            <a:ext cx="430000" cy="654506"/>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1928248" y="2392805"/>
            <a:ext cx="861042"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7" name="椭圆 26"/>
          <p:cNvSpPr>
            <a:spLocks noChangeAspect="1"/>
          </p:cNvSpPr>
          <p:nvPr/>
        </p:nvSpPr>
        <p:spPr>
          <a:xfrm>
            <a:off x="3114364" y="3985353"/>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椭圆 27"/>
          <p:cNvSpPr>
            <a:spLocks noChangeAspect="1"/>
          </p:cNvSpPr>
          <p:nvPr/>
        </p:nvSpPr>
        <p:spPr>
          <a:xfrm>
            <a:off x="1838393" y="2276872"/>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0" name="直接箭头连接符 29"/>
          <p:cNvCxnSpPr/>
          <p:nvPr/>
        </p:nvCxnSpPr>
        <p:spPr>
          <a:xfrm flipH="1">
            <a:off x="3977267" y="3031124"/>
            <a:ext cx="414670" cy="68643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1" name="椭圆 30"/>
          <p:cNvSpPr>
            <a:spLocks noChangeAspect="1"/>
          </p:cNvSpPr>
          <p:nvPr/>
        </p:nvSpPr>
        <p:spPr>
          <a:xfrm>
            <a:off x="4249702" y="2996985"/>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椭圆 31"/>
          <p:cNvSpPr>
            <a:spLocks noChangeAspect="1"/>
          </p:cNvSpPr>
          <p:nvPr/>
        </p:nvSpPr>
        <p:spPr>
          <a:xfrm>
            <a:off x="1475689" y="2925266"/>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圆角矩形 35"/>
          <p:cNvSpPr/>
          <p:nvPr/>
        </p:nvSpPr>
        <p:spPr>
          <a:xfrm>
            <a:off x="5927004" y="1827338"/>
            <a:ext cx="5688632" cy="40067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根桥故障恢复过程</a:t>
            </a:r>
          </a:p>
        </p:txBody>
      </p:sp>
      <p:sp>
        <p:nvSpPr>
          <p:cNvPr id="37" name="圆角矩形 36"/>
          <p:cNvSpPr/>
          <p:nvPr/>
        </p:nvSpPr>
        <p:spPr>
          <a:xfrm>
            <a:off x="5927004" y="2337663"/>
            <a:ext cx="5688632" cy="3613557"/>
          </a:xfrm>
          <a:prstGeom prst="roundRect">
            <a:avLst>
              <a:gd name="adj" fmla="val 184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342900" indent="-342900" algn="just" fontAlgn="auto">
              <a:lnSpc>
                <a:spcPts val="2600"/>
              </a:lnSpc>
              <a:spcBef>
                <a:spcPts val="0"/>
              </a:spcBef>
              <a:spcAft>
                <a:spcPts val="600"/>
              </a:spcAft>
              <a:buFont typeface="+mj-lt"/>
              <a:buAutoNum type="arabicPeriod"/>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根桥发生故障，停止发送</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a:t>
            </a:r>
          </a:p>
          <a:p>
            <a:pPr marL="342900" indent="-342900" algn="just" fontAlgn="auto">
              <a:lnSpc>
                <a:spcPts val="2600"/>
              </a:lnSpc>
              <a:spcBef>
                <a:spcPts val="0"/>
              </a:spcBef>
              <a:spcAft>
                <a:spcPts val="600"/>
              </a:spcAft>
              <a:buFont typeface="+mj-lt"/>
              <a:buAutoNum type="arabicPeriod"/>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等待</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Max Age</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计时器（</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20 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）超时，从而导致已经收到的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报文失效，又接收不到根桥发送的新的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报文，从而得知上游出现故障。</a:t>
            </a:r>
          </a:p>
          <a:p>
            <a:pPr marL="342900" indent="-342900" algn="just" fontAlgn="auto">
              <a:lnSpc>
                <a:spcPts val="2600"/>
              </a:lnSpc>
              <a:spcBef>
                <a:spcPts val="0"/>
              </a:spcBef>
              <a:spcAft>
                <a:spcPts val="6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非根桥会互相发送配置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，重新选举新的根桥。</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fontAlgn="auto">
              <a:lnSpc>
                <a:spcPts val="2600"/>
              </a:lnSpc>
              <a:spcBef>
                <a:spcPts val="0"/>
              </a:spcBef>
              <a:spcAft>
                <a:spcPts val="6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经过重新选举后，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端口经过两个</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 Delay</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15 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）时间恢复转发状态。</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非根桥会在</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老化之后开始根桥的重新选举。</a:t>
            </a: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根桥故障会导致</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50 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左右的恢复时间。</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lnSpc>
                <a:spcPts val="2600"/>
              </a:lnSpc>
              <a:spcBef>
                <a:spcPts val="0"/>
              </a:spcBef>
              <a:spcAft>
                <a:spcPts val="600"/>
              </a:spcAft>
            </a:pP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a:xfrm>
            <a:off x="657337" y="2427271"/>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a:xfrm>
            <a:off x="4727103" y="2464370"/>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0" name="组合 39"/>
          <p:cNvGrpSpPr/>
          <p:nvPr/>
        </p:nvGrpSpPr>
        <p:grpSpPr>
          <a:xfrm flipV="1">
            <a:off x="1609745" y="2673501"/>
            <a:ext cx="2745630" cy="2115270"/>
            <a:chOff x="6600056" y="4353447"/>
            <a:chExt cx="1296144" cy="833967"/>
          </a:xfrm>
        </p:grpSpPr>
        <p:cxnSp>
          <p:nvCxnSpPr>
            <p:cNvPr id="41" name="直接连接符 40"/>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 name="直接连接符 42"/>
          <p:cNvCxnSpPr/>
          <p:nvPr/>
        </p:nvCxnSpPr>
        <p:spPr>
          <a:xfrm flipH="1">
            <a:off x="1475689" y="2612815"/>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4" name="图片 76" descr="接入交换机.png"/>
          <p:cNvPicPr>
            <a:picLocks noChangeAspect="1"/>
          </p:cNvPicPr>
          <p:nvPr/>
        </p:nvPicPr>
        <p:blipFill>
          <a:blip r:embed="rId3" cstate="print"/>
          <a:stretch>
            <a:fillRect/>
          </a:stretch>
        </p:blipFill>
        <p:spPr>
          <a:xfrm>
            <a:off x="4231790" y="2427271"/>
            <a:ext cx="490909" cy="401653"/>
          </a:xfrm>
          <a:prstGeom prst="rect">
            <a:avLst/>
          </a:prstGeom>
        </p:spPr>
      </p:pic>
      <p:pic>
        <p:nvPicPr>
          <p:cNvPr id="45" name="图片 76" descr="接入交换机.png"/>
          <p:cNvPicPr>
            <a:picLocks noChangeAspect="1"/>
          </p:cNvPicPr>
          <p:nvPr/>
        </p:nvPicPr>
        <p:blipFill>
          <a:blip r:embed="rId3" cstate="print"/>
          <a:stretch>
            <a:fillRect/>
          </a:stretch>
        </p:blipFill>
        <p:spPr>
          <a:xfrm>
            <a:off x="2737106" y="4439034"/>
            <a:ext cx="490909" cy="401653"/>
          </a:xfrm>
          <a:prstGeom prst="rect">
            <a:avLst/>
          </a:prstGeom>
        </p:spPr>
      </p:pic>
      <p:sp>
        <p:nvSpPr>
          <p:cNvPr id="46" name="文本框 45"/>
          <p:cNvSpPr txBox="1"/>
          <p:nvPr/>
        </p:nvSpPr>
        <p:spPr>
          <a:xfrm>
            <a:off x="2695462" y="4858004"/>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1" name="图片 76" descr="接入交换机.png"/>
          <p:cNvPicPr>
            <a:picLocks noChangeAspect="1"/>
          </p:cNvPicPr>
          <p:nvPr/>
        </p:nvPicPr>
        <p:blipFill>
          <a:blip r:embed="rId3" cstate="print"/>
          <a:stretch>
            <a:fillRect/>
          </a:stretch>
        </p:blipFill>
        <p:spPr>
          <a:xfrm>
            <a:off x="1242083" y="2423070"/>
            <a:ext cx="490909" cy="401653"/>
          </a:xfrm>
          <a:prstGeom prst="rect">
            <a:avLst/>
          </a:prstGeom>
        </p:spPr>
      </p:pic>
      <p:sp>
        <p:nvSpPr>
          <p:cNvPr id="49" name="椭圆 48"/>
          <p:cNvSpPr>
            <a:spLocks noChangeAspect="1"/>
          </p:cNvSpPr>
          <p:nvPr/>
        </p:nvSpPr>
        <p:spPr>
          <a:xfrm>
            <a:off x="3117114" y="4286107"/>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a:xfrm>
            <a:off x="449478" y="1986669"/>
            <a:ext cx="2222083"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4096.4c1f-aabc-102a</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a:xfrm>
            <a:off x="3346799" y="1985104"/>
            <a:ext cx="2228495"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4096.4c1f-aabc-102b</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a:xfrm>
            <a:off x="2013742" y="5200070"/>
            <a:ext cx="2201244"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4096.4c1f-aabc-102c</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1" name="组合 60"/>
          <p:cNvGrpSpPr/>
          <p:nvPr/>
        </p:nvGrpSpPr>
        <p:grpSpPr>
          <a:xfrm>
            <a:off x="1327069" y="2464370"/>
            <a:ext cx="288000" cy="288000"/>
            <a:chOff x="856677" y="2615810"/>
            <a:chExt cx="288000" cy="288000"/>
          </a:xfrm>
        </p:grpSpPr>
        <p:sp>
          <p:nvSpPr>
            <p:cNvPr id="62" name="椭圆 61"/>
            <p:cNvSpPr/>
            <p:nvPr/>
          </p:nvSpPr>
          <p:spPr>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3" name="组合 62"/>
            <p:cNvGrpSpPr/>
            <p:nvPr/>
          </p:nvGrpSpPr>
          <p:grpSpPr>
            <a:xfrm>
              <a:off x="923444" y="2692169"/>
              <a:ext cx="144001" cy="144002"/>
              <a:chOff x="898853" y="2657982"/>
              <a:chExt cx="203649" cy="203652"/>
            </a:xfrm>
          </p:grpSpPr>
          <p:cxnSp>
            <p:nvCxnSpPr>
              <p:cNvPr id="64" name="直接连接符 63"/>
              <p:cNvCxnSpPr>
                <a:stCxn id="62" idx="3"/>
                <a:endCxn id="62" idx="7"/>
              </p:cNvCxnSpPr>
              <p:nvPr/>
            </p:nvCxnSpPr>
            <p:spPr>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65" name="直接连接符 64"/>
              <p:cNvCxnSpPr>
                <a:stCxn id="62" idx="1"/>
                <a:endCxn id="62" idx="5"/>
              </p:cNvCxnSpPr>
              <p:nvPr/>
            </p:nvCxnSpPr>
            <p:spPr>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grpSp>
        <p:nvGrpSpPr>
          <p:cNvPr id="66" name="组合 65"/>
          <p:cNvGrpSpPr/>
          <p:nvPr/>
        </p:nvGrpSpPr>
        <p:grpSpPr>
          <a:xfrm>
            <a:off x="1678568" y="3206244"/>
            <a:ext cx="288000" cy="288000"/>
            <a:chOff x="856677" y="2615810"/>
            <a:chExt cx="288000" cy="288000"/>
          </a:xfrm>
        </p:grpSpPr>
        <p:sp>
          <p:nvSpPr>
            <p:cNvPr id="67" name="椭圆 66"/>
            <p:cNvSpPr/>
            <p:nvPr/>
          </p:nvSpPr>
          <p:spPr>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8" name="组合 67"/>
            <p:cNvGrpSpPr/>
            <p:nvPr/>
          </p:nvGrpSpPr>
          <p:grpSpPr>
            <a:xfrm>
              <a:off x="923444" y="2692169"/>
              <a:ext cx="144001" cy="144002"/>
              <a:chOff x="898853" y="2657982"/>
              <a:chExt cx="203649" cy="203652"/>
            </a:xfrm>
          </p:grpSpPr>
          <p:cxnSp>
            <p:nvCxnSpPr>
              <p:cNvPr id="69" name="直接连接符 68"/>
              <p:cNvCxnSpPr>
                <a:stCxn id="67" idx="3"/>
                <a:endCxn id="67" idx="7"/>
              </p:cNvCxnSpPr>
              <p:nvPr/>
            </p:nvCxnSpPr>
            <p:spPr>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70" name="直接连接符 69"/>
              <p:cNvCxnSpPr>
                <a:stCxn id="67" idx="1"/>
                <a:endCxn id="67" idx="5"/>
              </p:cNvCxnSpPr>
              <p:nvPr/>
            </p:nvCxnSpPr>
            <p:spPr>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grpSp>
        <p:nvGrpSpPr>
          <p:cNvPr id="71" name="组合 70"/>
          <p:cNvGrpSpPr/>
          <p:nvPr/>
        </p:nvGrpSpPr>
        <p:grpSpPr>
          <a:xfrm>
            <a:off x="2186272" y="2251000"/>
            <a:ext cx="288000" cy="288000"/>
            <a:chOff x="856677" y="2615810"/>
            <a:chExt cx="288000" cy="288000"/>
          </a:xfrm>
        </p:grpSpPr>
        <p:sp>
          <p:nvSpPr>
            <p:cNvPr id="72" name="椭圆 71"/>
            <p:cNvSpPr/>
            <p:nvPr/>
          </p:nvSpPr>
          <p:spPr>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3" name="组合 72"/>
            <p:cNvGrpSpPr/>
            <p:nvPr/>
          </p:nvGrpSpPr>
          <p:grpSpPr>
            <a:xfrm>
              <a:off x="923444" y="2692169"/>
              <a:ext cx="144001" cy="144002"/>
              <a:chOff x="898853" y="2657982"/>
              <a:chExt cx="203649" cy="203652"/>
            </a:xfrm>
          </p:grpSpPr>
          <p:cxnSp>
            <p:nvCxnSpPr>
              <p:cNvPr id="74" name="直接连接符 73"/>
              <p:cNvCxnSpPr>
                <a:stCxn id="72" idx="3"/>
                <a:endCxn id="72" idx="7"/>
              </p:cNvCxnSpPr>
              <p:nvPr/>
            </p:nvCxnSpPr>
            <p:spPr>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75" name="直接连接符 74"/>
              <p:cNvCxnSpPr>
                <a:stCxn id="72" idx="1"/>
                <a:endCxn id="72" idx="5"/>
              </p:cNvCxnSpPr>
              <p:nvPr/>
            </p:nvCxnSpPr>
            <p:spPr>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
        <p:nvSpPr>
          <p:cNvPr id="48" name="Oval 4"/>
          <p:cNvSpPr>
            <a:spLocks noChangeAspect="1"/>
          </p:cNvSpPr>
          <p:nvPr/>
        </p:nvSpPr>
        <p:spPr>
          <a:xfrm>
            <a:off x="2068605" y="2684731"/>
            <a:ext cx="252000" cy="252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Oval 4"/>
          <p:cNvSpPr>
            <a:spLocks noChangeAspect="1"/>
          </p:cNvSpPr>
          <p:nvPr/>
        </p:nvSpPr>
        <p:spPr>
          <a:xfrm>
            <a:off x="4371487" y="2481264"/>
            <a:ext cx="252000" cy="252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Oval 4"/>
          <p:cNvSpPr>
            <a:spLocks noChangeAspect="1"/>
          </p:cNvSpPr>
          <p:nvPr/>
        </p:nvSpPr>
        <p:spPr>
          <a:xfrm>
            <a:off x="4322517" y="3365517"/>
            <a:ext cx="252000" cy="252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Oval 4"/>
          <p:cNvSpPr>
            <a:spLocks noChangeAspect="1"/>
          </p:cNvSpPr>
          <p:nvPr/>
        </p:nvSpPr>
        <p:spPr>
          <a:xfrm>
            <a:off x="3490131" y="4562729"/>
            <a:ext cx="252000" cy="252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拓扑变化 </a:t>
            </a:r>
            <a:r>
              <a:rPr lang="en-US" altLang="zh-CN">
                <a:sym typeface="Huawei Sans" panose="020C0503030203020204" pitchFamily="34" charset="0"/>
              </a:rPr>
              <a:t>- </a:t>
            </a:r>
            <a:r>
              <a:rPr lang="zh-CN" altLang="en-US">
                <a:sym typeface="Huawei Sans" panose="020C0503030203020204" pitchFamily="34" charset="0"/>
              </a:rPr>
              <a:t>直连链路故障</a:t>
            </a:r>
            <a:endParaRPr lang="zh-CN" altLang="en-US" dirty="0">
              <a:sym typeface="Huawei Sans" panose="020C0503030203020204" pitchFamily="34" charset="0"/>
            </a:endParaRPr>
          </a:p>
        </p:txBody>
      </p:sp>
      <p:sp>
        <p:nvSpPr>
          <p:cNvPr id="36" name="圆角矩形 35"/>
          <p:cNvSpPr/>
          <p:nvPr/>
        </p:nvSpPr>
        <p:spPr>
          <a:xfrm>
            <a:off x="5879976" y="1827338"/>
            <a:ext cx="5735660" cy="400674"/>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直连链路故障恢复过程</a:t>
            </a:r>
          </a:p>
        </p:txBody>
      </p:sp>
      <p:sp>
        <p:nvSpPr>
          <p:cNvPr id="37" name="圆角矩形 36"/>
          <p:cNvSpPr/>
          <p:nvPr/>
        </p:nvSpPr>
        <p:spPr>
          <a:xfrm>
            <a:off x="5927004" y="2337664"/>
            <a:ext cx="5688632" cy="2451108"/>
          </a:xfrm>
          <a:prstGeom prst="roundRect">
            <a:avLst>
              <a:gd name="adj" fmla="val 184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algn="just" fontAlgn="auto">
              <a:lnSpc>
                <a:spcPts val="2600"/>
              </a:lnSpc>
              <a:spcBef>
                <a:spcPts val="0"/>
              </a:spcBef>
              <a:spcAft>
                <a:spcPts val="60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当交换机</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网络稳定时检测到根端口的链路发生故障，则其备用端口会经过两倍的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 Delay</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15s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）时间进入用户流量转发状态。</a:t>
            </a:r>
          </a:p>
          <a:p>
            <a:pPr marL="177800" indent="-177800" algn="just" fontAlgn="auto">
              <a:lnSpc>
                <a:spcPts val="2600"/>
              </a:lnSpc>
              <a:spcBef>
                <a:spcPts val="0"/>
              </a:spcBef>
              <a:spcAft>
                <a:spcPts val="600"/>
              </a:spcAft>
              <a:buFont typeface="Arial" panose="020B0604020202020204" pitchFamily="34" charset="0"/>
              <a:buChar char="•"/>
            </a:pPr>
            <a:r>
              <a:rPr lang="en-US" altLang="zh-CN"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检测</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到直连链路物理故障后，会将预备端口转换为根端口。</a:t>
            </a: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直连链路故障，备用端口会经过</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30s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后恢复转发状态。</a:t>
            </a:r>
          </a:p>
          <a:p>
            <a:pPr marL="177800" indent="-177800" algn="just" fontAlgn="auto">
              <a:lnSpc>
                <a:spcPts val="2600"/>
              </a:lnSpc>
              <a:spcBef>
                <a:spcPts val="0"/>
              </a:spcBef>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lnSpc>
                <a:spcPts val="2600"/>
              </a:lnSpc>
              <a:spcBef>
                <a:spcPts val="0"/>
              </a:spcBef>
              <a:spcAft>
                <a:spcPts val="600"/>
              </a:spcAft>
            </a:pP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a:xfrm>
            <a:off x="657337" y="2427271"/>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a:xfrm>
            <a:off x="4727103" y="2464370"/>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0" name="组合 39"/>
          <p:cNvGrpSpPr/>
          <p:nvPr/>
        </p:nvGrpSpPr>
        <p:grpSpPr>
          <a:xfrm flipV="1">
            <a:off x="1609745" y="2673501"/>
            <a:ext cx="2745630" cy="2115270"/>
            <a:chOff x="6600056" y="4353447"/>
            <a:chExt cx="1296144" cy="833967"/>
          </a:xfrm>
        </p:grpSpPr>
        <p:cxnSp>
          <p:nvCxnSpPr>
            <p:cNvPr id="41" name="直接连接符 40"/>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 name="直接连接符 42"/>
          <p:cNvCxnSpPr/>
          <p:nvPr/>
        </p:nvCxnSpPr>
        <p:spPr>
          <a:xfrm flipH="1">
            <a:off x="1475689" y="2563387"/>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4" name="图片 76" descr="接入交换机.png"/>
          <p:cNvPicPr>
            <a:picLocks noChangeAspect="1"/>
          </p:cNvPicPr>
          <p:nvPr/>
        </p:nvPicPr>
        <p:blipFill>
          <a:blip r:embed="rId3" cstate="print"/>
          <a:stretch>
            <a:fillRect/>
          </a:stretch>
        </p:blipFill>
        <p:spPr>
          <a:xfrm>
            <a:off x="4231790" y="2427271"/>
            <a:ext cx="490909" cy="401653"/>
          </a:xfrm>
          <a:prstGeom prst="rect">
            <a:avLst/>
          </a:prstGeom>
        </p:spPr>
      </p:pic>
      <p:pic>
        <p:nvPicPr>
          <p:cNvPr id="45" name="图片 76" descr="接入交换机.png"/>
          <p:cNvPicPr>
            <a:picLocks noChangeAspect="1"/>
          </p:cNvPicPr>
          <p:nvPr/>
        </p:nvPicPr>
        <p:blipFill>
          <a:blip r:embed="rId3" cstate="print"/>
          <a:stretch>
            <a:fillRect/>
          </a:stretch>
        </p:blipFill>
        <p:spPr>
          <a:xfrm>
            <a:off x="2737106" y="4439034"/>
            <a:ext cx="490909" cy="401653"/>
          </a:xfrm>
          <a:prstGeom prst="rect">
            <a:avLst/>
          </a:prstGeom>
        </p:spPr>
      </p:pic>
      <p:sp>
        <p:nvSpPr>
          <p:cNvPr id="46" name="文本框 45"/>
          <p:cNvSpPr txBox="1"/>
          <p:nvPr/>
        </p:nvSpPr>
        <p:spPr>
          <a:xfrm>
            <a:off x="2695462" y="4858004"/>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1" name="图片 76" descr="接入交换机.png"/>
          <p:cNvPicPr>
            <a:picLocks noChangeAspect="1"/>
          </p:cNvPicPr>
          <p:nvPr/>
        </p:nvPicPr>
        <p:blipFill>
          <a:blip r:embed="rId3" cstate="print"/>
          <a:stretch>
            <a:fillRect/>
          </a:stretch>
        </p:blipFill>
        <p:spPr>
          <a:xfrm>
            <a:off x="1242083" y="2423070"/>
            <a:ext cx="490909" cy="401653"/>
          </a:xfrm>
          <a:prstGeom prst="rect">
            <a:avLst/>
          </a:prstGeom>
        </p:spPr>
      </p:pic>
      <p:sp>
        <p:nvSpPr>
          <p:cNvPr id="49" name="椭圆 48"/>
          <p:cNvSpPr>
            <a:spLocks noChangeAspect="1"/>
          </p:cNvSpPr>
          <p:nvPr/>
        </p:nvSpPr>
        <p:spPr>
          <a:xfrm>
            <a:off x="3117114" y="4286107"/>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a:xfrm>
            <a:off x="449478" y="1986669"/>
            <a:ext cx="2222083"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4096.4c1f-aabc-102a</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a:xfrm>
            <a:off x="3346799" y="1985104"/>
            <a:ext cx="2228495"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4096.4c1f-aabc-102b</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a:xfrm>
            <a:off x="2013742" y="5200070"/>
            <a:ext cx="2201244"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4096.4c1f-aabc-102c</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1" name="直接连接符 60"/>
          <p:cNvCxnSpPr/>
          <p:nvPr/>
        </p:nvCxnSpPr>
        <p:spPr>
          <a:xfrm>
            <a:off x="1732992" y="2710396"/>
            <a:ext cx="2498798" cy="4201"/>
          </a:xfrm>
          <a:prstGeom prst="line">
            <a:avLst/>
          </a:prstGeom>
          <a:ln w="19050">
            <a:solidFill>
              <a:srgbClr val="151515"/>
            </a:solidFill>
            <a:prstDash val="dash"/>
          </a:ln>
        </p:spPr>
        <p:style>
          <a:lnRef idx="1">
            <a:schemeClr val="accent1"/>
          </a:lnRef>
          <a:fillRef idx="0">
            <a:schemeClr val="accent1"/>
          </a:fillRef>
          <a:effectRef idx="0">
            <a:schemeClr val="accent1"/>
          </a:effectRef>
          <a:fontRef idx="minor">
            <a:schemeClr val="tx1"/>
          </a:fontRef>
        </p:style>
      </p:cxnSp>
      <p:sp>
        <p:nvSpPr>
          <p:cNvPr id="63" name="椭圆 62"/>
          <p:cNvSpPr>
            <a:spLocks noChangeAspect="1"/>
          </p:cNvSpPr>
          <p:nvPr/>
        </p:nvSpPr>
        <p:spPr>
          <a:xfrm>
            <a:off x="4049598" y="2610871"/>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8" name="组合 27"/>
          <p:cNvGrpSpPr/>
          <p:nvPr/>
        </p:nvGrpSpPr>
        <p:grpSpPr>
          <a:xfrm>
            <a:off x="2857664" y="2403949"/>
            <a:ext cx="288000" cy="288000"/>
            <a:chOff x="856677" y="2615810"/>
            <a:chExt cx="288000" cy="288000"/>
          </a:xfrm>
        </p:grpSpPr>
        <p:sp>
          <p:nvSpPr>
            <p:cNvPr id="29" name="椭圆 28"/>
            <p:cNvSpPr/>
            <p:nvPr/>
          </p:nvSpPr>
          <p:spPr>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0" name="组合 29"/>
            <p:cNvGrpSpPr/>
            <p:nvPr/>
          </p:nvGrpSpPr>
          <p:grpSpPr>
            <a:xfrm>
              <a:off x="923444" y="2692169"/>
              <a:ext cx="144001" cy="144002"/>
              <a:chOff x="898853" y="2657982"/>
              <a:chExt cx="203649" cy="203652"/>
            </a:xfrm>
          </p:grpSpPr>
          <p:cxnSp>
            <p:nvCxnSpPr>
              <p:cNvPr id="31" name="直接连接符 30"/>
              <p:cNvCxnSpPr>
                <a:stCxn id="29" idx="3"/>
                <a:endCxn id="29" idx="7"/>
              </p:cNvCxnSpPr>
              <p:nvPr/>
            </p:nvCxnSpPr>
            <p:spPr>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32" name="直接连接符 31"/>
              <p:cNvCxnSpPr>
                <a:stCxn id="29" idx="1"/>
                <a:endCxn id="29" idx="5"/>
              </p:cNvCxnSpPr>
              <p:nvPr/>
            </p:nvCxnSpPr>
            <p:spPr>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拓扑变化 </a:t>
            </a:r>
            <a:r>
              <a:rPr lang="en-US" altLang="zh-CN">
                <a:sym typeface="Huawei Sans" panose="020C0503030203020204" pitchFamily="34" charset="0"/>
              </a:rPr>
              <a:t>– </a:t>
            </a:r>
            <a:r>
              <a:rPr lang="zh-CN" altLang="en-US">
                <a:sym typeface="Huawei Sans" panose="020C0503030203020204" pitchFamily="34" charset="0"/>
              </a:rPr>
              <a:t>非直连链路故障</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p:txBody>
          <a:bodyPr/>
          <a:lstStyle/>
          <a:p>
            <a:r>
              <a:rPr lang="zh-CN" altLang="en-US">
                <a:sym typeface="Huawei Sans" panose="020C0503030203020204" pitchFamily="34" charset="0"/>
              </a:rPr>
              <a:t>非直连链路故障后，</a:t>
            </a:r>
            <a:r>
              <a:rPr lang="en-US" altLang="zh-CN">
                <a:sym typeface="Huawei Sans" panose="020C0503030203020204" pitchFamily="34" charset="0"/>
              </a:rPr>
              <a:t>SW3</a:t>
            </a:r>
            <a:r>
              <a:rPr lang="zh-CN" altLang="en-US">
                <a:sym typeface="Huawei Sans" panose="020C0503030203020204" pitchFamily="34" charset="0"/>
              </a:rPr>
              <a:t>的备用端口恢复到转发状态，非直连故障会导致</a:t>
            </a:r>
            <a:r>
              <a:rPr lang="en-US" altLang="zh-CN">
                <a:sym typeface="Huawei Sans" panose="020C0503030203020204" pitchFamily="34" charset="0"/>
              </a:rPr>
              <a:t>50s</a:t>
            </a:r>
            <a:r>
              <a:rPr lang="zh-CN" altLang="en-US">
                <a:sym typeface="Huawei Sans" panose="020C0503030203020204" pitchFamily="34" charset="0"/>
              </a:rPr>
              <a:t>左右的恢复时间。</a:t>
            </a:r>
          </a:p>
          <a:p>
            <a:endParaRPr lang="zh-CN" altLang="en-US" dirty="0">
              <a:sym typeface="Huawei Sans" panose="020C0503030203020204" pitchFamily="34" charset="0"/>
            </a:endParaRPr>
          </a:p>
        </p:txBody>
      </p:sp>
      <p:grpSp>
        <p:nvGrpSpPr>
          <p:cNvPr id="3" name="组合 2"/>
          <p:cNvGrpSpPr/>
          <p:nvPr/>
        </p:nvGrpSpPr>
        <p:grpSpPr>
          <a:xfrm>
            <a:off x="463060" y="2446040"/>
            <a:ext cx="5125816" cy="3553520"/>
            <a:chOff x="449478" y="1985104"/>
            <a:chExt cx="5125816" cy="3553520"/>
          </a:xfrm>
        </p:grpSpPr>
        <p:sp>
          <p:nvSpPr>
            <p:cNvPr id="38" name="文本框 37"/>
            <p:cNvSpPr txBox="1"/>
            <p:nvPr/>
          </p:nvSpPr>
          <p:spPr>
            <a:xfrm>
              <a:off x="657337" y="2427271"/>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a:xfrm>
              <a:off x="4727103" y="2464370"/>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0" name="组合 39"/>
            <p:cNvGrpSpPr/>
            <p:nvPr/>
          </p:nvGrpSpPr>
          <p:grpSpPr>
            <a:xfrm flipV="1">
              <a:off x="1609745" y="2673501"/>
              <a:ext cx="2745630" cy="2115270"/>
              <a:chOff x="6600056" y="4353447"/>
              <a:chExt cx="1296144" cy="833967"/>
            </a:xfrm>
          </p:grpSpPr>
          <p:cxnSp>
            <p:nvCxnSpPr>
              <p:cNvPr id="41" name="直接连接符 40"/>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 name="直接连接符 42"/>
            <p:cNvCxnSpPr/>
            <p:nvPr/>
          </p:nvCxnSpPr>
          <p:spPr>
            <a:xfrm flipH="1">
              <a:off x="1475689" y="2611513"/>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4" name="图片 76" descr="接入交换机.png"/>
            <p:cNvPicPr>
              <a:picLocks noChangeAspect="1"/>
            </p:cNvPicPr>
            <p:nvPr/>
          </p:nvPicPr>
          <p:blipFill>
            <a:blip r:embed="rId3" cstate="print"/>
            <a:stretch>
              <a:fillRect/>
            </a:stretch>
          </p:blipFill>
          <p:spPr>
            <a:xfrm>
              <a:off x="4231790" y="2427271"/>
              <a:ext cx="490909" cy="401653"/>
            </a:xfrm>
            <a:prstGeom prst="rect">
              <a:avLst/>
            </a:prstGeom>
          </p:spPr>
        </p:pic>
        <p:pic>
          <p:nvPicPr>
            <p:cNvPr id="45" name="图片 76" descr="接入交换机.png"/>
            <p:cNvPicPr>
              <a:picLocks noChangeAspect="1"/>
            </p:cNvPicPr>
            <p:nvPr/>
          </p:nvPicPr>
          <p:blipFill>
            <a:blip r:embed="rId3" cstate="print"/>
            <a:stretch>
              <a:fillRect/>
            </a:stretch>
          </p:blipFill>
          <p:spPr>
            <a:xfrm>
              <a:off x="2737106" y="4439034"/>
              <a:ext cx="490909" cy="401653"/>
            </a:xfrm>
            <a:prstGeom prst="rect">
              <a:avLst/>
            </a:prstGeom>
          </p:spPr>
        </p:pic>
        <p:sp>
          <p:nvSpPr>
            <p:cNvPr id="46" name="文本框 45"/>
            <p:cNvSpPr txBox="1"/>
            <p:nvPr/>
          </p:nvSpPr>
          <p:spPr>
            <a:xfrm>
              <a:off x="2695462" y="4858004"/>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1" name="图片 76" descr="接入交换机.png"/>
            <p:cNvPicPr>
              <a:picLocks noChangeAspect="1"/>
            </p:cNvPicPr>
            <p:nvPr/>
          </p:nvPicPr>
          <p:blipFill>
            <a:blip r:embed="rId3" cstate="print"/>
            <a:stretch>
              <a:fillRect/>
            </a:stretch>
          </p:blipFill>
          <p:spPr>
            <a:xfrm>
              <a:off x="1242083" y="2423070"/>
              <a:ext cx="490909" cy="401653"/>
            </a:xfrm>
            <a:prstGeom prst="rect">
              <a:avLst/>
            </a:prstGeom>
          </p:spPr>
        </p:pic>
        <p:sp>
          <p:nvSpPr>
            <p:cNvPr id="49" name="椭圆 48"/>
            <p:cNvSpPr>
              <a:spLocks noChangeAspect="1"/>
            </p:cNvSpPr>
            <p:nvPr/>
          </p:nvSpPr>
          <p:spPr>
            <a:xfrm>
              <a:off x="3117114" y="4286107"/>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a:xfrm>
              <a:off x="449478" y="1986669"/>
              <a:ext cx="2222083"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4096.4c1f-aabc-102a</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a:xfrm>
              <a:off x="3346799" y="1985104"/>
              <a:ext cx="2228495"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4096.4c1f-aabc-102b</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a:xfrm>
              <a:off x="2013742" y="5200070"/>
              <a:ext cx="2201244"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4096.4c1f-aabc-102c</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8" name="直接箭头连接符 27"/>
            <p:cNvCxnSpPr/>
            <p:nvPr/>
          </p:nvCxnSpPr>
          <p:spPr>
            <a:xfrm>
              <a:off x="1589686" y="3018755"/>
              <a:ext cx="398154" cy="62626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1928248" y="2414071"/>
              <a:ext cx="861042" cy="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0" name="椭圆 29"/>
            <p:cNvSpPr>
              <a:spLocks noChangeAspect="1"/>
            </p:cNvSpPr>
            <p:nvPr/>
          </p:nvSpPr>
          <p:spPr>
            <a:xfrm>
              <a:off x="1838393" y="2298138"/>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椭圆 30"/>
            <p:cNvSpPr>
              <a:spLocks noChangeAspect="1"/>
            </p:cNvSpPr>
            <p:nvPr/>
          </p:nvSpPr>
          <p:spPr>
            <a:xfrm>
              <a:off x="1475689" y="2925266"/>
              <a:ext cx="211345" cy="211345"/>
            </a:xfrm>
            <a:prstGeom prst="ellipse">
              <a:avLst/>
            </a:prstGeom>
            <a:solidFill>
              <a:schemeClr val="bg1"/>
            </a:solidFill>
            <a:ln w="3810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椭圆 31"/>
            <p:cNvSpPr>
              <a:spLocks noChangeAspect="1"/>
            </p:cNvSpPr>
            <p:nvPr/>
          </p:nvSpPr>
          <p:spPr>
            <a:xfrm>
              <a:off x="4115550" y="2765825"/>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5" name="组合 64"/>
          <p:cNvGrpSpPr/>
          <p:nvPr/>
        </p:nvGrpSpPr>
        <p:grpSpPr>
          <a:xfrm>
            <a:off x="6545478" y="2484140"/>
            <a:ext cx="5125816" cy="3553520"/>
            <a:chOff x="449478" y="1985104"/>
            <a:chExt cx="5125816" cy="3553520"/>
          </a:xfrm>
        </p:grpSpPr>
        <p:sp>
          <p:nvSpPr>
            <p:cNvPr id="66" name="文本框 65"/>
            <p:cNvSpPr txBox="1"/>
            <p:nvPr/>
          </p:nvSpPr>
          <p:spPr>
            <a:xfrm>
              <a:off x="657337" y="2427271"/>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文本框 66"/>
            <p:cNvSpPr txBox="1"/>
            <p:nvPr/>
          </p:nvSpPr>
          <p:spPr>
            <a:xfrm>
              <a:off x="4727103" y="2464370"/>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8" name="组合 67"/>
            <p:cNvGrpSpPr/>
            <p:nvPr/>
          </p:nvGrpSpPr>
          <p:grpSpPr>
            <a:xfrm flipV="1">
              <a:off x="1609745" y="2673501"/>
              <a:ext cx="2745630" cy="2115270"/>
              <a:chOff x="6600056" y="4353447"/>
              <a:chExt cx="1296144" cy="833967"/>
            </a:xfrm>
          </p:grpSpPr>
          <p:cxnSp>
            <p:nvCxnSpPr>
              <p:cNvPr id="84" name="直接连接符 83"/>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9" name="直接连接符 68"/>
            <p:cNvCxnSpPr/>
            <p:nvPr/>
          </p:nvCxnSpPr>
          <p:spPr>
            <a:xfrm flipH="1">
              <a:off x="1475689" y="2611513"/>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0" name="图片 76" descr="接入交换机.png"/>
            <p:cNvPicPr>
              <a:picLocks noChangeAspect="1"/>
            </p:cNvPicPr>
            <p:nvPr/>
          </p:nvPicPr>
          <p:blipFill>
            <a:blip r:embed="rId3" cstate="print"/>
            <a:stretch>
              <a:fillRect/>
            </a:stretch>
          </p:blipFill>
          <p:spPr>
            <a:xfrm>
              <a:off x="4231790" y="2427271"/>
              <a:ext cx="490909" cy="401653"/>
            </a:xfrm>
            <a:prstGeom prst="rect">
              <a:avLst/>
            </a:prstGeom>
          </p:spPr>
        </p:pic>
        <p:pic>
          <p:nvPicPr>
            <p:cNvPr id="71" name="图片 76" descr="接入交换机.png"/>
            <p:cNvPicPr>
              <a:picLocks noChangeAspect="1"/>
            </p:cNvPicPr>
            <p:nvPr/>
          </p:nvPicPr>
          <p:blipFill>
            <a:blip r:embed="rId3" cstate="print"/>
            <a:stretch>
              <a:fillRect/>
            </a:stretch>
          </p:blipFill>
          <p:spPr>
            <a:xfrm>
              <a:off x="2737106" y="4439034"/>
              <a:ext cx="490909" cy="401653"/>
            </a:xfrm>
            <a:prstGeom prst="rect">
              <a:avLst/>
            </a:prstGeom>
          </p:spPr>
        </p:pic>
        <p:sp>
          <p:nvSpPr>
            <p:cNvPr id="72" name="文本框 71"/>
            <p:cNvSpPr txBox="1"/>
            <p:nvPr/>
          </p:nvSpPr>
          <p:spPr>
            <a:xfrm>
              <a:off x="2695462" y="4858004"/>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3" name="图片 76" descr="接入交换机.png"/>
            <p:cNvPicPr>
              <a:picLocks noChangeAspect="1"/>
            </p:cNvPicPr>
            <p:nvPr/>
          </p:nvPicPr>
          <p:blipFill>
            <a:blip r:embed="rId3" cstate="print"/>
            <a:stretch>
              <a:fillRect/>
            </a:stretch>
          </p:blipFill>
          <p:spPr>
            <a:xfrm>
              <a:off x="1242083" y="2423070"/>
              <a:ext cx="490909" cy="401653"/>
            </a:xfrm>
            <a:prstGeom prst="rect">
              <a:avLst/>
            </a:prstGeom>
          </p:spPr>
        </p:pic>
        <p:sp>
          <p:nvSpPr>
            <p:cNvPr id="76" name="文本框 75"/>
            <p:cNvSpPr txBox="1"/>
            <p:nvPr/>
          </p:nvSpPr>
          <p:spPr>
            <a:xfrm>
              <a:off x="449478" y="1986669"/>
              <a:ext cx="2222083"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4096.4c1f-aabc-102a</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p:cNvSpPr txBox="1"/>
            <p:nvPr/>
          </p:nvSpPr>
          <p:spPr>
            <a:xfrm>
              <a:off x="3346799" y="1985104"/>
              <a:ext cx="2228495"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4096.4c1f-aabc-102b</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文本框 77"/>
            <p:cNvSpPr txBox="1"/>
            <p:nvPr/>
          </p:nvSpPr>
          <p:spPr>
            <a:xfrm>
              <a:off x="2013742" y="5200070"/>
              <a:ext cx="2201244" cy="338554"/>
            </a:xfrm>
            <a:prstGeom prst="rect">
              <a:avLst/>
            </a:prstGeom>
            <a:noFill/>
          </p:spPr>
          <p:txBody>
            <a:bodyPr wrap="none" rtlCol="0">
              <a:spAutoFit/>
            </a:bodyPr>
            <a:lstStyle/>
            <a:p>
              <a:pPr fontAlgn="auto">
                <a:spcBef>
                  <a:spcPts val="0"/>
                </a:spcBef>
                <a:spcAft>
                  <a:spcPts val="0"/>
                </a:spcAft>
              </a:pPr>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4096.4c1f-aabc-102c</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9" name="直接箭头连接符 78"/>
            <p:cNvCxnSpPr/>
            <p:nvPr/>
          </p:nvCxnSpPr>
          <p:spPr>
            <a:xfrm>
              <a:off x="1589686" y="3018755"/>
              <a:ext cx="398154" cy="626269"/>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2" name="椭圆 81"/>
            <p:cNvSpPr>
              <a:spLocks noChangeAspect="1"/>
            </p:cNvSpPr>
            <p:nvPr/>
          </p:nvSpPr>
          <p:spPr>
            <a:xfrm>
              <a:off x="1475689" y="2925266"/>
              <a:ext cx="211345" cy="211345"/>
            </a:xfrm>
            <a:prstGeom prst="ellipse">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椭圆 82"/>
            <p:cNvSpPr>
              <a:spLocks noChangeAspect="1"/>
            </p:cNvSpPr>
            <p:nvPr/>
          </p:nvSpPr>
          <p:spPr>
            <a:xfrm>
              <a:off x="4115550" y="2765825"/>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86" name="直接箭头连接符 85"/>
          <p:cNvCxnSpPr/>
          <p:nvPr/>
        </p:nvCxnSpPr>
        <p:spPr>
          <a:xfrm flipV="1">
            <a:off x="9297779" y="3931660"/>
            <a:ext cx="430000" cy="654506"/>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7" name="椭圆 86"/>
          <p:cNvSpPr>
            <a:spLocks noChangeAspect="1"/>
          </p:cNvSpPr>
          <p:nvPr/>
        </p:nvSpPr>
        <p:spPr>
          <a:xfrm>
            <a:off x="9235764" y="4446289"/>
            <a:ext cx="211345" cy="211345"/>
          </a:xfrm>
          <a:prstGeom prst="ellipse">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8" name="直接箭头连接符 87"/>
          <p:cNvCxnSpPr/>
          <p:nvPr/>
        </p:nvCxnSpPr>
        <p:spPr>
          <a:xfrm flipH="1">
            <a:off x="10098667" y="3492060"/>
            <a:ext cx="414670" cy="686435"/>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9" name="椭圆 88"/>
          <p:cNvSpPr>
            <a:spLocks noChangeAspect="1"/>
          </p:cNvSpPr>
          <p:nvPr/>
        </p:nvSpPr>
        <p:spPr>
          <a:xfrm>
            <a:off x="10371102" y="3457921"/>
            <a:ext cx="211345" cy="211345"/>
          </a:xfrm>
          <a:prstGeom prst="ellipse">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椭圆 89"/>
          <p:cNvSpPr>
            <a:spLocks noChangeAspect="1"/>
          </p:cNvSpPr>
          <p:nvPr/>
        </p:nvSpPr>
        <p:spPr>
          <a:xfrm>
            <a:off x="9220585" y="4785012"/>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0" name="组合 59"/>
          <p:cNvGrpSpPr/>
          <p:nvPr/>
        </p:nvGrpSpPr>
        <p:grpSpPr>
          <a:xfrm>
            <a:off x="2817562" y="2913484"/>
            <a:ext cx="288000" cy="288000"/>
            <a:chOff x="856677" y="2615810"/>
            <a:chExt cx="288000" cy="288000"/>
          </a:xfrm>
        </p:grpSpPr>
        <p:sp>
          <p:nvSpPr>
            <p:cNvPr id="61" name="椭圆 60"/>
            <p:cNvSpPr/>
            <p:nvPr/>
          </p:nvSpPr>
          <p:spPr>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2" name="组合 61"/>
            <p:cNvGrpSpPr/>
            <p:nvPr/>
          </p:nvGrpSpPr>
          <p:grpSpPr>
            <a:xfrm>
              <a:off x="923444" y="2692169"/>
              <a:ext cx="144001" cy="144002"/>
              <a:chOff x="898853" y="2657982"/>
              <a:chExt cx="203649" cy="203652"/>
            </a:xfrm>
          </p:grpSpPr>
          <p:cxnSp>
            <p:nvCxnSpPr>
              <p:cNvPr id="63" name="直接连接符 62"/>
              <p:cNvCxnSpPr>
                <a:stCxn id="61" idx="3"/>
                <a:endCxn id="61" idx="7"/>
              </p:cNvCxnSpPr>
              <p:nvPr/>
            </p:nvCxnSpPr>
            <p:spPr>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64" name="直接连接符 63"/>
              <p:cNvCxnSpPr>
                <a:stCxn id="61" idx="1"/>
                <a:endCxn id="61" idx="5"/>
              </p:cNvCxnSpPr>
              <p:nvPr/>
            </p:nvCxnSpPr>
            <p:spPr>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grpSp>
        <p:nvGrpSpPr>
          <p:cNvPr id="75" name="组合 74"/>
          <p:cNvGrpSpPr/>
          <p:nvPr/>
        </p:nvGrpSpPr>
        <p:grpSpPr>
          <a:xfrm>
            <a:off x="8930690" y="2975386"/>
            <a:ext cx="288000" cy="288000"/>
            <a:chOff x="856677" y="2615810"/>
            <a:chExt cx="288000" cy="288000"/>
          </a:xfrm>
        </p:grpSpPr>
        <p:sp>
          <p:nvSpPr>
            <p:cNvPr id="80" name="椭圆 79"/>
            <p:cNvSpPr/>
            <p:nvPr/>
          </p:nvSpPr>
          <p:spPr>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1" name="组合 80"/>
            <p:cNvGrpSpPr/>
            <p:nvPr/>
          </p:nvGrpSpPr>
          <p:grpSpPr>
            <a:xfrm>
              <a:off x="923444" y="2692169"/>
              <a:ext cx="144001" cy="144002"/>
              <a:chOff x="898853" y="2657982"/>
              <a:chExt cx="203649" cy="203652"/>
            </a:xfrm>
          </p:grpSpPr>
          <p:cxnSp>
            <p:nvCxnSpPr>
              <p:cNvPr id="91" name="直接连接符 90"/>
              <p:cNvCxnSpPr>
                <a:stCxn id="80" idx="3"/>
                <a:endCxn id="80" idx="7"/>
              </p:cNvCxnSpPr>
              <p:nvPr/>
            </p:nvCxnSpPr>
            <p:spPr>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92" name="直接连接符 91"/>
              <p:cNvCxnSpPr>
                <a:stCxn id="80" idx="1"/>
                <a:endCxn id="80" idx="5"/>
              </p:cNvCxnSpPr>
              <p:nvPr/>
            </p:nvCxnSpPr>
            <p:spPr>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
        <p:nvSpPr>
          <p:cNvPr id="74" name="Right Arrow 157"/>
          <p:cNvSpPr/>
          <p:nvPr/>
        </p:nvSpPr>
        <p:spPr>
          <a:xfrm>
            <a:off x="5480857" y="4014507"/>
            <a:ext cx="909866" cy="479139"/>
          </a:xfrm>
          <a:prstGeom prst="rightArrow">
            <a:avLst>
              <a:gd name="adj1" fmla="val 40000"/>
              <a:gd name="adj2" fmla="val 50000"/>
            </a:avLst>
          </a:prstGeom>
          <a:gradFill flip="none" rotWithShape="1">
            <a:gsLst>
              <a:gs pos="15000">
                <a:schemeClr val="accent1">
                  <a:lumMod val="5000"/>
                  <a:lumOff val="95000"/>
                  <a:alpha val="0"/>
                </a:schemeClr>
              </a:gs>
              <a:gs pos="81000">
                <a:srgbClr val="99DFF9"/>
              </a:gs>
            </a:gsLst>
            <a:lin ang="0" scaled="1"/>
            <a:tileRect/>
          </a:gradFill>
          <a:ln w="15875">
            <a:gradFill flip="none" rotWithShape="1">
              <a:gsLst>
                <a:gs pos="0">
                  <a:schemeClr val="accent1">
                    <a:lumMod val="5000"/>
                    <a:lumOff val="95000"/>
                  </a:schemeClr>
                </a:gs>
                <a:gs pos="100000">
                  <a:srgbClr val="00B0F0"/>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拓扑改变导致</a:t>
            </a:r>
            <a:r>
              <a:rPr lang="en-US" altLang="zh-CN">
                <a:sym typeface="Huawei Sans" panose="020C0503030203020204" pitchFamily="34" charset="0"/>
              </a:rPr>
              <a:t>MAC</a:t>
            </a:r>
            <a:r>
              <a:rPr lang="zh-CN" altLang="en-US">
                <a:sym typeface="Huawei Sans" panose="020C0503030203020204" pitchFamily="34" charset="0"/>
              </a:rPr>
              <a:t>地址表错误</a:t>
            </a:r>
            <a:endParaRPr lang="zh-CN" altLang="en-US" dirty="0">
              <a:sym typeface="Huawei Sans" panose="020C0503030203020204" pitchFamily="34" charset="0"/>
            </a:endParaRPr>
          </a:p>
        </p:txBody>
      </p:sp>
      <p:graphicFrame>
        <p:nvGraphicFramePr>
          <p:cNvPr id="4" name="表格 3"/>
          <p:cNvGraphicFramePr>
            <a:graphicFrameLocks noGrp="1"/>
          </p:cNvGraphicFramePr>
          <p:nvPr/>
        </p:nvGraphicFramePr>
        <p:xfrm>
          <a:off x="2300705" y="1986066"/>
          <a:ext cx="3795295" cy="1135065"/>
        </p:xfrm>
        <a:graphic>
          <a:graphicData uri="http://schemas.openxmlformats.org/drawingml/2006/table">
            <a:tbl>
              <a:tblPr firstRow="1" bandRow="1">
                <a:tableStyleId>{5C22544A-7EE6-4342-B048-85BDC9FD1C3A}</a:tableStyleId>
              </a:tblPr>
              <a:tblGrid>
                <a:gridCol w="2180276">
                  <a:extLst>
                    <a:ext uri="{9D8B030D-6E8A-4147-A177-3AD203B41FA5}">
                      <a16:colId xmlns:a16="http://schemas.microsoft.com/office/drawing/2014/main" val="20000"/>
                    </a:ext>
                  </a:extLst>
                </a:gridCol>
                <a:gridCol w="1615019">
                  <a:extLst>
                    <a:ext uri="{9D8B030D-6E8A-4147-A177-3AD203B41FA5}">
                      <a16:colId xmlns:a16="http://schemas.microsoft.com/office/drawing/2014/main" val="20001"/>
                    </a:ext>
                  </a:extLst>
                </a:gridCol>
              </a:tblGrid>
              <a:tr h="249072">
                <a:tc>
                  <a:txBody>
                    <a:bodyPr/>
                    <a:lstStyle/>
                    <a:p>
                      <a:pPr algn="ctr">
                        <a:lnSpc>
                          <a:spcPct val="150000"/>
                        </a:lnSpc>
                      </a:pPr>
                      <a:r>
                        <a:rPr lang="en-US" altLang="zh-CN" sz="1400" b="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MAC</a:t>
                      </a:r>
                      <a:endParaRPr lang="zh-CN" altLang="en-US" sz="1400" b="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5" marR="91445" marT="45699" marB="45699"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tc>
                  <a:txBody>
                    <a:bodyPr/>
                    <a:lstStyle/>
                    <a:p>
                      <a:pPr algn="ctr">
                        <a:lnSpc>
                          <a:spcPct val="150000"/>
                        </a:lnSpc>
                      </a:pPr>
                      <a:r>
                        <a:rPr lang="zh-CN" altLang="en-US" sz="1400" b="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端口</a:t>
                      </a:r>
                    </a:p>
                  </a:txBody>
                  <a:tcPr marL="91445" marR="91445" marT="45699" marB="45699"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249072">
                <a:tc>
                  <a:txBody>
                    <a:bodyPr/>
                    <a:lstStyle/>
                    <a:p>
                      <a:pPr marL="0" marR="0" indent="0" algn="ctr" defTabSz="914400" rtl="0" eaLnBrk="1" fontAlgn="auto" latinLnBrk="0" hangingPunct="1">
                        <a:lnSpc>
                          <a:spcPct val="150000"/>
                        </a:lnSpc>
                        <a:spcBef>
                          <a:spcPts val="0"/>
                        </a:spcBef>
                        <a:spcAft>
                          <a:spcPts val="0"/>
                        </a:spcAft>
                        <a:buClrTx/>
                        <a:buSzTx/>
                        <a:buFontTx/>
                        <a:buNone/>
                        <a:defRPr/>
                      </a:pPr>
                      <a:r>
                        <a:rPr lang="en-US" altLang="zh-CN" sz="1400" kern="1200" dirty="0">
                          <a:solidFill>
                            <a:schemeClr val="dk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00-05-06-07-08-AA</a:t>
                      </a:r>
                      <a:endParaRPr lang="zh-CN" altLang="en-US" sz="1400" kern="1200" dirty="0">
                        <a:solidFill>
                          <a:schemeClr val="dk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5" marR="91445" marT="45699" marB="45699"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tc>
                  <a:txBody>
                    <a:bodyPr/>
                    <a:lstStyle/>
                    <a:p>
                      <a:pPr algn="ctr">
                        <a:lnSpc>
                          <a:spcPct val="150000"/>
                        </a:lnSpc>
                      </a:pP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GE0/0/1</a:t>
                      </a:r>
                      <a:endPar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5" marR="91445" marT="45699" marB="45699"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49072">
                <a:tc>
                  <a:txBody>
                    <a:bodyPr/>
                    <a:lstStyle/>
                    <a:p>
                      <a:pPr marL="0" marR="0" indent="0" algn="ctr" defTabSz="914400" rtl="0" eaLnBrk="1" fontAlgn="auto" latinLnBrk="0" hangingPunct="1">
                        <a:lnSpc>
                          <a:spcPct val="150000"/>
                        </a:lnSpc>
                        <a:spcBef>
                          <a:spcPts val="0"/>
                        </a:spcBef>
                        <a:spcAft>
                          <a:spcPts val="0"/>
                        </a:spcAft>
                        <a:buClrTx/>
                        <a:buSzTx/>
                        <a:buFontTx/>
                        <a:buNone/>
                        <a:defRPr/>
                      </a:pPr>
                      <a:r>
                        <a:rPr lang="en-US" altLang="zh-CN" sz="1400" kern="1200" dirty="0">
                          <a:solidFill>
                            <a:schemeClr val="dk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00-05-06-07-08-BB</a:t>
                      </a:r>
                      <a:endParaRPr lang="zh-CN" altLang="en-US" sz="1400" kern="1200" dirty="0">
                        <a:solidFill>
                          <a:schemeClr val="dk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5" marR="91445" marT="45699" marB="45699"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tc>
                  <a:txBody>
                    <a:bodyPr/>
                    <a:lstStyle/>
                    <a:p>
                      <a:pPr algn="ctr">
                        <a:lnSpc>
                          <a:spcPct val="150000"/>
                        </a:lnSpc>
                      </a:pPr>
                      <a:r>
                        <a:rPr lang="en-US" altLang="zh-CN" sz="1400" kern="1200" dirty="0">
                          <a:solidFill>
                            <a:schemeClr val="dk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GE0/0/3</a:t>
                      </a:r>
                      <a:endParaRPr lang="zh-CN" altLang="en-US" sz="1400" kern="1200" dirty="0">
                        <a:solidFill>
                          <a:schemeClr val="dk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45" marR="91445" marT="45699" marB="45699"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cxnSp>
        <p:nvCxnSpPr>
          <p:cNvPr id="10" name="直接连接符 22"/>
          <p:cNvCxnSpPr>
            <a:cxnSpLocks noChangeShapeType="1"/>
            <a:stCxn id="31" idx="0"/>
            <a:endCxn id="58" idx="2"/>
          </p:cNvCxnSpPr>
          <p:nvPr/>
        </p:nvCxnSpPr>
        <p:spPr bwMode="auto">
          <a:xfrm flipV="1">
            <a:off x="6704484" y="4109415"/>
            <a:ext cx="6257" cy="681633"/>
          </a:xfrm>
          <a:prstGeom prst="line">
            <a:avLst/>
          </a:prstGeom>
          <a:noFill/>
          <a:ln w="28575" algn="ctr">
            <a:solidFill>
              <a:schemeClr val="tx1"/>
            </a:solidFill>
            <a:round/>
          </a:ln>
          <a:extLst>
            <a:ext uri="{909E8E84-426E-40DD-AFC4-6F175D3DCCD1}">
              <a14:hiddenFill xmlns:a14="http://schemas.microsoft.com/office/drawing/2010/main">
                <a:noFill/>
              </a14:hiddenFill>
            </a:ext>
          </a:extLst>
        </p:spPr>
      </p:cxnSp>
      <p:cxnSp>
        <p:nvCxnSpPr>
          <p:cNvPr id="11" name="直接连接符 22"/>
          <p:cNvCxnSpPr>
            <a:cxnSpLocks noChangeShapeType="1"/>
            <a:stCxn id="66" idx="0"/>
            <a:endCxn id="59" idx="2"/>
          </p:cNvCxnSpPr>
          <p:nvPr/>
        </p:nvCxnSpPr>
        <p:spPr bwMode="auto">
          <a:xfrm flipV="1">
            <a:off x="10740574" y="4109415"/>
            <a:ext cx="0" cy="641462"/>
          </a:xfrm>
          <a:prstGeom prst="line">
            <a:avLst/>
          </a:prstGeom>
          <a:noFill/>
          <a:ln w="28575" algn="ctr">
            <a:solidFill>
              <a:schemeClr val="tx1"/>
            </a:solidFill>
            <a:round/>
          </a:ln>
          <a:extLst>
            <a:ext uri="{909E8E84-426E-40DD-AFC4-6F175D3DCCD1}">
              <a14:hiddenFill xmlns:a14="http://schemas.microsoft.com/office/drawing/2010/main">
                <a:noFill/>
              </a14:hiddenFill>
            </a:ext>
          </a:extLst>
        </p:spPr>
      </p:cxnSp>
      <p:sp>
        <p:nvSpPr>
          <p:cNvPr id="12" name="TextBox 94"/>
          <p:cNvSpPr txBox="1">
            <a:spLocks noChangeArrowheads="1"/>
          </p:cNvSpPr>
          <p:nvPr/>
        </p:nvSpPr>
        <p:spPr bwMode="auto">
          <a:xfrm>
            <a:off x="5645436" y="4901719"/>
            <a:ext cx="7970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TextBox 95"/>
          <p:cNvSpPr txBox="1">
            <a:spLocks noChangeArrowheads="1"/>
          </p:cNvSpPr>
          <p:nvPr/>
        </p:nvSpPr>
        <p:spPr bwMode="auto">
          <a:xfrm>
            <a:off x="11029042" y="4919410"/>
            <a:ext cx="7857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51"/>
          <p:cNvSpPr>
            <a:spLocks noChangeArrowheads="1"/>
          </p:cNvSpPr>
          <p:nvPr/>
        </p:nvSpPr>
        <p:spPr bwMode="auto">
          <a:xfrm>
            <a:off x="7004719" y="3928283"/>
            <a:ext cx="756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矩形 52"/>
          <p:cNvSpPr>
            <a:spLocks noChangeArrowheads="1"/>
          </p:cNvSpPr>
          <p:nvPr/>
        </p:nvSpPr>
        <p:spPr bwMode="auto">
          <a:xfrm>
            <a:off x="7016616" y="3542388"/>
            <a:ext cx="756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53"/>
          <p:cNvSpPr>
            <a:spLocks noChangeArrowheads="1"/>
          </p:cNvSpPr>
          <p:nvPr/>
        </p:nvSpPr>
        <p:spPr bwMode="auto">
          <a:xfrm>
            <a:off x="6692772" y="4242940"/>
            <a:ext cx="756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54"/>
          <p:cNvSpPr>
            <a:spLocks noChangeArrowheads="1"/>
          </p:cNvSpPr>
          <p:nvPr/>
        </p:nvSpPr>
        <p:spPr bwMode="auto">
          <a:xfrm>
            <a:off x="7671697" y="1996610"/>
            <a:ext cx="756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55"/>
          <p:cNvSpPr>
            <a:spLocks noChangeArrowheads="1"/>
          </p:cNvSpPr>
          <p:nvPr/>
        </p:nvSpPr>
        <p:spPr bwMode="auto">
          <a:xfrm>
            <a:off x="9027826" y="1977452"/>
            <a:ext cx="756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56"/>
          <p:cNvSpPr>
            <a:spLocks noChangeArrowheads="1"/>
          </p:cNvSpPr>
          <p:nvPr/>
        </p:nvSpPr>
        <p:spPr bwMode="auto">
          <a:xfrm>
            <a:off x="9453912" y="3551970"/>
            <a:ext cx="756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57"/>
          <p:cNvSpPr>
            <a:spLocks noChangeArrowheads="1"/>
          </p:cNvSpPr>
          <p:nvPr/>
        </p:nvSpPr>
        <p:spPr bwMode="auto">
          <a:xfrm>
            <a:off x="9487262" y="3911642"/>
            <a:ext cx="756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TextBox 89"/>
          <p:cNvSpPr txBox="1">
            <a:spLocks noChangeArrowheads="1"/>
          </p:cNvSpPr>
          <p:nvPr/>
        </p:nvSpPr>
        <p:spPr bwMode="auto">
          <a:xfrm>
            <a:off x="5583825" y="5308757"/>
            <a:ext cx="22413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00-05-06-07-08-AA</a:t>
            </a: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TextBox 90"/>
          <p:cNvSpPr txBox="1">
            <a:spLocks noChangeArrowheads="1"/>
          </p:cNvSpPr>
          <p:nvPr/>
        </p:nvSpPr>
        <p:spPr bwMode="auto">
          <a:xfrm>
            <a:off x="9584995" y="5298666"/>
            <a:ext cx="221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00-05-06-07-08-BB</a:t>
            </a: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94"/>
          <p:cNvSpPr txBox="1">
            <a:spLocks noChangeArrowheads="1"/>
          </p:cNvSpPr>
          <p:nvPr/>
        </p:nvSpPr>
        <p:spPr bwMode="auto">
          <a:xfrm>
            <a:off x="3656792" y="1544402"/>
            <a:ext cx="12506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地址表</a:t>
            </a:r>
          </a:p>
        </p:txBody>
      </p:sp>
      <p:pic>
        <p:nvPicPr>
          <p:cNvPr id="31" name="图片 30" descr="PC.png"/>
          <p:cNvPicPr>
            <a:picLocks noChangeAspect="1"/>
          </p:cNvPicPr>
          <p:nvPr/>
        </p:nvPicPr>
        <p:blipFill>
          <a:blip r:embed="rId3" cstate="print"/>
          <a:stretch>
            <a:fillRect/>
          </a:stretch>
        </p:blipFill>
        <p:spPr>
          <a:xfrm>
            <a:off x="6380044" y="4791048"/>
            <a:ext cx="648880" cy="498339"/>
          </a:xfrm>
          <a:prstGeom prst="rect">
            <a:avLst/>
          </a:prstGeom>
        </p:spPr>
      </p:pic>
      <p:pic>
        <p:nvPicPr>
          <p:cNvPr id="35" name="图片 34"/>
          <p:cNvPicPr/>
          <p:nvPr/>
        </p:nvPicPr>
        <p:blipFill>
          <a:blip r:embed="rId4" cstate="print">
            <a:extLst>
              <a:ext uri="{28A0092B-C50C-407E-A947-70E740481C1C}">
                <a14:useLocalDpi xmlns:a14="http://schemas.microsoft.com/office/drawing/2010/main" val="0"/>
              </a:ext>
            </a:extLst>
          </a:blip>
          <a:stretch>
            <a:fillRect/>
          </a:stretch>
        </p:blipFill>
        <p:spPr>
          <a:xfrm>
            <a:off x="4458644" y="5236673"/>
            <a:ext cx="864096" cy="693685"/>
          </a:xfrm>
          <a:prstGeom prst="rect">
            <a:avLst/>
          </a:prstGeom>
        </p:spPr>
      </p:pic>
      <p:sp>
        <p:nvSpPr>
          <p:cNvPr id="36" name="圆角矩形标注 35"/>
          <p:cNvSpPr/>
          <p:nvPr/>
        </p:nvSpPr>
        <p:spPr>
          <a:xfrm>
            <a:off x="446088" y="3490104"/>
            <a:ext cx="3785652" cy="1939146"/>
          </a:xfrm>
          <a:prstGeom prst="wedgeRoundRectCallout">
            <a:avLst>
              <a:gd name="adj1" fmla="val 62367"/>
              <a:gd name="adj2" fmla="val 51916"/>
              <a:gd name="adj3" fmla="val 16667"/>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lstStyle/>
          <a:p>
            <a:pPr defTabSz="914400" fontAlgn="b">
              <a:lnSpc>
                <a:spcPct val="120000"/>
              </a:lnSpc>
              <a:spcBef>
                <a:spcPct val="0"/>
              </a:spcBef>
              <a:spcAft>
                <a:spcPct val="0"/>
              </a:spcAft>
            </a:pP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如图，</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SW3</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的根端口发生故障，导致生成树拓扑重新收敛，在生成树拓扑完成收敛之后，从主机</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到主机</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B</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的帧仍然不能到达目的地。这是因为交换机依赖</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地址表转发数据帧</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缺省情况下，</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地址表项的老化时间是</a:t>
            </a:r>
            <a:r>
              <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300</a:t>
            </a:r>
            <a:r>
              <a:rPr lang="zh-CN" altLang="en-US"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秒。那么该怎么快速恢复转发？</a:t>
            </a:r>
          </a:p>
        </p:txBody>
      </p:sp>
      <p:grpSp>
        <p:nvGrpSpPr>
          <p:cNvPr id="60" name="组合 59"/>
          <p:cNvGrpSpPr/>
          <p:nvPr/>
        </p:nvGrpSpPr>
        <p:grpSpPr>
          <a:xfrm>
            <a:off x="6833832" y="1775418"/>
            <a:ext cx="3804526" cy="2018889"/>
            <a:chOff x="6600056" y="4353447"/>
            <a:chExt cx="1296144" cy="833967"/>
          </a:xfrm>
        </p:grpSpPr>
        <p:cxnSp>
          <p:nvCxnSpPr>
            <p:cNvPr id="62" name="直接连接符 61"/>
            <p:cNvCxnSpPr/>
            <p:nvPr/>
          </p:nvCxnSpPr>
          <p:spPr>
            <a:xfrm flipH="1">
              <a:off x="6600056" y="4353447"/>
              <a:ext cx="648072" cy="83396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7248128" y="4353447"/>
              <a:ext cx="648072" cy="83396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1" name="直接连接符 60"/>
          <p:cNvCxnSpPr/>
          <p:nvPr/>
        </p:nvCxnSpPr>
        <p:spPr>
          <a:xfrm flipH="1" flipV="1">
            <a:off x="6648075" y="3866416"/>
            <a:ext cx="41760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5739766" y="3712840"/>
            <a:ext cx="630301"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54"/>
          <p:cNvSpPr txBox="1"/>
          <p:nvPr/>
        </p:nvSpPr>
        <p:spPr>
          <a:xfrm>
            <a:off x="11128903" y="3716906"/>
            <a:ext cx="630301"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a:xfrm>
            <a:off x="8438866" y="1205848"/>
            <a:ext cx="630301"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7" name="图片 76" descr="接入交换机.png"/>
          <p:cNvPicPr>
            <a:picLocks noChangeAspect="1"/>
          </p:cNvPicPr>
          <p:nvPr/>
        </p:nvPicPr>
        <p:blipFill>
          <a:blip r:embed="rId5" cstate="print"/>
          <a:stretch>
            <a:fillRect/>
          </a:stretch>
        </p:blipFill>
        <p:spPr>
          <a:xfrm>
            <a:off x="8438866" y="1573844"/>
            <a:ext cx="594000" cy="486000"/>
          </a:xfrm>
          <a:prstGeom prst="rect">
            <a:avLst/>
          </a:prstGeom>
        </p:spPr>
      </p:pic>
      <p:pic>
        <p:nvPicPr>
          <p:cNvPr id="58" name="图片 76" descr="接入交换机.png"/>
          <p:cNvPicPr>
            <a:picLocks noChangeAspect="1"/>
          </p:cNvPicPr>
          <p:nvPr/>
        </p:nvPicPr>
        <p:blipFill>
          <a:blip r:embed="rId5" cstate="print"/>
          <a:stretch>
            <a:fillRect/>
          </a:stretch>
        </p:blipFill>
        <p:spPr>
          <a:xfrm>
            <a:off x="6413741" y="3623415"/>
            <a:ext cx="594000" cy="486000"/>
          </a:xfrm>
          <a:prstGeom prst="rect">
            <a:avLst/>
          </a:prstGeom>
        </p:spPr>
      </p:pic>
      <p:pic>
        <p:nvPicPr>
          <p:cNvPr id="59" name="图片 76" descr="接入交换机.png"/>
          <p:cNvPicPr>
            <a:picLocks noChangeAspect="1"/>
          </p:cNvPicPr>
          <p:nvPr/>
        </p:nvPicPr>
        <p:blipFill>
          <a:blip r:embed="rId5" cstate="print"/>
          <a:stretch>
            <a:fillRect/>
          </a:stretch>
        </p:blipFill>
        <p:spPr>
          <a:xfrm>
            <a:off x="10443574" y="3623415"/>
            <a:ext cx="594000" cy="486000"/>
          </a:xfrm>
          <a:prstGeom prst="rect">
            <a:avLst/>
          </a:prstGeom>
        </p:spPr>
      </p:pic>
      <p:pic>
        <p:nvPicPr>
          <p:cNvPr id="66" name="图片 65" descr="PC.png"/>
          <p:cNvPicPr>
            <a:picLocks noChangeAspect="1"/>
          </p:cNvPicPr>
          <p:nvPr/>
        </p:nvPicPr>
        <p:blipFill>
          <a:blip r:embed="rId3" cstate="print"/>
          <a:stretch>
            <a:fillRect/>
          </a:stretch>
        </p:blipFill>
        <p:spPr>
          <a:xfrm>
            <a:off x="10416134" y="4750877"/>
            <a:ext cx="648880" cy="498339"/>
          </a:xfrm>
          <a:prstGeom prst="rect">
            <a:avLst/>
          </a:prstGeom>
        </p:spPr>
      </p:pic>
      <p:sp>
        <p:nvSpPr>
          <p:cNvPr id="72" name="矩形 52"/>
          <p:cNvSpPr>
            <a:spLocks noChangeArrowheads="1"/>
          </p:cNvSpPr>
          <p:nvPr/>
        </p:nvSpPr>
        <p:spPr bwMode="auto">
          <a:xfrm>
            <a:off x="10700535" y="4225898"/>
            <a:ext cx="756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椭圆 73"/>
          <p:cNvSpPr>
            <a:spLocks noChangeAspect="1"/>
          </p:cNvSpPr>
          <p:nvPr/>
        </p:nvSpPr>
        <p:spPr>
          <a:xfrm>
            <a:off x="10250411" y="3709213"/>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7" name="组合 36"/>
          <p:cNvGrpSpPr/>
          <p:nvPr/>
        </p:nvGrpSpPr>
        <p:grpSpPr>
          <a:xfrm>
            <a:off x="10107618" y="3202104"/>
            <a:ext cx="288000" cy="288000"/>
            <a:chOff x="856677" y="2615810"/>
            <a:chExt cx="288000" cy="288000"/>
          </a:xfrm>
        </p:grpSpPr>
        <p:sp>
          <p:nvSpPr>
            <p:cNvPr id="38" name="椭圆 37"/>
            <p:cNvSpPr/>
            <p:nvPr/>
          </p:nvSpPr>
          <p:spPr>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9" name="组合 38"/>
            <p:cNvGrpSpPr/>
            <p:nvPr/>
          </p:nvGrpSpPr>
          <p:grpSpPr>
            <a:xfrm>
              <a:off x="923444" y="2692169"/>
              <a:ext cx="144001" cy="144002"/>
              <a:chOff x="898853" y="2657982"/>
              <a:chExt cx="203649" cy="203652"/>
            </a:xfrm>
          </p:grpSpPr>
          <p:cxnSp>
            <p:nvCxnSpPr>
              <p:cNvPr id="40" name="直接连接符 39"/>
              <p:cNvCxnSpPr>
                <a:stCxn id="38" idx="3"/>
                <a:endCxn id="38" idx="7"/>
              </p:cNvCxnSpPr>
              <p:nvPr/>
            </p:nvCxnSpPr>
            <p:spPr>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41" name="直接连接符 40"/>
              <p:cNvCxnSpPr>
                <a:stCxn id="38" idx="1"/>
                <a:endCxn id="38" idx="5"/>
              </p:cNvCxnSpPr>
              <p:nvPr/>
            </p:nvCxnSpPr>
            <p:spPr>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
        <p:nvSpPr>
          <p:cNvPr id="42" name="Right Arrow 157"/>
          <p:cNvSpPr/>
          <p:nvPr/>
        </p:nvSpPr>
        <p:spPr>
          <a:xfrm rot="2880000">
            <a:off x="6184385" y="3013464"/>
            <a:ext cx="64734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FFF2CC"/>
              </a:gs>
            </a:gsLst>
            <a:lin ang="0" scaled="1"/>
            <a:tileRect/>
          </a:gradFill>
          <a:ln w="15875">
            <a:gradFill flip="none" rotWithShape="1">
              <a:gsLst>
                <a:gs pos="11000">
                  <a:schemeClr val="accent1">
                    <a:lumMod val="0"/>
                    <a:lumOff val="100000"/>
                    <a:alpha val="0"/>
                  </a:schemeClr>
                </a:gs>
                <a:gs pos="67000">
                  <a:srgbClr val="FFD17D"/>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anim calcmode="lin" valueType="num">
                                      <p:cBhvr>
                                        <p:cTn id="8" dur="1000" fill="hold"/>
                                        <p:tgtEl>
                                          <p:spTgt spid="35"/>
                                        </p:tgtEl>
                                        <p:attrNameLst>
                                          <p:attrName>ppt_x</p:attrName>
                                        </p:attrNameLst>
                                      </p:cBhvr>
                                      <p:tavLst>
                                        <p:tav tm="0">
                                          <p:val>
                                            <p:strVal val="#ppt_x"/>
                                          </p:val>
                                        </p:tav>
                                        <p:tav tm="100000">
                                          <p:val>
                                            <p:strVal val="#ppt_x"/>
                                          </p:val>
                                        </p:tav>
                                      </p:tavLst>
                                    </p:anim>
                                    <p:anim calcmode="lin" valueType="num">
                                      <p:cBhvr>
                                        <p:cTn id="9"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barn(inVertical)">
                                      <p:cBhvr>
                                        <p:cTn id="1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拓扑改变导致</a:t>
            </a:r>
            <a:r>
              <a:rPr lang="en-US" altLang="zh-CN">
                <a:sym typeface="Huawei Sans" panose="020C0503030203020204" pitchFamily="34" charset="0"/>
              </a:rPr>
              <a:t>MAC</a:t>
            </a:r>
            <a:r>
              <a:rPr lang="zh-CN" altLang="en-US">
                <a:sym typeface="Huawei Sans" panose="020C0503030203020204" pitchFamily="34" charset="0"/>
              </a:rPr>
              <a:t>地址表错误</a:t>
            </a:r>
            <a:endParaRPr lang="zh-CN" altLang="en-US" dirty="0">
              <a:sym typeface="Huawei Sans" panose="020C0503030203020204" pitchFamily="34" charset="0"/>
            </a:endParaRPr>
          </a:p>
        </p:txBody>
      </p:sp>
      <p:cxnSp>
        <p:nvCxnSpPr>
          <p:cNvPr id="10" name="直接连接符 22"/>
          <p:cNvCxnSpPr>
            <a:cxnSpLocks noChangeShapeType="1"/>
            <a:stCxn id="31" idx="0"/>
            <a:endCxn id="58" idx="2"/>
          </p:cNvCxnSpPr>
          <p:nvPr/>
        </p:nvCxnSpPr>
        <p:spPr bwMode="auto">
          <a:xfrm flipV="1">
            <a:off x="6704484" y="4109415"/>
            <a:ext cx="6257" cy="681633"/>
          </a:xfrm>
          <a:prstGeom prst="line">
            <a:avLst/>
          </a:prstGeom>
          <a:noFill/>
          <a:ln w="28575" algn="ctr">
            <a:solidFill>
              <a:schemeClr val="tx1"/>
            </a:solidFill>
            <a:round/>
          </a:ln>
          <a:extLst>
            <a:ext uri="{909E8E84-426E-40DD-AFC4-6F175D3DCCD1}">
              <a14:hiddenFill xmlns:a14="http://schemas.microsoft.com/office/drawing/2010/main">
                <a:noFill/>
              </a14:hiddenFill>
            </a:ext>
          </a:extLst>
        </p:spPr>
      </p:cxnSp>
      <p:cxnSp>
        <p:nvCxnSpPr>
          <p:cNvPr id="11" name="直接连接符 22"/>
          <p:cNvCxnSpPr>
            <a:cxnSpLocks noChangeShapeType="1"/>
            <a:stCxn id="66" idx="0"/>
            <a:endCxn id="59" idx="2"/>
          </p:cNvCxnSpPr>
          <p:nvPr/>
        </p:nvCxnSpPr>
        <p:spPr bwMode="auto">
          <a:xfrm flipV="1">
            <a:off x="10740574" y="4109415"/>
            <a:ext cx="0" cy="641462"/>
          </a:xfrm>
          <a:prstGeom prst="line">
            <a:avLst/>
          </a:prstGeom>
          <a:noFill/>
          <a:ln w="28575" algn="ctr">
            <a:solidFill>
              <a:schemeClr val="tx1"/>
            </a:solidFill>
            <a:round/>
          </a:ln>
          <a:extLst>
            <a:ext uri="{909E8E84-426E-40DD-AFC4-6F175D3DCCD1}">
              <a14:hiddenFill xmlns:a14="http://schemas.microsoft.com/office/drawing/2010/main">
                <a:noFill/>
              </a14:hiddenFill>
            </a:ext>
          </a:extLst>
        </p:spPr>
      </p:cxnSp>
      <p:pic>
        <p:nvPicPr>
          <p:cNvPr id="31" name="图片 30" descr="PC.png"/>
          <p:cNvPicPr>
            <a:picLocks noChangeAspect="1"/>
          </p:cNvPicPr>
          <p:nvPr/>
        </p:nvPicPr>
        <p:blipFill>
          <a:blip r:embed="rId3" cstate="print"/>
          <a:stretch>
            <a:fillRect/>
          </a:stretch>
        </p:blipFill>
        <p:spPr>
          <a:xfrm>
            <a:off x="6380044" y="4791048"/>
            <a:ext cx="648880" cy="498339"/>
          </a:xfrm>
          <a:prstGeom prst="rect">
            <a:avLst/>
          </a:prstGeom>
        </p:spPr>
      </p:pic>
      <p:grpSp>
        <p:nvGrpSpPr>
          <p:cNvPr id="60" name="组合 59"/>
          <p:cNvGrpSpPr/>
          <p:nvPr/>
        </p:nvGrpSpPr>
        <p:grpSpPr>
          <a:xfrm>
            <a:off x="6833832" y="1775418"/>
            <a:ext cx="3804526" cy="2018889"/>
            <a:chOff x="6600056" y="4353447"/>
            <a:chExt cx="1296144" cy="833967"/>
          </a:xfrm>
        </p:grpSpPr>
        <p:cxnSp>
          <p:nvCxnSpPr>
            <p:cNvPr id="62" name="直接连接符 61"/>
            <p:cNvCxnSpPr/>
            <p:nvPr/>
          </p:nvCxnSpPr>
          <p:spPr>
            <a:xfrm flipH="1">
              <a:off x="6600056" y="4353447"/>
              <a:ext cx="648072" cy="83396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7248128" y="4353447"/>
              <a:ext cx="648072" cy="83396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1" name="直接连接符 60"/>
          <p:cNvCxnSpPr/>
          <p:nvPr/>
        </p:nvCxnSpPr>
        <p:spPr>
          <a:xfrm flipH="1" flipV="1">
            <a:off x="6648075" y="3866416"/>
            <a:ext cx="41760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5739766" y="3712840"/>
            <a:ext cx="630301"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54"/>
          <p:cNvSpPr txBox="1"/>
          <p:nvPr/>
        </p:nvSpPr>
        <p:spPr>
          <a:xfrm>
            <a:off x="11128903" y="3716906"/>
            <a:ext cx="630301"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a:xfrm>
            <a:off x="8438866" y="1205848"/>
            <a:ext cx="630301"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7" name="图片 76" descr="接入交换机.png"/>
          <p:cNvPicPr>
            <a:picLocks noChangeAspect="1"/>
          </p:cNvPicPr>
          <p:nvPr/>
        </p:nvPicPr>
        <p:blipFill>
          <a:blip r:embed="rId4" cstate="print"/>
          <a:stretch>
            <a:fillRect/>
          </a:stretch>
        </p:blipFill>
        <p:spPr>
          <a:xfrm>
            <a:off x="8438866" y="1573844"/>
            <a:ext cx="594000" cy="486000"/>
          </a:xfrm>
          <a:prstGeom prst="rect">
            <a:avLst/>
          </a:prstGeom>
        </p:spPr>
      </p:pic>
      <p:pic>
        <p:nvPicPr>
          <p:cNvPr id="58" name="图片 76" descr="接入交换机.png"/>
          <p:cNvPicPr>
            <a:picLocks noChangeAspect="1"/>
          </p:cNvPicPr>
          <p:nvPr/>
        </p:nvPicPr>
        <p:blipFill>
          <a:blip r:embed="rId4" cstate="print"/>
          <a:stretch>
            <a:fillRect/>
          </a:stretch>
        </p:blipFill>
        <p:spPr>
          <a:xfrm>
            <a:off x="6413741" y="3623415"/>
            <a:ext cx="594000" cy="486000"/>
          </a:xfrm>
          <a:prstGeom prst="rect">
            <a:avLst/>
          </a:prstGeom>
        </p:spPr>
      </p:pic>
      <p:pic>
        <p:nvPicPr>
          <p:cNvPr id="59" name="图片 76" descr="接入交换机.png"/>
          <p:cNvPicPr>
            <a:picLocks noChangeAspect="1"/>
          </p:cNvPicPr>
          <p:nvPr/>
        </p:nvPicPr>
        <p:blipFill>
          <a:blip r:embed="rId4" cstate="print"/>
          <a:stretch>
            <a:fillRect/>
          </a:stretch>
        </p:blipFill>
        <p:spPr>
          <a:xfrm>
            <a:off x="10443574" y="3623415"/>
            <a:ext cx="594000" cy="486000"/>
          </a:xfrm>
          <a:prstGeom prst="rect">
            <a:avLst/>
          </a:prstGeom>
        </p:spPr>
      </p:pic>
      <p:pic>
        <p:nvPicPr>
          <p:cNvPr id="66" name="图片 65" descr="PC.png"/>
          <p:cNvPicPr>
            <a:picLocks noChangeAspect="1"/>
          </p:cNvPicPr>
          <p:nvPr/>
        </p:nvPicPr>
        <p:blipFill>
          <a:blip r:embed="rId3" cstate="print"/>
          <a:stretch>
            <a:fillRect/>
          </a:stretch>
        </p:blipFill>
        <p:spPr>
          <a:xfrm>
            <a:off x="10416134" y="4750877"/>
            <a:ext cx="648880" cy="498339"/>
          </a:xfrm>
          <a:prstGeom prst="rect">
            <a:avLst/>
          </a:prstGeom>
        </p:spPr>
      </p:pic>
      <p:sp>
        <p:nvSpPr>
          <p:cNvPr id="74" name="椭圆 73"/>
          <p:cNvSpPr>
            <a:spLocks noChangeAspect="1"/>
          </p:cNvSpPr>
          <p:nvPr/>
        </p:nvSpPr>
        <p:spPr>
          <a:xfrm>
            <a:off x="10326611" y="3709213"/>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TextBox 39"/>
          <p:cNvSpPr txBox="1">
            <a:spLocks noChangeArrowheads="1"/>
          </p:cNvSpPr>
          <p:nvPr/>
        </p:nvSpPr>
        <p:spPr bwMode="auto">
          <a:xfrm>
            <a:off x="8010001" y="4397756"/>
            <a:ext cx="1032022" cy="338554"/>
          </a:xfrm>
          <a:prstGeom prst="rect">
            <a:avLst/>
          </a:prstGeom>
          <a:solidFill>
            <a:schemeClr val="bg1"/>
          </a:solidFill>
          <a:ln>
            <a:noFill/>
          </a:ln>
        </p:spPr>
        <p:txBody>
          <a:bodyPr wrap="squar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5 .TC</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39"/>
          <p:cNvSpPr txBox="1">
            <a:spLocks noChangeArrowheads="1"/>
          </p:cNvSpPr>
          <p:nvPr/>
        </p:nvSpPr>
        <p:spPr bwMode="auto">
          <a:xfrm>
            <a:off x="8117022" y="3341240"/>
            <a:ext cx="1032022" cy="338554"/>
          </a:xfrm>
          <a:prstGeom prst="rect">
            <a:avLst/>
          </a:prstGeom>
          <a:solidFill>
            <a:schemeClr val="bg1"/>
          </a:solidFill>
          <a:ln>
            <a:noFill/>
          </a:ln>
        </p:spPr>
        <p:txBody>
          <a:bodyPr wrap="squar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1 .TCN</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9" name="直接连接符 43"/>
          <p:cNvCxnSpPr>
            <a:cxnSpLocks noChangeShapeType="1"/>
          </p:cNvCxnSpPr>
          <p:nvPr/>
        </p:nvCxnSpPr>
        <p:spPr bwMode="auto">
          <a:xfrm>
            <a:off x="7987163" y="3674515"/>
            <a:ext cx="1263624" cy="1"/>
          </a:xfrm>
          <a:prstGeom prst="line">
            <a:avLst/>
          </a:prstGeom>
          <a:noFill/>
          <a:ln w="25400" algn="ctr">
            <a:solidFill>
              <a:schemeClr val="tx1"/>
            </a:solidFill>
            <a:round/>
            <a:headEnd type="arrow" w="med" len="med"/>
          </a:ln>
          <a:extLst>
            <a:ext uri="{909E8E84-426E-40DD-AFC4-6F175D3DCCD1}">
              <a14:hiddenFill xmlns:a14="http://schemas.microsoft.com/office/drawing/2010/main">
                <a:noFill/>
              </a14:hiddenFill>
            </a:ext>
          </a:extLst>
        </p:spPr>
      </p:cxnSp>
      <p:sp>
        <p:nvSpPr>
          <p:cNvPr id="40" name="TextBox 39"/>
          <p:cNvSpPr txBox="1">
            <a:spLocks noChangeArrowheads="1"/>
          </p:cNvSpPr>
          <p:nvPr/>
        </p:nvSpPr>
        <p:spPr bwMode="auto">
          <a:xfrm>
            <a:off x="8061247" y="4066798"/>
            <a:ext cx="1033774" cy="338554"/>
          </a:xfrm>
          <a:prstGeom prst="rect">
            <a:avLst/>
          </a:prstGeom>
          <a:solidFill>
            <a:schemeClr val="bg1"/>
          </a:solidFill>
          <a:ln>
            <a:noFill/>
          </a:ln>
        </p:spPr>
        <p:txBody>
          <a:bodyPr wrap="squar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2 .TCA</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39"/>
          <p:cNvSpPr txBox="1">
            <a:spLocks noChangeArrowheads="1"/>
          </p:cNvSpPr>
          <p:nvPr/>
        </p:nvSpPr>
        <p:spPr bwMode="auto">
          <a:xfrm rot="18999489">
            <a:off x="6884965" y="2469271"/>
            <a:ext cx="1033771" cy="338554"/>
          </a:xfrm>
          <a:prstGeom prst="rect">
            <a:avLst/>
          </a:prstGeom>
          <a:solidFill>
            <a:schemeClr val="bg1"/>
          </a:solidFill>
          <a:ln>
            <a:noFill/>
          </a:ln>
        </p:spPr>
        <p:txBody>
          <a:bodyPr wrap="squar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3 .TCN</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2" name="直接连接符 43"/>
          <p:cNvCxnSpPr>
            <a:cxnSpLocks noChangeShapeType="1"/>
          </p:cNvCxnSpPr>
          <p:nvPr/>
        </p:nvCxnSpPr>
        <p:spPr bwMode="auto">
          <a:xfrm flipV="1">
            <a:off x="7229208" y="2461501"/>
            <a:ext cx="616229" cy="639110"/>
          </a:xfrm>
          <a:prstGeom prst="line">
            <a:avLst/>
          </a:prstGeom>
          <a:noFill/>
          <a:ln w="25400" algn="ctr">
            <a:solidFill>
              <a:schemeClr val="tx1"/>
            </a:solidFill>
            <a:round/>
            <a:tailEnd type="arrow" w="med" len="med"/>
          </a:ln>
          <a:extLst>
            <a:ext uri="{909E8E84-426E-40DD-AFC4-6F175D3DCCD1}">
              <a14:hiddenFill xmlns:a14="http://schemas.microsoft.com/office/drawing/2010/main">
                <a:noFill/>
              </a14:hiddenFill>
            </a:ext>
          </a:extLst>
        </p:spPr>
      </p:cxnSp>
      <p:sp>
        <p:nvSpPr>
          <p:cNvPr id="43" name="TextBox 39"/>
          <p:cNvSpPr txBox="1">
            <a:spLocks noChangeArrowheads="1"/>
          </p:cNvSpPr>
          <p:nvPr/>
        </p:nvSpPr>
        <p:spPr bwMode="auto">
          <a:xfrm rot="18556233">
            <a:off x="7417363" y="2933699"/>
            <a:ext cx="953175" cy="338554"/>
          </a:xfrm>
          <a:prstGeom prst="rect">
            <a:avLst/>
          </a:prstGeom>
          <a:solidFill>
            <a:schemeClr val="bg1"/>
          </a:solidFill>
          <a:ln>
            <a:noFill/>
          </a:ln>
        </p:spPr>
        <p:txBody>
          <a:bodyPr wrap="squar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4.TC</a:t>
            </a:r>
            <a:endPar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4" name="直接连接符 43"/>
          <p:cNvCxnSpPr>
            <a:cxnSpLocks noChangeShapeType="1"/>
          </p:cNvCxnSpPr>
          <p:nvPr/>
        </p:nvCxnSpPr>
        <p:spPr bwMode="auto">
          <a:xfrm flipV="1">
            <a:off x="7475521" y="2708736"/>
            <a:ext cx="576571" cy="642788"/>
          </a:xfrm>
          <a:prstGeom prst="line">
            <a:avLst/>
          </a:prstGeom>
          <a:noFill/>
          <a:ln w="25400" algn="ctr">
            <a:solidFill>
              <a:schemeClr val="tx1"/>
            </a:solidFill>
            <a:round/>
            <a:headEnd type="arrow" w="med" len="med"/>
          </a:ln>
          <a:extLst>
            <a:ext uri="{909E8E84-426E-40DD-AFC4-6F175D3DCCD1}">
              <a14:hiddenFill xmlns:a14="http://schemas.microsoft.com/office/drawing/2010/main">
                <a:noFill/>
              </a14:hiddenFill>
            </a:ext>
          </a:extLst>
        </p:spPr>
      </p:cxnSp>
      <p:cxnSp>
        <p:nvCxnSpPr>
          <p:cNvPr id="48" name="直接连接符 43"/>
          <p:cNvCxnSpPr>
            <a:cxnSpLocks noChangeShapeType="1"/>
          </p:cNvCxnSpPr>
          <p:nvPr/>
        </p:nvCxnSpPr>
        <p:spPr bwMode="auto">
          <a:xfrm flipH="1" flipV="1">
            <a:off x="8022550" y="4036995"/>
            <a:ext cx="1233745" cy="5304"/>
          </a:xfrm>
          <a:prstGeom prst="line">
            <a:avLst/>
          </a:prstGeom>
          <a:noFill/>
          <a:ln w="25400" algn="ctr">
            <a:solidFill>
              <a:schemeClr val="tx1"/>
            </a:solidFill>
            <a:round/>
            <a:headEnd type="arrow" w="med" len="med"/>
          </a:ln>
          <a:extLst>
            <a:ext uri="{909E8E84-426E-40DD-AFC4-6F175D3DCCD1}">
              <a14:hiddenFill xmlns:a14="http://schemas.microsoft.com/office/drawing/2010/main">
                <a:noFill/>
              </a14:hiddenFill>
            </a:ext>
          </a:extLst>
        </p:spPr>
      </p:cxnSp>
      <p:cxnSp>
        <p:nvCxnSpPr>
          <p:cNvPr id="64" name="直接连接符 43"/>
          <p:cNvCxnSpPr>
            <a:cxnSpLocks noChangeShapeType="1"/>
          </p:cNvCxnSpPr>
          <p:nvPr/>
        </p:nvCxnSpPr>
        <p:spPr bwMode="auto">
          <a:xfrm flipH="1" flipV="1">
            <a:off x="8016160" y="4760809"/>
            <a:ext cx="1233745" cy="5304"/>
          </a:xfrm>
          <a:prstGeom prst="line">
            <a:avLst/>
          </a:prstGeom>
          <a:noFill/>
          <a:ln w="25400" algn="ctr">
            <a:solidFill>
              <a:schemeClr val="tx1"/>
            </a:solidFill>
            <a:round/>
            <a:headEnd type="arrow" w="med" len="med"/>
          </a:ln>
          <a:extLst>
            <a:ext uri="{909E8E84-426E-40DD-AFC4-6F175D3DCCD1}">
              <a14:hiddenFill xmlns:a14="http://schemas.microsoft.com/office/drawing/2010/main">
                <a:noFill/>
              </a14:hiddenFill>
            </a:ext>
          </a:extLst>
        </p:spPr>
      </p:cxnSp>
      <p:graphicFrame>
        <p:nvGraphicFramePr>
          <p:cNvPr id="65" name="表格 64"/>
          <p:cNvGraphicFramePr>
            <a:graphicFrameLocks noGrp="1"/>
          </p:cNvGraphicFramePr>
          <p:nvPr/>
        </p:nvGraphicFramePr>
        <p:xfrm>
          <a:off x="906143" y="1916330"/>
          <a:ext cx="4553478" cy="1513444"/>
        </p:xfrm>
        <a:graphic>
          <a:graphicData uri="http://schemas.openxmlformats.org/drawingml/2006/table">
            <a:tbl>
              <a:tblPr firstRow="1" bandRow="1">
                <a:tableStyleId>{5C22544A-7EE6-4342-B048-85BDC9FD1C3A}</a:tableStyleId>
              </a:tblPr>
              <a:tblGrid>
                <a:gridCol w="2615829">
                  <a:extLst>
                    <a:ext uri="{9D8B030D-6E8A-4147-A177-3AD203B41FA5}">
                      <a16:colId xmlns:a16="http://schemas.microsoft.com/office/drawing/2014/main" val="20000"/>
                    </a:ext>
                  </a:extLst>
                </a:gridCol>
                <a:gridCol w="1937649">
                  <a:extLst>
                    <a:ext uri="{9D8B030D-6E8A-4147-A177-3AD203B41FA5}">
                      <a16:colId xmlns:a16="http://schemas.microsoft.com/office/drawing/2014/main" val="20001"/>
                    </a:ext>
                  </a:extLst>
                </a:gridCol>
              </a:tblGrid>
              <a:tr h="298618">
                <a:tc>
                  <a:txBody>
                    <a:bodyPr/>
                    <a:lstStyle/>
                    <a:p>
                      <a:pPr algn="ctr">
                        <a:lnSpc>
                          <a:spcPct val="150000"/>
                        </a:lnSpc>
                      </a:pPr>
                      <a:r>
                        <a:rPr lang="en-US" altLang="zh-CN" sz="1400" b="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MAC</a:t>
                      </a:r>
                      <a:endParaRPr lang="zh-CN" altLang="en-US" sz="1400" b="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38" marR="91438" marT="45702" marB="45702"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tc>
                  <a:txBody>
                    <a:bodyPr/>
                    <a:lstStyle/>
                    <a:p>
                      <a:pPr algn="ctr">
                        <a:lnSpc>
                          <a:spcPct val="150000"/>
                        </a:lnSpc>
                      </a:pPr>
                      <a:r>
                        <a:rPr lang="zh-CN" altLang="en-US" sz="1400" b="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端口</a:t>
                      </a:r>
                    </a:p>
                  </a:txBody>
                  <a:tcPr marL="91438" marR="91438" marT="45702" marB="45702"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295221">
                <a:tc>
                  <a:txBody>
                    <a:bodyPr/>
                    <a:lstStyle/>
                    <a:p>
                      <a:pPr marL="0" marR="0" indent="0" algn="ctr" defTabSz="914400" rtl="0" eaLnBrk="1" fontAlgn="auto" latinLnBrk="0" hangingPunct="1">
                        <a:lnSpc>
                          <a:spcPct val="150000"/>
                        </a:lnSpc>
                        <a:spcBef>
                          <a:spcPts val="0"/>
                        </a:spcBef>
                        <a:spcAft>
                          <a:spcPts val="0"/>
                        </a:spcAft>
                        <a:buClrTx/>
                        <a:buSzTx/>
                        <a:buFontTx/>
                        <a:buNone/>
                        <a:defRPr/>
                      </a:pPr>
                      <a:r>
                        <a:rPr lang="en-US" altLang="zh-CN" sz="1400" kern="1200" dirty="0">
                          <a:solidFill>
                            <a:schemeClr val="dk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00-05-06-07-08-AA</a:t>
                      </a:r>
                      <a:endParaRPr lang="zh-CN" altLang="en-US" sz="1400" kern="1200" dirty="0">
                        <a:solidFill>
                          <a:schemeClr val="dk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38" marR="91438" marT="45702" marB="45702"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tc>
                  <a:txBody>
                    <a:bodyPr/>
                    <a:lstStyle/>
                    <a:p>
                      <a:pPr algn="ctr">
                        <a:lnSpc>
                          <a:spcPct val="150000"/>
                        </a:lnSpc>
                      </a:pPr>
                      <a:r>
                        <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GE0/0/3</a:t>
                      </a:r>
                      <a:endPar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38" marR="91438" marT="45702" marB="45702"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95221">
                <a:tc>
                  <a:txBody>
                    <a:bodyPr/>
                    <a:lstStyle/>
                    <a:p>
                      <a:pPr marL="0" marR="0" indent="0" algn="ctr" defTabSz="914400" rtl="0" eaLnBrk="1" fontAlgn="auto" latinLnBrk="0" hangingPunct="1">
                        <a:lnSpc>
                          <a:spcPct val="150000"/>
                        </a:lnSpc>
                        <a:spcBef>
                          <a:spcPts val="0"/>
                        </a:spcBef>
                        <a:spcAft>
                          <a:spcPts val="0"/>
                        </a:spcAft>
                        <a:buClrTx/>
                        <a:buSzTx/>
                        <a:buFontTx/>
                        <a:buNone/>
                        <a:defRPr/>
                      </a:pPr>
                      <a:r>
                        <a:rPr lang="en-US" altLang="zh-CN" sz="1400" kern="1200" dirty="0">
                          <a:solidFill>
                            <a:schemeClr val="dk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00-05-06-07-08-BB</a:t>
                      </a:r>
                      <a:endParaRPr lang="zh-CN" altLang="en-US" sz="1400" kern="1200" dirty="0">
                        <a:solidFill>
                          <a:schemeClr val="dk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38" marR="91438" marT="45702" marB="45702">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tc>
                  <a:txBody>
                    <a:bodyPr/>
                    <a:lstStyle/>
                    <a:p>
                      <a:pPr algn="ctr">
                        <a:lnSpc>
                          <a:spcPct val="150000"/>
                        </a:lnSpc>
                      </a:pPr>
                      <a:r>
                        <a:rPr lang="en-US" altLang="zh-CN" sz="1400" kern="1200" dirty="0">
                          <a:solidFill>
                            <a:schemeClr val="dk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GE0/0/1</a:t>
                      </a:r>
                      <a:endParaRPr lang="zh-CN" altLang="en-US" sz="1400" kern="1200" dirty="0">
                        <a:solidFill>
                          <a:schemeClr val="dk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38" marR="91438" marT="45702" marB="45702"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5221">
                <a:tc>
                  <a:txBody>
                    <a:bodyPr/>
                    <a:lstStyle/>
                    <a:p>
                      <a:pPr marL="0" marR="0" indent="0" algn="ctr" defTabSz="914400" rtl="0" eaLnBrk="1" fontAlgn="auto" latinLnBrk="0" hangingPunct="1">
                        <a:lnSpc>
                          <a:spcPct val="150000"/>
                        </a:lnSpc>
                        <a:spcBef>
                          <a:spcPts val="0"/>
                        </a:spcBef>
                        <a:spcAft>
                          <a:spcPts val="0"/>
                        </a:spcAft>
                        <a:buClrTx/>
                        <a:buSzTx/>
                        <a:buFontTx/>
                        <a:buNone/>
                        <a:defRPr/>
                      </a:pPr>
                      <a:r>
                        <a:rPr lang="en-US" altLang="zh-CN" sz="1400" kern="1200" dirty="0">
                          <a:solidFill>
                            <a:schemeClr val="dk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00-05-06-07-08-BB</a:t>
                      </a:r>
                      <a:endParaRPr lang="zh-CN" altLang="en-US" sz="1400" kern="1200" dirty="0">
                        <a:solidFill>
                          <a:schemeClr val="dk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38" marR="91438" marT="45702" marB="45702">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50000"/>
                        </a:lnSpc>
                        <a:spcBef>
                          <a:spcPts val="0"/>
                        </a:spcBef>
                        <a:spcAft>
                          <a:spcPts val="0"/>
                        </a:spcAft>
                        <a:buClrTx/>
                        <a:buSzTx/>
                        <a:buFontTx/>
                        <a:buNone/>
                        <a:defRPr/>
                      </a:pPr>
                      <a:r>
                        <a:rPr lang="en-US" altLang="zh-CN" sz="1400" kern="1200" dirty="0">
                          <a:solidFill>
                            <a:schemeClr val="dk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GE0/0/2</a:t>
                      </a:r>
                      <a:endParaRPr lang="zh-CN" altLang="en-US" sz="1400" kern="1200" dirty="0">
                        <a:solidFill>
                          <a:schemeClr val="dk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txBody>
                  <a:tcPr marL="91438" marR="91438" marT="45702" marB="45702"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67" name="TextBox 94"/>
          <p:cNvSpPr txBox="1">
            <a:spLocks noChangeArrowheads="1"/>
          </p:cNvSpPr>
          <p:nvPr/>
        </p:nvSpPr>
        <p:spPr bwMode="auto">
          <a:xfrm>
            <a:off x="2583619" y="1454546"/>
            <a:ext cx="12506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6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地址表</a:t>
            </a:r>
          </a:p>
        </p:txBody>
      </p:sp>
      <p:sp>
        <p:nvSpPr>
          <p:cNvPr id="28" name="文本框 27"/>
          <p:cNvSpPr txBox="1"/>
          <p:nvPr/>
        </p:nvSpPr>
        <p:spPr>
          <a:xfrm>
            <a:off x="684281" y="3949500"/>
            <a:ext cx="4775340" cy="1569660"/>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TCN BPDU</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在网络拓扑变化的时候产生。</a:t>
            </a:r>
            <a:endParaRPr lang="en-US" altLang="zh-CN" sz="20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20000"/>
              </a:lnSpc>
              <a:buFont typeface="Arial" panose="020B0604020202020204" pitchFamily="34" charset="0"/>
              <a:buChar char="•"/>
            </a:pP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报文格式</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协议标识、版本号和类型。</a:t>
            </a:r>
            <a:endParaRPr lang="en-US" altLang="zh-CN" sz="20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20000"/>
              </a:lnSpc>
              <a:buFont typeface="Arial" panose="020B0604020202020204" pitchFamily="34" charset="0"/>
              <a:buChar char="•"/>
            </a:pP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拓扑变化：会使用到配置</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中</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Flags</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TCA</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TC</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位。</a:t>
            </a:r>
            <a:endParaRPr lang="en-US" altLang="zh-CN" sz="20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7" name="组合 46"/>
          <p:cNvGrpSpPr/>
          <p:nvPr/>
        </p:nvGrpSpPr>
        <p:grpSpPr>
          <a:xfrm>
            <a:off x="10018179" y="3100611"/>
            <a:ext cx="288000" cy="288000"/>
            <a:chOff x="856677" y="2615810"/>
            <a:chExt cx="288000" cy="288000"/>
          </a:xfrm>
        </p:grpSpPr>
        <p:sp>
          <p:nvSpPr>
            <p:cNvPr id="49" name="椭圆 48"/>
            <p:cNvSpPr/>
            <p:nvPr/>
          </p:nvSpPr>
          <p:spPr>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0" name="组合 49"/>
            <p:cNvGrpSpPr/>
            <p:nvPr/>
          </p:nvGrpSpPr>
          <p:grpSpPr>
            <a:xfrm>
              <a:off x="923444" y="2692169"/>
              <a:ext cx="144001" cy="144002"/>
              <a:chOff x="898853" y="2657982"/>
              <a:chExt cx="203649" cy="203652"/>
            </a:xfrm>
          </p:grpSpPr>
          <p:cxnSp>
            <p:nvCxnSpPr>
              <p:cNvPr id="51" name="直接连接符 50"/>
              <p:cNvCxnSpPr>
                <a:stCxn id="49" idx="3"/>
                <a:endCxn id="49" idx="7"/>
              </p:cNvCxnSpPr>
              <p:nvPr/>
            </p:nvCxnSpPr>
            <p:spPr>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52" name="直接连接符 51"/>
              <p:cNvCxnSpPr>
                <a:stCxn id="49" idx="1"/>
                <a:endCxn id="49" idx="5"/>
              </p:cNvCxnSpPr>
              <p:nvPr/>
            </p:nvCxnSpPr>
            <p:spPr>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
        <p:nvSpPr>
          <p:cNvPr id="53" name="TextBox 94"/>
          <p:cNvSpPr txBox="1">
            <a:spLocks noChangeArrowheads="1"/>
          </p:cNvSpPr>
          <p:nvPr/>
        </p:nvSpPr>
        <p:spPr bwMode="auto">
          <a:xfrm>
            <a:off x="5645436" y="4901719"/>
            <a:ext cx="7970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TextBox 95"/>
          <p:cNvSpPr txBox="1">
            <a:spLocks noChangeArrowheads="1"/>
          </p:cNvSpPr>
          <p:nvPr/>
        </p:nvSpPr>
        <p:spPr bwMode="auto">
          <a:xfrm>
            <a:off x="11029042" y="4919410"/>
            <a:ext cx="7857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矩形 51"/>
          <p:cNvSpPr>
            <a:spLocks noChangeArrowheads="1"/>
          </p:cNvSpPr>
          <p:nvPr/>
        </p:nvSpPr>
        <p:spPr bwMode="auto">
          <a:xfrm>
            <a:off x="7004719" y="3928283"/>
            <a:ext cx="756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矩形 52"/>
          <p:cNvSpPr>
            <a:spLocks noChangeArrowheads="1"/>
          </p:cNvSpPr>
          <p:nvPr/>
        </p:nvSpPr>
        <p:spPr bwMode="auto">
          <a:xfrm>
            <a:off x="7016616" y="3542388"/>
            <a:ext cx="756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矩形 53"/>
          <p:cNvSpPr>
            <a:spLocks noChangeArrowheads="1"/>
          </p:cNvSpPr>
          <p:nvPr/>
        </p:nvSpPr>
        <p:spPr bwMode="auto">
          <a:xfrm>
            <a:off x="6692772" y="4242940"/>
            <a:ext cx="756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矩形 54"/>
          <p:cNvSpPr>
            <a:spLocks noChangeArrowheads="1"/>
          </p:cNvSpPr>
          <p:nvPr/>
        </p:nvSpPr>
        <p:spPr bwMode="auto">
          <a:xfrm>
            <a:off x="7671697" y="1996610"/>
            <a:ext cx="756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矩形 55"/>
          <p:cNvSpPr>
            <a:spLocks noChangeArrowheads="1"/>
          </p:cNvSpPr>
          <p:nvPr/>
        </p:nvSpPr>
        <p:spPr bwMode="auto">
          <a:xfrm>
            <a:off x="9027826" y="1977452"/>
            <a:ext cx="756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矩形 56"/>
          <p:cNvSpPr>
            <a:spLocks noChangeArrowheads="1"/>
          </p:cNvSpPr>
          <p:nvPr/>
        </p:nvSpPr>
        <p:spPr bwMode="auto">
          <a:xfrm>
            <a:off x="9453912" y="3551970"/>
            <a:ext cx="756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矩形 57"/>
          <p:cNvSpPr>
            <a:spLocks noChangeArrowheads="1"/>
          </p:cNvSpPr>
          <p:nvPr/>
        </p:nvSpPr>
        <p:spPr bwMode="auto">
          <a:xfrm>
            <a:off x="9487262" y="3911642"/>
            <a:ext cx="756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Box 89"/>
          <p:cNvSpPr txBox="1">
            <a:spLocks noChangeArrowheads="1"/>
          </p:cNvSpPr>
          <p:nvPr/>
        </p:nvSpPr>
        <p:spPr bwMode="auto">
          <a:xfrm>
            <a:off x="5583825" y="5308757"/>
            <a:ext cx="224131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00-05-06-07-08-AA</a:t>
            </a: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TextBox 90"/>
          <p:cNvSpPr txBox="1">
            <a:spLocks noChangeArrowheads="1"/>
          </p:cNvSpPr>
          <p:nvPr/>
        </p:nvSpPr>
        <p:spPr bwMode="auto">
          <a:xfrm>
            <a:off x="9584995" y="5298666"/>
            <a:ext cx="22188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00-05-06-07-08-BB</a:t>
            </a:r>
            <a:endParaRPr lang="zh-CN" altLang="en-US" sz="18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矩形 52"/>
          <p:cNvSpPr>
            <a:spLocks noChangeArrowheads="1"/>
          </p:cNvSpPr>
          <p:nvPr/>
        </p:nvSpPr>
        <p:spPr bwMode="auto">
          <a:xfrm>
            <a:off x="10700535" y="4225898"/>
            <a:ext cx="7569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100">
                <a:solidFill>
                  <a:schemeClr val="tx1"/>
                </a:solidFill>
                <a:latin typeface="Arial" panose="020B0604020202020204" pitchFamily="34" charset="0"/>
                <a:ea typeface="MS PGothic" panose="020B0600070205080204" pitchFamily="34" charset="-128"/>
              </a:defRPr>
            </a:lvl1pPr>
            <a:lvl2pPr marL="742950" indent="-285750" algn="ctr">
              <a:defRPr sz="2100">
                <a:solidFill>
                  <a:schemeClr val="tx1"/>
                </a:solidFill>
                <a:latin typeface="Arial" panose="020B0604020202020204" pitchFamily="34" charset="0"/>
                <a:ea typeface="MS PGothic" panose="020B0600070205080204" pitchFamily="34" charset="-128"/>
              </a:defRPr>
            </a:lvl2pPr>
            <a:lvl3pPr marL="1143000" indent="-228600" algn="ctr">
              <a:defRPr sz="2100">
                <a:solidFill>
                  <a:schemeClr val="tx1"/>
                </a:solidFill>
                <a:latin typeface="Arial" panose="020B0604020202020204" pitchFamily="34" charset="0"/>
                <a:ea typeface="MS PGothic" panose="020B0600070205080204" pitchFamily="34" charset="-128"/>
              </a:defRPr>
            </a:lvl3pPr>
            <a:lvl4pPr marL="1600200" indent="-228600" algn="ctr">
              <a:defRPr sz="2100">
                <a:solidFill>
                  <a:schemeClr val="tx1"/>
                </a:solidFill>
                <a:latin typeface="Arial" panose="020B0604020202020204" pitchFamily="34" charset="0"/>
                <a:ea typeface="MS PGothic" panose="020B0600070205080204" pitchFamily="34" charset="-128"/>
              </a:defRPr>
            </a:lvl4pPr>
            <a:lvl5pPr marL="2057400" indent="-228600" algn="ctr">
              <a:defRPr sz="2100">
                <a:solidFill>
                  <a:schemeClr val="tx1"/>
                </a:solidFill>
                <a:latin typeface="Arial" panose="020B0604020202020204" pitchFamily="34" charset="0"/>
                <a:ea typeface="MS PGothic" panose="020B0600070205080204" pitchFamily="34" charset="-128"/>
              </a:defRPr>
            </a:lvl5pPr>
            <a:lvl6pPr marL="25146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algn="ctr"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a:solidFill>
                  <a:schemeClr val="bg1">
                    <a:lumMod val="50000"/>
                  </a:schemeClr>
                </a:solidFill>
                <a:sym typeface="Huawei Sans" panose="020C0503030203020204" pitchFamily="34" charset="0"/>
              </a:rPr>
              <a:t>生成树技术概述</a:t>
            </a:r>
          </a:p>
          <a:p>
            <a:r>
              <a:rPr lang="en-US" altLang="zh-CN">
                <a:solidFill>
                  <a:schemeClr val="bg1">
                    <a:lumMod val="50000"/>
                  </a:schemeClr>
                </a:solidFill>
                <a:sym typeface="Huawei Sans" panose="020C0503030203020204" pitchFamily="34" charset="0"/>
              </a:rPr>
              <a:t>STP</a:t>
            </a:r>
            <a:r>
              <a:rPr lang="zh-CN" altLang="en-US">
                <a:solidFill>
                  <a:schemeClr val="bg1">
                    <a:lumMod val="50000"/>
                  </a:schemeClr>
                </a:solidFill>
                <a:sym typeface="Huawei Sans" panose="020C0503030203020204" pitchFamily="34" charset="0"/>
              </a:rPr>
              <a:t>的基本概念及工作原理</a:t>
            </a:r>
          </a:p>
          <a:p>
            <a:r>
              <a:rPr lang="en-US" altLang="zh-CN" b="1">
                <a:sym typeface="Huawei Sans" panose="020C0503030203020204" pitchFamily="34" charset="0"/>
              </a:rPr>
              <a:t>STP</a:t>
            </a:r>
            <a:r>
              <a:rPr lang="zh-CN" altLang="en-US" b="1">
                <a:sym typeface="Huawei Sans" panose="020C0503030203020204" pitchFamily="34" charset="0"/>
              </a:rPr>
              <a:t>的基础配置</a:t>
            </a:r>
          </a:p>
          <a:p>
            <a:r>
              <a:rPr lang="en-US" altLang="zh-CN">
                <a:solidFill>
                  <a:schemeClr val="bg1">
                    <a:lumMod val="50000"/>
                  </a:schemeClr>
                </a:solidFill>
                <a:sym typeface="Huawei Sans" panose="020C0503030203020204" pitchFamily="34" charset="0"/>
              </a:rPr>
              <a:t>RSTP</a:t>
            </a:r>
            <a:r>
              <a:rPr lang="zh-CN" altLang="en-US">
                <a:solidFill>
                  <a:schemeClr val="bg1">
                    <a:lumMod val="50000"/>
                  </a:schemeClr>
                </a:solidFill>
                <a:sym typeface="Huawei Sans" panose="020C0503030203020204" pitchFamily="34" charset="0"/>
              </a:rPr>
              <a:t>对</a:t>
            </a:r>
            <a:r>
              <a:rPr lang="en-US" altLang="zh-CN">
                <a:solidFill>
                  <a:schemeClr val="bg1">
                    <a:lumMod val="50000"/>
                  </a:schemeClr>
                </a:solidFill>
                <a:sym typeface="Huawei Sans" panose="020C0503030203020204" pitchFamily="34" charset="0"/>
              </a:rPr>
              <a:t>STP</a:t>
            </a:r>
            <a:r>
              <a:rPr lang="zh-CN" altLang="en-US">
                <a:solidFill>
                  <a:schemeClr val="bg1">
                    <a:lumMod val="50000"/>
                  </a:schemeClr>
                </a:solidFill>
                <a:sym typeface="Huawei Sans" panose="020C0503030203020204" pitchFamily="34" charset="0"/>
              </a:rPr>
              <a:t>的改进</a:t>
            </a:r>
          </a:p>
          <a:p>
            <a:r>
              <a:rPr lang="zh-CN" altLang="en-US">
                <a:solidFill>
                  <a:schemeClr val="bg1">
                    <a:lumMod val="50000"/>
                  </a:schemeClr>
                </a:solidFill>
                <a:sym typeface="Huawei Sans" panose="020C0503030203020204" pitchFamily="34" charset="0"/>
              </a:rPr>
              <a:t>生成树技术进阶</a:t>
            </a:r>
            <a:endParaRPr lang="zh-CN" altLang="en-US" dirty="0">
              <a:solidFill>
                <a:schemeClr val="bg1">
                  <a:lumMod val="50000"/>
                </a:schemeClr>
              </a:solidFill>
              <a:sym typeface="Huawei Sans" panose="020C0503030203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的基础配置命令 </a:t>
            </a:r>
            <a:r>
              <a:rPr lang="en-US" altLang="zh-CN">
                <a:sym typeface="Huawei Sans" panose="020C0503030203020204" pitchFamily="34" charset="0"/>
              </a:rPr>
              <a:t>(1)</a:t>
            </a:r>
            <a:endParaRPr lang="zh-CN" altLang="en-US" dirty="0">
              <a:sym typeface="Huawei Sans" panose="020C0503030203020204" pitchFamily="34" charset="0"/>
            </a:endParaRPr>
          </a:p>
        </p:txBody>
      </p:sp>
      <p:sp>
        <p:nvSpPr>
          <p:cNvPr id="6" name="矩形 5"/>
          <p:cNvSpPr/>
          <p:nvPr/>
        </p:nvSpPr>
        <p:spPr>
          <a:xfrm>
            <a:off x="1031917" y="1797459"/>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mode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rstp | mstp</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配置生成树工作模式</a:t>
            </a:r>
          </a:p>
        </p:txBody>
      </p:sp>
      <p:sp>
        <p:nvSpPr>
          <p:cNvPr id="9" name="矩形 8"/>
          <p:cNvSpPr/>
          <p:nvPr/>
        </p:nvSpPr>
        <p:spPr>
          <a:xfrm>
            <a:off x="1031917" y="2229606"/>
            <a:ext cx="10608699"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交换机支持</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RSTP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MSTP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Multiple Spanning Tree Protocol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）三种生成树</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工作模式，默认</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情况工作在</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MSTP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模式。</a:t>
            </a:r>
          </a:p>
        </p:txBody>
      </p:sp>
      <p:sp>
        <p:nvSpPr>
          <p:cNvPr id="14" name="矩形 13"/>
          <p:cNvSpPr/>
          <p:nvPr/>
        </p:nvSpPr>
        <p:spPr>
          <a:xfrm>
            <a:off x="1031917" y="3463232"/>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root primary</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p:cNvSpPr/>
          <p:nvPr/>
        </p:nvSpPr>
        <p:spPr>
          <a:xfrm>
            <a:off x="551384" y="3031085"/>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（可选）配置根桥</a:t>
            </a:r>
          </a:p>
        </p:txBody>
      </p:sp>
      <p:sp>
        <p:nvSpPr>
          <p:cNvPr id="16" name="矩形 15"/>
          <p:cNvSpPr/>
          <p:nvPr/>
        </p:nvSpPr>
        <p:spPr>
          <a:xfrm>
            <a:off x="1031917" y="3895379"/>
            <a:ext cx="10608699"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配置当前设备为根桥。缺省情况下，交换机不作为任何生成树的根桥。配置后该设备优先级数值自动为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，并且不能更改设备优先级。</a:t>
            </a:r>
          </a:p>
        </p:txBody>
      </p:sp>
      <p:sp>
        <p:nvSpPr>
          <p:cNvPr id="17" name="矩形 16"/>
          <p:cNvSpPr/>
          <p:nvPr/>
        </p:nvSpPr>
        <p:spPr>
          <a:xfrm>
            <a:off x="1031917" y="5129005"/>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root secondary</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p:cNvSpPr/>
          <p:nvPr/>
        </p:nvSpPr>
        <p:spPr>
          <a:xfrm>
            <a:off x="551384" y="4696858"/>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（可选）备份根桥</a:t>
            </a:r>
          </a:p>
        </p:txBody>
      </p:sp>
      <p:sp>
        <p:nvSpPr>
          <p:cNvPr id="19" name="矩形 18"/>
          <p:cNvSpPr/>
          <p:nvPr/>
        </p:nvSpPr>
        <p:spPr>
          <a:xfrm>
            <a:off x="1031917" y="5561150"/>
            <a:ext cx="10608699"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配置当前交换机为备份根桥。缺省情况下，交换机不作为任何生成树的备份根桥。配置后该设备优先级数值为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4096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，并且不能更改设备优先级。</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的基础配置命令 </a:t>
            </a:r>
            <a:r>
              <a:rPr lang="en-US" altLang="zh-CN">
                <a:sym typeface="Huawei Sans" panose="020C0503030203020204" pitchFamily="34" charset="0"/>
              </a:rPr>
              <a:t>(2)</a:t>
            </a:r>
            <a:endParaRPr lang="zh-CN" altLang="en-US" dirty="0">
              <a:sym typeface="Huawei Sans" panose="020C0503030203020204" pitchFamily="34" charset="0"/>
            </a:endParaRPr>
          </a:p>
        </p:txBody>
      </p:sp>
      <p:sp>
        <p:nvSpPr>
          <p:cNvPr id="6" name="矩形 5"/>
          <p:cNvSpPr/>
          <p:nvPr/>
        </p:nvSpPr>
        <p:spPr>
          <a:xfrm>
            <a:off x="1031917" y="1797459"/>
            <a:ext cx="986468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priority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priority</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（可选）配置交换机的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优先级</a:t>
            </a:r>
          </a:p>
        </p:txBody>
      </p:sp>
      <p:sp>
        <p:nvSpPr>
          <p:cNvPr id="9" name="矩形 8"/>
          <p:cNvSpPr/>
          <p:nvPr/>
        </p:nvSpPr>
        <p:spPr>
          <a:xfrm>
            <a:off x="1031917" y="2229606"/>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缺省情况下，交换机的优先级取值是</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32768</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14" name="矩形 13"/>
          <p:cNvSpPr/>
          <p:nvPr/>
        </p:nvSpPr>
        <p:spPr>
          <a:xfrm>
            <a:off x="1031917" y="3463232"/>
            <a:ext cx="986468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pathcost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-standard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dot1d-1998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dot1t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legacy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p:cNvSpPr/>
          <p:nvPr/>
        </p:nvSpPr>
        <p:spPr>
          <a:xfrm>
            <a:off x="551384" y="3031085"/>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（可选）配置接口路径开销</a:t>
            </a:r>
          </a:p>
        </p:txBody>
      </p:sp>
      <p:sp>
        <p:nvSpPr>
          <p:cNvPr id="16" name="矩形 15"/>
          <p:cNvSpPr/>
          <p:nvPr/>
        </p:nvSpPr>
        <p:spPr>
          <a:xfrm>
            <a:off x="1031917" y="3895379"/>
            <a:ext cx="10608699"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配置接口路径开销计算方法。缺省情况下，路径开销值的计算方法为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IEEE 802.1t</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dot1t</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）标准方法。</a:t>
            </a:r>
          </a:p>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同一网络内所有交换机的接口路径开销应使用相同的计算方法。</a:t>
            </a:r>
          </a:p>
        </p:txBody>
      </p:sp>
      <p:sp>
        <p:nvSpPr>
          <p:cNvPr id="12" name="矩形 11"/>
          <p:cNvSpPr/>
          <p:nvPr/>
        </p:nvSpPr>
        <p:spPr>
          <a:xfrm>
            <a:off x="1031917" y="4682475"/>
            <a:ext cx="9864683" cy="338554"/>
          </a:xfrm>
          <a:prstGeom prst="rect">
            <a:avLst/>
          </a:prstGeom>
          <a:solidFill>
            <a:srgbClr val="F4FBFE"/>
          </a:solidFill>
          <a:ln>
            <a:solidFill>
              <a:srgbClr val="99DFF9"/>
            </a:solidFill>
          </a:ln>
        </p:spPr>
        <p:txBody>
          <a:bodyPr wrap="square">
            <a:spAutoFit/>
          </a:bodyPr>
          <a:lstStyle/>
          <a:p>
            <a:pPr fontAlgn="base"/>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cost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p:cNvSpPr/>
          <p:nvPr/>
        </p:nvSpPr>
        <p:spPr>
          <a:xfrm>
            <a:off x="1031917" y="5114622"/>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设置当前接口的路径开销值。</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的基础配置命令 </a:t>
            </a:r>
            <a:r>
              <a:rPr lang="en-US" altLang="zh-CN">
                <a:sym typeface="Huawei Sans" panose="020C0503030203020204" pitchFamily="34" charset="0"/>
              </a:rPr>
              <a:t>(3)</a:t>
            </a:r>
            <a:endParaRPr lang="zh-CN" altLang="en-US" dirty="0">
              <a:sym typeface="Huawei Sans" panose="020C0503030203020204" pitchFamily="34" charset="0"/>
            </a:endParaRPr>
          </a:p>
        </p:txBody>
      </p:sp>
      <p:sp>
        <p:nvSpPr>
          <p:cNvPr id="6" name="矩形 5"/>
          <p:cNvSpPr/>
          <p:nvPr/>
        </p:nvSpPr>
        <p:spPr>
          <a:xfrm>
            <a:off x="1031917" y="1797459"/>
            <a:ext cx="975038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intf</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priority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priority</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（可选）配置接口优先级</a:t>
            </a:r>
          </a:p>
        </p:txBody>
      </p:sp>
      <p:sp>
        <p:nvSpPr>
          <p:cNvPr id="9" name="矩形 8"/>
          <p:cNvSpPr/>
          <p:nvPr/>
        </p:nvSpPr>
        <p:spPr>
          <a:xfrm>
            <a:off x="1031917" y="2229606"/>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配置接口的优先级。缺省情况下，交换机接口的优先级取值是</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128</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11" name="矩形 10"/>
          <p:cNvSpPr/>
          <p:nvPr/>
        </p:nvSpPr>
        <p:spPr>
          <a:xfrm>
            <a:off x="1031917" y="3248881"/>
            <a:ext cx="975038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enable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a:xfrm>
            <a:off x="551384" y="2816734"/>
            <a:ext cx="11089232" cy="338554"/>
          </a:xfrm>
          <a:prstGeom prst="rect">
            <a:avLst/>
          </a:prstGeom>
        </p:spPr>
        <p:txBody>
          <a:bodyPr wrap="square">
            <a:spAutoFit/>
          </a:bodyPr>
          <a:lstStyle/>
          <a:p>
            <a:pPr marL="342900" indent="-342900" fontAlgn="auto">
              <a:buFont typeface="+mj-lt"/>
              <a:buAutoNum type="arabicPeriod" startAt="2"/>
            </a:pP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启用</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STP/RSTP/MSTP</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p:cNvSpPr/>
          <p:nvPr/>
        </p:nvSpPr>
        <p:spPr>
          <a:xfrm>
            <a:off x="1031917" y="3681028"/>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使能交换机</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STP/RSTP/MSTP</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。缺省情况下，设备</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STP/RSTP/MSTP</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处于启用状态。</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ym typeface="Huawei Sans" panose="020C0503030203020204" pitchFamily="34" charset="0"/>
              </a:rPr>
              <a:t>案例</a:t>
            </a:r>
            <a:r>
              <a:rPr lang="en-US" altLang="zh-CN">
                <a:sym typeface="Huawei Sans" panose="020C0503030203020204" pitchFamily="34" charset="0"/>
              </a:rPr>
              <a:t>1</a:t>
            </a:r>
            <a:r>
              <a:rPr lang="zh-CN" altLang="en-US">
                <a:sym typeface="Huawei Sans" panose="020C0503030203020204" pitchFamily="34" charset="0"/>
              </a:rPr>
              <a:t>：</a:t>
            </a:r>
            <a:r>
              <a:rPr lang="en-US" altLang="zh-CN">
                <a:sym typeface="Huawei Sans" panose="020C0503030203020204" pitchFamily="34" charset="0"/>
              </a:rPr>
              <a:t>STP</a:t>
            </a:r>
            <a:r>
              <a:rPr lang="zh-CN" altLang="en-US">
                <a:sym typeface="Huawei Sans" panose="020C0503030203020204" pitchFamily="34" charset="0"/>
              </a:rPr>
              <a:t>的基础配置</a:t>
            </a:r>
            <a:endParaRPr lang="zh-CN" altLang="en-US" dirty="0">
              <a:sym typeface="Huawei Sans" panose="020C0503030203020204" pitchFamily="34" charset="0"/>
            </a:endParaRPr>
          </a:p>
        </p:txBody>
      </p:sp>
      <p:sp>
        <p:nvSpPr>
          <p:cNvPr id="21" name="文本框 20"/>
          <p:cNvSpPr txBox="1"/>
          <p:nvPr/>
        </p:nvSpPr>
        <p:spPr>
          <a:xfrm>
            <a:off x="918090" y="4633359"/>
            <a:ext cx="5995647" cy="1400383"/>
          </a:xfrm>
          <a:prstGeom prst="rect">
            <a:avLst/>
          </a:prstGeom>
          <a:noFill/>
        </p:spPr>
        <p:txBody>
          <a:bodyPr wrap="square" rtlCol="0">
            <a:spAutoFit/>
          </a:bodyPr>
          <a:lstStyle/>
          <a:p>
            <a:pPr marL="186055" indent="-186055" algn="just" fontAlgn="auto">
              <a:lnSpc>
                <a:spcPts val="2400"/>
              </a:lnSpc>
              <a:spcBef>
                <a:spcPts val="0"/>
              </a:spcBef>
              <a:spcAft>
                <a:spcPts val="600"/>
              </a:spcAft>
              <a:buFont typeface="Arial" panose="020B0604020202020204" pitchFamily="34" charset="0"/>
              <a:buChar char="•"/>
            </a:pPr>
            <a:r>
              <a:rPr lang="zh-CN" altLang="en-US" sz="18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在上述三台交换机上部署</a:t>
            </a:r>
            <a:r>
              <a:rPr lang="en-US" altLang="zh-CN" sz="18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8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，以便消除网络中的二层环路。</a:t>
            </a:r>
            <a:endParaRPr lang="en-US" altLang="zh-CN" sz="18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86055" indent="-186055" algn="just" fontAlgn="auto">
              <a:lnSpc>
                <a:spcPts val="2400"/>
              </a:lnSpc>
              <a:spcBef>
                <a:spcPts val="0"/>
              </a:spcBef>
              <a:spcAft>
                <a:spcPts val="600"/>
              </a:spcAft>
              <a:buFont typeface="Arial" panose="020B0604020202020204" pitchFamily="34" charset="0"/>
              <a:buChar char="•"/>
            </a:pPr>
            <a:r>
              <a:rPr lang="zh-CN" altLang="en-US" sz="18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通过配置，将</a:t>
            </a:r>
            <a:r>
              <a:rPr lang="en-US" altLang="zh-CN" sz="18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8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指定为根桥，并使</a:t>
            </a:r>
            <a:r>
              <a:rPr lang="en-US" altLang="zh-CN" sz="18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8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8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GE0/0/22</a:t>
            </a:r>
            <a:r>
              <a:rPr lang="zh-CN" altLang="en-US" sz="18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接口被</a:t>
            </a:r>
            <a:r>
              <a:rPr lang="en-US" altLang="zh-CN" sz="18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8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阻塞。</a:t>
            </a:r>
          </a:p>
        </p:txBody>
      </p:sp>
      <p:sp>
        <p:nvSpPr>
          <p:cNvPr id="22" name="文本框 21"/>
          <p:cNvSpPr txBox="1"/>
          <p:nvPr/>
        </p:nvSpPr>
        <p:spPr>
          <a:xfrm>
            <a:off x="7197848" y="1695135"/>
            <a:ext cx="2822452" cy="1015663"/>
          </a:xfrm>
          <a:prstGeom prst="rect">
            <a:avLst/>
          </a:prstGeom>
          <a:solidFill>
            <a:srgbClr val="F4FBFE"/>
          </a:solidFill>
          <a:ln>
            <a:solidFill>
              <a:srgbClr val="99DFF9"/>
            </a:solidFill>
          </a:ln>
        </p:spPr>
        <p:txBody>
          <a:bodyPr wrap="square" rtlCol="0">
            <a:spAutoFit/>
          </a:bodyPr>
          <a:lstStyle/>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 </a:t>
            </a:r>
            <a:r>
              <a:rPr lang="en-US" altLang="zh-CN" sz="1400"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mode </a:t>
            </a:r>
            <a:r>
              <a:rPr lang="en-US" altLang="zh-CN" sz="1400"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endPar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 </a:t>
            </a:r>
            <a:r>
              <a:rPr lang="en-US" altLang="zh-CN" sz="1400"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enable</a:t>
            </a:r>
          </a:p>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 </a:t>
            </a:r>
            <a:r>
              <a:rPr lang="en-US" altLang="zh-CN" sz="1400"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priority 0</a:t>
            </a:r>
            <a:endParaRPr lang="zh-CN" altLang="en-US"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4" name="文本框 23"/>
          <p:cNvSpPr txBox="1"/>
          <p:nvPr/>
        </p:nvSpPr>
        <p:spPr>
          <a:xfrm>
            <a:off x="7197848" y="3309316"/>
            <a:ext cx="2822452" cy="1015663"/>
          </a:xfrm>
          <a:prstGeom prst="rect">
            <a:avLst/>
          </a:prstGeom>
          <a:solidFill>
            <a:srgbClr val="F4FBFE"/>
          </a:solidFill>
          <a:ln>
            <a:solidFill>
              <a:srgbClr val="99DFF9"/>
            </a:solidFill>
          </a:ln>
        </p:spPr>
        <p:txBody>
          <a:bodyPr wrap="square" rtlCol="0">
            <a:spAutoFit/>
          </a:bodyPr>
          <a:lstStyle/>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 </a:t>
            </a:r>
            <a:r>
              <a:rPr lang="en-US" altLang="zh-CN" sz="1400"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mode </a:t>
            </a:r>
            <a:r>
              <a:rPr lang="en-US" altLang="zh-CN" sz="1400"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endPar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 </a:t>
            </a:r>
            <a:r>
              <a:rPr lang="en-US" altLang="zh-CN" sz="1400"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enable</a:t>
            </a:r>
          </a:p>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 </a:t>
            </a:r>
            <a:r>
              <a:rPr lang="en-US" altLang="zh-CN" sz="1400"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priority 4096</a:t>
            </a:r>
            <a:endParaRPr lang="zh-CN" altLang="en-US"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5" name="文本框 24"/>
          <p:cNvSpPr txBox="1"/>
          <p:nvPr/>
        </p:nvSpPr>
        <p:spPr>
          <a:xfrm>
            <a:off x="7197848" y="4923497"/>
            <a:ext cx="2822452" cy="707886"/>
          </a:xfrm>
          <a:prstGeom prst="rect">
            <a:avLst/>
          </a:prstGeom>
          <a:solidFill>
            <a:srgbClr val="F4FBFE"/>
          </a:solidFill>
          <a:ln>
            <a:solidFill>
              <a:srgbClr val="99DFF9"/>
            </a:solidFill>
          </a:ln>
        </p:spPr>
        <p:txBody>
          <a:bodyPr wrap="square" rtlCol="0">
            <a:spAutoFit/>
          </a:bodyPr>
          <a:lstStyle/>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[SW3] </a:t>
            </a:r>
            <a:r>
              <a:rPr lang="en-US" altLang="zh-CN" sz="1400"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mode </a:t>
            </a:r>
            <a:r>
              <a:rPr lang="en-US" altLang="zh-CN" sz="1400"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endPar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[SW3] </a:t>
            </a:r>
            <a:r>
              <a:rPr lang="en-US" altLang="zh-CN" sz="1400" b="1"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400" b="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enable</a:t>
            </a:r>
            <a:endPar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6" name="文本框 25"/>
          <p:cNvSpPr txBox="1"/>
          <p:nvPr/>
        </p:nvSpPr>
        <p:spPr>
          <a:xfrm>
            <a:off x="7197295" y="1265474"/>
            <a:ext cx="1899879" cy="338554"/>
          </a:xfrm>
          <a:prstGeom prst="rect">
            <a:avLst/>
          </a:prstGeom>
          <a:noFill/>
        </p:spPr>
        <p:txBody>
          <a:bodyPr wrap="none" rtlCol="0">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的配置如下：</a:t>
            </a:r>
          </a:p>
        </p:txBody>
      </p:sp>
      <p:sp>
        <p:nvSpPr>
          <p:cNvPr id="27" name="文本框 26"/>
          <p:cNvSpPr txBox="1"/>
          <p:nvPr/>
        </p:nvSpPr>
        <p:spPr>
          <a:xfrm>
            <a:off x="7197295" y="2879655"/>
            <a:ext cx="1838965" cy="338554"/>
          </a:xfrm>
          <a:prstGeom prst="rect">
            <a:avLst/>
          </a:prstGeom>
          <a:noFill/>
        </p:spPr>
        <p:txBody>
          <a:bodyPr wrap="none" rtlCol="0">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的配置如下：</a:t>
            </a:r>
          </a:p>
        </p:txBody>
      </p:sp>
      <p:sp>
        <p:nvSpPr>
          <p:cNvPr id="28" name="文本框 27"/>
          <p:cNvSpPr txBox="1"/>
          <p:nvPr/>
        </p:nvSpPr>
        <p:spPr>
          <a:xfrm>
            <a:off x="7197295" y="4485094"/>
            <a:ext cx="1838965" cy="338554"/>
          </a:xfrm>
          <a:prstGeom prst="rect">
            <a:avLst/>
          </a:prstGeom>
          <a:noFill/>
        </p:spPr>
        <p:txBody>
          <a:bodyPr wrap="none" rtlCol="0">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的配置如下：</a:t>
            </a:r>
          </a:p>
        </p:txBody>
      </p:sp>
      <p:grpSp>
        <p:nvGrpSpPr>
          <p:cNvPr id="34" name="组合 33"/>
          <p:cNvGrpSpPr/>
          <p:nvPr/>
        </p:nvGrpSpPr>
        <p:grpSpPr>
          <a:xfrm>
            <a:off x="1040335" y="1701509"/>
            <a:ext cx="5751156" cy="2625904"/>
            <a:chOff x="579851" y="1427019"/>
            <a:chExt cx="5751156" cy="2625904"/>
          </a:xfrm>
        </p:grpSpPr>
        <p:grpSp>
          <p:nvGrpSpPr>
            <p:cNvPr id="20" name="组合 19"/>
            <p:cNvGrpSpPr/>
            <p:nvPr/>
          </p:nvGrpSpPr>
          <p:grpSpPr>
            <a:xfrm>
              <a:off x="1449523" y="1746565"/>
              <a:ext cx="4043676" cy="2186491"/>
              <a:chOff x="1940758" y="1746565"/>
              <a:chExt cx="3013742" cy="1759759"/>
            </a:xfrm>
          </p:grpSpPr>
          <p:grpSp>
            <p:nvGrpSpPr>
              <p:cNvPr id="4" name="组合 3"/>
              <p:cNvGrpSpPr/>
              <p:nvPr/>
            </p:nvGrpSpPr>
            <p:grpSpPr>
              <a:xfrm flipV="1">
                <a:off x="2074814" y="1807251"/>
                <a:ext cx="2745630" cy="1699073"/>
                <a:chOff x="6600056" y="4353447"/>
                <a:chExt cx="1296144" cy="833967"/>
              </a:xfrm>
            </p:grpSpPr>
            <p:cxnSp>
              <p:nvCxnSpPr>
                <p:cNvPr id="5" name="直接连接符 4"/>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 name="直接连接符 6"/>
              <p:cNvCxnSpPr/>
              <p:nvPr/>
            </p:nvCxnSpPr>
            <p:spPr>
              <a:xfrm flipH="1">
                <a:off x="1940758" y="1746565"/>
                <a:ext cx="301374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579851" y="1546198"/>
              <a:ext cx="62869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a:xfrm>
              <a:off x="5702309" y="1546198"/>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a:xfrm>
              <a:off x="3732632" y="3681670"/>
              <a:ext cx="62869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a:xfrm>
              <a:off x="1770169" y="1427019"/>
              <a:ext cx="1051891" cy="338554"/>
            </a:xfrm>
            <a:prstGeom prst="rect">
              <a:avLst/>
            </a:prstGeom>
            <a:noFill/>
          </p:spPr>
          <p:txBody>
            <a:bodyPr wrap="none" rtlCol="0">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GE0/0/24</a:t>
              </a: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a:xfrm>
              <a:off x="4156615" y="1427019"/>
              <a:ext cx="1051891" cy="338554"/>
            </a:xfrm>
            <a:prstGeom prst="rect">
              <a:avLst/>
            </a:prstGeom>
            <a:noFill/>
          </p:spPr>
          <p:txBody>
            <a:bodyPr wrap="none" rtlCol="0">
              <a:spAutoFit/>
            </a:bodyPr>
            <a:lstStyle/>
            <a:p>
              <a:pPr fontAlgn="auto">
                <a:spcBef>
                  <a:spcPts val="0"/>
                </a:spcBef>
                <a:spcAft>
                  <a:spcPts val="0"/>
                </a:spcAft>
              </a:pPr>
              <a:r>
                <a:rPr lang="en-US" altLang="zh-CN"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GE0/0/24</a:t>
              </a:r>
              <a:endParaRPr lang="zh-CN" altLang="en-US"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a:xfrm rot="2968301">
              <a:off x="1333560" y="2213854"/>
              <a:ext cx="1051891" cy="338554"/>
            </a:xfrm>
            <a:prstGeom prst="rect">
              <a:avLst/>
            </a:prstGeom>
            <a:noFill/>
          </p:spPr>
          <p:txBody>
            <a:bodyPr wrap="none" rtlCol="0">
              <a:spAutoFit/>
            </a:bodyPr>
            <a:lstStyle/>
            <a:p>
              <a:pP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GE0/0/23</a:t>
              </a: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a:xfrm rot="18662468">
              <a:off x="4487111" y="2249121"/>
              <a:ext cx="1051891" cy="338554"/>
            </a:xfrm>
            <a:prstGeom prst="rect">
              <a:avLst/>
            </a:prstGeom>
            <a:noFill/>
          </p:spPr>
          <p:txBody>
            <a:bodyPr wrap="none" rtlCol="0">
              <a:spAutoFit/>
            </a:bodyPr>
            <a:lstStyle/>
            <a:p>
              <a:pPr fontAlgn="auto">
                <a:spcBef>
                  <a:spcPts val="0"/>
                </a:spcBef>
                <a:spcAft>
                  <a:spcPts val="0"/>
                </a:spcAft>
              </a:pPr>
              <a:r>
                <a:rPr lang="en-US" altLang="zh-CN"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GE0/0/23</a:t>
              </a:r>
              <a:endParaRPr lang="zh-CN" altLang="en-US"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a:xfrm rot="2990464">
              <a:off x="2465434" y="2946290"/>
              <a:ext cx="1051891" cy="338554"/>
            </a:xfrm>
            <a:prstGeom prst="rect">
              <a:avLst/>
            </a:prstGeom>
            <a:noFill/>
          </p:spPr>
          <p:txBody>
            <a:bodyPr wrap="none" rtlCol="0">
              <a:spAutoFit/>
            </a:bodyPr>
            <a:lstStyle/>
            <a:p>
              <a:pPr fontAlgn="auto">
                <a:spcBef>
                  <a:spcPts val="0"/>
                </a:spcBef>
                <a:spcAft>
                  <a:spcPts val="0"/>
                </a:spcAft>
              </a:pPr>
              <a:r>
                <a:rPr lang="en-US" altLang="zh-CN"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GE0/0/21</a:t>
              </a:r>
              <a:endParaRPr lang="zh-CN" altLang="en-US"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a:xfrm rot="18631770">
              <a:off x="3450050" y="2940004"/>
              <a:ext cx="1051891" cy="338554"/>
            </a:xfrm>
            <a:prstGeom prst="rect">
              <a:avLst/>
            </a:prstGeom>
            <a:noFill/>
          </p:spPr>
          <p:txBody>
            <a:bodyPr wrap="none" rtlCol="0">
              <a:spAutoFit/>
            </a:bodyPr>
            <a:lstStyle/>
            <a:p>
              <a:pPr fontAlgn="auto">
                <a:spcBef>
                  <a:spcPts val="0"/>
                </a:spcBef>
                <a:spcAft>
                  <a:spcPts val="0"/>
                </a:spcAft>
              </a:pPr>
              <a:r>
                <a:rPr lang="en-US" altLang="zh-CN"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GE0/0/22</a:t>
              </a:r>
              <a:endParaRPr lang="zh-CN" altLang="en-US"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3" name="组合 22"/>
            <p:cNvGrpSpPr/>
            <p:nvPr/>
          </p:nvGrpSpPr>
          <p:grpSpPr>
            <a:xfrm>
              <a:off x="1216269" y="1513890"/>
              <a:ext cx="4510185" cy="2539033"/>
              <a:chOff x="1216269" y="1513890"/>
              <a:chExt cx="4510185" cy="2539033"/>
            </a:xfrm>
          </p:grpSpPr>
          <p:pic>
            <p:nvPicPr>
              <p:cNvPr id="31" name="图片 76" descr="接入交换机.png"/>
              <p:cNvPicPr>
                <a:picLocks noChangeAspect="1"/>
              </p:cNvPicPr>
              <p:nvPr/>
            </p:nvPicPr>
            <p:blipFill>
              <a:blip r:embed="rId3" cstate="print"/>
              <a:stretch>
                <a:fillRect/>
              </a:stretch>
            </p:blipFill>
            <p:spPr>
              <a:xfrm>
                <a:off x="1216269" y="1513890"/>
                <a:ext cx="540000" cy="441818"/>
              </a:xfrm>
              <a:prstGeom prst="rect">
                <a:avLst/>
              </a:prstGeom>
            </p:spPr>
          </p:pic>
          <p:pic>
            <p:nvPicPr>
              <p:cNvPr id="32" name="图片 76" descr="接入交换机.png"/>
              <p:cNvPicPr>
                <a:picLocks noChangeAspect="1"/>
              </p:cNvPicPr>
              <p:nvPr/>
            </p:nvPicPr>
            <p:blipFill>
              <a:blip r:embed="rId3" cstate="print"/>
              <a:stretch>
                <a:fillRect/>
              </a:stretch>
            </p:blipFill>
            <p:spPr>
              <a:xfrm>
                <a:off x="5186454" y="1513890"/>
                <a:ext cx="540000" cy="441818"/>
              </a:xfrm>
              <a:prstGeom prst="rect">
                <a:avLst/>
              </a:prstGeom>
            </p:spPr>
          </p:pic>
          <p:pic>
            <p:nvPicPr>
              <p:cNvPr id="33" name="图片 76" descr="接入交换机.png"/>
              <p:cNvPicPr>
                <a:picLocks noChangeAspect="1"/>
              </p:cNvPicPr>
              <p:nvPr/>
            </p:nvPicPr>
            <p:blipFill>
              <a:blip r:embed="rId3" cstate="print"/>
              <a:stretch>
                <a:fillRect/>
              </a:stretch>
            </p:blipFill>
            <p:spPr>
              <a:xfrm>
                <a:off x="3201361" y="3611105"/>
                <a:ext cx="540000" cy="441818"/>
              </a:xfrm>
              <a:prstGeom prst="rect">
                <a:avLst/>
              </a:prstGeom>
            </p:spPr>
          </p:pic>
        </p:gr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ym typeface="Huawei Sans" panose="020C0503030203020204" pitchFamily="34" charset="0"/>
              </a:rPr>
              <a:t>案例</a:t>
            </a:r>
            <a:r>
              <a:rPr lang="en-US" altLang="zh-CN">
                <a:sym typeface="Huawei Sans" panose="020C0503030203020204" pitchFamily="34" charset="0"/>
              </a:rPr>
              <a:t>1</a:t>
            </a:r>
            <a:r>
              <a:rPr lang="zh-CN" altLang="en-US">
                <a:sym typeface="Huawei Sans" panose="020C0503030203020204" pitchFamily="34" charset="0"/>
              </a:rPr>
              <a:t>：</a:t>
            </a:r>
            <a:r>
              <a:rPr lang="en-US" altLang="zh-CN">
                <a:sym typeface="Huawei Sans" panose="020C0503030203020204" pitchFamily="34" charset="0"/>
              </a:rPr>
              <a:t>STP</a:t>
            </a:r>
            <a:r>
              <a:rPr lang="zh-CN" altLang="en-US">
                <a:sym typeface="Huawei Sans" panose="020C0503030203020204" pitchFamily="34" charset="0"/>
              </a:rPr>
              <a:t>的基础配置</a:t>
            </a:r>
            <a:endParaRPr lang="zh-CN" altLang="en-US" dirty="0">
              <a:sym typeface="Huawei Sans" panose="020C0503030203020204" pitchFamily="34" charset="0"/>
            </a:endParaRPr>
          </a:p>
        </p:txBody>
      </p:sp>
      <p:sp>
        <p:nvSpPr>
          <p:cNvPr id="22" name="文本框 21"/>
          <p:cNvSpPr txBox="1"/>
          <p:nvPr/>
        </p:nvSpPr>
        <p:spPr>
          <a:xfrm>
            <a:off x="1650153" y="2996952"/>
            <a:ext cx="7989148" cy="1323439"/>
          </a:xfrm>
          <a:prstGeom prst="rect">
            <a:avLst/>
          </a:prstGeom>
          <a:solidFill>
            <a:srgbClr val="F4FBFE"/>
          </a:solidFill>
          <a:ln>
            <a:solidFill>
              <a:srgbClr val="99DFF9"/>
            </a:solidFill>
          </a:ln>
        </p:spPr>
        <p:txBody>
          <a:bodyPr wrap="square" rtlCol="0">
            <a:spAutoFit/>
          </a:bodyPr>
          <a:lstStyle/>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&lt;SW3&gt; </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display </a:t>
            </a:r>
            <a:r>
              <a:rPr lang="en-US" altLang="zh-CN" sz="1400"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brief</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p>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MSTID	Port                      		Role	STP State    	Protection</a:t>
            </a:r>
          </a:p>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0  	GigabitEthernet0/0/21 	ROOT  	</a:t>
            </a:r>
            <a:r>
              <a:rPr lang="en-US" altLang="zh-CN" sz="1400" dirty="0">
                <a:solidFill>
                  <a:srgbClr val="EC7061"/>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FORWARDING</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NONE</a:t>
            </a:r>
          </a:p>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0  	GigabitEthernet0/0/22  	ALTE  	</a:t>
            </a:r>
            <a:r>
              <a:rPr lang="en-US" altLang="zh-CN" sz="1400" dirty="0">
                <a:solidFill>
                  <a:srgbClr val="EC7061"/>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DISCARDING</a:t>
            </a:r>
            <a:r>
              <a:rPr lang="en-US" altLang="zh-CN" sz="1400" dirty="0">
                <a:solidFill>
                  <a:srgbClr val="C00000"/>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NONE</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6" name="文本框 25"/>
          <p:cNvSpPr txBox="1"/>
          <p:nvPr/>
        </p:nvSpPr>
        <p:spPr>
          <a:xfrm>
            <a:off x="1650152" y="2460937"/>
            <a:ext cx="3265638" cy="338554"/>
          </a:xfrm>
          <a:prstGeom prst="rect">
            <a:avLst/>
          </a:prstGeom>
          <a:noFill/>
        </p:spPr>
        <p:txBody>
          <a:bodyPr wrap="none" rtlCol="0">
            <a:spAutoFit/>
          </a:bodyPr>
          <a:lstStyle/>
          <a:p>
            <a:pPr fontAlgn="auto">
              <a:spcBef>
                <a:spcPts val="0"/>
              </a:spcBef>
              <a:spcAft>
                <a:spcPts val="0"/>
              </a:spcAft>
            </a:pP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上查看</a:t>
            </a: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接口状态摘要：</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a:solidFill>
                  <a:schemeClr val="bg1">
                    <a:lumMod val="50000"/>
                  </a:schemeClr>
                </a:solidFill>
                <a:sym typeface="Huawei Sans" panose="020C0503030203020204" pitchFamily="34" charset="0"/>
              </a:rPr>
              <a:t>生成树技术概述</a:t>
            </a:r>
          </a:p>
          <a:p>
            <a:r>
              <a:rPr lang="en-US" altLang="zh-CN">
                <a:solidFill>
                  <a:schemeClr val="bg1">
                    <a:lumMod val="50000"/>
                  </a:schemeClr>
                </a:solidFill>
                <a:sym typeface="Huawei Sans" panose="020C0503030203020204" pitchFamily="34" charset="0"/>
              </a:rPr>
              <a:t>STP</a:t>
            </a:r>
            <a:r>
              <a:rPr lang="zh-CN" altLang="en-US">
                <a:solidFill>
                  <a:schemeClr val="bg1">
                    <a:lumMod val="50000"/>
                  </a:schemeClr>
                </a:solidFill>
                <a:sym typeface="Huawei Sans" panose="020C0503030203020204" pitchFamily="34" charset="0"/>
              </a:rPr>
              <a:t>的基本概念及工作原理</a:t>
            </a:r>
          </a:p>
          <a:p>
            <a:r>
              <a:rPr lang="en-US" altLang="zh-CN">
                <a:solidFill>
                  <a:schemeClr val="bg1">
                    <a:lumMod val="50000"/>
                  </a:schemeClr>
                </a:solidFill>
                <a:sym typeface="Huawei Sans" panose="020C0503030203020204" pitchFamily="34" charset="0"/>
              </a:rPr>
              <a:t>STP</a:t>
            </a:r>
            <a:r>
              <a:rPr lang="zh-CN" altLang="en-US">
                <a:solidFill>
                  <a:schemeClr val="bg1">
                    <a:lumMod val="50000"/>
                  </a:schemeClr>
                </a:solidFill>
                <a:sym typeface="Huawei Sans" panose="020C0503030203020204" pitchFamily="34" charset="0"/>
              </a:rPr>
              <a:t>的基础配置</a:t>
            </a:r>
          </a:p>
          <a:p>
            <a:r>
              <a:rPr lang="en-US" altLang="zh-CN" b="1">
                <a:sym typeface="Huawei Sans" panose="020C0503030203020204" pitchFamily="34" charset="0"/>
              </a:rPr>
              <a:t>RSTP</a:t>
            </a:r>
            <a:r>
              <a:rPr lang="zh-CN" altLang="en-US" b="1">
                <a:sym typeface="Huawei Sans" panose="020C0503030203020204" pitchFamily="34" charset="0"/>
              </a:rPr>
              <a:t>对</a:t>
            </a:r>
            <a:r>
              <a:rPr lang="en-US" altLang="zh-CN" b="1">
                <a:sym typeface="Huawei Sans" panose="020C0503030203020204" pitchFamily="34" charset="0"/>
              </a:rPr>
              <a:t>STP</a:t>
            </a:r>
            <a:r>
              <a:rPr lang="zh-CN" altLang="en-US" b="1">
                <a:sym typeface="Huawei Sans" panose="020C0503030203020204" pitchFamily="34" charset="0"/>
              </a:rPr>
              <a:t>的改进</a:t>
            </a:r>
          </a:p>
          <a:p>
            <a:r>
              <a:rPr lang="zh-CN" altLang="en-US">
                <a:solidFill>
                  <a:schemeClr val="bg1">
                    <a:lumMod val="50000"/>
                  </a:schemeClr>
                </a:solidFill>
                <a:sym typeface="Huawei Sans" panose="020C0503030203020204" pitchFamily="34" charset="0"/>
              </a:rPr>
              <a:t>生成树技术进阶</a:t>
            </a:r>
            <a:endParaRPr lang="zh-CN" altLang="en-US" dirty="0">
              <a:solidFill>
                <a:schemeClr val="bg1">
                  <a:lumMod val="50000"/>
                </a:schemeClr>
              </a:solidFill>
              <a:sym typeface="Huawei Sans" panose="020C0503030203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ym typeface="Huawei Sans" panose="020C0503030203020204" pitchFamily="34" charset="0"/>
              </a:rPr>
              <a:t>STP</a:t>
            </a:r>
            <a:r>
              <a:rPr lang="zh-CN" altLang="en-US">
                <a:sym typeface="Huawei Sans" panose="020C0503030203020204" pitchFamily="34" charset="0"/>
              </a:rPr>
              <a:t>的不足之处</a:t>
            </a:r>
            <a:endParaRPr lang="zh-CN" altLang="en-US" dirty="0">
              <a:sym typeface="Huawei Sans" panose="020C0503030203020204" pitchFamily="34" charset="0"/>
            </a:endParaRPr>
          </a:p>
        </p:txBody>
      </p:sp>
      <p:sp>
        <p:nvSpPr>
          <p:cNvPr id="4" name="内容占位符 3"/>
          <p:cNvSpPr>
            <a:spLocks noGrp="1"/>
          </p:cNvSpPr>
          <p:nvPr>
            <p:ph type="body" sz="quarter" idx="10"/>
          </p:nvPr>
        </p:nvSpPr>
        <p:spPr/>
        <p:txBody>
          <a:bodyPr/>
          <a:lstStyle/>
          <a:p>
            <a:r>
              <a:rPr lang="en-US" altLang="zh-CN" sz="1800">
                <a:sym typeface="Huawei Sans" panose="020C0503030203020204" pitchFamily="34" charset="0"/>
              </a:rPr>
              <a:t>STP</a:t>
            </a:r>
            <a:r>
              <a:rPr lang="zh-CN" altLang="en-US" sz="1800">
                <a:sym typeface="Huawei Sans" panose="020C0503030203020204" pitchFamily="34" charset="0"/>
              </a:rPr>
              <a:t>协议虽然能够解决环路问题，但是由于网络拓扑收敛慢，影响了用户通信质量。如果网络中的拓扑结构频繁变化，网络也会随之频繁失去连通性，从而导致用户通信频繁中断，这是用户无法忍受的。</a:t>
            </a:r>
          </a:p>
          <a:p>
            <a:r>
              <a:rPr lang="en-US" altLang="zh-CN" sz="1800">
                <a:sym typeface="Huawei Sans" panose="020C0503030203020204" pitchFamily="34" charset="0"/>
              </a:rPr>
              <a:t>STP</a:t>
            </a:r>
            <a:r>
              <a:rPr lang="zh-CN" altLang="en-US" sz="1800">
                <a:sym typeface="Huawei Sans" panose="020C0503030203020204" pitchFamily="34" charset="0"/>
              </a:rPr>
              <a:t>没有细致区分接口状态和接口角色，不利于初学者学习及部署。</a:t>
            </a:r>
          </a:p>
          <a:p>
            <a:r>
              <a:rPr lang="zh-CN" altLang="en-US" sz="1800">
                <a:sym typeface="Huawei Sans" panose="020C0503030203020204" pitchFamily="34" charset="0"/>
              </a:rPr>
              <a:t>网络协议的优劣往往取决于协议是否对各种情况加以细致区分。</a:t>
            </a:r>
          </a:p>
          <a:p>
            <a:pPr lvl="1"/>
            <a:r>
              <a:rPr lang="zh-CN" altLang="en-US" sz="1600">
                <a:sym typeface="Huawei Sans" panose="020C0503030203020204" pitchFamily="34" charset="0"/>
              </a:rPr>
              <a:t>从用户角度来讲，</a:t>
            </a:r>
            <a:r>
              <a:rPr lang="en-US" altLang="zh-CN" sz="1600">
                <a:sym typeface="Huawei Sans" panose="020C0503030203020204" pitchFamily="34" charset="0"/>
              </a:rPr>
              <a:t>Listening</a:t>
            </a:r>
            <a:r>
              <a:rPr lang="zh-CN" altLang="en-US" sz="1600">
                <a:sym typeface="Huawei Sans" panose="020C0503030203020204" pitchFamily="34" charset="0"/>
              </a:rPr>
              <a:t>、</a:t>
            </a:r>
            <a:r>
              <a:rPr lang="en-US" altLang="zh-CN" sz="1600">
                <a:sym typeface="Huawei Sans" panose="020C0503030203020204" pitchFamily="34" charset="0"/>
              </a:rPr>
              <a:t>Learning</a:t>
            </a:r>
            <a:r>
              <a:rPr lang="zh-CN" altLang="en-US" sz="1600">
                <a:sym typeface="Huawei Sans" panose="020C0503030203020204" pitchFamily="34" charset="0"/>
              </a:rPr>
              <a:t>和</a:t>
            </a:r>
            <a:r>
              <a:rPr lang="en-US" altLang="zh-CN" sz="1600">
                <a:sym typeface="Huawei Sans" panose="020C0503030203020204" pitchFamily="34" charset="0"/>
              </a:rPr>
              <a:t>Blocking</a:t>
            </a:r>
            <a:r>
              <a:rPr lang="zh-CN" altLang="en-US" sz="1600">
                <a:sym typeface="Huawei Sans" panose="020C0503030203020204" pitchFamily="34" charset="0"/>
              </a:rPr>
              <a:t>状态并没有区别，都同样不转发用户流量。</a:t>
            </a:r>
          </a:p>
          <a:p>
            <a:pPr lvl="1"/>
            <a:r>
              <a:rPr lang="zh-CN" altLang="en-US" sz="1600">
                <a:sym typeface="Huawei Sans" panose="020C0503030203020204" pitchFamily="34" charset="0"/>
              </a:rPr>
              <a:t>从使用和配置角度来讲，接口之间最本质的区别并不在于接口状态，而是在于接口扮演的角色。</a:t>
            </a:r>
          </a:p>
          <a:p>
            <a:pPr lvl="1"/>
            <a:r>
              <a:rPr lang="zh-CN" altLang="en-US" sz="1600">
                <a:sym typeface="Huawei Sans" panose="020C0503030203020204" pitchFamily="34" charset="0"/>
              </a:rPr>
              <a:t>根接口和指定接口可以都处于</a:t>
            </a:r>
            <a:r>
              <a:rPr lang="en-US" altLang="zh-CN" sz="1600">
                <a:sym typeface="Huawei Sans" panose="020C0503030203020204" pitchFamily="34" charset="0"/>
              </a:rPr>
              <a:t>Listening</a:t>
            </a:r>
            <a:r>
              <a:rPr lang="zh-CN" altLang="en-US" sz="1600">
                <a:sym typeface="Huawei Sans" panose="020C0503030203020204" pitchFamily="34" charset="0"/>
              </a:rPr>
              <a:t>状态，也可能都处于</a:t>
            </a:r>
            <a:r>
              <a:rPr lang="en-US" altLang="zh-CN" sz="1600">
                <a:sym typeface="Huawei Sans" panose="020C0503030203020204" pitchFamily="34" charset="0"/>
              </a:rPr>
              <a:t>Forwarding</a:t>
            </a:r>
            <a:r>
              <a:rPr lang="zh-CN" altLang="en-US" sz="1600">
                <a:sym typeface="Huawei Sans" panose="020C0503030203020204" pitchFamily="34" charset="0"/>
              </a:rPr>
              <a:t>状态。</a:t>
            </a:r>
          </a:p>
          <a:p>
            <a:r>
              <a:rPr lang="en-US" altLang="zh-CN" sz="1800">
                <a:sym typeface="Huawei Sans" panose="020C0503030203020204" pitchFamily="34" charset="0"/>
              </a:rPr>
              <a:t>STP</a:t>
            </a:r>
            <a:r>
              <a:rPr lang="zh-CN" altLang="en-US" sz="1800">
                <a:sym typeface="Huawei Sans" panose="020C0503030203020204" pitchFamily="34" charset="0"/>
              </a:rPr>
              <a:t>算法是被动的算法，依赖定时器等待的方式判断拓扑变化，收敛速度慢。</a:t>
            </a:r>
          </a:p>
          <a:p>
            <a:r>
              <a:rPr lang="en-US" altLang="zh-CN" sz="1800">
                <a:sym typeface="Huawei Sans" panose="020C0503030203020204" pitchFamily="34" charset="0"/>
              </a:rPr>
              <a:t>STP</a:t>
            </a:r>
            <a:r>
              <a:rPr lang="zh-CN" altLang="en-US" sz="1800">
                <a:sym typeface="Huawei Sans" panose="020C0503030203020204" pitchFamily="34" charset="0"/>
              </a:rPr>
              <a:t>算法要求在稳定的拓扑中，根桥主动发出配置</a:t>
            </a:r>
            <a:r>
              <a:rPr lang="en-US" altLang="zh-CN" sz="1800">
                <a:sym typeface="Huawei Sans" panose="020C0503030203020204" pitchFamily="34" charset="0"/>
              </a:rPr>
              <a:t>BPDU</a:t>
            </a:r>
            <a:r>
              <a:rPr lang="zh-CN" altLang="en-US" sz="1800">
                <a:sym typeface="Huawei Sans" panose="020C0503030203020204" pitchFamily="34" charset="0"/>
              </a:rPr>
              <a:t>报文，而其他设备进行处理，传遍整个</a:t>
            </a:r>
            <a:r>
              <a:rPr lang="en-US" altLang="zh-CN" sz="1800">
                <a:sym typeface="Huawei Sans" panose="020C0503030203020204" pitchFamily="34" charset="0"/>
              </a:rPr>
              <a:t>STP</a:t>
            </a:r>
            <a:r>
              <a:rPr lang="zh-CN" altLang="en-US" sz="1800">
                <a:sym typeface="Huawei Sans" panose="020C0503030203020204" pitchFamily="34" charset="0"/>
              </a:rPr>
              <a:t>网络。这也是导致拓扑收敛慢的主要原因之一。</a:t>
            </a:r>
            <a:endParaRPr lang="zh-CN" altLang="en-US" sz="1800" dirty="0">
              <a:sym typeface="Huawei Sans" panose="020C0503030203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RSTP</a:t>
            </a:r>
            <a:r>
              <a:rPr lang="zh-CN" altLang="en-US">
                <a:sym typeface="Huawei Sans" panose="020C0503030203020204" pitchFamily="34" charset="0"/>
              </a:rPr>
              <a:t>概述</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p:txBody>
          <a:bodyPr/>
          <a:lstStyle/>
          <a:p>
            <a:r>
              <a:rPr lang="en-US" altLang="zh-CN">
                <a:sym typeface="Huawei Sans" panose="020C0503030203020204" pitchFamily="34" charset="0"/>
              </a:rPr>
              <a:t>IEEE 802.1w</a:t>
            </a:r>
            <a:r>
              <a:rPr lang="zh-CN" altLang="en-US">
                <a:sym typeface="Huawei Sans" panose="020C0503030203020204" pitchFamily="34" charset="0"/>
              </a:rPr>
              <a:t>中定义的</a:t>
            </a:r>
            <a:r>
              <a:rPr lang="en-US" altLang="zh-CN">
                <a:sym typeface="Huawei Sans" panose="020C0503030203020204" pitchFamily="34" charset="0"/>
              </a:rPr>
              <a:t>RSTP</a:t>
            </a:r>
            <a:r>
              <a:rPr lang="zh-CN" altLang="en-US">
                <a:sym typeface="Huawei Sans" panose="020C0503030203020204" pitchFamily="34" charset="0"/>
              </a:rPr>
              <a:t>可以视为</a:t>
            </a:r>
            <a:r>
              <a:rPr lang="en-US" altLang="zh-CN">
                <a:sym typeface="Huawei Sans" panose="020C0503030203020204" pitchFamily="34" charset="0"/>
              </a:rPr>
              <a:t>STP</a:t>
            </a:r>
            <a:r>
              <a:rPr lang="zh-CN" altLang="en-US">
                <a:sym typeface="Huawei Sans" panose="020C0503030203020204" pitchFamily="34" charset="0"/>
              </a:rPr>
              <a:t>的改进版本，</a:t>
            </a:r>
            <a:r>
              <a:rPr lang="en-US" altLang="zh-CN">
                <a:sym typeface="Huawei Sans" panose="020C0503030203020204" pitchFamily="34" charset="0"/>
              </a:rPr>
              <a:t>RSTP</a:t>
            </a:r>
            <a:r>
              <a:rPr lang="zh-CN" altLang="en-US">
                <a:sym typeface="Huawei Sans" panose="020C0503030203020204" pitchFamily="34" charset="0"/>
              </a:rPr>
              <a:t>在许多方面对</a:t>
            </a:r>
            <a:r>
              <a:rPr lang="en-US" altLang="zh-CN">
                <a:sym typeface="Huawei Sans" panose="020C0503030203020204" pitchFamily="34" charset="0"/>
              </a:rPr>
              <a:t>STP</a:t>
            </a:r>
            <a:r>
              <a:rPr lang="zh-CN" altLang="en-US">
                <a:sym typeface="Huawei Sans" panose="020C0503030203020204" pitchFamily="34" charset="0"/>
              </a:rPr>
              <a:t>进行了优化，它的收敛速度更快，而且能够兼容</a:t>
            </a:r>
            <a:r>
              <a:rPr lang="en-US" altLang="zh-CN">
                <a:sym typeface="Huawei Sans" panose="020C0503030203020204" pitchFamily="34" charset="0"/>
              </a:rPr>
              <a:t>STP</a:t>
            </a:r>
            <a:r>
              <a:rPr lang="zh-CN" altLang="en-US">
                <a:sym typeface="Huawei Sans" panose="020C0503030203020204" pitchFamily="34" charset="0"/>
              </a:rPr>
              <a:t>。</a:t>
            </a:r>
          </a:p>
          <a:p>
            <a:r>
              <a:rPr lang="en-US" altLang="zh-CN">
                <a:sym typeface="Huawei Sans" panose="020C0503030203020204" pitchFamily="34" charset="0"/>
              </a:rPr>
              <a:t>RSTP</a:t>
            </a:r>
            <a:r>
              <a:rPr lang="zh-CN" altLang="en-US">
                <a:sym typeface="Huawei Sans" panose="020C0503030203020204" pitchFamily="34" charset="0"/>
              </a:rPr>
              <a:t>引入了新的接口角色，其中替代接口的引入使得交换机在根接口失效时，能够立即获得新的路径到达根桥。备份端口作为指定端口的备份，帮助链路上的网桥快速获得到根桥的备份路径。</a:t>
            </a:r>
            <a:r>
              <a:rPr lang="en-US" altLang="zh-CN">
                <a:sym typeface="Huawei Sans" panose="020C0503030203020204" pitchFamily="34" charset="0"/>
              </a:rPr>
              <a:t>RSTP</a:t>
            </a:r>
            <a:r>
              <a:rPr lang="zh-CN" altLang="en-US">
                <a:sym typeface="Huawei Sans" panose="020C0503030203020204" pitchFamily="34" charset="0"/>
              </a:rPr>
              <a:t>的状态规范根据端口是否转发用户流量和学习</a:t>
            </a:r>
            <a:r>
              <a:rPr lang="en-US" altLang="zh-CN">
                <a:sym typeface="Huawei Sans" panose="020C0503030203020204" pitchFamily="34" charset="0"/>
              </a:rPr>
              <a:t>MAC</a:t>
            </a:r>
            <a:r>
              <a:rPr lang="zh-CN" altLang="en-US">
                <a:sym typeface="Huawei Sans" panose="020C0503030203020204" pitchFamily="34" charset="0"/>
              </a:rPr>
              <a:t>地址把原来的</a:t>
            </a:r>
            <a:r>
              <a:rPr lang="en-US" altLang="zh-CN">
                <a:sym typeface="Huawei Sans" panose="020C0503030203020204" pitchFamily="34" charset="0"/>
              </a:rPr>
              <a:t>5</a:t>
            </a:r>
            <a:r>
              <a:rPr lang="zh-CN" altLang="en-US">
                <a:sym typeface="Huawei Sans" panose="020C0503030203020204" pitchFamily="34" charset="0"/>
              </a:rPr>
              <a:t>种状态缩减为</a:t>
            </a:r>
            <a:r>
              <a:rPr lang="en-US" altLang="zh-CN">
                <a:sym typeface="Huawei Sans" panose="020C0503030203020204" pitchFamily="34" charset="0"/>
              </a:rPr>
              <a:t>3</a:t>
            </a:r>
            <a:r>
              <a:rPr lang="zh-CN" altLang="en-US">
                <a:sym typeface="Huawei Sans" panose="020C0503030203020204" pitchFamily="34" charset="0"/>
              </a:rPr>
              <a:t>种。 另外，</a:t>
            </a:r>
            <a:r>
              <a:rPr lang="en-US" altLang="zh-CN">
                <a:sym typeface="Huawei Sans" panose="020C0503030203020204" pitchFamily="34" charset="0"/>
              </a:rPr>
              <a:t>RSTP</a:t>
            </a:r>
            <a:r>
              <a:rPr lang="zh-CN" altLang="en-US">
                <a:sym typeface="Huawei Sans" panose="020C0503030203020204" pitchFamily="34" charset="0"/>
              </a:rPr>
              <a:t>还引入了边缘接口的概念，这使得交换机连接终端设备的接口在初始化之后能够立即进入转发状态，提高了工作效率。</a:t>
            </a:r>
            <a:endParaRPr lang="zh-CN" altLang="en-US" dirty="0">
              <a:sym typeface="Huawei Sans" panose="020C0503030203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RSTP</a:t>
            </a:r>
            <a:r>
              <a:rPr lang="zh-CN" altLang="en-US">
                <a:sym typeface="Huawei Sans" panose="020C0503030203020204" pitchFamily="34" charset="0"/>
              </a:rPr>
              <a:t>对</a:t>
            </a:r>
            <a:r>
              <a:rPr lang="en-US" altLang="zh-CN">
                <a:sym typeface="Huawei Sans" panose="020C0503030203020204" pitchFamily="34" charset="0"/>
              </a:rPr>
              <a:t>STP</a:t>
            </a:r>
            <a:r>
              <a:rPr lang="zh-CN" altLang="en-US">
                <a:sym typeface="Huawei Sans" panose="020C0503030203020204" pitchFamily="34" charset="0"/>
              </a:rPr>
              <a:t>的其他改进</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p:txBody>
          <a:bodyPr/>
          <a:lstStyle/>
          <a:p>
            <a:r>
              <a:rPr lang="zh-CN" altLang="en-US">
                <a:sym typeface="Huawei Sans" panose="020C0503030203020204" pitchFamily="34" charset="0"/>
              </a:rPr>
              <a:t>配置</a:t>
            </a:r>
            <a:r>
              <a:rPr lang="en-US" altLang="zh-CN">
                <a:sym typeface="Huawei Sans" panose="020C0503030203020204" pitchFamily="34" charset="0"/>
              </a:rPr>
              <a:t>BPDU</a:t>
            </a:r>
            <a:r>
              <a:rPr lang="zh-CN" altLang="en-US">
                <a:sym typeface="Huawei Sans" panose="020C0503030203020204" pitchFamily="34" charset="0"/>
              </a:rPr>
              <a:t>的处理发生变化：</a:t>
            </a:r>
            <a:endParaRPr lang="en-US" altLang="zh-CN">
              <a:sym typeface="Huawei Sans" panose="020C0503030203020204" pitchFamily="34" charset="0"/>
            </a:endParaRPr>
          </a:p>
          <a:p>
            <a:pPr lvl="1"/>
            <a:r>
              <a:rPr lang="zh-CN" altLang="en-US">
                <a:sym typeface="Huawei Sans" panose="020C0503030203020204" pitchFamily="34" charset="0"/>
              </a:rPr>
              <a:t>拓扑稳定后，配置</a:t>
            </a:r>
            <a:r>
              <a:rPr lang="en-US" altLang="zh-CN">
                <a:sym typeface="Huawei Sans" panose="020C0503030203020204" pitchFamily="34" charset="0"/>
              </a:rPr>
              <a:t>BPDU</a:t>
            </a:r>
            <a:r>
              <a:rPr lang="zh-CN" altLang="en-US">
                <a:sym typeface="Huawei Sans" panose="020C0503030203020204" pitchFamily="34" charset="0"/>
              </a:rPr>
              <a:t>报文的发送方式进行了优化</a:t>
            </a:r>
            <a:endParaRPr lang="en-US" altLang="zh-CN">
              <a:sym typeface="Huawei Sans" panose="020C0503030203020204" pitchFamily="34" charset="0"/>
            </a:endParaRPr>
          </a:p>
          <a:p>
            <a:pPr lvl="1"/>
            <a:r>
              <a:rPr lang="zh-CN" altLang="en-US">
                <a:sym typeface="Huawei Sans" panose="020C0503030203020204" pitchFamily="34" charset="0"/>
              </a:rPr>
              <a:t>使用更短的</a:t>
            </a:r>
            <a:r>
              <a:rPr lang="en-US" altLang="zh-CN">
                <a:sym typeface="Huawei Sans" panose="020C0503030203020204" pitchFamily="34" charset="0"/>
              </a:rPr>
              <a:t>BPDU</a:t>
            </a:r>
            <a:r>
              <a:rPr lang="zh-CN" altLang="en-US">
                <a:sym typeface="Huawei Sans" panose="020C0503030203020204" pitchFamily="34" charset="0"/>
              </a:rPr>
              <a:t>超时计时</a:t>
            </a:r>
          </a:p>
          <a:p>
            <a:pPr lvl="1"/>
            <a:r>
              <a:rPr lang="zh-CN" altLang="en-US">
                <a:sym typeface="Huawei Sans" panose="020C0503030203020204" pitchFamily="34" charset="0"/>
              </a:rPr>
              <a:t>对处理次等</a:t>
            </a:r>
            <a:r>
              <a:rPr lang="en-US" altLang="zh-CN">
                <a:sym typeface="Huawei Sans" panose="020C0503030203020204" pitchFamily="34" charset="0"/>
              </a:rPr>
              <a:t>BPDU</a:t>
            </a:r>
            <a:r>
              <a:rPr lang="zh-CN" altLang="en-US">
                <a:sym typeface="Huawei Sans" panose="020C0503030203020204" pitchFamily="34" charset="0"/>
              </a:rPr>
              <a:t>的方式进行了优化</a:t>
            </a:r>
            <a:endParaRPr lang="en-US" altLang="zh-CN">
              <a:sym typeface="Huawei Sans" panose="020C0503030203020204" pitchFamily="34" charset="0"/>
            </a:endParaRPr>
          </a:p>
          <a:p>
            <a:r>
              <a:rPr lang="zh-CN" altLang="en-US">
                <a:sym typeface="Huawei Sans" panose="020C0503030203020204" pitchFamily="34" charset="0"/>
              </a:rPr>
              <a:t>配置</a:t>
            </a:r>
            <a:r>
              <a:rPr lang="en-US" altLang="zh-CN">
                <a:sym typeface="Huawei Sans" panose="020C0503030203020204" pitchFamily="34" charset="0"/>
              </a:rPr>
              <a:t>BPDU</a:t>
            </a:r>
            <a:r>
              <a:rPr lang="zh-CN" altLang="en-US">
                <a:sym typeface="Huawei Sans" panose="020C0503030203020204" pitchFamily="34" charset="0"/>
              </a:rPr>
              <a:t>格式的改变，充分利用了</a:t>
            </a:r>
            <a:r>
              <a:rPr lang="en-US" altLang="zh-CN">
                <a:sym typeface="Huawei Sans" panose="020C0503030203020204" pitchFamily="34" charset="0"/>
              </a:rPr>
              <a:t>STP</a:t>
            </a:r>
            <a:r>
              <a:rPr lang="zh-CN" altLang="en-US">
                <a:sym typeface="Huawei Sans" panose="020C0503030203020204" pitchFamily="34" charset="0"/>
              </a:rPr>
              <a:t>协议报文中的</a:t>
            </a:r>
            <a:r>
              <a:rPr lang="en-US" altLang="zh-CN">
                <a:sym typeface="Huawei Sans" panose="020C0503030203020204" pitchFamily="34" charset="0"/>
              </a:rPr>
              <a:t>Flag</a:t>
            </a:r>
            <a:r>
              <a:rPr lang="zh-CN" altLang="en-US">
                <a:sym typeface="Huawei Sans" panose="020C0503030203020204" pitchFamily="34" charset="0"/>
              </a:rPr>
              <a:t>字段，明确了接口角色</a:t>
            </a:r>
            <a:endParaRPr lang="en-US" altLang="zh-CN">
              <a:sym typeface="Huawei Sans" panose="020C0503030203020204" pitchFamily="34" charset="0"/>
            </a:endParaRPr>
          </a:p>
          <a:p>
            <a:r>
              <a:rPr lang="en-US" altLang="zh-CN">
                <a:sym typeface="Huawei Sans" panose="020C0503030203020204" pitchFamily="34" charset="0"/>
              </a:rPr>
              <a:t>RSTP</a:t>
            </a:r>
            <a:r>
              <a:rPr lang="zh-CN" altLang="en-US">
                <a:sym typeface="Huawei Sans" panose="020C0503030203020204" pitchFamily="34" charset="0"/>
              </a:rPr>
              <a:t>拓扑变化处理：相比于</a:t>
            </a:r>
            <a:r>
              <a:rPr lang="en-US" altLang="zh-CN">
                <a:sym typeface="Huawei Sans" panose="020C0503030203020204" pitchFamily="34" charset="0"/>
              </a:rPr>
              <a:t>STP</a:t>
            </a:r>
            <a:r>
              <a:rPr lang="zh-CN" altLang="en-US">
                <a:sym typeface="Huawei Sans" panose="020C0503030203020204" pitchFamily="34" charset="0"/>
              </a:rPr>
              <a:t>进行了优化，加速针对拓扑变更的反应速度</a:t>
            </a:r>
            <a:endParaRPr lang="en-US" altLang="zh-CN" dirty="0">
              <a:sym typeface="Huawei Sans" panose="020C0503030203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3" name="直接连接符 142"/>
          <p:cNvCxnSpPr/>
          <p:nvPr/>
        </p:nvCxnSpPr>
        <p:spPr>
          <a:xfrm>
            <a:off x="7752184" y="3833720"/>
            <a:ext cx="0" cy="7740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标题 2"/>
          <p:cNvSpPr>
            <a:spLocks noGrp="1"/>
          </p:cNvSpPr>
          <p:nvPr>
            <p:ph type="title"/>
          </p:nvPr>
        </p:nvSpPr>
        <p:spPr/>
        <p:txBody>
          <a:bodyPr/>
          <a:lstStyle/>
          <a:p>
            <a:r>
              <a:rPr lang="zh-CN" altLang="en-US">
                <a:sym typeface="Huawei Sans" panose="020C0503030203020204" pitchFamily="34" charset="0"/>
              </a:rPr>
              <a:t>端口角色不同</a:t>
            </a:r>
            <a:endParaRPr lang="zh-CN" altLang="en-US" dirty="0">
              <a:sym typeface="Huawei Sans" panose="020C0503030203020204" pitchFamily="34" charset="0"/>
            </a:endParaRPr>
          </a:p>
        </p:txBody>
      </p:sp>
      <p:sp>
        <p:nvSpPr>
          <p:cNvPr id="2" name="文本占位符 1"/>
          <p:cNvSpPr>
            <a:spLocks noGrp="1"/>
          </p:cNvSpPr>
          <p:nvPr>
            <p:ph type="body" sz="quarter" idx="10"/>
          </p:nvPr>
        </p:nvSpPr>
        <p:spPr/>
        <p:txBody>
          <a:bodyPr/>
          <a:lstStyle/>
          <a:p>
            <a:r>
              <a:rPr lang="zh-CN" altLang="en-US">
                <a:sym typeface="Huawei Sans" panose="020C0503030203020204" pitchFamily="34" charset="0"/>
              </a:rPr>
              <a:t>通过接口角色的增补，简化了生成树协议的理解及部署</a:t>
            </a:r>
            <a:endParaRPr lang="zh-CN" altLang="en-US" dirty="0">
              <a:sym typeface="Huawei Sans" panose="020C0503030203020204" pitchFamily="34" charset="0"/>
            </a:endParaRPr>
          </a:p>
        </p:txBody>
      </p:sp>
      <p:sp>
        <p:nvSpPr>
          <p:cNvPr id="51" name="矩形 50"/>
          <p:cNvSpPr/>
          <p:nvPr/>
        </p:nvSpPr>
        <p:spPr>
          <a:xfrm>
            <a:off x="815976" y="5877272"/>
            <a:ext cx="10560048" cy="338554"/>
          </a:xfrm>
          <a:prstGeom prst="rect">
            <a:avLst/>
          </a:prstGeom>
          <a:solidFill>
            <a:srgbClr val="F4FBFE"/>
          </a:solidFill>
          <a:ln>
            <a:solidFill>
              <a:srgbClr val="99DFF9"/>
            </a:solidFill>
          </a:ln>
        </p:spPr>
        <p:txBody>
          <a:bodyPr wrap="square">
            <a:spAutoFit/>
          </a:bodyPr>
          <a:lstStyle/>
          <a:p>
            <a:pPr algn="ctr" fontAlgn="auto">
              <a:spcBef>
                <a:spcPts val="0"/>
              </a:spcBef>
              <a:spcAft>
                <a:spcPts val="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的接口角色共有</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种：根接口、指定接口、预备接口和备份接口</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 name="组合 5"/>
          <p:cNvGrpSpPr/>
          <p:nvPr/>
        </p:nvGrpSpPr>
        <p:grpSpPr>
          <a:xfrm>
            <a:off x="3280968" y="5213276"/>
            <a:ext cx="5680224" cy="307777"/>
            <a:chOff x="2880882" y="5363470"/>
            <a:chExt cx="5680224" cy="307777"/>
          </a:xfrm>
        </p:grpSpPr>
        <p:sp>
          <p:nvSpPr>
            <p:cNvPr id="70" name="椭圆 69"/>
            <p:cNvSpPr>
              <a:spLocks noChangeAspect="1"/>
            </p:cNvSpPr>
            <p:nvPr/>
          </p:nvSpPr>
          <p:spPr>
            <a:xfrm>
              <a:off x="2880882" y="5386416"/>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70"/>
            <p:cNvSpPr txBox="1"/>
            <p:nvPr/>
          </p:nvSpPr>
          <p:spPr>
            <a:xfrm>
              <a:off x="3063801" y="5363470"/>
              <a:ext cx="792656"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根接口</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椭圆 71"/>
            <p:cNvSpPr>
              <a:spLocks noChangeAspect="1"/>
            </p:cNvSpPr>
            <p:nvPr/>
          </p:nvSpPr>
          <p:spPr>
            <a:xfrm>
              <a:off x="4308365" y="5386416"/>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文本框 72"/>
            <p:cNvSpPr txBox="1"/>
            <p:nvPr/>
          </p:nvSpPr>
          <p:spPr>
            <a:xfrm>
              <a:off x="4491284" y="5363470"/>
              <a:ext cx="913456"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指定接口</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椭圆 73"/>
            <p:cNvSpPr>
              <a:spLocks noChangeAspect="1"/>
            </p:cNvSpPr>
            <p:nvPr/>
          </p:nvSpPr>
          <p:spPr>
            <a:xfrm>
              <a:off x="5861468" y="5386416"/>
              <a:ext cx="232480" cy="232480"/>
            </a:xfrm>
            <a:prstGeom prst="ellipse">
              <a:avLst/>
            </a:prstGeom>
            <a:solidFill>
              <a:schemeClr val="bg1"/>
            </a:solidFill>
            <a:ln w="1905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文本框 74"/>
            <p:cNvSpPr txBox="1"/>
            <p:nvPr/>
          </p:nvSpPr>
          <p:spPr>
            <a:xfrm>
              <a:off x="6044387" y="5363470"/>
              <a:ext cx="913456"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预备接口</a:t>
              </a:r>
            </a:p>
          </p:txBody>
        </p:sp>
        <p:sp>
          <p:nvSpPr>
            <p:cNvPr id="80" name="椭圆 79"/>
            <p:cNvSpPr>
              <a:spLocks noChangeAspect="1"/>
            </p:cNvSpPr>
            <p:nvPr/>
          </p:nvSpPr>
          <p:spPr>
            <a:xfrm>
              <a:off x="7414571" y="5386416"/>
              <a:ext cx="232480" cy="232480"/>
            </a:xfrm>
            <a:prstGeom prst="ellipse">
              <a:avLst/>
            </a:prstGeom>
            <a:solidFill>
              <a:schemeClr val="bg1"/>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b="1"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文本框 80"/>
            <p:cNvSpPr txBox="1"/>
            <p:nvPr/>
          </p:nvSpPr>
          <p:spPr>
            <a:xfrm>
              <a:off x="7647650" y="5363470"/>
              <a:ext cx="913456"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备份接口</a:t>
              </a:r>
            </a:p>
          </p:txBody>
        </p:sp>
      </p:grpSp>
      <p:cxnSp>
        <p:nvCxnSpPr>
          <p:cNvPr id="83" name="直接连接符 82"/>
          <p:cNvCxnSpPr/>
          <p:nvPr/>
        </p:nvCxnSpPr>
        <p:spPr>
          <a:xfrm>
            <a:off x="10320893" y="3833720"/>
            <a:ext cx="0" cy="7740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7414571" y="3833720"/>
            <a:ext cx="0" cy="7740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5" name="Group 165"/>
          <p:cNvGrpSpPr/>
          <p:nvPr/>
        </p:nvGrpSpPr>
        <p:grpSpPr>
          <a:xfrm rot="10800000">
            <a:off x="7559697" y="2546860"/>
            <a:ext cx="2778130" cy="1350249"/>
            <a:chOff x="-1233037" y="914446"/>
            <a:chExt cx="1573823" cy="778776"/>
          </a:xfrm>
        </p:grpSpPr>
        <p:cxnSp>
          <p:nvCxnSpPr>
            <p:cNvPr id="86" name="Straight Connector 166"/>
            <p:cNvCxnSpPr/>
            <p:nvPr/>
          </p:nvCxnSpPr>
          <p:spPr>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167"/>
            <p:cNvCxnSpPr/>
            <p:nvPr/>
          </p:nvCxnSpPr>
          <p:spPr>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88" name="直接连接符 87"/>
          <p:cNvCxnSpPr/>
          <p:nvPr/>
        </p:nvCxnSpPr>
        <p:spPr>
          <a:xfrm flipH="1">
            <a:off x="7157548" y="4607806"/>
            <a:ext cx="36760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9" name="图片 76" descr="接入交换机.png"/>
          <p:cNvPicPr>
            <a:picLocks noChangeAspect="1"/>
          </p:cNvPicPr>
          <p:nvPr/>
        </p:nvPicPr>
        <p:blipFill>
          <a:blip r:embed="rId3" cstate="print"/>
          <a:stretch>
            <a:fillRect/>
          </a:stretch>
        </p:blipFill>
        <p:spPr>
          <a:xfrm>
            <a:off x="8678762" y="2413627"/>
            <a:ext cx="540000" cy="441818"/>
          </a:xfrm>
          <a:prstGeom prst="rect">
            <a:avLst/>
          </a:prstGeom>
        </p:spPr>
      </p:pic>
      <p:pic>
        <p:nvPicPr>
          <p:cNvPr id="90" name="图片 76" descr="接入交换机.png"/>
          <p:cNvPicPr>
            <a:picLocks noChangeAspect="1"/>
          </p:cNvPicPr>
          <p:nvPr/>
        </p:nvPicPr>
        <p:blipFill>
          <a:blip r:embed="rId3" cstate="print"/>
          <a:stretch>
            <a:fillRect/>
          </a:stretch>
        </p:blipFill>
        <p:spPr>
          <a:xfrm>
            <a:off x="7310610" y="3697475"/>
            <a:ext cx="540000" cy="441818"/>
          </a:xfrm>
          <a:prstGeom prst="rect">
            <a:avLst/>
          </a:prstGeom>
        </p:spPr>
      </p:pic>
      <p:pic>
        <p:nvPicPr>
          <p:cNvPr id="91" name="图片 76" descr="接入交换机.png"/>
          <p:cNvPicPr>
            <a:picLocks noChangeAspect="1"/>
          </p:cNvPicPr>
          <p:nvPr/>
        </p:nvPicPr>
        <p:blipFill>
          <a:blip r:embed="rId3" cstate="print"/>
          <a:stretch>
            <a:fillRect/>
          </a:stretch>
        </p:blipFill>
        <p:spPr>
          <a:xfrm>
            <a:off x="10046914" y="3697475"/>
            <a:ext cx="540000" cy="441818"/>
          </a:xfrm>
          <a:prstGeom prst="rect">
            <a:avLst/>
          </a:prstGeom>
        </p:spPr>
      </p:pic>
      <p:sp>
        <p:nvSpPr>
          <p:cNvPr id="92" name="文本框 91"/>
          <p:cNvSpPr txBox="1"/>
          <p:nvPr/>
        </p:nvSpPr>
        <p:spPr>
          <a:xfrm>
            <a:off x="8369449" y="2016295"/>
            <a:ext cx="1252266" cy="338554"/>
          </a:xfrm>
          <a:prstGeom prst="rect">
            <a:avLst/>
          </a:prstGeom>
          <a:noFill/>
        </p:spPr>
        <p:txBody>
          <a:bodyPr wrap="none" rtlCol="0">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SW1 (</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文本框 92"/>
          <p:cNvSpPr txBox="1"/>
          <p:nvPr/>
        </p:nvSpPr>
        <p:spPr>
          <a:xfrm>
            <a:off x="6647362" y="3749107"/>
            <a:ext cx="628698" cy="338554"/>
          </a:xfrm>
          <a:prstGeom prst="rect">
            <a:avLst/>
          </a:prstGeom>
          <a:noFill/>
        </p:spPr>
        <p:txBody>
          <a:bodyPr wrap="none" rtlCol="0">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文本框 93"/>
          <p:cNvSpPr txBox="1"/>
          <p:nvPr/>
        </p:nvSpPr>
        <p:spPr>
          <a:xfrm>
            <a:off x="10594873" y="3749107"/>
            <a:ext cx="628698" cy="338554"/>
          </a:xfrm>
          <a:prstGeom prst="rect">
            <a:avLst/>
          </a:prstGeom>
          <a:noFill/>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椭圆 137"/>
          <p:cNvSpPr>
            <a:spLocks noChangeAspect="1"/>
          </p:cNvSpPr>
          <p:nvPr/>
        </p:nvSpPr>
        <p:spPr>
          <a:xfrm>
            <a:off x="8562519" y="2731873"/>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椭圆 138"/>
          <p:cNvSpPr>
            <a:spLocks noChangeAspect="1"/>
          </p:cNvSpPr>
          <p:nvPr/>
        </p:nvSpPr>
        <p:spPr>
          <a:xfrm>
            <a:off x="9065004" y="2731873"/>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椭圆 139"/>
          <p:cNvSpPr>
            <a:spLocks noChangeAspect="1"/>
          </p:cNvSpPr>
          <p:nvPr/>
        </p:nvSpPr>
        <p:spPr>
          <a:xfrm>
            <a:off x="7676252" y="3601240"/>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椭圆 140"/>
          <p:cNvSpPr>
            <a:spLocks noChangeAspect="1"/>
          </p:cNvSpPr>
          <p:nvPr/>
        </p:nvSpPr>
        <p:spPr>
          <a:xfrm>
            <a:off x="9988796" y="3601240"/>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椭圆 141"/>
          <p:cNvSpPr>
            <a:spLocks noChangeAspect="1"/>
          </p:cNvSpPr>
          <p:nvPr/>
        </p:nvSpPr>
        <p:spPr>
          <a:xfrm>
            <a:off x="10196117" y="4054447"/>
            <a:ext cx="232480" cy="232480"/>
          </a:xfrm>
          <a:prstGeom prst="ellipse">
            <a:avLst/>
          </a:prstGeom>
          <a:solidFill>
            <a:schemeClr val="bg1"/>
          </a:solidFill>
          <a:ln w="1905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椭圆 143"/>
          <p:cNvSpPr>
            <a:spLocks noChangeAspect="1"/>
          </p:cNvSpPr>
          <p:nvPr/>
        </p:nvSpPr>
        <p:spPr>
          <a:xfrm>
            <a:off x="7681509" y="4054447"/>
            <a:ext cx="232480" cy="232480"/>
          </a:xfrm>
          <a:prstGeom prst="ellipse">
            <a:avLst/>
          </a:prstGeom>
          <a:solidFill>
            <a:schemeClr val="bg1"/>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b="1"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 name="组合 3"/>
          <p:cNvGrpSpPr/>
          <p:nvPr/>
        </p:nvGrpSpPr>
        <p:grpSpPr>
          <a:xfrm>
            <a:off x="1340183" y="2016295"/>
            <a:ext cx="4576209" cy="2591511"/>
            <a:chOff x="1340183" y="2016295"/>
            <a:chExt cx="4576209" cy="2591511"/>
          </a:xfrm>
        </p:grpSpPr>
        <p:cxnSp>
          <p:nvCxnSpPr>
            <p:cNvPr id="65" name="直接连接符 64"/>
            <p:cNvCxnSpPr/>
            <p:nvPr/>
          </p:nvCxnSpPr>
          <p:spPr>
            <a:xfrm>
              <a:off x="5013714" y="3833720"/>
              <a:ext cx="0" cy="7740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2262146" y="3833720"/>
              <a:ext cx="0" cy="7740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 name="Group 165"/>
            <p:cNvGrpSpPr/>
            <p:nvPr/>
          </p:nvGrpSpPr>
          <p:grpSpPr>
            <a:xfrm rot="10800000">
              <a:off x="2252518" y="2546860"/>
              <a:ext cx="2778130" cy="1350249"/>
              <a:chOff x="-1233037" y="914446"/>
              <a:chExt cx="1573823" cy="778776"/>
            </a:xfrm>
          </p:grpSpPr>
          <p:cxnSp>
            <p:nvCxnSpPr>
              <p:cNvPr id="55" name="Straight Connector 166"/>
              <p:cNvCxnSpPr/>
              <p:nvPr/>
            </p:nvCxnSpPr>
            <p:spPr>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167"/>
              <p:cNvCxnSpPr/>
              <p:nvPr/>
            </p:nvCxnSpPr>
            <p:spPr>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48" name="直接连接符 47"/>
            <p:cNvCxnSpPr/>
            <p:nvPr/>
          </p:nvCxnSpPr>
          <p:spPr>
            <a:xfrm flipH="1">
              <a:off x="1850369" y="4607806"/>
              <a:ext cx="36760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9" name="图片 76" descr="接入交换机.png"/>
            <p:cNvPicPr>
              <a:picLocks noChangeAspect="1"/>
            </p:cNvPicPr>
            <p:nvPr/>
          </p:nvPicPr>
          <p:blipFill>
            <a:blip r:embed="rId3" cstate="print"/>
            <a:stretch>
              <a:fillRect/>
            </a:stretch>
          </p:blipFill>
          <p:spPr>
            <a:xfrm>
              <a:off x="3371583" y="2413627"/>
              <a:ext cx="540000" cy="441818"/>
            </a:xfrm>
            <a:prstGeom prst="rect">
              <a:avLst/>
            </a:prstGeom>
          </p:spPr>
        </p:pic>
        <p:pic>
          <p:nvPicPr>
            <p:cNvPr id="50" name="图片 76" descr="接入交换机.png"/>
            <p:cNvPicPr>
              <a:picLocks noChangeAspect="1"/>
            </p:cNvPicPr>
            <p:nvPr/>
          </p:nvPicPr>
          <p:blipFill>
            <a:blip r:embed="rId3" cstate="print"/>
            <a:stretch>
              <a:fillRect/>
            </a:stretch>
          </p:blipFill>
          <p:spPr>
            <a:xfrm>
              <a:off x="2003431" y="3697475"/>
              <a:ext cx="540000" cy="441818"/>
            </a:xfrm>
            <a:prstGeom prst="rect">
              <a:avLst/>
            </a:prstGeom>
          </p:spPr>
        </p:pic>
        <p:pic>
          <p:nvPicPr>
            <p:cNvPr id="52" name="图片 76" descr="接入交换机.png"/>
            <p:cNvPicPr>
              <a:picLocks noChangeAspect="1"/>
            </p:cNvPicPr>
            <p:nvPr/>
          </p:nvPicPr>
          <p:blipFill>
            <a:blip r:embed="rId3" cstate="print"/>
            <a:stretch>
              <a:fillRect/>
            </a:stretch>
          </p:blipFill>
          <p:spPr>
            <a:xfrm>
              <a:off x="4739735" y="3697475"/>
              <a:ext cx="540000" cy="441818"/>
            </a:xfrm>
            <a:prstGeom prst="rect">
              <a:avLst/>
            </a:prstGeom>
          </p:spPr>
        </p:pic>
        <p:sp>
          <p:nvSpPr>
            <p:cNvPr id="66" name="文本框 65"/>
            <p:cNvSpPr txBox="1"/>
            <p:nvPr/>
          </p:nvSpPr>
          <p:spPr>
            <a:xfrm>
              <a:off x="3047683" y="2016295"/>
              <a:ext cx="1252266" cy="338554"/>
            </a:xfrm>
            <a:prstGeom prst="rect">
              <a:avLst/>
            </a:prstGeom>
            <a:noFill/>
          </p:spPr>
          <p:txBody>
            <a:bodyPr wrap="none" rtlCol="0">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SW1 (</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文本框 67"/>
            <p:cNvSpPr txBox="1"/>
            <p:nvPr/>
          </p:nvSpPr>
          <p:spPr>
            <a:xfrm>
              <a:off x="1340183" y="3749107"/>
              <a:ext cx="628698" cy="338554"/>
            </a:xfrm>
            <a:prstGeom prst="rect">
              <a:avLst/>
            </a:prstGeom>
            <a:noFill/>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文本框 68"/>
            <p:cNvSpPr txBox="1"/>
            <p:nvPr/>
          </p:nvSpPr>
          <p:spPr>
            <a:xfrm>
              <a:off x="5287694" y="3749107"/>
              <a:ext cx="628698" cy="338554"/>
            </a:xfrm>
            <a:prstGeom prst="rect">
              <a:avLst/>
            </a:prstGeom>
            <a:noFill/>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椭圆 75"/>
            <p:cNvSpPr>
              <a:spLocks noChangeAspect="1"/>
            </p:cNvSpPr>
            <p:nvPr/>
          </p:nvSpPr>
          <p:spPr>
            <a:xfrm>
              <a:off x="3255340" y="2731873"/>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椭圆 76"/>
            <p:cNvSpPr>
              <a:spLocks noChangeAspect="1"/>
            </p:cNvSpPr>
            <p:nvPr/>
          </p:nvSpPr>
          <p:spPr>
            <a:xfrm>
              <a:off x="3757825" y="2731873"/>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椭圆 77"/>
            <p:cNvSpPr>
              <a:spLocks noChangeAspect="1"/>
            </p:cNvSpPr>
            <p:nvPr/>
          </p:nvSpPr>
          <p:spPr>
            <a:xfrm>
              <a:off x="2369073" y="3601240"/>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椭圆 78"/>
            <p:cNvSpPr>
              <a:spLocks noChangeAspect="1"/>
            </p:cNvSpPr>
            <p:nvPr/>
          </p:nvSpPr>
          <p:spPr>
            <a:xfrm>
              <a:off x="4681617" y="3601240"/>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椭圆 81"/>
            <p:cNvSpPr>
              <a:spLocks noChangeAspect="1"/>
            </p:cNvSpPr>
            <p:nvPr/>
          </p:nvSpPr>
          <p:spPr>
            <a:xfrm>
              <a:off x="4888938" y="4054447"/>
              <a:ext cx="232480" cy="232480"/>
            </a:xfrm>
            <a:prstGeom prst="ellipse">
              <a:avLst/>
            </a:prstGeom>
            <a:solidFill>
              <a:schemeClr val="bg1"/>
            </a:solidFill>
            <a:ln w="1905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椭圆 144"/>
            <p:cNvSpPr>
              <a:spLocks noChangeAspect="1"/>
            </p:cNvSpPr>
            <p:nvPr/>
          </p:nvSpPr>
          <p:spPr>
            <a:xfrm>
              <a:off x="2128397" y="4054447"/>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46" name="椭圆 145"/>
          <p:cNvSpPr>
            <a:spLocks noChangeAspect="1"/>
          </p:cNvSpPr>
          <p:nvPr/>
        </p:nvSpPr>
        <p:spPr>
          <a:xfrm>
            <a:off x="7302651" y="4054447"/>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Huawei Sans" panose="020C0503030203020204" pitchFamily="34" charset="0"/>
              </a:rPr>
              <a:t>边缘端口</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p:txBody>
          <a:bodyPr/>
          <a:lstStyle/>
          <a:p>
            <a:r>
              <a:rPr lang="zh-CN" altLang="en-US">
                <a:sym typeface="Huawei Sans" panose="020C0503030203020204" pitchFamily="34" charset="0"/>
              </a:rPr>
              <a:t>如果指定端口位于整个域的边缘，不再与任何交换设备连接，这种端口叫做边缘端口。</a:t>
            </a:r>
            <a:endParaRPr lang="zh-CN" altLang="en-US" dirty="0">
              <a:sym typeface="Huawei Sans" panose="020C0503030203020204" pitchFamily="34" charset="0"/>
            </a:endParaRPr>
          </a:p>
        </p:txBody>
      </p:sp>
      <p:sp>
        <p:nvSpPr>
          <p:cNvPr id="50" name="矩形 49"/>
          <p:cNvSpPr/>
          <p:nvPr/>
        </p:nvSpPr>
        <p:spPr>
          <a:xfrm>
            <a:off x="861890" y="5759327"/>
            <a:ext cx="10560048" cy="338554"/>
          </a:xfrm>
          <a:prstGeom prst="rect">
            <a:avLst/>
          </a:prstGeom>
          <a:solidFill>
            <a:srgbClr val="F4FBFE"/>
          </a:solidFill>
          <a:ln>
            <a:solidFill>
              <a:srgbClr val="99DFF9"/>
            </a:solidFill>
          </a:ln>
        </p:spPr>
        <p:txBody>
          <a:bodyPr wrap="square">
            <a:spAutoFit/>
          </a:bodyPr>
          <a:lstStyle/>
          <a:p>
            <a:pPr algn="ctr" fontAlgn="auto">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边缘端口一般与用户终端设备直接连接，可以由</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Disabled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状态直接转到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1" name="组合 50"/>
          <p:cNvGrpSpPr/>
          <p:nvPr/>
        </p:nvGrpSpPr>
        <p:grpSpPr>
          <a:xfrm>
            <a:off x="3290524" y="4971189"/>
            <a:ext cx="4076961" cy="307777"/>
            <a:chOff x="2880882" y="5348768"/>
            <a:chExt cx="4076961" cy="307777"/>
          </a:xfrm>
        </p:grpSpPr>
        <p:sp>
          <p:nvSpPr>
            <p:cNvPr id="52" name="椭圆 51"/>
            <p:cNvSpPr>
              <a:spLocks noChangeAspect="1"/>
            </p:cNvSpPr>
            <p:nvPr/>
          </p:nvSpPr>
          <p:spPr>
            <a:xfrm>
              <a:off x="2880882" y="5386416"/>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a:xfrm>
              <a:off x="3063801" y="5348768"/>
              <a:ext cx="792656"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根接口</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椭圆 53"/>
            <p:cNvSpPr>
              <a:spLocks noChangeAspect="1"/>
            </p:cNvSpPr>
            <p:nvPr/>
          </p:nvSpPr>
          <p:spPr>
            <a:xfrm>
              <a:off x="4308365" y="5386416"/>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54"/>
            <p:cNvSpPr txBox="1"/>
            <p:nvPr/>
          </p:nvSpPr>
          <p:spPr>
            <a:xfrm>
              <a:off x="4491284" y="5348768"/>
              <a:ext cx="913456"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指定接口</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椭圆 55"/>
            <p:cNvSpPr>
              <a:spLocks noChangeAspect="1"/>
            </p:cNvSpPr>
            <p:nvPr/>
          </p:nvSpPr>
          <p:spPr>
            <a:xfrm>
              <a:off x="5861468" y="5386416"/>
              <a:ext cx="232480" cy="232480"/>
            </a:xfrm>
            <a:prstGeom prst="ellipse">
              <a:avLst/>
            </a:prstGeom>
            <a:solidFill>
              <a:schemeClr val="bg1"/>
            </a:solidFill>
            <a:ln w="1905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E</a:t>
              </a:r>
              <a:endParaRPr lang="zh-CN" altLang="en-US"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p:cNvSpPr txBox="1"/>
            <p:nvPr/>
          </p:nvSpPr>
          <p:spPr>
            <a:xfrm>
              <a:off x="6044387" y="5348768"/>
              <a:ext cx="913456"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边缘接口</a:t>
              </a:r>
            </a:p>
          </p:txBody>
        </p:sp>
      </p:grpSp>
      <p:grpSp>
        <p:nvGrpSpPr>
          <p:cNvPr id="8" name="组合 7"/>
          <p:cNvGrpSpPr/>
          <p:nvPr/>
        </p:nvGrpSpPr>
        <p:grpSpPr>
          <a:xfrm>
            <a:off x="1925190" y="2060628"/>
            <a:ext cx="6070098" cy="2636504"/>
            <a:chOff x="1738451" y="2224624"/>
            <a:chExt cx="6070098" cy="2636504"/>
          </a:xfrm>
        </p:grpSpPr>
        <p:grpSp>
          <p:nvGrpSpPr>
            <p:cNvPr id="29" name="组合 28"/>
            <p:cNvGrpSpPr/>
            <p:nvPr/>
          </p:nvGrpSpPr>
          <p:grpSpPr>
            <a:xfrm>
              <a:off x="1738451" y="2224624"/>
              <a:ext cx="5442295" cy="2636504"/>
              <a:chOff x="1375620" y="2016295"/>
              <a:chExt cx="4994308" cy="2290162"/>
            </a:xfrm>
          </p:grpSpPr>
          <p:cxnSp>
            <p:nvCxnSpPr>
              <p:cNvPr id="30" name="直接连接符 29"/>
              <p:cNvCxnSpPr/>
              <p:nvPr/>
            </p:nvCxnSpPr>
            <p:spPr>
              <a:xfrm>
                <a:off x="5279735" y="3918384"/>
                <a:ext cx="109019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2" name="Group 165"/>
              <p:cNvGrpSpPr/>
              <p:nvPr/>
            </p:nvGrpSpPr>
            <p:grpSpPr>
              <a:xfrm rot="10800000">
                <a:off x="2252518" y="2546860"/>
                <a:ext cx="2778130" cy="1350249"/>
                <a:chOff x="-1233037" y="914446"/>
                <a:chExt cx="1573823" cy="778776"/>
              </a:xfrm>
            </p:grpSpPr>
            <p:cxnSp>
              <p:nvCxnSpPr>
                <p:cNvPr id="46" name="Straight Connector 166"/>
                <p:cNvCxnSpPr/>
                <p:nvPr/>
              </p:nvCxnSpPr>
              <p:spPr>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167"/>
                <p:cNvCxnSpPr/>
                <p:nvPr/>
              </p:nvCxnSpPr>
              <p:spPr>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33" name="直接连接符 32"/>
              <p:cNvCxnSpPr>
                <a:stCxn id="36" idx="1"/>
                <a:endCxn id="35" idx="3"/>
              </p:cNvCxnSpPr>
              <p:nvPr/>
            </p:nvCxnSpPr>
            <p:spPr>
              <a:xfrm flipH="1">
                <a:off x="2543431" y="3918384"/>
                <a:ext cx="2196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4" name="图片 76" descr="接入交换机.png"/>
              <p:cNvPicPr>
                <a:picLocks noChangeAspect="1"/>
              </p:cNvPicPr>
              <p:nvPr/>
            </p:nvPicPr>
            <p:blipFill>
              <a:blip r:embed="rId3" cstate="print"/>
              <a:stretch>
                <a:fillRect/>
              </a:stretch>
            </p:blipFill>
            <p:spPr>
              <a:xfrm>
                <a:off x="3371583" y="2413627"/>
                <a:ext cx="540000" cy="441818"/>
              </a:xfrm>
              <a:prstGeom prst="rect">
                <a:avLst/>
              </a:prstGeom>
            </p:spPr>
          </p:pic>
          <p:pic>
            <p:nvPicPr>
              <p:cNvPr id="35" name="图片 76" descr="接入交换机.png"/>
              <p:cNvPicPr>
                <a:picLocks noChangeAspect="1"/>
              </p:cNvPicPr>
              <p:nvPr/>
            </p:nvPicPr>
            <p:blipFill>
              <a:blip r:embed="rId3" cstate="print"/>
              <a:stretch>
                <a:fillRect/>
              </a:stretch>
            </p:blipFill>
            <p:spPr>
              <a:xfrm>
                <a:off x="2003431" y="3697475"/>
                <a:ext cx="540000" cy="441818"/>
              </a:xfrm>
              <a:prstGeom prst="rect">
                <a:avLst/>
              </a:prstGeom>
            </p:spPr>
          </p:pic>
          <p:pic>
            <p:nvPicPr>
              <p:cNvPr id="36" name="图片 76" descr="接入交换机.png"/>
              <p:cNvPicPr>
                <a:picLocks noChangeAspect="1"/>
              </p:cNvPicPr>
              <p:nvPr/>
            </p:nvPicPr>
            <p:blipFill>
              <a:blip r:embed="rId3" cstate="print"/>
              <a:stretch>
                <a:fillRect/>
              </a:stretch>
            </p:blipFill>
            <p:spPr>
              <a:xfrm>
                <a:off x="4739735" y="3697475"/>
                <a:ext cx="540000" cy="441818"/>
              </a:xfrm>
              <a:prstGeom prst="rect">
                <a:avLst/>
              </a:prstGeom>
            </p:spPr>
          </p:pic>
          <p:sp>
            <p:nvSpPr>
              <p:cNvPr id="37" name="文本框 36"/>
              <p:cNvSpPr txBox="1"/>
              <p:nvPr/>
            </p:nvSpPr>
            <p:spPr>
              <a:xfrm>
                <a:off x="3066987" y="2016295"/>
                <a:ext cx="1149185" cy="294080"/>
              </a:xfrm>
              <a:prstGeom prst="rect">
                <a:avLst/>
              </a:prstGeom>
              <a:noFill/>
            </p:spPr>
            <p:txBody>
              <a:bodyPr wrap="none" rtlCol="0">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SW1 (</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a:xfrm>
                <a:off x="1375620" y="3749107"/>
                <a:ext cx="557823" cy="294080"/>
              </a:xfrm>
              <a:prstGeom prst="rect">
                <a:avLst/>
              </a:prstGeom>
              <a:noFill/>
            </p:spPr>
            <p:txBody>
              <a:bodyPr wrap="none" rtlCol="0">
                <a:spAutoFit/>
              </a:bodyPr>
              <a:lstStyle/>
              <a:p>
                <a:pPr algn="ct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a:xfrm>
                <a:off x="4184454" y="4012377"/>
                <a:ext cx="557823" cy="294080"/>
              </a:xfrm>
              <a:prstGeom prst="rect">
                <a:avLst/>
              </a:prstGeom>
              <a:noFill/>
            </p:spPr>
            <p:txBody>
              <a:bodyPr wrap="none" rtlCol="0">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椭圆 39"/>
              <p:cNvSpPr>
                <a:spLocks noChangeAspect="1"/>
              </p:cNvSpPr>
              <p:nvPr/>
            </p:nvSpPr>
            <p:spPr>
              <a:xfrm>
                <a:off x="3255340" y="2731873"/>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椭圆 40"/>
              <p:cNvSpPr>
                <a:spLocks noChangeAspect="1"/>
              </p:cNvSpPr>
              <p:nvPr/>
            </p:nvSpPr>
            <p:spPr>
              <a:xfrm>
                <a:off x="3757825" y="2731873"/>
                <a:ext cx="232480" cy="23248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椭圆 41"/>
              <p:cNvSpPr>
                <a:spLocks noChangeAspect="1"/>
              </p:cNvSpPr>
              <p:nvPr/>
            </p:nvSpPr>
            <p:spPr>
              <a:xfrm>
                <a:off x="2369073" y="3601240"/>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椭圆 42"/>
              <p:cNvSpPr>
                <a:spLocks noChangeAspect="1"/>
              </p:cNvSpPr>
              <p:nvPr/>
            </p:nvSpPr>
            <p:spPr>
              <a:xfrm>
                <a:off x="4681617" y="3601240"/>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48" name="图片 47" descr="PC.png"/>
            <p:cNvPicPr>
              <a:picLocks noChangeAspect="1"/>
            </p:cNvPicPr>
            <p:nvPr/>
          </p:nvPicPr>
          <p:blipFill>
            <a:blip r:embed="rId4" cstate="print"/>
            <a:stretch>
              <a:fillRect/>
            </a:stretch>
          </p:blipFill>
          <p:spPr>
            <a:xfrm>
              <a:off x="7180746" y="4160050"/>
              <a:ext cx="627803" cy="482152"/>
            </a:xfrm>
            <a:prstGeom prst="rect">
              <a:avLst/>
            </a:prstGeom>
          </p:spPr>
        </p:pic>
        <p:sp>
          <p:nvSpPr>
            <p:cNvPr id="60" name="椭圆 59"/>
            <p:cNvSpPr>
              <a:spLocks noChangeAspect="1"/>
            </p:cNvSpPr>
            <p:nvPr/>
          </p:nvSpPr>
          <p:spPr>
            <a:xfrm>
              <a:off x="6002767" y="4143565"/>
              <a:ext cx="232480" cy="232480"/>
            </a:xfrm>
            <a:prstGeom prst="ellipse">
              <a:avLst/>
            </a:prstGeom>
            <a:solidFill>
              <a:schemeClr val="bg1"/>
            </a:solidFill>
            <a:ln w="1905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E</a:t>
              </a:r>
              <a:endParaRPr lang="zh-CN" altLang="en-US"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ym typeface="Huawei Sans" panose="020C0503030203020204" pitchFamily="34" charset="0"/>
              </a:rPr>
              <a:t>端口状态不同</a:t>
            </a:r>
            <a:endParaRPr lang="zh-CN" altLang="en-US" dirty="0">
              <a:sym typeface="Huawei Sans" panose="020C0503030203020204" pitchFamily="34" charset="0"/>
            </a:endParaRPr>
          </a:p>
        </p:txBody>
      </p:sp>
      <p:sp>
        <p:nvSpPr>
          <p:cNvPr id="2" name="文本占位符 1"/>
          <p:cNvSpPr>
            <a:spLocks noGrp="1"/>
          </p:cNvSpPr>
          <p:nvPr>
            <p:ph type="body" sz="quarter" idx="10"/>
          </p:nvPr>
        </p:nvSpPr>
        <p:spPr/>
        <p:txBody>
          <a:bodyPr/>
          <a:lstStyle/>
          <a:p>
            <a:r>
              <a:rPr lang="en-US" altLang="zh-CN" sz="2000">
                <a:sym typeface="Huawei Sans" panose="020C0503030203020204" pitchFamily="34" charset="0"/>
              </a:rPr>
              <a:t>RSTP</a:t>
            </a:r>
            <a:r>
              <a:rPr lang="zh-CN" altLang="en-US" sz="2000">
                <a:sym typeface="Huawei Sans" panose="020C0503030203020204" pitchFamily="34" charset="0"/>
              </a:rPr>
              <a:t>的状态规范把原来的</a:t>
            </a:r>
            <a:r>
              <a:rPr lang="en-US" altLang="zh-CN" sz="2000">
                <a:sym typeface="Huawei Sans" panose="020C0503030203020204" pitchFamily="34" charset="0"/>
              </a:rPr>
              <a:t>5</a:t>
            </a:r>
            <a:r>
              <a:rPr lang="zh-CN" altLang="en-US" sz="2000">
                <a:sym typeface="Huawei Sans" panose="020C0503030203020204" pitchFamily="34" charset="0"/>
              </a:rPr>
              <a:t>种状态缩减为</a:t>
            </a:r>
            <a:r>
              <a:rPr lang="en-US" altLang="zh-CN" sz="2000">
                <a:sym typeface="Huawei Sans" panose="020C0503030203020204" pitchFamily="34" charset="0"/>
              </a:rPr>
              <a:t>3</a:t>
            </a:r>
            <a:r>
              <a:rPr lang="zh-CN" altLang="en-US" sz="2000">
                <a:sym typeface="Huawei Sans" panose="020C0503030203020204" pitchFamily="34" charset="0"/>
              </a:rPr>
              <a:t>种。</a:t>
            </a:r>
            <a:endParaRPr lang="en-US" altLang="zh-CN" sz="2000">
              <a:sym typeface="Huawei Sans" panose="020C0503030203020204" pitchFamily="34" charset="0"/>
            </a:endParaRPr>
          </a:p>
          <a:p>
            <a:pPr lvl="1"/>
            <a:r>
              <a:rPr lang="zh-CN" altLang="en-US" sz="1800">
                <a:sym typeface="Huawei Sans" panose="020C0503030203020204" pitchFamily="34" charset="0"/>
              </a:rPr>
              <a:t>如果不转发用户流量也不学习</a:t>
            </a:r>
            <a:r>
              <a:rPr lang="en-US" altLang="zh-CN" sz="1800">
                <a:sym typeface="Huawei Sans" panose="020C0503030203020204" pitchFamily="34" charset="0"/>
              </a:rPr>
              <a:t>MAC</a:t>
            </a:r>
            <a:r>
              <a:rPr lang="zh-CN" altLang="en-US" sz="1800">
                <a:sym typeface="Huawei Sans" panose="020C0503030203020204" pitchFamily="34" charset="0"/>
              </a:rPr>
              <a:t>地址，那么接口状态就是</a:t>
            </a:r>
            <a:r>
              <a:rPr lang="en-US" altLang="zh-CN" sz="1800">
                <a:sym typeface="Huawei Sans" panose="020C0503030203020204" pitchFamily="34" charset="0"/>
              </a:rPr>
              <a:t>Discarding</a:t>
            </a:r>
            <a:r>
              <a:rPr lang="zh-CN" altLang="en-US" sz="1800">
                <a:sym typeface="Huawei Sans" panose="020C0503030203020204" pitchFamily="34" charset="0"/>
              </a:rPr>
              <a:t>状态。</a:t>
            </a:r>
          </a:p>
          <a:p>
            <a:pPr lvl="1"/>
            <a:r>
              <a:rPr lang="zh-CN" altLang="en-US" sz="1800">
                <a:sym typeface="Huawei Sans" panose="020C0503030203020204" pitchFamily="34" charset="0"/>
              </a:rPr>
              <a:t>如果不转发用户流量但是学习</a:t>
            </a:r>
            <a:r>
              <a:rPr lang="en-US" altLang="zh-CN" sz="1800">
                <a:sym typeface="Huawei Sans" panose="020C0503030203020204" pitchFamily="34" charset="0"/>
              </a:rPr>
              <a:t>MAC</a:t>
            </a:r>
            <a:r>
              <a:rPr lang="zh-CN" altLang="en-US" sz="1800">
                <a:sym typeface="Huawei Sans" panose="020C0503030203020204" pitchFamily="34" charset="0"/>
              </a:rPr>
              <a:t>地址，那么接口状态就是</a:t>
            </a:r>
            <a:r>
              <a:rPr lang="en-US" altLang="zh-CN" sz="1800">
                <a:sym typeface="Huawei Sans" panose="020C0503030203020204" pitchFamily="34" charset="0"/>
              </a:rPr>
              <a:t>Learning</a:t>
            </a:r>
            <a:r>
              <a:rPr lang="zh-CN" altLang="en-US" sz="1800">
                <a:sym typeface="Huawei Sans" panose="020C0503030203020204" pitchFamily="34" charset="0"/>
              </a:rPr>
              <a:t>状态。</a:t>
            </a:r>
          </a:p>
          <a:p>
            <a:pPr lvl="1"/>
            <a:r>
              <a:rPr lang="zh-CN" altLang="en-US" sz="1800">
                <a:sym typeface="Huawei Sans" panose="020C0503030203020204" pitchFamily="34" charset="0"/>
              </a:rPr>
              <a:t>如果既转发用户流量又学习</a:t>
            </a:r>
            <a:r>
              <a:rPr lang="en-US" altLang="zh-CN" sz="1800">
                <a:sym typeface="Huawei Sans" panose="020C0503030203020204" pitchFamily="34" charset="0"/>
              </a:rPr>
              <a:t>MAC</a:t>
            </a:r>
            <a:r>
              <a:rPr lang="zh-CN" altLang="en-US" sz="1800">
                <a:sym typeface="Huawei Sans" panose="020C0503030203020204" pitchFamily="34" charset="0"/>
              </a:rPr>
              <a:t>地址，那么接口状态就是</a:t>
            </a:r>
            <a:r>
              <a:rPr lang="en-US" altLang="zh-CN" sz="1800">
                <a:sym typeface="Huawei Sans" panose="020C0503030203020204" pitchFamily="34" charset="0"/>
              </a:rPr>
              <a:t>Forwarding</a:t>
            </a:r>
            <a:r>
              <a:rPr lang="zh-CN" altLang="en-US" sz="1800">
                <a:sym typeface="Huawei Sans" panose="020C0503030203020204" pitchFamily="34" charset="0"/>
              </a:rPr>
              <a:t>状态。</a:t>
            </a:r>
            <a:endParaRPr lang="zh-CN" altLang="en-US" sz="1800" dirty="0">
              <a:sym typeface="Huawei Sans" panose="020C0503030203020204" pitchFamily="34" charset="0"/>
            </a:endParaRPr>
          </a:p>
        </p:txBody>
      </p:sp>
      <p:graphicFrame>
        <p:nvGraphicFramePr>
          <p:cNvPr id="53" name="表格 52"/>
          <p:cNvGraphicFramePr>
            <a:graphicFrameLocks noGrp="1"/>
          </p:cNvGraphicFramePr>
          <p:nvPr/>
        </p:nvGraphicFramePr>
        <p:xfrm>
          <a:off x="1409700" y="3355068"/>
          <a:ext cx="8524875" cy="2326625"/>
        </p:xfrm>
        <a:graphic>
          <a:graphicData uri="http://schemas.openxmlformats.org/drawingml/2006/table">
            <a:tbl>
              <a:tblPr/>
              <a:tblGrid>
                <a:gridCol w="2223880">
                  <a:extLst>
                    <a:ext uri="{9D8B030D-6E8A-4147-A177-3AD203B41FA5}">
                      <a16:colId xmlns:a16="http://schemas.microsoft.com/office/drawing/2014/main" val="20000"/>
                    </a:ext>
                  </a:extLst>
                </a:gridCol>
                <a:gridCol w="2737085">
                  <a:extLst>
                    <a:ext uri="{9D8B030D-6E8A-4147-A177-3AD203B41FA5}">
                      <a16:colId xmlns:a16="http://schemas.microsoft.com/office/drawing/2014/main" val="20001"/>
                    </a:ext>
                  </a:extLst>
                </a:gridCol>
                <a:gridCol w="3563910">
                  <a:extLst>
                    <a:ext uri="{9D8B030D-6E8A-4147-A177-3AD203B41FA5}">
                      <a16:colId xmlns:a16="http://schemas.microsoft.com/office/drawing/2014/main" val="20002"/>
                    </a:ext>
                  </a:extLst>
                </a:gridCol>
              </a:tblGrid>
              <a:tr h="290880">
                <a:tc>
                  <a:txBody>
                    <a:bodyPr/>
                    <a:lstStyle/>
                    <a:p>
                      <a:pPr algn="l"/>
                      <a:r>
                        <a:rPr lang="en-US" sz="16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接口状态</a:t>
                      </a:r>
                      <a:endParaRPr lang="zh-CN" alt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tc>
                  <a:txBody>
                    <a:bodyPr/>
                    <a:lstStyle/>
                    <a:p>
                      <a:pPr algn="l"/>
                      <a:r>
                        <a:rPr lang="en-US" sz="16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6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接口状态</a:t>
                      </a:r>
                      <a:endParaRPr lang="zh-CN" alt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tc>
                  <a:txBody>
                    <a:bodyPr/>
                    <a:lstStyle/>
                    <a:p>
                      <a:pPr algn="l"/>
                      <a:r>
                        <a:rPr lang="zh-CN" altLang="en-US" sz="1600"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接口在拓扑中的角色</a:t>
                      </a:r>
                      <a:endParaRPr lang="zh-CN" alt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solidFill>
                      <a:srgbClr val="00B0F0"/>
                    </a:solidFill>
                  </a:tcPr>
                </a:tc>
                <a:extLst>
                  <a:ext uri="{0D108BD9-81ED-4DB2-BD59-A6C34878D82A}">
                    <a16:rowId xmlns:a16="http://schemas.microsoft.com/office/drawing/2014/main" val="10000"/>
                  </a:ext>
                </a:extLst>
              </a:tr>
              <a:tr h="290880">
                <a:tc>
                  <a:txBody>
                    <a:bodyPr/>
                    <a:lstStyle/>
                    <a:p>
                      <a:pPr algn="l">
                        <a:lnSpc>
                          <a:spcPct val="150000"/>
                        </a:lnSpc>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Forwarding</a:t>
                      </a: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l">
                        <a:lnSpc>
                          <a:spcPct val="150000"/>
                        </a:lnSpc>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Forwarding</a:t>
                      </a: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l">
                        <a:lnSpc>
                          <a:spcPct val="15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包括根接口、指定接口</a:t>
                      </a: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1"/>
                  </a:ext>
                </a:extLst>
              </a:tr>
              <a:tr h="290880">
                <a:tc>
                  <a:txBody>
                    <a:bodyPr/>
                    <a:lstStyle/>
                    <a:p>
                      <a:pPr algn="l">
                        <a:lnSpc>
                          <a:spcPct val="150000"/>
                        </a:lnSpc>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Learning</a:t>
                      </a: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l">
                        <a:lnSpc>
                          <a:spcPct val="150000"/>
                        </a:lnSpc>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Learning</a:t>
                      </a: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l">
                        <a:lnSpc>
                          <a:spcPct val="15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包括根接口、指定接口</a:t>
                      </a: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2"/>
                  </a:ext>
                </a:extLst>
              </a:tr>
              <a:tr h="290880">
                <a:tc>
                  <a:txBody>
                    <a:bodyPr/>
                    <a:lstStyle/>
                    <a:p>
                      <a:pPr algn="l">
                        <a:lnSpc>
                          <a:spcPct val="150000"/>
                        </a:lnSpc>
                      </a:pPr>
                      <a:r>
                        <a:rPr lang="en-US" sz="1400">
                          <a:effectLst/>
                          <a:latin typeface="Huawei Sans" panose="020C0503030203020204" pitchFamily="34" charset="0"/>
                          <a:ea typeface="方正兰亭黑简体" panose="02000000000000000000" pitchFamily="2" charset="-122"/>
                          <a:sym typeface="Huawei Sans" panose="020C0503030203020204" pitchFamily="34" charset="0"/>
                        </a:rPr>
                        <a:t>Listening</a:t>
                      </a: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l">
                        <a:lnSpc>
                          <a:spcPct val="150000"/>
                        </a:lnSpc>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Discarding</a:t>
                      </a: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l">
                        <a:lnSpc>
                          <a:spcPct val="15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包括根接口、指定接口</a:t>
                      </a: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3"/>
                  </a:ext>
                </a:extLst>
              </a:tr>
              <a:tr h="290880">
                <a:tc>
                  <a:txBody>
                    <a:bodyPr/>
                    <a:lstStyle/>
                    <a:p>
                      <a:pPr algn="l">
                        <a:lnSpc>
                          <a:spcPct val="150000"/>
                        </a:lnSpc>
                      </a:pPr>
                      <a:r>
                        <a:rPr lang="en-US" sz="1400">
                          <a:effectLst/>
                          <a:latin typeface="Huawei Sans" panose="020C0503030203020204" pitchFamily="34" charset="0"/>
                          <a:ea typeface="方正兰亭黑简体" panose="02000000000000000000" pitchFamily="2" charset="-122"/>
                          <a:sym typeface="Huawei Sans" panose="020C0503030203020204" pitchFamily="34" charset="0"/>
                        </a:rPr>
                        <a:t>Blocking</a:t>
                      </a: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l">
                        <a:lnSpc>
                          <a:spcPct val="150000"/>
                        </a:lnSpc>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Discarding</a:t>
                      </a: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l">
                        <a:lnSpc>
                          <a:spcPct val="15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包括</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Alternate</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接口、</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Backup</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接口</a:t>
                      </a: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4"/>
                  </a:ext>
                </a:extLst>
              </a:tr>
              <a:tr h="290880">
                <a:tc>
                  <a:txBody>
                    <a:bodyPr/>
                    <a:lstStyle/>
                    <a:p>
                      <a:pPr algn="l">
                        <a:lnSpc>
                          <a:spcPct val="150000"/>
                        </a:lnSpc>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Disabled</a:t>
                      </a: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l">
                        <a:lnSpc>
                          <a:spcPct val="150000"/>
                        </a:lnSpc>
                      </a:pP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Discarding</a:t>
                      </a: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tc>
                  <a:txBody>
                    <a:bodyPr/>
                    <a:lstStyle/>
                    <a:p>
                      <a:pPr algn="l">
                        <a:lnSpc>
                          <a:spcPct val="15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包括</a:t>
                      </a:r>
                      <a:r>
                        <a:rPr lang="en-US" sz="1400" dirty="0">
                          <a:effectLst/>
                          <a:latin typeface="Huawei Sans" panose="020C0503030203020204" pitchFamily="34" charset="0"/>
                          <a:ea typeface="方正兰亭黑简体" panose="02000000000000000000" pitchFamily="2" charset="-122"/>
                          <a:sym typeface="Huawei Sans" panose="020C0503030203020204" pitchFamily="34" charset="0"/>
                        </a:rPr>
                        <a:t>Disable</a:t>
                      </a: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接口</a:t>
                      </a:r>
                    </a:p>
                  </a:txBody>
                  <a:tcPr marL="54000" marR="54000" marT="54000" marB="54000" anchor="ctr">
                    <a:lnL w="12700" cap="flat" cmpd="sng" algn="ctr">
                      <a:solidFill>
                        <a:srgbClr val="B4E6F6"/>
                      </a:solidFill>
                      <a:prstDash val="solid"/>
                      <a:round/>
                      <a:headEnd type="none" w="med" len="med"/>
                      <a:tailEnd type="none" w="med" len="med"/>
                    </a:lnL>
                    <a:lnR w="12700" cap="flat" cmpd="sng" algn="ctr">
                      <a:solidFill>
                        <a:srgbClr val="B4E6F6"/>
                      </a:solidFill>
                      <a:prstDash val="solid"/>
                      <a:round/>
                      <a:headEnd type="none" w="med" len="med"/>
                      <a:tailEnd type="none" w="med" len="med"/>
                    </a:lnR>
                    <a:lnT w="12700" cap="flat" cmpd="sng" algn="ctr">
                      <a:solidFill>
                        <a:srgbClr val="B4E6F6"/>
                      </a:solidFill>
                      <a:prstDash val="solid"/>
                      <a:round/>
                      <a:headEnd type="none" w="med" len="med"/>
                      <a:tailEnd type="none" w="med" len="med"/>
                    </a:lnT>
                    <a:lnB w="12700" cap="flat" cmpd="sng" algn="ctr">
                      <a:solidFill>
                        <a:srgbClr val="B4E6F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a:solidFill>
                  <a:schemeClr val="bg1">
                    <a:lumMod val="50000"/>
                  </a:schemeClr>
                </a:solidFill>
                <a:sym typeface="Huawei Sans" panose="020C0503030203020204" pitchFamily="34" charset="0"/>
              </a:rPr>
              <a:t>生成树技术概述</a:t>
            </a:r>
          </a:p>
          <a:p>
            <a:r>
              <a:rPr lang="en-US" altLang="zh-CN">
                <a:solidFill>
                  <a:schemeClr val="bg1">
                    <a:lumMod val="50000"/>
                  </a:schemeClr>
                </a:solidFill>
                <a:sym typeface="Huawei Sans" panose="020C0503030203020204" pitchFamily="34" charset="0"/>
              </a:rPr>
              <a:t>STP</a:t>
            </a:r>
            <a:r>
              <a:rPr lang="zh-CN" altLang="en-US">
                <a:solidFill>
                  <a:schemeClr val="bg1">
                    <a:lumMod val="50000"/>
                  </a:schemeClr>
                </a:solidFill>
                <a:sym typeface="Huawei Sans" panose="020C0503030203020204" pitchFamily="34" charset="0"/>
              </a:rPr>
              <a:t>的基本概念及工作原理</a:t>
            </a:r>
          </a:p>
          <a:p>
            <a:r>
              <a:rPr lang="en-US" altLang="zh-CN">
                <a:solidFill>
                  <a:schemeClr val="bg1">
                    <a:lumMod val="50000"/>
                  </a:schemeClr>
                </a:solidFill>
                <a:sym typeface="Huawei Sans" panose="020C0503030203020204" pitchFamily="34" charset="0"/>
              </a:rPr>
              <a:t>STP</a:t>
            </a:r>
            <a:r>
              <a:rPr lang="zh-CN" altLang="en-US">
                <a:solidFill>
                  <a:schemeClr val="bg1">
                    <a:lumMod val="50000"/>
                  </a:schemeClr>
                </a:solidFill>
                <a:sym typeface="Huawei Sans" panose="020C0503030203020204" pitchFamily="34" charset="0"/>
              </a:rPr>
              <a:t>的基础配置</a:t>
            </a:r>
          </a:p>
          <a:p>
            <a:r>
              <a:rPr lang="en-US" altLang="zh-CN">
                <a:solidFill>
                  <a:schemeClr val="bg1">
                    <a:lumMod val="50000"/>
                  </a:schemeClr>
                </a:solidFill>
                <a:sym typeface="Huawei Sans" panose="020C0503030203020204" pitchFamily="34" charset="0"/>
              </a:rPr>
              <a:t>RSTP</a:t>
            </a:r>
            <a:r>
              <a:rPr lang="zh-CN" altLang="en-US">
                <a:solidFill>
                  <a:schemeClr val="bg1">
                    <a:lumMod val="50000"/>
                  </a:schemeClr>
                </a:solidFill>
                <a:sym typeface="Huawei Sans" panose="020C0503030203020204" pitchFamily="34" charset="0"/>
              </a:rPr>
              <a:t>对</a:t>
            </a:r>
            <a:r>
              <a:rPr lang="en-US" altLang="zh-CN">
                <a:solidFill>
                  <a:schemeClr val="bg1">
                    <a:lumMod val="50000"/>
                  </a:schemeClr>
                </a:solidFill>
                <a:sym typeface="Huawei Sans" panose="020C0503030203020204" pitchFamily="34" charset="0"/>
              </a:rPr>
              <a:t>STP</a:t>
            </a:r>
            <a:r>
              <a:rPr lang="zh-CN" altLang="en-US">
                <a:solidFill>
                  <a:schemeClr val="bg1">
                    <a:lumMod val="50000"/>
                  </a:schemeClr>
                </a:solidFill>
                <a:sym typeface="Huawei Sans" panose="020C0503030203020204" pitchFamily="34" charset="0"/>
              </a:rPr>
              <a:t>的改进</a:t>
            </a:r>
          </a:p>
          <a:p>
            <a:r>
              <a:rPr lang="zh-CN" altLang="en-US" b="1">
                <a:sym typeface="Huawei Sans" panose="020C0503030203020204" pitchFamily="34" charset="0"/>
              </a:rPr>
              <a:t>生成树技术进阶</a:t>
            </a:r>
            <a:endParaRPr lang="zh-CN" altLang="en-US" b="1" dirty="0">
              <a:sym typeface="Huawei Sans" panose="020C0503030203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6"/>
          <p:cNvGrpSpPr/>
          <p:nvPr/>
        </p:nvGrpSpPr>
        <p:grpSpPr>
          <a:xfrm flipV="1">
            <a:off x="3292434" y="3212466"/>
            <a:ext cx="3293740" cy="1330959"/>
            <a:chOff x="107504" y="2348880"/>
            <a:chExt cx="2808312" cy="1944216"/>
          </a:xfrm>
        </p:grpSpPr>
        <p:cxnSp>
          <p:nvCxnSpPr>
            <p:cNvPr id="4" name="直接连接符 9"/>
            <p:cNvCxnSpPr/>
            <p:nvPr/>
          </p:nvCxnSpPr>
          <p:spPr bwMode="auto">
            <a:xfrm flipH="1">
              <a:off x="107504" y="2348880"/>
              <a:ext cx="1404156" cy="194421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 name="直接连接符 10"/>
            <p:cNvCxnSpPr/>
            <p:nvPr/>
          </p:nvCxnSpPr>
          <p:spPr bwMode="auto">
            <a:xfrm flipH="1">
              <a:off x="107504" y="4293096"/>
              <a:ext cx="2808312"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6" name="直接连接符 13"/>
            <p:cNvCxnSpPr/>
            <p:nvPr/>
          </p:nvCxnSpPr>
          <p:spPr bwMode="auto">
            <a:xfrm flipH="1" flipV="1">
              <a:off x="1511660" y="2348880"/>
              <a:ext cx="1404156" cy="1944216"/>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cxnSp>
        <p:nvCxnSpPr>
          <p:cNvPr id="11" name="Straight Connector 18"/>
          <p:cNvCxnSpPr/>
          <p:nvPr/>
        </p:nvCxnSpPr>
        <p:spPr bwMode="auto">
          <a:xfrm>
            <a:off x="3367096" y="2648218"/>
            <a:ext cx="0" cy="558812"/>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3" name="Straight Connector 20"/>
          <p:cNvCxnSpPr/>
          <p:nvPr/>
        </p:nvCxnSpPr>
        <p:spPr bwMode="auto">
          <a:xfrm>
            <a:off x="6528676" y="2648218"/>
            <a:ext cx="0" cy="558812"/>
          </a:xfrm>
          <a:prstGeom prst="line">
            <a:avLst/>
          </a:prstGeom>
          <a:solidFill>
            <a:schemeClr val="accent1"/>
          </a:solidFill>
          <a:ln w="28575" cap="flat" cmpd="sng" algn="ctr">
            <a:solidFill>
              <a:schemeClr val="tx1"/>
            </a:solidFill>
            <a:prstDash val="solid"/>
            <a:round/>
            <a:headEnd type="none" w="med" len="med"/>
            <a:tailEnd type="none" w="med" len="med"/>
          </a:ln>
          <a:effectLst/>
        </p:spPr>
      </p:cxnSp>
      <p:pic>
        <p:nvPicPr>
          <p:cNvPr id="27" name="图片 76" descr="接入交换机.png"/>
          <p:cNvPicPr>
            <a:picLocks noChangeAspect="1"/>
          </p:cNvPicPr>
          <p:nvPr/>
        </p:nvPicPr>
        <p:blipFill>
          <a:blip r:embed="rId3" cstate="print"/>
          <a:stretch>
            <a:fillRect/>
          </a:stretch>
        </p:blipFill>
        <p:spPr>
          <a:xfrm>
            <a:off x="3093090" y="2991205"/>
            <a:ext cx="534944" cy="462395"/>
          </a:xfrm>
          <a:prstGeom prst="rect">
            <a:avLst/>
          </a:prstGeom>
        </p:spPr>
      </p:pic>
      <p:pic>
        <p:nvPicPr>
          <p:cNvPr id="28" name="图片 76" descr="接入交换机.png"/>
          <p:cNvPicPr>
            <a:picLocks noChangeAspect="1"/>
          </p:cNvPicPr>
          <p:nvPr/>
        </p:nvPicPr>
        <p:blipFill>
          <a:blip r:embed="rId3" cstate="print"/>
          <a:stretch>
            <a:fillRect/>
          </a:stretch>
        </p:blipFill>
        <p:spPr>
          <a:xfrm>
            <a:off x="6280254" y="2991205"/>
            <a:ext cx="534944" cy="462395"/>
          </a:xfrm>
          <a:prstGeom prst="rect">
            <a:avLst/>
          </a:prstGeom>
        </p:spPr>
      </p:pic>
      <p:pic>
        <p:nvPicPr>
          <p:cNvPr id="29" name="图片 76" descr="接入交换机.png"/>
          <p:cNvPicPr>
            <a:picLocks noChangeAspect="1"/>
          </p:cNvPicPr>
          <p:nvPr/>
        </p:nvPicPr>
        <p:blipFill>
          <a:blip r:embed="rId3" cstate="print"/>
          <a:stretch>
            <a:fillRect/>
          </a:stretch>
        </p:blipFill>
        <p:spPr>
          <a:xfrm>
            <a:off x="4686672" y="4476223"/>
            <a:ext cx="534944" cy="462395"/>
          </a:xfrm>
          <a:prstGeom prst="rect">
            <a:avLst/>
          </a:prstGeom>
        </p:spPr>
      </p:pic>
      <p:sp>
        <p:nvSpPr>
          <p:cNvPr id="2" name="标题 1"/>
          <p:cNvSpPr>
            <a:spLocks noGrp="1"/>
          </p:cNvSpPr>
          <p:nvPr>
            <p:ph type="title"/>
          </p:nvPr>
        </p:nvSpPr>
        <p:spPr/>
        <p:txBody>
          <a:bodyPr/>
          <a:lstStyle/>
          <a:p>
            <a:r>
              <a:rPr lang="en-US" altLang="zh-CN">
                <a:sym typeface="Huawei Sans" panose="020C0503030203020204" pitchFamily="34" charset="0"/>
              </a:rPr>
              <a:t>STP/RSTP</a:t>
            </a:r>
            <a:r>
              <a:rPr lang="zh-CN" altLang="en-US">
                <a:sym typeface="Huawei Sans" panose="020C0503030203020204" pitchFamily="34" charset="0"/>
              </a:rPr>
              <a:t>的缺陷：所有的</a:t>
            </a:r>
            <a:r>
              <a:rPr lang="en-US" altLang="zh-CN">
                <a:sym typeface="Huawei Sans" panose="020C0503030203020204" pitchFamily="34" charset="0"/>
              </a:rPr>
              <a:t>VLAN</a:t>
            </a:r>
            <a:r>
              <a:rPr lang="zh-CN" altLang="en-US">
                <a:sym typeface="Huawei Sans" panose="020C0503030203020204" pitchFamily="34" charset="0"/>
              </a:rPr>
              <a:t>共享一棵生成树</a:t>
            </a:r>
          </a:p>
        </p:txBody>
      </p:sp>
      <p:sp>
        <p:nvSpPr>
          <p:cNvPr id="30" name="文本占位符 29"/>
          <p:cNvSpPr>
            <a:spLocks noGrp="1"/>
          </p:cNvSpPr>
          <p:nvPr>
            <p:ph type="body" sz="quarter" idx="10"/>
          </p:nvPr>
        </p:nvSpPr>
        <p:spPr/>
        <p:txBody>
          <a:bodyPr/>
          <a:lstStyle/>
          <a:p>
            <a:r>
              <a:rPr lang="en-US" altLang="zh-CN" sz="1800">
                <a:sym typeface="Huawei Sans" panose="020C0503030203020204" pitchFamily="34" charset="0"/>
              </a:rPr>
              <a:t>RSTP</a:t>
            </a:r>
            <a:r>
              <a:rPr lang="zh-CN" altLang="en-US" sz="1800">
                <a:sym typeface="Huawei Sans" panose="020C0503030203020204" pitchFamily="34" charset="0"/>
              </a:rPr>
              <a:t>在</a:t>
            </a:r>
            <a:r>
              <a:rPr lang="en-US" altLang="zh-CN" sz="1800">
                <a:sym typeface="Huawei Sans" panose="020C0503030203020204" pitchFamily="34" charset="0"/>
              </a:rPr>
              <a:t>STP</a:t>
            </a:r>
            <a:r>
              <a:rPr lang="zh-CN" altLang="en-US" sz="1800">
                <a:sym typeface="Huawei Sans" panose="020C0503030203020204" pitchFamily="34" charset="0"/>
              </a:rPr>
              <a:t>基础上进行了改进，实现了网络拓扑快速收敛。</a:t>
            </a:r>
            <a:endParaRPr lang="en-US" altLang="zh-CN" sz="1800">
              <a:sym typeface="Huawei Sans" panose="020C0503030203020204" pitchFamily="34" charset="0"/>
            </a:endParaRPr>
          </a:p>
          <a:p>
            <a:r>
              <a:rPr lang="zh-CN" altLang="en-US" sz="1800">
                <a:sym typeface="Huawei Sans" panose="020C0503030203020204" pitchFamily="34" charset="0"/>
              </a:rPr>
              <a:t>但</a:t>
            </a:r>
            <a:r>
              <a:rPr lang="en-US" altLang="zh-CN" sz="1800">
                <a:sym typeface="Huawei Sans" panose="020C0503030203020204" pitchFamily="34" charset="0"/>
              </a:rPr>
              <a:t>RSTP</a:t>
            </a:r>
            <a:r>
              <a:rPr lang="zh-CN" altLang="en-US" sz="1800">
                <a:sym typeface="Huawei Sans" panose="020C0503030203020204" pitchFamily="34" charset="0"/>
              </a:rPr>
              <a:t>和</a:t>
            </a:r>
            <a:r>
              <a:rPr lang="en-US" altLang="zh-CN" sz="1800">
                <a:sym typeface="Huawei Sans" panose="020C0503030203020204" pitchFamily="34" charset="0"/>
              </a:rPr>
              <a:t>STP</a:t>
            </a:r>
            <a:r>
              <a:rPr lang="zh-CN" altLang="en-US" sz="1800">
                <a:sym typeface="Huawei Sans" panose="020C0503030203020204" pitchFamily="34" charset="0"/>
              </a:rPr>
              <a:t>还存在同一个缺陷：由于局域网内所有的</a:t>
            </a:r>
            <a:r>
              <a:rPr lang="en-US" altLang="zh-CN" sz="1800">
                <a:sym typeface="Huawei Sans" panose="020C0503030203020204" pitchFamily="34" charset="0"/>
              </a:rPr>
              <a:t>VLAN</a:t>
            </a:r>
            <a:r>
              <a:rPr lang="zh-CN" altLang="en-US" sz="1800">
                <a:sym typeface="Huawei Sans" panose="020C0503030203020204" pitchFamily="34" charset="0"/>
              </a:rPr>
              <a:t>共享一棵生成树，因此无法在</a:t>
            </a:r>
            <a:r>
              <a:rPr lang="en-US" altLang="zh-CN" sz="1800">
                <a:sym typeface="Huawei Sans" panose="020C0503030203020204" pitchFamily="34" charset="0"/>
              </a:rPr>
              <a:t>VLAN</a:t>
            </a:r>
            <a:r>
              <a:rPr lang="zh-CN" altLang="en-US" sz="1800">
                <a:sym typeface="Huawei Sans" panose="020C0503030203020204" pitchFamily="34" charset="0"/>
              </a:rPr>
              <a:t>间实现数据流量的负载均衡，链路被阻塞后将不承载任何流量，还有可能造成部分</a:t>
            </a:r>
            <a:r>
              <a:rPr lang="en-US" altLang="zh-CN" sz="1800">
                <a:sym typeface="Huawei Sans" panose="020C0503030203020204" pitchFamily="34" charset="0"/>
              </a:rPr>
              <a:t>VLAN</a:t>
            </a:r>
            <a:r>
              <a:rPr lang="zh-CN" altLang="en-US" sz="1800">
                <a:sym typeface="Huawei Sans" panose="020C0503030203020204" pitchFamily="34" charset="0"/>
              </a:rPr>
              <a:t>的报文无法转发。</a:t>
            </a:r>
          </a:p>
        </p:txBody>
      </p:sp>
      <p:sp>
        <p:nvSpPr>
          <p:cNvPr id="8" name="矩形 20"/>
          <p:cNvSpPr/>
          <p:nvPr/>
        </p:nvSpPr>
        <p:spPr>
          <a:xfrm>
            <a:off x="4639289" y="4964615"/>
            <a:ext cx="574196" cy="307777"/>
          </a:xfrm>
          <a:prstGeom prst="rect">
            <a:avLst/>
          </a:prstGeom>
        </p:spPr>
        <p:txBody>
          <a:bodyPr wrap="none">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21"/>
          <p:cNvSpPr/>
          <p:nvPr/>
        </p:nvSpPr>
        <p:spPr>
          <a:xfrm>
            <a:off x="2436845" y="3068514"/>
            <a:ext cx="574196" cy="307777"/>
          </a:xfrm>
          <a:prstGeom prst="rect">
            <a:avLst/>
          </a:prstGeom>
        </p:spPr>
        <p:txBody>
          <a:bodyPr wrap="none">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22"/>
          <p:cNvSpPr/>
          <p:nvPr/>
        </p:nvSpPr>
        <p:spPr>
          <a:xfrm>
            <a:off x="6811897" y="3068514"/>
            <a:ext cx="574196" cy="307777"/>
          </a:xfrm>
          <a:prstGeom prst="rect">
            <a:avLst/>
          </a:prstGeom>
        </p:spPr>
        <p:txBody>
          <a:bodyPr wrap="none">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 name="组合 28"/>
          <p:cNvGrpSpPr/>
          <p:nvPr/>
        </p:nvGrpSpPr>
        <p:grpSpPr>
          <a:xfrm>
            <a:off x="4958374" y="4315757"/>
            <a:ext cx="297554" cy="297554"/>
            <a:chOff x="5076056" y="3356992"/>
            <a:chExt cx="436268" cy="436268"/>
          </a:xfrm>
        </p:grpSpPr>
        <p:sp>
          <p:nvSpPr>
            <p:cNvPr id="16"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00000"/>
                </a:lnSpc>
                <a:spcBef>
                  <a:spcPct val="0"/>
                </a:spcBef>
                <a:spcAft>
                  <a:spcPct val="0"/>
                </a:spcAft>
                <a:buClrTx/>
                <a:buSzTx/>
                <a:buFontTx/>
                <a:buNone/>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8" name="矩形 29"/>
          <p:cNvSpPr/>
          <p:nvPr/>
        </p:nvSpPr>
        <p:spPr>
          <a:xfrm>
            <a:off x="5227641" y="4308641"/>
            <a:ext cx="878767" cy="307777"/>
          </a:xfrm>
          <a:prstGeom prst="rect">
            <a:avLst/>
          </a:prstGeom>
        </p:spPr>
        <p:txBody>
          <a:bodyPr wrap="none">
            <a:spAutoFit/>
          </a:bodyPr>
          <a:lstStyle/>
          <a:p>
            <a:r>
              <a:rPr lang="en-US" altLang="zh-CN" sz="1400" b="1">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GE0/0/2</a:t>
            </a:r>
          </a:p>
        </p:txBody>
      </p:sp>
      <p:sp>
        <p:nvSpPr>
          <p:cNvPr id="19" name="矩形 20"/>
          <p:cNvSpPr/>
          <p:nvPr/>
        </p:nvSpPr>
        <p:spPr>
          <a:xfrm>
            <a:off x="4109595" y="5940696"/>
            <a:ext cx="1659429"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VLAN1</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Freeform 27"/>
          <p:cNvSpPr/>
          <p:nvPr/>
        </p:nvSpPr>
        <p:spPr bwMode="auto">
          <a:xfrm>
            <a:off x="3831141" y="2671383"/>
            <a:ext cx="736600" cy="2429510"/>
          </a:xfrm>
          <a:custGeom>
            <a:avLst/>
            <a:gdLst>
              <a:gd name="connsiteX0" fmla="*/ 736600 w 736600"/>
              <a:gd name="connsiteY0" fmla="*/ 2692400 h 2692400"/>
              <a:gd name="connsiteX1" fmla="*/ 736600 w 736600"/>
              <a:gd name="connsiteY1" fmla="*/ 1562100 h 2692400"/>
              <a:gd name="connsiteX2" fmla="*/ 0 w 736600"/>
              <a:gd name="connsiteY2" fmla="*/ 977900 h 2692400"/>
              <a:gd name="connsiteX3" fmla="*/ 0 w 736600"/>
              <a:gd name="connsiteY3" fmla="*/ 0 h 2692400"/>
              <a:gd name="connsiteX0-1" fmla="*/ 736600 w 736600"/>
              <a:gd name="connsiteY0-2" fmla="*/ 2378075 h 2378075"/>
              <a:gd name="connsiteX1-3" fmla="*/ 736600 w 736600"/>
              <a:gd name="connsiteY1-4" fmla="*/ 1247775 h 2378075"/>
              <a:gd name="connsiteX2-5" fmla="*/ 0 w 736600"/>
              <a:gd name="connsiteY2-6" fmla="*/ 663575 h 2378075"/>
              <a:gd name="connsiteX3-7" fmla="*/ 1905 w 736600"/>
              <a:gd name="connsiteY3-8" fmla="*/ 0 h 2378075"/>
              <a:gd name="connsiteX0-9" fmla="*/ 736600 w 736600"/>
              <a:gd name="connsiteY0-10" fmla="*/ 2429510 h 2429510"/>
              <a:gd name="connsiteX1-11" fmla="*/ 736600 w 736600"/>
              <a:gd name="connsiteY1-12" fmla="*/ 1299210 h 2429510"/>
              <a:gd name="connsiteX2-13" fmla="*/ 0 w 736600"/>
              <a:gd name="connsiteY2-14" fmla="*/ 715010 h 2429510"/>
              <a:gd name="connsiteX3-15" fmla="*/ 1905 w 736600"/>
              <a:gd name="connsiteY3-16" fmla="*/ 0 h 2429510"/>
            </a:gdLst>
            <a:ahLst/>
            <a:cxnLst>
              <a:cxn ang="0">
                <a:pos x="connsiteX0-1" y="connsiteY0-2"/>
              </a:cxn>
              <a:cxn ang="0">
                <a:pos x="connsiteX1-3" y="connsiteY1-4"/>
              </a:cxn>
              <a:cxn ang="0">
                <a:pos x="connsiteX2-5" y="connsiteY2-6"/>
              </a:cxn>
              <a:cxn ang="0">
                <a:pos x="connsiteX3-7" y="connsiteY3-8"/>
              </a:cxn>
            </a:cxnLst>
            <a:rect l="l" t="t" r="r" b="b"/>
            <a:pathLst>
              <a:path w="736600" h="2429510">
                <a:moveTo>
                  <a:pt x="736600" y="2429510"/>
                </a:moveTo>
                <a:lnTo>
                  <a:pt x="736600" y="1299210"/>
                </a:lnTo>
                <a:lnTo>
                  <a:pt x="0" y="715010"/>
                </a:lnTo>
                <a:cubicBezTo>
                  <a:pt x="0" y="389043"/>
                  <a:pt x="1905" y="325967"/>
                  <a:pt x="1905" y="0"/>
                </a:cubicBezTo>
              </a:path>
            </a:pathLst>
          </a:custGeom>
          <a:noFill/>
          <a:ln w="28575" cap="flat" cmpd="sng" algn="ctr">
            <a:solidFill>
              <a:srgbClr val="EC7061"/>
            </a:solidFill>
            <a:prstDash val="sysDot"/>
            <a:round/>
            <a:headEnd type="triangle" w="med" len="med"/>
            <a:tailEnd type="triangle" w="med" len="med"/>
          </a:ln>
          <a:effectLst/>
        </p:spPr>
        <p:txBody>
          <a:bodyPr vert="horz" wrap="square" lIns="91440" tIns="45720" rIns="91440" bIns="45720" numCol="1" rtlCol="0" anchor="t" anchorCtr="0" compatLnSpc="1"/>
          <a:lstStyle/>
          <a:p>
            <a:pP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Line Callout 2 29"/>
          <p:cNvSpPr/>
          <p:nvPr/>
        </p:nvSpPr>
        <p:spPr bwMode="auto">
          <a:xfrm>
            <a:off x="6957737" y="3557982"/>
            <a:ext cx="3650505" cy="1324190"/>
          </a:xfrm>
          <a:prstGeom prst="borderCallout2">
            <a:avLst>
              <a:gd name="adj1" fmla="val 18536"/>
              <a:gd name="adj2" fmla="val -443"/>
              <a:gd name="adj3" fmla="val 18536"/>
              <a:gd name="adj4" fmla="val -11678"/>
              <a:gd name="adj5" fmla="val 60052"/>
              <a:gd name="adj6" fmla="val -29930"/>
            </a:avLst>
          </a:prstGeom>
          <a:solidFill>
            <a:srgbClr val="FFFFCC"/>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GE0/0/2</a:t>
            </a:r>
            <a:r>
              <a:rPr lang="zh-CN" altLang="en-US"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接口被</a:t>
            </a:r>
            <a:r>
              <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阻塞，这将导致所有</a:t>
            </a:r>
            <a:r>
              <a:rPr lang="en-US" altLang="zh-CN"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rPr>
              <a:t>的流量通过左侧链路转发，被阻塞接口所连接的链路将不承载流量，造成链路带宽资源的浪费。</a:t>
            </a:r>
          </a:p>
        </p:txBody>
      </p:sp>
      <p:pic>
        <p:nvPicPr>
          <p:cNvPr id="24" name="图片 23" descr="PC.png"/>
          <p:cNvPicPr>
            <a:picLocks noChangeAspect="1"/>
          </p:cNvPicPr>
          <p:nvPr/>
        </p:nvPicPr>
        <p:blipFill>
          <a:blip r:embed="rId4" cstate="print"/>
          <a:stretch>
            <a:fillRect/>
          </a:stretch>
        </p:blipFill>
        <p:spPr>
          <a:xfrm>
            <a:off x="4641021" y="5453306"/>
            <a:ext cx="570730" cy="438320"/>
          </a:xfrm>
          <a:prstGeom prst="rect">
            <a:avLst/>
          </a:prstGeom>
        </p:spPr>
      </p:pic>
      <p:grpSp>
        <p:nvGrpSpPr>
          <p:cNvPr id="26" name="组合 28"/>
          <p:cNvGrpSpPr/>
          <p:nvPr/>
        </p:nvGrpSpPr>
        <p:grpSpPr>
          <a:xfrm>
            <a:off x="910360" y="5473410"/>
            <a:ext cx="223557" cy="223557"/>
            <a:chOff x="5076056" y="3356992"/>
            <a:chExt cx="436268" cy="436268"/>
          </a:xfrm>
        </p:grpSpPr>
        <p:sp>
          <p:nvSpPr>
            <p:cNvPr id="31"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00000"/>
                </a:lnSpc>
                <a:spcBef>
                  <a:spcPct val="0"/>
                </a:spcBef>
                <a:spcAft>
                  <a:spcPct val="0"/>
                </a:spcAft>
                <a:buClrTx/>
                <a:buSzTx/>
                <a:buFontTx/>
                <a:buNone/>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5" name="矩形 20"/>
          <p:cNvSpPr/>
          <p:nvPr/>
        </p:nvSpPr>
        <p:spPr>
          <a:xfrm>
            <a:off x="1135356" y="5453302"/>
            <a:ext cx="1454244" cy="261610"/>
          </a:xfrm>
          <a:prstGeom prst="rect">
            <a:avLst/>
          </a:prstGeom>
        </p:spPr>
        <p:txBody>
          <a:bodyPr wrap="none">
            <a:spAutoFit/>
          </a:bodyPr>
          <a:lstStyle/>
          <a:p>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被生成树阻塞的接口</a:t>
            </a:r>
          </a:p>
        </p:txBody>
      </p:sp>
      <p:cxnSp>
        <p:nvCxnSpPr>
          <p:cNvPr id="36" name="直接箭头连接符 35"/>
          <p:cNvCxnSpPr/>
          <p:nvPr/>
        </p:nvCxnSpPr>
        <p:spPr>
          <a:xfrm flipH="1">
            <a:off x="569879" y="5243482"/>
            <a:ext cx="565477" cy="0"/>
          </a:xfrm>
          <a:prstGeom prst="straightConnector1">
            <a:avLst/>
          </a:prstGeom>
          <a:noFill/>
          <a:ln w="28575" cap="flat" cmpd="sng" algn="ctr">
            <a:solidFill>
              <a:srgbClr val="EC7061"/>
            </a:solidFill>
            <a:prstDash val="sysDot"/>
            <a:round/>
            <a:headEnd type="triangle" w="med" len="med"/>
            <a:tailEnd type="triangle" w="med" len="med"/>
          </a:ln>
          <a:effectLst/>
        </p:spPr>
      </p:cxnSp>
      <p:sp>
        <p:nvSpPr>
          <p:cNvPr id="37" name="矩形 20"/>
          <p:cNvSpPr/>
          <p:nvPr/>
        </p:nvSpPr>
        <p:spPr>
          <a:xfrm>
            <a:off x="1135356" y="5114568"/>
            <a:ext cx="1252266" cy="261610"/>
          </a:xfrm>
          <a:prstGeom prst="rect">
            <a:avLst/>
          </a:prstGeom>
        </p:spPr>
        <p:txBody>
          <a:bodyPr wrap="none">
            <a:spAutoFit/>
          </a:bodyPr>
          <a:lstStyle/>
          <a:p>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所有</a:t>
            </a:r>
            <a:r>
              <a:rPr lang="en-US" altLang="zh-CN" sz="110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的数据</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6"/>
          <p:cNvGrpSpPr/>
          <p:nvPr/>
        </p:nvGrpSpPr>
        <p:grpSpPr>
          <a:xfrm flipV="1">
            <a:off x="3292434" y="3212466"/>
            <a:ext cx="3293740" cy="1330959"/>
            <a:chOff x="107504" y="2348880"/>
            <a:chExt cx="2808312" cy="1944216"/>
          </a:xfrm>
        </p:grpSpPr>
        <p:cxnSp>
          <p:nvCxnSpPr>
            <p:cNvPr id="4" name="直接连接符 9"/>
            <p:cNvCxnSpPr/>
            <p:nvPr/>
          </p:nvCxnSpPr>
          <p:spPr bwMode="auto">
            <a:xfrm flipH="1">
              <a:off x="107504" y="2348880"/>
              <a:ext cx="1404156" cy="194421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5" name="直接连接符 10"/>
            <p:cNvCxnSpPr/>
            <p:nvPr/>
          </p:nvCxnSpPr>
          <p:spPr bwMode="auto">
            <a:xfrm flipH="1">
              <a:off x="107504" y="4293096"/>
              <a:ext cx="2808312"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6" name="直接连接符 13"/>
            <p:cNvCxnSpPr/>
            <p:nvPr/>
          </p:nvCxnSpPr>
          <p:spPr bwMode="auto">
            <a:xfrm flipH="1" flipV="1">
              <a:off x="1511660" y="2348880"/>
              <a:ext cx="1404156" cy="1944216"/>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cxnSp>
        <p:nvCxnSpPr>
          <p:cNvPr id="11" name="Straight Connector 18"/>
          <p:cNvCxnSpPr/>
          <p:nvPr/>
        </p:nvCxnSpPr>
        <p:spPr bwMode="auto">
          <a:xfrm>
            <a:off x="3367096" y="2648218"/>
            <a:ext cx="0" cy="558812"/>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13" name="Straight Connector 20"/>
          <p:cNvCxnSpPr/>
          <p:nvPr/>
        </p:nvCxnSpPr>
        <p:spPr bwMode="auto">
          <a:xfrm>
            <a:off x="6528676" y="2648218"/>
            <a:ext cx="0" cy="558812"/>
          </a:xfrm>
          <a:prstGeom prst="line">
            <a:avLst/>
          </a:prstGeom>
          <a:solidFill>
            <a:schemeClr val="accent1"/>
          </a:solidFill>
          <a:ln w="28575" cap="flat" cmpd="sng" algn="ctr">
            <a:solidFill>
              <a:schemeClr val="tx1"/>
            </a:solidFill>
            <a:prstDash val="solid"/>
            <a:round/>
            <a:headEnd type="none" w="med" len="med"/>
            <a:tailEnd type="none" w="med" len="med"/>
          </a:ln>
          <a:effectLst/>
        </p:spPr>
      </p:cxnSp>
      <p:pic>
        <p:nvPicPr>
          <p:cNvPr id="27" name="图片 76" descr="接入交换机.png"/>
          <p:cNvPicPr>
            <a:picLocks noChangeAspect="1"/>
          </p:cNvPicPr>
          <p:nvPr/>
        </p:nvPicPr>
        <p:blipFill>
          <a:blip r:embed="rId3" cstate="print"/>
          <a:stretch>
            <a:fillRect/>
          </a:stretch>
        </p:blipFill>
        <p:spPr>
          <a:xfrm>
            <a:off x="3093090" y="2991205"/>
            <a:ext cx="534944" cy="462395"/>
          </a:xfrm>
          <a:prstGeom prst="rect">
            <a:avLst/>
          </a:prstGeom>
        </p:spPr>
      </p:pic>
      <p:pic>
        <p:nvPicPr>
          <p:cNvPr id="28" name="图片 76" descr="接入交换机.png"/>
          <p:cNvPicPr>
            <a:picLocks noChangeAspect="1"/>
          </p:cNvPicPr>
          <p:nvPr/>
        </p:nvPicPr>
        <p:blipFill>
          <a:blip r:embed="rId3" cstate="print"/>
          <a:stretch>
            <a:fillRect/>
          </a:stretch>
        </p:blipFill>
        <p:spPr>
          <a:xfrm>
            <a:off x="6280254" y="2991205"/>
            <a:ext cx="534944" cy="462395"/>
          </a:xfrm>
          <a:prstGeom prst="rect">
            <a:avLst/>
          </a:prstGeom>
        </p:spPr>
      </p:pic>
      <p:pic>
        <p:nvPicPr>
          <p:cNvPr id="29" name="图片 76" descr="接入交换机.png"/>
          <p:cNvPicPr>
            <a:picLocks noChangeAspect="1"/>
          </p:cNvPicPr>
          <p:nvPr/>
        </p:nvPicPr>
        <p:blipFill>
          <a:blip r:embed="rId3" cstate="print"/>
          <a:stretch>
            <a:fillRect/>
          </a:stretch>
        </p:blipFill>
        <p:spPr>
          <a:xfrm>
            <a:off x="4686672" y="4476223"/>
            <a:ext cx="534944" cy="462395"/>
          </a:xfrm>
          <a:prstGeom prst="rect">
            <a:avLst/>
          </a:prstGeom>
        </p:spPr>
      </p:pic>
      <p:sp>
        <p:nvSpPr>
          <p:cNvPr id="2" name="标题 1"/>
          <p:cNvSpPr>
            <a:spLocks noGrp="1"/>
          </p:cNvSpPr>
          <p:nvPr>
            <p:ph type="title"/>
          </p:nvPr>
        </p:nvSpPr>
        <p:spPr/>
        <p:txBody>
          <a:bodyPr/>
          <a:lstStyle/>
          <a:p>
            <a:r>
              <a:rPr lang="en-US" altLang="zh-CN">
                <a:sym typeface="Huawei Sans" panose="020C0503030203020204" pitchFamily="34" charset="0"/>
              </a:rPr>
              <a:t>VBST</a:t>
            </a:r>
            <a:r>
              <a:rPr lang="zh-CN" altLang="en-US">
                <a:sym typeface="Huawei Sans" panose="020C0503030203020204" pitchFamily="34" charset="0"/>
              </a:rPr>
              <a:t>：基于</a:t>
            </a:r>
            <a:r>
              <a:rPr lang="en-US" altLang="zh-CN">
                <a:sym typeface="Huawei Sans" panose="020C0503030203020204" pitchFamily="34" charset="0"/>
              </a:rPr>
              <a:t>VLAN</a:t>
            </a:r>
            <a:r>
              <a:rPr lang="zh-CN" altLang="en-US">
                <a:sym typeface="Huawei Sans" panose="020C0503030203020204" pitchFamily="34" charset="0"/>
              </a:rPr>
              <a:t>的生成树</a:t>
            </a:r>
          </a:p>
        </p:txBody>
      </p:sp>
      <p:sp>
        <p:nvSpPr>
          <p:cNvPr id="30" name="文本占位符 29"/>
          <p:cNvSpPr>
            <a:spLocks noGrp="1"/>
          </p:cNvSpPr>
          <p:nvPr>
            <p:ph type="body" sz="quarter" idx="10"/>
          </p:nvPr>
        </p:nvSpPr>
        <p:spPr/>
        <p:txBody>
          <a:bodyPr/>
          <a:lstStyle/>
          <a:p>
            <a:r>
              <a:rPr lang="zh-CN" altLang="en-US" sz="2000">
                <a:sym typeface="Huawei Sans" panose="020C0503030203020204" pitchFamily="34" charset="0"/>
              </a:rPr>
              <a:t>华为公司提出了</a:t>
            </a:r>
            <a:r>
              <a:rPr lang="en-US" altLang="zh-CN" sz="2000">
                <a:sym typeface="Huawei Sans" panose="020C0503030203020204" pitchFamily="34" charset="0"/>
              </a:rPr>
              <a:t>VBST</a:t>
            </a:r>
            <a:r>
              <a:rPr lang="zh-CN" altLang="en-US" sz="2000">
                <a:sym typeface="Huawei Sans" panose="020C0503030203020204" pitchFamily="34" charset="0"/>
              </a:rPr>
              <a:t>（</a:t>
            </a:r>
            <a:r>
              <a:rPr lang="en-US" altLang="zh-CN" sz="2000">
                <a:sym typeface="Huawei Sans" panose="020C0503030203020204" pitchFamily="34" charset="0"/>
              </a:rPr>
              <a:t>VLAN-Based Spanning Tree</a:t>
            </a:r>
            <a:r>
              <a:rPr lang="zh-CN" altLang="en-US" sz="2000">
                <a:sym typeface="Huawei Sans" panose="020C0503030203020204" pitchFamily="34" charset="0"/>
              </a:rPr>
              <a:t>）生成树解决方案。该解决方案中，生成树的形成是基于</a:t>
            </a:r>
            <a:r>
              <a:rPr lang="en-US" altLang="zh-CN" sz="2000">
                <a:sym typeface="Huawei Sans" panose="020C0503030203020204" pitchFamily="34" charset="0"/>
              </a:rPr>
              <a:t>VLAN</a:t>
            </a:r>
            <a:r>
              <a:rPr lang="zh-CN" altLang="en-US" sz="2000">
                <a:sym typeface="Huawei Sans" panose="020C0503030203020204" pitchFamily="34" charset="0"/>
              </a:rPr>
              <a:t>的，不同</a:t>
            </a:r>
            <a:r>
              <a:rPr lang="en-US" altLang="zh-CN" sz="2000">
                <a:sym typeface="Huawei Sans" panose="020C0503030203020204" pitchFamily="34" charset="0"/>
              </a:rPr>
              <a:t>VLAN</a:t>
            </a:r>
            <a:r>
              <a:rPr lang="zh-CN" altLang="en-US" sz="2000">
                <a:sym typeface="Huawei Sans" panose="020C0503030203020204" pitchFamily="34" charset="0"/>
              </a:rPr>
              <a:t>间可形成相互独立的生成树，不同</a:t>
            </a:r>
            <a:r>
              <a:rPr lang="en-US" altLang="zh-CN" sz="2000">
                <a:sym typeface="Huawei Sans" panose="020C0503030203020204" pitchFamily="34" charset="0"/>
              </a:rPr>
              <a:t>VLAN</a:t>
            </a:r>
            <a:r>
              <a:rPr lang="zh-CN" altLang="en-US" sz="2000">
                <a:sym typeface="Huawei Sans" panose="020C0503030203020204" pitchFamily="34" charset="0"/>
              </a:rPr>
              <a:t>内的流量沿着各自的生成树转发，进而可实现流量的负载分担。</a:t>
            </a:r>
          </a:p>
        </p:txBody>
      </p:sp>
      <p:sp>
        <p:nvSpPr>
          <p:cNvPr id="8" name="矩形 20"/>
          <p:cNvSpPr/>
          <p:nvPr/>
        </p:nvSpPr>
        <p:spPr>
          <a:xfrm>
            <a:off x="4639289" y="4964615"/>
            <a:ext cx="574196" cy="307777"/>
          </a:xfrm>
          <a:prstGeom prst="rect">
            <a:avLst/>
          </a:prstGeom>
        </p:spPr>
        <p:txBody>
          <a:bodyPr wrap="none">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矩形 21"/>
          <p:cNvSpPr/>
          <p:nvPr/>
        </p:nvSpPr>
        <p:spPr>
          <a:xfrm>
            <a:off x="2436845" y="3068514"/>
            <a:ext cx="574196" cy="307777"/>
          </a:xfrm>
          <a:prstGeom prst="rect">
            <a:avLst/>
          </a:prstGeom>
        </p:spPr>
        <p:txBody>
          <a:bodyPr wrap="none">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22"/>
          <p:cNvSpPr/>
          <p:nvPr/>
        </p:nvSpPr>
        <p:spPr>
          <a:xfrm>
            <a:off x="6811897" y="3068514"/>
            <a:ext cx="574196" cy="307777"/>
          </a:xfrm>
          <a:prstGeom prst="rect">
            <a:avLst/>
          </a:prstGeom>
        </p:spPr>
        <p:txBody>
          <a:bodyPr wrap="none">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 name="组合 28"/>
          <p:cNvGrpSpPr/>
          <p:nvPr/>
        </p:nvGrpSpPr>
        <p:grpSpPr>
          <a:xfrm>
            <a:off x="4958374" y="4315757"/>
            <a:ext cx="297554" cy="297554"/>
            <a:chOff x="5076056" y="3356992"/>
            <a:chExt cx="436268" cy="436268"/>
          </a:xfrm>
        </p:grpSpPr>
        <p:sp>
          <p:nvSpPr>
            <p:cNvPr id="16"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00000"/>
                </a:lnSpc>
                <a:spcBef>
                  <a:spcPct val="0"/>
                </a:spcBef>
                <a:spcAft>
                  <a:spcPct val="0"/>
                </a:spcAft>
                <a:buClrTx/>
                <a:buSzTx/>
                <a:buFontTx/>
                <a:buNone/>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9" name="矩形 20"/>
          <p:cNvSpPr/>
          <p:nvPr/>
        </p:nvSpPr>
        <p:spPr>
          <a:xfrm>
            <a:off x="4109591" y="5940696"/>
            <a:ext cx="1659429"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VLAN1</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0" name="Freeform 27"/>
          <p:cNvSpPr/>
          <p:nvPr/>
        </p:nvSpPr>
        <p:spPr bwMode="auto">
          <a:xfrm>
            <a:off x="3831141" y="2671383"/>
            <a:ext cx="736600" cy="2429510"/>
          </a:xfrm>
          <a:custGeom>
            <a:avLst/>
            <a:gdLst>
              <a:gd name="connsiteX0" fmla="*/ 736600 w 736600"/>
              <a:gd name="connsiteY0" fmla="*/ 2692400 h 2692400"/>
              <a:gd name="connsiteX1" fmla="*/ 736600 w 736600"/>
              <a:gd name="connsiteY1" fmla="*/ 1562100 h 2692400"/>
              <a:gd name="connsiteX2" fmla="*/ 0 w 736600"/>
              <a:gd name="connsiteY2" fmla="*/ 977900 h 2692400"/>
              <a:gd name="connsiteX3" fmla="*/ 0 w 736600"/>
              <a:gd name="connsiteY3" fmla="*/ 0 h 2692400"/>
              <a:gd name="connsiteX0-1" fmla="*/ 736600 w 736600"/>
              <a:gd name="connsiteY0-2" fmla="*/ 2378075 h 2378075"/>
              <a:gd name="connsiteX1-3" fmla="*/ 736600 w 736600"/>
              <a:gd name="connsiteY1-4" fmla="*/ 1247775 h 2378075"/>
              <a:gd name="connsiteX2-5" fmla="*/ 0 w 736600"/>
              <a:gd name="connsiteY2-6" fmla="*/ 663575 h 2378075"/>
              <a:gd name="connsiteX3-7" fmla="*/ 1905 w 736600"/>
              <a:gd name="connsiteY3-8" fmla="*/ 0 h 2378075"/>
              <a:gd name="connsiteX0-9" fmla="*/ 736600 w 736600"/>
              <a:gd name="connsiteY0-10" fmla="*/ 2429510 h 2429510"/>
              <a:gd name="connsiteX1-11" fmla="*/ 736600 w 736600"/>
              <a:gd name="connsiteY1-12" fmla="*/ 1299210 h 2429510"/>
              <a:gd name="connsiteX2-13" fmla="*/ 0 w 736600"/>
              <a:gd name="connsiteY2-14" fmla="*/ 715010 h 2429510"/>
              <a:gd name="connsiteX3-15" fmla="*/ 1905 w 736600"/>
              <a:gd name="connsiteY3-16" fmla="*/ 0 h 2429510"/>
            </a:gdLst>
            <a:ahLst/>
            <a:cxnLst>
              <a:cxn ang="0">
                <a:pos x="connsiteX0-1" y="connsiteY0-2"/>
              </a:cxn>
              <a:cxn ang="0">
                <a:pos x="connsiteX1-3" y="connsiteY1-4"/>
              </a:cxn>
              <a:cxn ang="0">
                <a:pos x="connsiteX2-5" y="connsiteY2-6"/>
              </a:cxn>
              <a:cxn ang="0">
                <a:pos x="connsiteX3-7" y="connsiteY3-8"/>
              </a:cxn>
            </a:cxnLst>
            <a:rect l="l" t="t" r="r" b="b"/>
            <a:pathLst>
              <a:path w="736600" h="2429510">
                <a:moveTo>
                  <a:pt x="736600" y="2429510"/>
                </a:moveTo>
                <a:lnTo>
                  <a:pt x="736600" y="1299210"/>
                </a:lnTo>
                <a:lnTo>
                  <a:pt x="0" y="715010"/>
                </a:lnTo>
                <a:cubicBezTo>
                  <a:pt x="0" y="389043"/>
                  <a:pt x="1905" y="325967"/>
                  <a:pt x="1905" y="0"/>
                </a:cubicBezTo>
              </a:path>
            </a:pathLst>
          </a:custGeom>
          <a:noFill/>
          <a:ln w="28575" cap="flat" cmpd="sng" algn="ctr">
            <a:solidFill>
              <a:srgbClr val="EC7061"/>
            </a:solidFill>
            <a:prstDash val="sysDot"/>
            <a:round/>
            <a:headEnd type="triangle" w="med" len="med"/>
            <a:tailEnd type="triangle" w="med" len="med"/>
          </a:ln>
          <a:effectLst/>
        </p:spPr>
        <p:txBody>
          <a:bodyPr vert="horz" wrap="square" lIns="91440" tIns="45720" rIns="91440" bIns="45720" numCol="1" rtlCol="0" anchor="t" anchorCtr="0" compatLnSpc="1"/>
          <a:lstStyle/>
          <a:p>
            <a:pP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4" name="图片 23" descr="PC.png"/>
          <p:cNvPicPr>
            <a:picLocks noChangeAspect="1"/>
          </p:cNvPicPr>
          <p:nvPr/>
        </p:nvPicPr>
        <p:blipFill>
          <a:blip r:embed="rId4" cstate="print"/>
          <a:stretch>
            <a:fillRect/>
          </a:stretch>
        </p:blipFill>
        <p:spPr>
          <a:xfrm>
            <a:off x="4641021" y="5453306"/>
            <a:ext cx="570730" cy="438320"/>
          </a:xfrm>
          <a:prstGeom prst="rect">
            <a:avLst/>
          </a:prstGeom>
        </p:spPr>
      </p:pic>
      <p:cxnSp>
        <p:nvCxnSpPr>
          <p:cNvPr id="32" name="直接箭头连接符 31"/>
          <p:cNvCxnSpPr/>
          <p:nvPr/>
        </p:nvCxnSpPr>
        <p:spPr>
          <a:xfrm flipH="1">
            <a:off x="569879" y="5243482"/>
            <a:ext cx="565477" cy="0"/>
          </a:xfrm>
          <a:prstGeom prst="straightConnector1">
            <a:avLst/>
          </a:prstGeom>
          <a:noFill/>
          <a:ln w="28575" cap="flat" cmpd="sng" algn="ctr">
            <a:solidFill>
              <a:srgbClr val="FFD17D"/>
            </a:solidFill>
            <a:prstDash val="sysDot"/>
            <a:round/>
            <a:headEnd type="triangle" w="med" len="med"/>
            <a:tailEnd type="triangle" w="med" len="med"/>
          </a:ln>
          <a:effectLst/>
        </p:spPr>
      </p:cxnSp>
      <p:sp>
        <p:nvSpPr>
          <p:cNvPr id="34" name="矩形 20"/>
          <p:cNvSpPr/>
          <p:nvPr/>
        </p:nvSpPr>
        <p:spPr>
          <a:xfrm>
            <a:off x="1135356" y="5114568"/>
            <a:ext cx="1252266" cy="261610"/>
          </a:xfrm>
          <a:prstGeom prst="rect">
            <a:avLst/>
          </a:prstGeom>
        </p:spPr>
        <p:txBody>
          <a:bodyPr wrap="none">
            <a:spAutoFit/>
          </a:bodyPr>
          <a:lstStyle/>
          <a:p>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基数</a:t>
            </a:r>
            <a:r>
              <a:rPr lang="en-US" altLang="zh-CN" sz="110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的数据</a:t>
            </a:r>
          </a:p>
        </p:txBody>
      </p:sp>
      <p:grpSp>
        <p:nvGrpSpPr>
          <p:cNvPr id="35" name="组合 28"/>
          <p:cNvGrpSpPr/>
          <p:nvPr/>
        </p:nvGrpSpPr>
        <p:grpSpPr>
          <a:xfrm>
            <a:off x="4633517" y="4315757"/>
            <a:ext cx="297554" cy="297554"/>
            <a:chOff x="5076056" y="3356992"/>
            <a:chExt cx="436268" cy="436268"/>
          </a:xfrm>
        </p:grpSpPr>
        <p:sp>
          <p:nvSpPr>
            <p:cNvPr id="36"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00000"/>
                </a:lnSpc>
                <a:spcBef>
                  <a:spcPct val="0"/>
                </a:spcBef>
                <a:spcAft>
                  <a:spcPct val="0"/>
                </a:spcAft>
                <a:buClrTx/>
                <a:buSzTx/>
                <a:buFontTx/>
                <a:buNone/>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禁止符 23"/>
            <p:cNvSpPr/>
            <p:nvPr/>
          </p:nvSpPr>
          <p:spPr>
            <a:xfrm>
              <a:off x="5076056" y="3356992"/>
              <a:ext cx="436268" cy="436268"/>
            </a:xfrm>
            <a:prstGeom prst="noSmoking">
              <a:avLst>
                <a:gd name="adj" fmla="val 15475"/>
              </a:avLst>
            </a:prstGeom>
            <a:solidFill>
              <a:srgbClr val="FFD1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9" name="组合 28"/>
          <p:cNvGrpSpPr/>
          <p:nvPr/>
        </p:nvGrpSpPr>
        <p:grpSpPr>
          <a:xfrm>
            <a:off x="910360" y="5473410"/>
            <a:ext cx="223557" cy="223557"/>
            <a:chOff x="5076056" y="3356992"/>
            <a:chExt cx="436268" cy="436268"/>
          </a:xfrm>
        </p:grpSpPr>
        <p:sp>
          <p:nvSpPr>
            <p:cNvPr id="40"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00000"/>
                </a:lnSpc>
                <a:spcBef>
                  <a:spcPct val="0"/>
                </a:spcBef>
                <a:spcAft>
                  <a:spcPct val="0"/>
                </a:spcAft>
                <a:buClrTx/>
                <a:buSzTx/>
                <a:buFontTx/>
                <a:buNone/>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2" name="组合 28"/>
          <p:cNvGrpSpPr/>
          <p:nvPr/>
        </p:nvGrpSpPr>
        <p:grpSpPr>
          <a:xfrm>
            <a:off x="908921" y="5829999"/>
            <a:ext cx="223557" cy="223557"/>
            <a:chOff x="5076056" y="3356992"/>
            <a:chExt cx="436268" cy="436268"/>
          </a:xfrm>
        </p:grpSpPr>
        <p:sp>
          <p:nvSpPr>
            <p:cNvPr id="43"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00000"/>
                </a:lnSpc>
                <a:spcBef>
                  <a:spcPct val="0"/>
                </a:spcBef>
                <a:spcAft>
                  <a:spcPct val="0"/>
                </a:spcAft>
                <a:buClrTx/>
                <a:buSzTx/>
                <a:buFontTx/>
                <a:buNone/>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禁止符 23"/>
            <p:cNvSpPr/>
            <p:nvPr/>
          </p:nvSpPr>
          <p:spPr>
            <a:xfrm>
              <a:off x="5076056" y="3356992"/>
              <a:ext cx="436268" cy="436268"/>
            </a:xfrm>
            <a:prstGeom prst="noSmoking">
              <a:avLst>
                <a:gd name="adj" fmla="val 15475"/>
              </a:avLst>
            </a:prstGeom>
            <a:solidFill>
              <a:srgbClr val="FFD1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5" name="矩形 20"/>
          <p:cNvSpPr/>
          <p:nvPr/>
        </p:nvSpPr>
        <p:spPr>
          <a:xfrm>
            <a:off x="1135356" y="5453302"/>
            <a:ext cx="2098651" cy="261610"/>
          </a:xfrm>
          <a:prstGeom prst="rect">
            <a:avLst/>
          </a:prstGeom>
        </p:spPr>
        <p:txBody>
          <a:bodyPr wrap="none">
            <a:spAutoFit/>
          </a:bodyPr>
          <a:lstStyle/>
          <a:p>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偶数</a:t>
            </a:r>
            <a:r>
              <a:rPr lang="en-US" altLang="zh-CN" sz="110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的生成树阻塞的接口</a:t>
            </a:r>
          </a:p>
        </p:txBody>
      </p:sp>
      <p:sp>
        <p:nvSpPr>
          <p:cNvPr id="46" name="矩形 20"/>
          <p:cNvSpPr/>
          <p:nvPr/>
        </p:nvSpPr>
        <p:spPr>
          <a:xfrm>
            <a:off x="1135356" y="5809891"/>
            <a:ext cx="2098651" cy="261610"/>
          </a:xfrm>
          <a:prstGeom prst="rect">
            <a:avLst/>
          </a:prstGeom>
        </p:spPr>
        <p:txBody>
          <a:bodyPr wrap="none">
            <a:spAutoFit/>
          </a:bodyPr>
          <a:lstStyle/>
          <a:p>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基数</a:t>
            </a:r>
            <a:r>
              <a:rPr lang="en-US" altLang="zh-CN" sz="110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的生成树阻塞的接口</a:t>
            </a:r>
          </a:p>
        </p:txBody>
      </p:sp>
      <p:sp>
        <p:nvSpPr>
          <p:cNvPr id="48" name="Freeform 27"/>
          <p:cNvSpPr/>
          <p:nvPr/>
        </p:nvSpPr>
        <p:spPr bwMode="auto">
          <a:xfrm flipH="1">
            <a:off x="5341384" y="2671383"/>
            <a:ext cx="736600" cy="2429510"/>
          </a:xfrm>
          <a:custGeom>
            <a:avLst/>
            <a:gdLst>
              <a:gd name="connsiteX0" fmla="*/ 736600 w 736600"/>
              <a:gd name="connsiteY0" fmla="*/ 2692400 h 2692400"/>
              <a:gd name="connsiteX1" fmla="*/ 736600 w 736600"/>
              <a:gd name="connsiteY1" fmla="*/ 1562100 h 2692400"/>
              <a:gd name="connsiteX2" fmla="*/ 0 w 736600"/>
              <a:gd name="connsiteY2" fmla="*/ 977900 h 2692400"/>
              <a:gd name="connsiteX3" fmla="*/ 0 w 736600"/>
              <a:gd name="connsiteY3" fmla="*/ 0 h 2692400"/>
              <a:gd name="connsiteX0-1" fmla="*/ 736600 w 736600"/>
              <a:gd name="connsiteY0-2" fmla="*/ 2378075 h 2378075"/>
              <a:gd name="connsiteX1-3" fmla="*/ 736600 w 736600"/>
              <a:gd name="connsiteY1-4" fmla="*/ 1247775 h 2378075"/>
              <a:gd name="connsiteX2-5" fmla="*/ 0 w 736600"/>
              <a:gd name="connsiteY2-6" fmla="*/ 663575 h 2378075"/>
              <a:gd name="connsiteX3-7" fmla="*/ 1905 w 736600"/>
              <a:gd name="connsiteY3-8" fmla="*/ 0 h 2378075"/>
              <a:gd name="connsiteX0-9" fmla="*/ 736600 w 736600"/>
              <a:gd name="connsiteY0-10" fmla="*/ 2429510 h 2429510"/>
              <a:gd name="connsiteX1-11" fmla="*/ 736600 w 736600"/>
              <a:gd name="connsiteY1-12" fmla="*/ 1299210 h 2429510"/>
              <a:gd name="connsiteX2-13" fmla="*/ 0 w 736600"/>
              <a:gd name="connsiteY2-14" fmla="*/ 715010 h 2429510"/>
              <a:gd name="connsiteX3-15" fmla="*/ 1905 w 736600"/>
              <a:gd name="connsiteY3-16" fmla="*/ 0 h 2429510"/>
            </a:gdLst>
            <a:ahLst/>
            <a:cxnLst>
              <a:cxn ang="0">
                <a:pos x="connsiteX0-1" y="connsiteY0-2"/>
              </a:cxn>
              <a:cxn ang="0">
                <a:pos x="connsiteX1-3" y="connsiteY1-4"/>
              </a:cxn>
              <a:cxn ang="0">
                <a:pos x="connsiteX2-5" y="connsiteY2-6"/>
              </a:cxn>
              <a:cxn ang="0">
                <a:pos x="connsiteX3-7" y="connsiteY3-8"/>
              </a:cxn>
            </a:cxnLst>
            <a:rect l="l" t="t" r="r" b="b"/>
            <a:pathLst>
              <a:path w="736600" h="2429510">
                <a:moveTo>
                  <a:pt x="736600" y="2429510"/>
                </a:moveTo>
                <a:lnTo>
                  <a:pt x="736600" y="1299210"/>
                </a:lnTo>
                <a:lnTo>
                  <a:pt x="0" y="715010"/>
                </a:lnTo>
                <a:cubicBezTo>
                  <a:pt x="0" y="389043"/>
                  <a:pt x="1905" y="325967"/>
                  <a:pt x="1905" y="0"/>
                </a:cubicBezTo>
              </a:path>
            </a:pathLst>
          </a:custGeom>
          <a:noFill/>
          <a:ln w="28575" cap="flat" cmpd="sng" algn="ctr">
            <a:solidFill>
              <a:srgbClr val="FFD17D"/>
            </a:solidFill>
            <a:prstDash val="sysDot"/>
            <a:round/>
            <a:headEnd type="triangle" w="med" len="med"/>
            <a:tailEnd type="triangle" w="med" len="med"/>
          </a:ln>
          <a:effectLst/>
        </p:spPr>
        <p:txBody>
          <a:bodyPr vert="horz" wrap="square" lIns="91440" tIns="45720" rIns="91440" bIns="45720" numCol="1" rtlCol="0" anchor="t" anchorCtr="0" compatLnSpc="1"/>
          <a:lstStyle/>
          <a:p>
            <a:pP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9" name="直接箭头连接符 48"/>
          <p:cNvCxnSpPr/>
          <p:nvPr/>
        </p:nvCxnSpPr>
        <p:spPr>
          <a:xfrm flipH="1">
            <a:off x="569879" y="4908120"/>
            <a:ext cx="565477" cy="0"/>
          </a:xfrm>
          <a:prstGeom prst="straightConnector1">
            <a:avLst/>
          </a:prstGeom>
          <a:noFill/>
          <a:ln w="28575" cap="flat" cmpd="sng" algn="ctr">
            <a:solidFill>
              <a:srgbClr val="EC7061"/>
            </a:solidFill>
            <a:prstDash val="sysDot"/>
            <a:round/>
            <a:headEnd type="triangle" w="med" len="med"/>
            <a:tailEnd type="triangle" w="med" len="med"/>
          </a:ln>
          <a:effectLst/>
        </p:spPr>
      </p:cxnSp>
      <p:sp>
        <p:nvSpPr>
          <p:cNvPr id="50" name="矩形 20"/>
          <p:cNvSpPr/>
          <p:nvPr/>
        </p:nvSpPr>
        <p:spPr>
          <a:xfrm>
            <a:off x="1135356" y="4779206"/>
            <a:ext cx="1252266" cy="261610"/>
          </a:xfrm>
          <a:prstGeom prst="rect">
            <a:avLst/>
          </a:prstGeom>
        </p:spPr>
        <p:txBody>
          <a:bodyPr wrap="none">
            <a:spAutoFit/>
          </a:bodyPr>
          <a:lstStyle/>
          <a:p>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偶数</a:t>
            </a:r>
            <a:r>
              <a:rPr lang="en-US" altLang="zh-CN" sz="110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的数据</a:t>
            </a:r>
          </a:p>
        </p:txBody>
      </p:sp>
      <p:grpSp>
        <p:nvGrpSpPr>
          <p:cNvPr id="56" name="组合 16"/>
          <p:cNvGrpSpPr/>
          <p:nvPr/>
        </p:nvGrpSpPr>
        <p:grpSpPr>
          <a:xfrm flipV="1">
            <a:off x="7238943" y="4527032"/>
            <a:ext cx="637402" cy="335362"/>
            <a:chOff x="107504" y="2348880"/>
            <a:chExt cx="2808312" cy="1944216"/>
          </a:xfrm>
        </p:grpSpPr>
        <p:cxnSp>
          <p:nvCxnSpPr>
            <p:cNvPr id="58" name="直接连接符 10"/>
            <p:cNvCxnSpPr/>
            <p:nvPr/>
          </p:nvCxnSpPr>
          <p:spPr bwMode="auto">
            <a:xfrm flipH="1">
              <a:off x="107504" y="4293096"/>
              <a:ext cx="280831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9" name="直接连接符 13"/>
            <p:cNvCxnSpPr/>
            <p:nvPr/>
          </p:nvCxnSpPr>
          <p:spPr bwMode="auto">
            <a:xfrm flipH="1" flipV="1">
              <a:off x="1511660" y="2348880"/>
              <a:ext cx="1404156" cy="1944216"/>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55" name="椭圆 54"/>
          <p:cNvSpPr>
            <a:spLocks noChangeAspect="1"/>
          </p:cNvSpPr>
          <p:nvPr/>
        </p:nvSpPr>
        <p:spPr>
          <a:xfrm>
            <a:off x="7134810" y="4430335"/>
            <a:ext cx="208265" cy="208265"/>
          </a:xfrm>
          <a:prstGeom prst="ellipse">
            <a:avLst/>
          </a:prstGeom>
          <a:solidFill>
            <a:schemeClr val="tx1"/>
          </a:solidFill>
          <a:ln w="1905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圆角矩形 59"/>
          <p:cNvSpPr/>
          <p:nvPr/>
        </p:nvSpPr>
        <p:spPr>
          <a:xfrm>
            <a:off x="6922443" y="4072342"/>
            <a:ext cx="1144402" cy="857385"/>
          </a:xfrm>
          <a:prstGeom prst="roundRect">
            <a:avLst>
              <a:gd name="adj" fmla="val 5558"/>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a:xfrm>
            <a:off x="6835488" y="4113642"/>
            <a:ext cx="1318312" cy="230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lgn="ctr"/>
          </a:lstStyle>
          <a:p>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VLAN1</a:t>
            </a:r>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的生成树</a:t>
            </a:r>
          </a:p>
        </p:txBody>
      </p:sp>
      <p:grpSp>
        <p:nvGrpSpPr>
          <p:cNvPr id="64" name="组合 16"/>
          <p:cNvGrpSpPr/>
          <p:nvPr/>
        </p:nvGrpSpPr>
        <p:grpSpPr>
          <a:xfrm flipV="1">
            <a:off x="8554159" y="4527032"/>
            <a:ext cx="637402" cy="335362"/>
            <a:chOff x="107504" y="2348880"/>
            <a:chExt cx="2808312" cy="1944216"/>
          </a:xfrm>
        </p:grpSpPr>
        <p:cxnSp>
          <p:nvCxnSpPr>
            <p:cNvPr id="65" name="直接连接符 9"/>
            <p:cNvCxnSpPr/>
            <p:nvPr/>
          </p:nvCxnSpPr>
          <p:spPr bwMode="auto">
            <a:xfrm flipH="1">
              <a:off x="107504" y="2348880"/>
              <a:ext cx="1404156" cy="194421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6" name="直接连接符 10"/>
            <p:cNvCxnSpPr/>
            <p:nvPr/>
          </p:nvCxnSpPr>
          <p:spPr bwMode="auto">
            <a:xfrm flipH="1">
              <a:off x="107504" y="4293096"/>
              <a:ext cx="280831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68" name="椭圆 67"/>
          <p:cNvSpPr>
            <a:spLocks noChangeAspect="1"/>
          </p:cNvSpPr>
          <p:nvPr/>
        </p:nvSpPr>
        <p:spPr>
          <a:xfrm>
            <a:off x="9050668" y="4430335"/>
            <a:ext cx="208265" cy="208265"/>
          </a:xfrm>
          <a:prstGeom prst="ellipse">
            <a:avLst/>
          </a:prstGeom>
          <a:solidFill>
            <a:schemeClr val="tx1"/>
          </a:solidFill>
          <a:ln w="1905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圆角矩形 68"/>
          <p:cNvSpPr/>
          <p:nvPr/>
        </p:nvSpPr>
        <p:spPr>
          <a:xfrm>
            <a:off x="8237659" y="4072342"/>
            <a:ext cx="1144402" cy="857385"/>
          </a:xfrm>
          <a:prstGeom prst="roundRect">
            <a:avLst>
              <a:gd name="adj" fmla="val 5558"/>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文本框 69"/>
          <p:cNvSpPr txBox="1"/>
          <p:nvPr/>
        </p:nvSpPr>
        <p:spPr>
          <a:xfrm>
            <a:off x="8150704" y="4113642"/>
            <a:ext cx="1318312" cy="230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lgn="ctr"/>
          </a:lstStyle>
          <a:p>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VLAN2</a:t>
            </a:r>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的生成树</a:t>
            </a:r>
          </a:p>
        </p:txBody>
      </p:sp>
      <p:grpSp>
        <p:nvGrpSpPr>
          <p:cNvPr id="71" name="组合 16"/>
          <p:cNvGrpSpPr/>
          <p:nvPr/>
        </p:nvGrpSpPr>
        <p:grpSpPr>
          <a:xfrm flipV="1">
            <a:off x="9853334" y="4527032"/>
            <a:ext cx="637402" cy="335362"/>
            <a:chOff x="107504" y="2348880"/>
            <a:chExt cx="2808312" cy="1944216"/>
          </a:xfrm>
        </p:grpSpPr>
        <p:cxnSp>
          <p:nvCxnSpPr>
            <p:cNvPr id="73" name="直接连接符 10"/>
            <p:cNvCxnSpPr/>
            <p:nvPr/>
          </p:nvCxnSpPr>
          <p:spPr bwMode="auto">
            <a:xfrm flipH="1">
              <a:off x="107504" y="4293096"/>
              <a:ext cx="280831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4" name="直接连接符 13"/>
            <p:cNvCxnSpPr/>
            <p:nvPr/>
          </p:nvCxnSpPr>
          <p:spPr bwMode="auto">
            <a:xfrm flipH="1" flipV="1">
              <a:off x="1511660" y="2348880"/>
              <a:ext cx="1404156" cy="1944216"/>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75" name="椭圆 74"/>
          <p:cNvSpPr>
            <a:spLocks noChangeAspect="1"/>
          </p:cNvSpPr>
          <p:nvPr/>
        </p:nvSpPr>
        <p:spPr>
          <a:xfrm>
            <a:off x="9749201" y="4430335"/>
            <a:ext cx="208265" cy="208265"/>
          </a:xfrm>
          <a:prstGeom prst="ellipse">
            <a:avLst/>
          </a:prstGeom>
          <a:solidFill>
            <a:schemeClr val="tx1"/>
          </a:solidFill>
          <a:ln w="1905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圆角矩形 75"/>
          <p:cNvSpPr/>
          <p:nvPr/>
        </p:nvSpPr>
        <p:spPr>
          <a:xfrm>
            <a:off x="9536834" y="4072342"/>
            <a:ext cx="1144402" cy="857385"/>
          </a:xfrm>
          <a:prstGeom prst="roundRect">
            <a:avLst>
              <a:gd name="adj" fmla="val 5558"/>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p:cNvSpPr txBox="1"/>
          <p:nvPr/>
        </p:nvSpPr>
        <p:spPr>
          <a:xfrm>
            <a:off x="9449879" y="4113642"/>
            <a:ext cx="1318312" cy="230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lgn="ctr"/>
          </a:lstStyle>
          <a:p>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VLAN3</a:t>
            </a:r>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的生成树</a:t>
            </a:r>
          </a:p>
        </p:txBody>
      </p:sp>
      <p:grpSp>
        <p:nvGrpSpPr>
          <p:cNvPr id="78" name="Group 3"/>
          <p:cNvGrpSpPr/>
          <p:nvPr/>
        </p:nvGrpSpPr>
        <p:grpSpPr>
          <a:xfrm>
            <a:off x="10824259" y="4503477"/>
            <a:ext cx="261965" cy="61979"/>
            <a:chOff x="559282" y="6488261"/>
            <a:chExt cx="261965" cy="61979"/>
          </a:xfrm>
          <a:solidFill>
            <a:schemeClr val="bg1">
              <a:lumMod val="50000"/>
            </a:schemeClr>
          </a:solidFill>
        </p:grpSpPr>
        <p:sp>
          <p:nvSpPr>
            <p:cNvPr id="79" name="Oval 1"/>
            <p:cNvSpPr>
              <a:spLocks noChangeAspect="1"/>
            </p:cNvSpPr>
            <p:nvPr/>
          </p:nvSpPr>
          <p:spPr>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Oval 174"/>
            <p:cNvSpPr>
              <a:spLocks noChangeAspect="1"/>
            </p:cNvSpPr>
            <p:nvPr/>
          </p:nvSpPr>
          <p:spPr>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Oval 175"/>
            <p:cNvSpPr>
              <a:spLocks noChangeAspect="1"/>
            </p:cNvSpPr>
            <p:nvPr/>
          </p:nvSpPr>
          <p:spPr>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2" name="文本框 81"/>
          <p:cNvSpPr txBox="1"/>
          <p:nvPr/>
        </p:nvSpPr>
        <p:spPr>
          <a:xfrm>
            <a:off x="6922443" y="5026871"/>
            <a:ext cx="3845748" cy="1993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lgn="ctr"/>
          </a:lstStyle>
          <a:p>
            <a:pPr algn="l"/>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不同</a:t>
            </a: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间可形成相互独立的生成树</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MSTP</a:t>
            </a:r>
            <a:r>
              <a:rPr lang="zh-CN" altLang="en-US">
                <a:sym typeface="Huawei Sans" panose="020C0503030203020204" pitchFamily="34" charset="0"/>
              </a:rPr>
              <a:t>：多生成树</a:t>
            </a:r>
          </a:p>
        </p:txBody>
      </p:sp>
      <p:sp>
        <p:nvSpPr>
          <p:cNvPr id="3" name="文本占位符 2"/>
          <p:cNvSpPr>
            <a:spLocks noGrp="1"/>
          </p:cNvSpPr>
          <p:nvPr>
            <p:ph type="body" sz="quarter" idx="10"/>
          </p:nvPr>
        </p:nvSpPr>
        <p:spPr/>
        <p:txBody>
          <a:bodyPr/>
          <a:lstStyle/>
          <a:p>
            <a:r>
              <a:rPr lang="zh-CN" altLang="en-US" sz="2000">
                <a:sym typeface="Huawei Sans" panose="020C0503030203020204" pitchFamily="34" charset="0"/>
              </a:rPr>
              <a:t>为了弥补</a:t>
            </a:r>
            <a:r>
              <a:rPr lang="en-US" altLang="zh-CN" sz="2000">
                <a:sym typeface="Huawei Sans" panose="020C0503030203020204" pitchFamily="34" charset="0"/>
              </a:rPr>
              <a:t>STP</a:t>
            </a:r>
            <a:r>
              <a:rPr lang="zh-CN" altLang="en-US" sz="2000">
                <a:sym typeface="Huawei Sans" panose="020C0503030203020204" pitchFamily="34" charset="0"/>
              </a:rPr>
              <a:t>和</a:t>
            </a:r>
            <a:r>
              <a:rPr lang="en-US" altLang="zh-CN" sz="2000">
                <a:sym typeface="Huawei Sans" panose="020C0503030203020204" pitchFamily="34" charset="0"/>
              </a:rPr>
              <a:t>RSTP</a:t>
            </a:r>
            <a:r>
              <a:rPr lang="zh-CN" altLang="en-US" sz="2000">
                <a:sym typeface="Huawei Sans" panose="020C0503030203020204" pitchFamily="34" charset="0"/>
              </a:rPr>
              <a:t>的缺陷，</a:t>
            </a:r>
            <a:r>
              <a:rPr lang="en-US" altLang="zh-CN" sz="2000">
                <a:sym typeface="Huawei Sans" panose="020C0503030203020204" pitchFamily="34" charset="0"/>
              </a:rPr>
              <a:t>IEEE</a:t>
            </a:r>
            <a:r>
              <a:rPr lang="zh-CN" altLang="en-US" sz="2000">
                <a:sym typeface="Huawei Sans" panose="020C0503030203020204" pitchFamily="34" charset="0"/>
              </a:rPr>
              <a:t>于</a:t>
            </a:r>
            <a:r>
              <a:rPr lang="en-US" altLang="zh-CN" sz="2000">
                <a:sym typeface="Huawei Sans" panose="020C0503030203020204" pitchFamily="34" charset="0"/>
              </a:rPr>
              <a:t>2002</a:t>
            </a:r>
            <a:r>
              <a:rPr lang="zh-CN" altLang="en-US" sz="2000">
                <a:sym typeface="Huawei Sans" panose="020C0503030203020204" pitchFamily="34" charset="0"/>
              </a:rPr>
              <a:t>年发布的</a:t>
            </a:r>
            <a:r>
              <a:rPr lang="en-US" altLang="zh-CN" sz="2000">
                <a:sym typeface="Huawei Sans" panose="020C0503030203020204" pitchFamily="34" charset="0"/>
              </a:rPr>
              <a:t>802.1s</a:t>
            </a:r>
            <a:r>
              <a:rPr lang="zh-CN" altLang="en-US" sz="2000">
                <a:sym typeface="Huawei Sans" panose="020C0503030203020204" pitchFamily="34" charset="0"/>
              </a:rPr>
              <a:t>标准定义了</a:t>
            </a:r>
            <a:r>
              <a:rPr lang="en-US" altLang="zh-CN" sz="2000">
                <a:sym typeface="Huawei Sans" panose="020C0503030203020204" pitchFamily="34" charset="0"/>
              </a:rPr>
              <a:t>MSTP</a:t>
            </a:r>
            <a:r>
              <a:rPr lang="zh-CN" altLang="en-US" sz="2000">
                <a:sym typeface="Huawei Sans" panose="020C0503030203020204" pitchFamily="34" charset="0"/>
              </a:rPr>
              <a:t>。</a:t>
            </a:r>
            <a:endParaRPr lang="en-US" altLang="zh-CN" sz="2000">
              <a:sym typeface="Huawei Sans" panose="020C0503030203020204" pitchFamily="34" charset="0"/>
            </a:endParaRPr>
          </a:p>
          <a:p>
            <a:r>
              <a:rPr lang="en-US" altLang="zh-CN" sz="2000">
                <a:sym typeface="Huawei Sans" panose="020C0503030203020204" pitchFamily="34" charset="0"/>
              </a:rPr>
              <a:t>MSTP</a:t>
            </a:r>
            <a:r>
              <a:rPr lang="zh-CN" altLang="en-US" sz="2000">
                <a:sym typeface="Huawei Sans" panose="020C0503030203020204" pitchFamily="34" charset="0"/>
              </a:rPr>
              <a:t>兼容</a:t>
            </a:r>
            <a:r>
              <a:rPr lang="en-US" altLang="zh-CN" sz="2000">
                <a:sym typeface="Huawei Sans" panose="020C0503030203020204" pitchFamily="34" charset="0"/>
              </a:rPr>
              <a:t>STP</a:t>
            </a:r>
            <a:r>
              <a:rPr lang="zh-CN" altLang="en-US" sz="2000">
                <a:sym typeface="Huawei Sans" panose="020C0503030203020204" pitchFamily="34" charset="0"/>
              </a:rPr>
              <a:t>和</a:t>
            </a:r>
            <a:r>
              <a:rPr lang="en-US" altLang="zh-CN" sz="2000">
                <a:sym typeface="Huawei Sans" panose="020C0503030203020204" pitchFamily="34" charset="0"/>
              </a:rPr>
              <a:t>RSTP</a:t>
            </a:r>
            <a:r>
              <a:rPr lang="zh-CN" altLang="en-US" sz="2000">
                <a:sym typeface="Huawei Sans" panose="020C0503030203020204" pitchFamily="34" charset="0"/>
              </a:rPr>
              <a:t>，既可以快速收敛，又提供了数据转发的多个冗余路径，在数据转发过程中实现</a:t>
            </a:r>
            <a:r>
              <a:rPr lang="en-US" altLang="zh-CN" sz="2000">
                <a:sym typeface="Huawei Sans" panose="020C0503030203020204" pitchFamily="34" charset="0"/>
              </a:rPr>
              <a:t>VLAN</a:t>
            </a:r>
            <a:r>
              <a:rPr lang="zh-CN" altLang="en-US" sz="2000">
                <a:sym typeface="Huawei Sans" panose="020C0503030203020204" pitchFamily="34" charset="0"/>
              </a:rPr>
              <a:t>数据的负载均衡。</a:t>
            </a:r>
          </a:p>
        </p:txBody>
      </p:sp>
      <p:grpSp>
        <p:nvGrpSpPr>
          <p:cNvPr id="4" name="组合 16"/>
          <p:cNvGrpSpPr/>
          <p:nvPr/>
        </p:nvGrpSpPr>
        <p:grpSpPr>
          <a:xfrm flipV="1">
            <a:off x="3292434" y="3212466"/>
            <a:ext cx="3293740" cy="1330959"/>
            <a:chOff x="107504" y="2348880"/>
            <a:chExt cx="2808312" cy="1944216"/>
          </a:xfrm>
        </p:grpSpPr>
        <p:cxnSp>
          <p:nvCxnSpPr>
            <p:cNvPr id="5" name="直接连接符 9"/>
            <p:cNvCxnSpPr/>
            <p:nvPr/>
          </p:nvCxnSpPr>
          <p:spPr bwMode="auto">
            <a:xfrm flipH="1">
              <a:off x="107504" y="2348880"/>
              <a:ext cx="1404156" cy="1944216"/>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6" name="直接连接符 10"/>
            <p:cNvCxnSpPr/>
            <p:nvPr/>
          </p:nvCxnSpPr>
          <p:spPr bwMode="auto">
            <a:xfrm flipH="1">
              <a:off x="107504" y="4293096"/>
              <a:ext cx="2808312" cy="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7" name="直接连接符 13"/>
            <p:cNvCxnSpPr/>
            <p:nvPr/>
          </p:nvCxnSpPr>
          <p:spPr bwMode="auto">
            <a:xfrm flipH="1" flipV="1">
              <a:off x="1511660" y="2348880"/>
              <a:ext cx="1404156" cy="1944216"/>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cxnSp>
        <p:nvCxnSpPr>
          <p:cNvPr id="8" name="Straight Connector 18"/>
          <p:cNvCxnSpPr/>
          <p:nvPr/>
        </p:nvCxnSpPr>
        <p:spPr bwMode="auto">
          <a:xfrm>
            <a:off x="3367096" y="2648218"/>
            <a:ext cx="0" cy="558812"/>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9" name="Straight Connector 20"/>
          <p:cNvCxnSpPr/>
          <p:nvPr/>
        </p:nvCxnSpPr>
        <p:spPr bwMode="auto">
          <a:xfrm>
            <a:off x="6528676" y="2648218"/>
            <a:ext cx="0" cy="558812"/>
          </a:xfrm>
          <a:prstGeom prst="line">
            <a:avLst/>
          </a:prstGeom>
          <a:solidFill>
            <a:schemeClr val="accent1"/>
          </a:solidFill>
          <a:ln w="28575" cap="flat" cmpd="sng" algn="ctr">
            <a:solidFill>
              <a:schemeClr val="tx1"/>
            </a:solidFill>
            <a:prstDash val="solid"/>
            <a:round/>
            <a:headEnd type="none" w="med" len="med"/>
            <a:tailEnd type="none" w="med" len="med"/>
          </a:ln>
          <a:effectLst/>
        </p:spPr>
      </p:cxnSp>
      <p:pic>
        <p:nvPicPr>
          <p:cNvPr id="10" name="图片 76" descr="接入交换机.png"/>
          <p:cNvPicPr>
            <a:picLocks noChangeAspect="1"/>
          </p:cNvPicPr>
          <p:nvPr/>
        </p:nvPicPr>
        <p:blipFill>
          <a:blip r:embed="rId3" cstate="print"/>
          <a:stretch>
            <a:fillRect/>
          </a:stretch>
        </p:blipFill>
        <p:spPr>
          <a:xfrm>
            <a:off x="3093090" y="2991205"/>
            <a:ext cx="534944" cy="462395"/>
          </a:xfrm>
          <a:prstGeom prst="rect">
            <a:avLst/>
          </a:prstGeom>
        </p:spPr>
      </p:pic>
      <p:pic>
        <p:nvPicPr>
          <p:cNvPr id="11" name="图片 76" descr="接入交换机.png"/>
          <p:cNvPicPr>
            <a:picLocks noChangeAspect="1"/>
          </p:cNvPicPr>
          <p:nvPr/>
        </p:nvPicPr>
        <p:blipFill>
          <a:blip r:embed="rId3" cstate="print"/>
          <a:stretch>
            <a:fillRect/>
          </a:stretch>
        </p:blipFill>
        <p:spPr>
          <a:xfrm>
            <a:off x="6280254" y="2991205"/>
            <a:ext cx="534944" cy="462395"/>
          </a:xfrm>
          <a:prstGeom prst="rect">
            <a:avLst/>
          </a:prstGeom>
        </p:spPr>
      </p:pic>
      <p:pic>
        <p:nvPicPr>
          <p:cNvPr id="12" name="图片 76" descr="接入交换机.png"/>
          <p:cNvPicPr>
            <a:picLocks noChangeAspect="1"/>
          </p:cNvPicPr>
          <p:nvPr/>
        </p:nvPicPr>
        <p:blipFill>
          <a:blip r:embed="rId3" cstate="print"/>
          <a:stretch>
            <a:fillRect/>
          </a:stretch>
        </p:blipFill>
        <p:spPr>
          <a:xfrm>
            <a:off x="4686672" y="4476223"/>
            <a:ext cx="534944" cy="462395"/>
          </a:xfrm>
          <a:prstGeom prst="rect">
            <a:avLst/>
          </a:prstGeom>
        </p:spPr>
      </p:pic>
      <p:sp>
        <p:nvSpPr>
          <p:cNvPr id="13" name="矩形 20"/>
          <p:cNvSpPr/>
          <p:nvPr/>
        </p:nvSpPr>
        <p:spPr>
          <a:xfrm>
            <a:off x="4639289" y="4964615"/>
            <a:ext cx="574196" cy="307777"/>
          </a:xfrm>
          <a:prstGeom prst="rect">
            <a:avLst/>
          </a:prstGeom>
        </p:spPr>
        <p:txBody>
          <a:bodyPr wrap="none">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矩形 21"/>
          <p:cNvSpPr/>
          <p:nvPr/>
        </p:nvSpPr>
        <p:spPr>
          <a:xfrm>
            <a:off x="2436845" y="3068514"/>
            <a:ext cx="574196" cy="307777"/>
          </a:xfrm>
          <a:prstGeom prst="rect">
            <a:avLst/>
          </a:prstGeom>
        </p:spPr>
        <p:txBody>
          <a:bodyPr wrap="none">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22"/>
          <p:cNvSpPr/>
          <p:nvPr/>
        </p:nvSpPr>
        <p:spPr>
          <a:xfrm>
            <a:off x="6811897" y="3068514"/>
            <a:ext cx="574196" cy="307777"/>
          </a:xfrm>
          <a:prstGeom prst="rect">
            <a:avLst/>
          </a:prstGeom>
        </p:spPr>
        <p:txBody>
          <a:bodyPr wrap="none">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6" name="组合 28"/>
          <p:cNvGrpSpPr/>
          <p:nvPr/>
        </p:nvGrpSpPr>
        <p:grpSpPr>
          <a:xfrm>
            <a:off x="4958374" y="4315757"/>
            <a:ext cx="297554" cy="297554"/>
            <a:chOff x="5076056" y="3356992"/>
            <a:chExt cx="436268" cy="436268"/>
          </a:xfrm>
        </p:grpSpPr>
        <p:sp>
          <p:nvSpPr>
            <p:cNvPr id="17"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00000"/>
                </a:lnSpc>
                <a:spcBef>
                  <a:spcPct val="0"/>
                </a:spcBef>
                <a:spcAft>
                  <a:spcPct val="0"/>
                </a:spcAft>
                <a:buClrTx/>
                <a:buSzTx/>
                <a:buFontTx/>
                <a:buNone/>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9" name="矩形 20"/>
          <p:cNvSpPr/>
          <p:nvPr/>
        </p:nvSpPr>
        <p:spPr>
          <a:xfrm>
            <a:off x="4109591" y="5940696"/>
            <a:ext cx="1659429"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VLAN1</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0" name="Freeform 27"/>
          <p:cNvSpPr/>
          <p:nvPr/>
        </p:nvSpPr>
        <p:spPr bwMode="auto">
          <a:xfrm>
            <a:off x="3831141" y="2671383"/>
            <a:ext cx="736600" cy="2429510"/>
          </a:xfrm>
          <a:custGeom>
            <a:avLst/>
            <a:gdLst>
              <a:gd name="connsiteX0" fmla="*/ 736600 w 736600"/>
              <a:gd name="connsiteY0" fmla="*/ 2692400 h 2692400"/>
              <a:gd name="connsiteX1" fmla="*/ 736600 w 736600"/>
              <a:gd name="connsiteY1" fmla="*/ 1562100 h 2692400"/>
              <a:gd name="connsiteX2" fmla="*/ 0 w 736600"/>
              <a:gd name="connsiteY2" fmla="*/ 977900 h 2692400"/>
              <a:gd name="connsiteX3" fmla="*/ 0 w 736600"/>
              <a:gd name="connsiteY3" fmla="*/ 0 h 2692400"/>
              <a:gd name="connsiteX0-1" fmla="*/ 736600 w 736600"/>
              <a:gd name="connsiteY0-2" fmla="*/ 2378075 h 2378075"/>
              <a:gd name="connsiteX1-3" fmla="*/ 736600 w 736600"/>
              <a:gd name="connsiteY1-4" fmla="*/ 1247775 h 2378075"/>
              <a:gd name="connsiteX2-5" fmla="*/ 0 w 736600"/>
              <a:gd name="connsiteY2-6" fmla="*/ 663575 h 2378075"/>
              <a:gd name="connsiteX3-7" fmla="*/ 1905 w 736600"/>
              <a:gd name="connsiteY3-8" fmla="*/ 0 h 2378075"/>
              <a:gd name="connsiteX0-9" fmla="*/ 736600 w 736600"/>
              <a:gd name="connsiteY0-10" fmla="*/ 2429510 h 2429510"/>
              <a:gd name="connsiteX1-11" fmla="*/ 736600 w 736600"/>
              <a:gd name="connsiteY1-12" fmla="*/ 1299210 h 2429510"/>
              <a:gd name="connsiteX2-13" fmla="*/ 0 w 736600"/>
              <a:gd name="connsiteY2-14" fmla="*/ 715010 h 2429510"/>
              <a:gd name="connsiteX3-15" fmla="*/ 1905 w 736600"/>
              <a:gd name="connsiteY3-16" fmla="*/ 0 h 2429510"/>
            </a:gdLst>
            <a:ahLst/>
            <a:cxnLst>
              <a:cxn ang="0">
                <a:pos x="connsiteX0-1" y="connsiteY0-2"/>
              </a:cxn>
              <a:cxn ang="0">
                <a:pos x="connsiteX1-3" y="connsiteY1-4"/>
              </a:cxn>
              <a:cxn ang="0">
                <a:pos x="connsiteX2-5" y="connsiteY2-6"/>
              </a:cxn>
              <a:cxn ang="0">
                <a:pos x="connsiteX3-7" y="connsiteY3-8"/>
              </a:cxn>
            </a:cxnLst>
            <a:rect l="l" t="t" r="r" b="b"/>
            <a:pathLst>
              <a:path w="736600" h="2429510">
                <a:moveTo>
                  <a:pt x="736600" y="2429510"/>
                </a:moveTo>
                <a:lnTo>
                  <a:pt x="736600" y="1299210"/>
                </a:lnTo>
                <a:lnTo>
                  <a:pt x="0" y="715010"/>
                </a:lnTo>
                <a:cubicBezTo>
                  <a:pt x="0" y="389043"/>
                  <a:pt x="1905" y="325967"/>
                  <a:pt x="1905" y="0"/>
                </a:cubicBezTo>
              </a:path>
            </a:pathLst>
          </a:custGeom>
          <a:noFill/>
          <a:ln w="28575" cap="flat" cmpd="sng" algn="ctr">
            <a:solidFill>
              <a:srgbClr val="EC7061"/>
            </a:solidFill>
            <a:prstDash val="sysDot"/>
            <a:round/>
            <a:headEnd type="triangle" w="med" len="med"/>
            <a:tailEnd type="triangle" w="med" len="med"/>
          </a:ln>
          <a:effectLst/>
        </p:spPr>
        <p:txBody>
          <a:bodyPr vert="horz" wrap="square" lIns="91440" tIns="45720" rIns="91440" bIns="45720" numCol="1" rtlCol="0" anchor="t" anchorCtr="0" compatLnSpc="1"/>
          <a:lstStyle/>
          <a:p>
            <a:pP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1" name="图片 20" descr="PC.png"/>
          <p:cNvPicPr>
            <a:picLocks noChangeAspect="1"/>
          </p:cNvPicPr>
          <p:nvPr/>
        </p:nvPicPr>
        <p:blipFill>
          <a:blip r:embed="rId4" cstate="print"/>
          <a:stretch>
            <a:fillRect/>
          </a:stretch>
        </p:blipFill>
        <p:spPr>
          <a:xfrm>
            <a:off x="4641021" y="5453306"/>
            <a:ext cx="570730" cy="438320"/>
          </a:xfrm>
          <a:prstGeom prst="rect">
            <a:avLst/>
          </a:prstGeom>
        </p:spPr>
      </p:pic>
      <p:cxnSp>
        <p:nvCxnSpPr>
          <p:cNvPr id="22" name="直接箭头连接符 21"/>
          <p:cNvCxnSpPr/>
          <p:nvPr/>
        </p:nvCxnSpPr>
        <p:spPr>
          <a:xfrm flipH="1">
            <a:off x="569879" y="5243482"/>
            <a:ext cx="565477" cy="0"/>
          </a:xfrm>
          <a:prstGeom prst="straightConnector1">
            <a:avLst/>
          </a:prstGeom>
          <a:noFill/>
          <a:ln w="28575" cap="flat" cmpd="sng" algn="ctr">
            <a:solidFill>
              <a:srgbClr val="FFD17D"/>
            </a:solidFill>
            <a:prstDash val="sysDot"/>
            <a:round/>
            <a:headEnd type="triangle" w="med" len="med"/>
            <a:tailEnd type="triangle" w="med" len="med"/>
          </a:ln>
          <a:effectLst/>
        </p:spPr>
      </p:cxnSp>
      <p:sp>
        <p:nvSpPr>
          <p:cNvPr id="23" name="矩形 20"/>
          <p:cNvSpPr/>
          <p:nvPr/>
        </p:nvSpPr>
        <p:spPr>
          <a:xfrm>
            <a:off x="1135356" y="5114568"/>
            <a:ext cx="1252266" cy="261610"/>
          </a:xfrm>
          <a:prstGeom prst="rect">
            <a:avLst/>
          </a:prstGeom>
        </p:spPr>
        <p:txBody>
          <a:bodyPr wrap="none">
            <a:spAutoFit/>
          </a:bodyPr>
          <a:lstStyle/>
          <a:p>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基数</a:t>
            </a:r>
            <a:r>
              <a:rPr lang="en-US" altLang="zh-CN" sz="110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的数据</a:t>
            </a:r>
          </a:p>
        </p:txBody>
      </p:sp>
      <p:grpSp>
        <p:nvGrpSpPr>
          <p:cNvPr id="24" name="组合 28"/>
          <p:cNvGrpSpPr/>
          <p:nvPr/>
        </p:nvGrpSpPr>
        <p:grpSpPr>
          <a:xfrm>
            <a:off x="4633517" y="4315757"/>
            <a:ext cx="297554" cy="297554"/>
            <a:chOff x="5076056" y="3356992"/>
            <a:chExt cx="436268" cy="436268"/>
          </a:xfrm>
        </p:grpSpPr>
        <p:sp>
          <p:nvSpPr>
            <p:cNvPr id="25"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00000"/>
                </a:lnSpc>
                <a:spcBef>
                  <a:spcPct val="0"/>
                </a:spcBef>
                <a:spcAft>
                  <a:spcPct val="0"/>
                </a:spcAft>
                <a:buClrTx/>
                <a:buSzTx/>
                <a:buFontTx/>
                <a:buNone/>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禁止符 23"/>
            <p:cNvSpPr/>
            <p:nvPr/>
          </p:nvSpPr>
          <p:spPr>
            <a:xfrm>
              <a:off x="5076056" y="3356992"/>
              <a:ext cx="436268" cy="436268"/>
            </a:xfrm>
            <a:prstGeom prst="noSmoking">
              <a:avLst>
                <a:gd name="adj" fmla="val 15475"/>
              </a:avLst>
            </a:prstGeom>
            <a:solidFill>
              <a:srgbClr val="FFD1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7" name="组合 28"/>
          <p:cNvGrpSpPr/>
          <p:nvPr/>
        </p:nvGrpSpPr>
        <p:grpSpPr>
          <a:xfrm>
            <a:off x="910360" y="5473410"/>
            <a:ext cx="223557" cy="223557"/>
            <a:chOff x="5076056" y="3356992"/>
            <a:chExt cx="436268" cy="436268"/>
          </a:xfrm>
        </p:grpSpPr>
        <p:sp>
          <p:nvSpPr>
            <p:cNvPr id="28"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00000"/>
                </a:lnSpc>
                <a:spcBef>
                  <a:spcPct val="0"/>
                </a:spcBef>
                <a:spcAft>
                  <a:spcPct val="0"/>
                </a:spcAft>
                <a:buClrTx/>
                <a:buSzTx/>
                <a:buFontTx/>
                <a:buNone/>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0" name="组合 28"/>
          <p:cNvGrpSpPr/>
          <p:nvPr/>
        </p:nvGrpSpPr>
        <p:grpSpPr>
          <a:xfrm>
            <a:off x="908921" y="5829999"/>
            <a:ext cx="223557" cy="223557"/>
            <a:chOff x="5076056" y="3356992"/>
            <a:chExt cx="436268" cy="436268"/>
          </a:xfrm>
        </p:grpSpPr>
        <p:sp>
          <p:nvSpPr>
            <p:cNvPr id="31"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00000"/>
                </a:lnSpc>
                <a:spcBef>
                  <a:spcPct val="0"/>
                </a:spcBef>
                <a:spcAft>
                  <a:spcPct val="0"/>
                </a:spcAft>
                <a:buClrTx/>
                <a:buSzTx/>
                <a:buFontTx/>
                <a:buNone/>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禁止符 23"/>
            <p:cNvSpPr/>
            <p:nvPr/>
          </p:nvSpPr>
          <p:spPr>
            <a:xfrm>
              <a:off x="5076056" y="3356992"/>
              <a:ext cx="436268" cy="436268"/>
            </a:xfrm>
            <a:prstGeom prst="noSmoking">
              <a:avLst>
                <a:gd name="adj" fmla="val 15475"/>
              </a:avLst>
            </a:prstGeom>
            <a:solidFill>
              <a:srgbClr val="FFD1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3" name="矩形 20"/>
          <p:cNvSpPr/>
          <p:nvPr/>
        </p:nvSpPr>
        <p:spPr>
          <a:xfrm>
            <a:off x="1135356" y="5453302"/>
            <a:ext cx="1814920" cy="261610"/>
          </a:xfrm>
          <a:prstGeom prst="rect">
            <a:avLst/>
          </a:prstGeom>
        </p:spPr>
        <p:txBody>
          <a:bodyPr wrap="none">
            <a:spAutoFit/>
          </a:bodyPr>
          <a:lstStyle/>
          <a:p>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10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的生成树阻塞的接口</a:t>
            </a:r>
          </a:p>
        </p:txBody>
      </p:sp>
      <p:sp>
        <p:nvSpPr>
          <p:cNvPr id="34" name="矩形 20"/>
          <p:cNvSpPr/>
          <p:nvPr/>
        </p:nvSpPr>
        <p:spPr>
          <a:xfrm>
            <a:off x="1135356" y="5809891"/>
            <a:ext cx="1814920" cy="261610"/>
          </a:xfrm>
          <a:prstGeom prst="rect">
            <a:avLst/>
          </a:prstGeom>
        </p:spPr>
        <p:txBody>
          <a:bodyPr wrap="none">
            <a:spAutoFit/>
          </a:bodyPr>
          <a:lstStyle/>
          <a:p>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10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的生成树阻塞的接口</a:t>
            </a:r>
          </a:p>
        </p:txBody>
      </p:sp>
      <p:sp>
        <p:nvSpPr>
          <p:cNvPr id="35" name="Freeform 27"/>
          <p:cNvSpPr/>
          <p:nvPr/>
        </p:nvSpPr>
        <p:spPr bwMode="auto">
          <a:xfrm flipH="1">
            <a:off x="5341384" y="2671383"/>
            <a:ext cx="736600" cy="2429510"/>
          </a:xfrm>
          <a:custGeom>
            <a:avLst/>
            <a:gdLst>
              <a:gd name="connsiteX0" fmla="*/ 736600 w 736600"/>
              <a:gd name="connsiteY0" fmla="*/ 2692400 h 2692400"/>
              <a:gd name="connsiteX1" fmla="*/ 736600 w 736600"/>
              <a:gd name="connsiteY1" fmla="*/ 1562100 h 2692400"/>
              <a:gd name="connsiteX2" fmla="*/ 0 w 736600"/>
              <a:gd name="connsiteY2" fmla="*/ 977900 h 2692400"/>
              <a:gd name="connsiteX3" fmla="*/ 0 w 736600"/>
              <a:gd name="connsiteY3" fmla="*/ 0 h 2692400"/>
              <a:gd name="connsiteX0-1" fmla="*/ 736600 w 736600"/>
              <a:gd name="connsiteY0-2" fmla="*/ 2378075 h 2378075"/>
              <a:gd name="connsiteX1-3" fmla="*/ 736600 w 736600"/>
              <a:gd name="connsiteY1-4" fmla="*/ 1247775 h 2378075"/>
              <a:gd name="connsiteX2-5" fmla="*/ 0 w 736600"/>
              <a:gd name="connsiteY2-6" fmla="*/ 663575 h 2378075"/>
              <a:gd name="connsiteX3-7" fmla="*/ 1905 w 736600"/>
              <a:gd name="connsiteY3-8" fmla="*/ 0 h 2378075"/>
              <a:gd name="connsiteX0-9" fmla="*/ 736600 w 736600"/>
              <a:gd name="connsiteY0-10" fmla="*/ 2429510 h 2429510"/>
              <a:gd name="connsiteX1-11" fmla="*/ 736600 w 736600"/>
              <a:gd name="connsiteY1-12" fmla="*/ 1299210 h 2429510"/>
              <a:gd name="connsiteX2-13" fmla="*/ 0 w 736600"/>
              <a:gd name="connsiteY2-14" fmla="*/ 715010 h 2429510"/>
              <a:gd name="connsiteX3-15" fmla="*/ 1905 w 736600"/>
              <a:gd name="connsiteY3-16" fmla="*/ 0 h 2429510"/>
            </a:gdLst>
            <a:ahLst/>
            <a:cxnLst>
              <a:cxn ang="0">
                <a:pos x="connsiteX0-1" y="connsiteY0-2"/>
              </a:cxn>
              <a:cxn ang="0">
                <a:pos x="connsiteX1-3" y="connsiteY1-4"/>
              </a:cxn>
              <a:cxn ang="0">
                <a:pos x="connsiteX2-5" y="connsiteY2-6"/>
              </a:cxn>
              <a:cxn ang="0">
                <a:pos x="connsiteX3-7" y="connsiteY3-8"/>
              </a:cxn>
            </a:cxnLst>
            <a:rect l="l" t="t" r="r" b="b"/>
            <a:pathLst>
              <a:path w="736600" h="2429510">
                <a:moveTo>
                  <a:pt x="736600" y="2429510"/>
                </a:moveTo>
                <a:lnTo>
                  <a:pt x="736600" y="1299210"/>
                </a:lnTo>
                <a:lnTo>
                  <a:pt x="0" y="715010"/>
                </a:lnTo>
                <a:cubicBezTo>
                  <a:pt x="0" y="389043"/>
                  <a:pt x="1905" y="325967"/>
                  <a:pt x="1905" y="0"/>
                </a:cubicBezTo>
              </a:path>
            </a:pathLst>
          </a:custGeom>
          <a:noFill/>
          <a:ln w="28575" cap="flat" cmpd="sng" algn="ctr">
            <a:solidFill>
              <a:srgbClr val="FFD17D"/>
            </a:solidFill>
            <a:prstDash val="sysDot"/>
            <a:round/>
            <a:headEnd type="triangle" w="med" len="med"/>
            <a:tailEnd type="triangle" w="med" len="med"/>
          </a:ln>
          <a:effectLst/>
        </p:spPr>
        <p:txBody>
          <a:bodyPr vert="horz" wrap="square" lIns="91440" tIns="45720" rIns="91440" bIns="45720" numCol="1" rtlCol="0" anchor="t" anchorCtr="0" compatLnSpc="1"/>
          <a:lstStyle/>
          <a:p>
            <a:pP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6" name="直接箭头连接符 35"/>
          <p:cNvCxnSpPr/>
          <p:nvPr/>
        </p:nvCxnSpPr>
        <p:spPr>
          <a:xfrm flipH="1">
            <a:off x="569879" y="4908120"/>
            <a:ext cx="565477" cy="0"/>
          </a:xfrm>
          <a:prstGeom prst="straightConnector1">
            <a:avLst/>
          </a:prstGeom>
          <a:noFill/>
          <a:ln w="28575" cap="flat" cmpd="sng" algn="ctr">
            <a:solidFill>
              <a:srgbClr val="EC7061"/>
            </a:solidFill>
            <a:prstDash val="sysDot"/>
            <a:round/>
            <a:headEnd type="triangle" w="med" len="med"/>
            <a:tailEnd type="triangle" w="med" len="med"/>
          </a:ln>
          <a:effectLst/>
        </p:spPr>
      </p:cxnSp>
      <p:sp>
        <p:nvSpPr>
          <p:cNvPr id="37" name="矩形 20"/>
          <p:cNvSpPr/>
          <p:nvPr/>
        </p:nvSpPr>
        <p:spPr>
          <a:xfrm>
            <a:off x="1135356" y="4779206"/>
            <a:ext cx="1252266" cy="261610"/>
          </a:xfrm>
          <a:prstGeom prst="rect">
            <a:avLst/>
          </a:prstGeom>
        </p:spPr>
        <p:txBody>
          <a:bodyPr wrap="none">
            <a:spAutoFit/>
          </a:bodyPr>
          <a:lstStyle/>
          <a:p>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偶数</a:t>
            </a:r>
            <a:r>
              <a:rPr lang="en-US" altLang="zh-CN" sz="110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100">
                <a:latin typeface="Huawei Sans" panose="020C0503030203020204" pitchFamily="34" charset="0"/>
                <a:ea typeface="方正兰亭黑简体" panose="02000000000000000000" pitchFamily="2" charset="-122"/>
                <a:sym typeface="Huawei Sans" panose="020C0503030203020204" pitchFamily="34" charset="0"/>
              </a:rPr>
              <a:t>的数据</a:t>
            </a:r>
          </a:p>
        </p:txBody>
      </p:sp>
      <p:grpSp>
        <p:nvGrpSpPr>
          <p:cNvPr id="38" name="组合 16"/>
          <p:cNvGrpSpPr/>
          <p:nvPr/>
        </p:nvGrpSpPr>
        <p:grpSpPr>
          <a:xfrm flipV="1">
            <a:off x="9394219" y="4155557"/>
            <a:ext cx="637402" cy="335362"/>
            <a:chOff x="107504" y="2348880"/>
            <a:chExt cx="2808312" cy="1944216"/>
          </a:xfrm>
        </p:grpSpPr>
        <p:cxnSp>
          <p:nvCxnSpPr>
            <p:cNvPr id="39" name="直接连接符 10"/>
            <p:cNvCxnSpPr/>
            <p:nvPr/>
          </p:nvCxnSpPr>
          <p:spPr bwMode="auto">
            <a:xfrm flipH="1">
              <a:off x="107504" y="4293096"/>
              <a:ext cx="280831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0" name="直接连接符 13"/>
            <p:cNvCxnSpPr/>
            <p:nvPr/>
          </p:nvCxnSpPr>
          <p:spPr bwMode="auto">
            <a:xfrm flipH="1" flipV="1">
              <a:off x="1511660" y="2348880"/>
              <a:ext cx="1404156" cy="1944216"/>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41" name="椭圆 40"/>
          <p:cNvSpPr>
            <a:spLocks noChangeAspect="1"/>
          </p:cNvSpPr>
          <p:nvPr/>
        </p:nvSpPr>
        <p:spPr>
          <a:xfrm>
            <a:off x="9290086" y="4058860"/>
            <a:ext cx="208265" cy="208265"/>
          </a:xfrm>
          <a:prstGeom prst="ellipse">
            <a:avLst/>
          </a:prstGeom>
          <a:solidFill>
            <a:schemeClr val="tx1"/>
          </a:solidFill>
          <a:ln w="1905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圆角矩形 41"/>
          <p:cNvSpPr/>
          <p:nvPr/>
        </p:nvSpPr>
        <p:spPr>
          <a:xfrm>
            <a:off x="9077719" y="3700867"/>
            <a:ext cx="1144402" cy="857385"/>
          </a:xfrm>
          <a:prstGeom prst="roundRect">
            <a:avLst>
              <a:gd name="adj" fmla="val 5558"/>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a:xfrm>
            <a:off x="8990764" y="3742167"/>
            <a:ext cx="1318312" cy="230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lgn="ctr"/>
          </a:lstStyle>
          <a:p>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的生成树</a:t>
            </a:r>
          </a:p>
        </p:txBody>
      </p:sp>
      <p:grpSp>
        <p:nvGrpSpPr>
          <p:cNvPr id="44" name="组合 16"/>
          <p:cNvGrpSpPr/>
          <p:nvPr/>
        </p:nvGrpSpPr>
        <p:grpSpPr>
          <a:xfrm flipV="1">
            <a:off x="7898099" y="4155557"/>
            <a:ext cx="637402" cy="335362"/>
            <a:chOff x="107504" y="2348880"/>
            <a:chExt cx="2808312" cy="1944216"/>
          </a:xfrm>
        </p:grpSpPr>
        <p:cxnSp>
          <p:nvCxnSpPr>
            <p:cNvPr id="45" name="直接连接符 9"/>
            <p:cNvCxnSpPr/>
            <p:nvPr/>
          </p:nvCxnSpPr>
          <p:spPr bwMode="auto">
            <a:xfrm flipH="1">
              <a:off x="107504" y="2348880"/>
              <a:ext cx="1404156" cy="194421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6" name="直接连接符 10"/>
            <p:cNvCxnSpPr/>
            <p:nvPr/>
          </p:nvCxnSpPr>
          <p:spPr bwMode="auto">
            <a:xfrm flipH="1">
              <a:off x="107504" y="4293096"/>
              <a:ext cx="280831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47" name="椭圆 46"/>
          <p:cNvSpPr>
            <a:spLocks noChangeAspect="1"/>
          </p:cNvSpPr>
          <p:nvPr/>
        </p:nvSpPr>
        <p:spPr>
          <a:xfrm>
            <a:off x="8394608" y="4058860"/>
            <a:ext cx="208265" cy="208265"/>
          </a:xfrm>
          <a:prstGeom prst="ellipse">
            <a:avLst/>
          </a:prstGeom>
          <a:solidFill>
            <a:schemeClr val="tx1"/>
          </a:solidFill>
          <a:ln w="1905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圆角矩形 47"/>
          <p:cNvSpPr/>
          <p:nvPr/>
        </p:nvSpPr>
        <p:spPr>
          <a:xfrm>
            <a:off x="7581599" y="3700867"/>
            <a:ext cx="1144402" cy="857385"/>
          </a:xfrm>
          <a:prstGeom prst="roundRect">
            <a:avLst>
              <a:gd name="adj" fmla="val 5558"/>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p:cNvSpPr txBox="1"/>
          <p:nvPr/>
        </p:nvSpPr>
        <p:spPr>
          <a:xfrm>
            <a:off x="7494644" y="3742167"/>
            <a:ext cx="1318312" cy="230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defPPr>
            <a:lvl1pPr algn="ctr"/>
          </a:lstStyle>
          <a:p>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的生成树</a:t>
            </a:r>
          </a:p>
        </p:txBody>
      </p:sp>
      <p:sp>
        <p:nvSpPr>
          <p:cNvPr id="60" name="文本框 59"/>
          <p:cNvSpPr txBox="1"/>
          <p:nvPr/>
        </p:nvSpPr>
        <p:spPr>
          <a:xfrm>
            <a:off x="6922443" y="4607771"/>
            <a:ext cx="3758794" cy="12882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defPPr>
              <a:defRPr lang="en-US"/>
            </a:defPPr>
            <a:lvl1pPr algn="ctr"/>
          </a:lstStyle>
          <a:p>
            <a:pPr marL="171450" indent="-171450" algn="l">
              <a:lnSpc>
                <a:spcPts val="2000"/>
              </a:lnSpc>
              <a:buFont typeface="Arial" panose="020B0604020202020204" pitchFamily="34" charset="0"/>
              <a:buChar char="•"/>
            </a:pP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MSTP</a:t>
            </a: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映射到一个生成树的实例，若干个</a:t>
            </a: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可共用一棵生成树。例如：</a:t>
            </a:r>
            <a:endPar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628650" lvl="1" indent="-171450">
              <a:lnSpc>
                <a:spcPts val="2000"/>
              </a:lnSpc>
              <a:buFont typeface="Arial" panose="020B0604020202020204" pitchFamily="34" charset="0"/>
              <a:buChar char="•"/>
            </a:pP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将偶数</a:t>
            </a: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映射到实例</a:t>
            </a: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p>
          <a:p>
            <a:pPr marL="628650" lvl="1" indent="-171450">
              <a:lnSpc>
                <a:spcPts val="2000"/>
              </a:lnSpc>
              <a:buFont typeface="Arial" panose="020B0604020202020204" pitchFamily="34" charset="0"/>
              <a:buChar char="•"/>
            </a:pP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将基数</a:t>
            </a: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映射到实例</a:t>
            </a: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p>
          <a:p>
            <a:pPr marL="171450" indent="-171450" algn="l">
              <a:lnSpc>
                <a:spcPts val="2000"/>
              </a:lnSpc>
              <a:buFont typeface="Arial" panose="020B0604020202020204" pitchFamily="34" charset="0"/>
              <a:buChar char="•"/>
            </a:pP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网络中将只维护</a:t>
            </a: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棵生成树。</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MSTP</a:t>
            </a:r>
            <a:r>
              <a:rPr lang="zh-CN" altLang="en-US">
                <a:sym typeface="Huawei Sans" panose="020C0503030203020204" pitchFamily="34" charset="0"/>
              </a:rPr>
              <a:t>概述</a:t>
            </a:r>
          </a:p>
        </p:txBody>
      </p:sp>
      <p:sp>
        <p:nvSpPr>
          <p:cNvPr id="3" name="文本占位符 2"/>
          <p:cNvSpPr>
            <a:spLocks noGrp="1"/>
          </p:cNvSpPr>
          <p:nvPr>
            <p:ph type="body" sz="quarter" idx="10"/>
          </p:nvPr>
        </p:nvSpPr>
        <p:spPr/>
        <p:txBody>
          <a:bodyPr/>
          <a:lstStyle/>
          <a:p>
            <a:r>
              <a:rPr lang="en-US" altLang="zh-CN">
                <a:sym typeface="Huawei Sans" panose="020C0503030203020204" pitchFamily="34" charset="0"/>
              </a:rPr>
              <a:t>MSTP</a:t>
            </a:r>
            <a:r>
              <a:rPr lang="zh-CN" altLang="en-US">
                <a:sym typeface="Huawei Sans" panose="020C0503030203020204" pitchFamily="34" charset="0"/>
              </a:rPr>
              <a:t>把一个交换网络划分成多个域，每个域内形成多棵生成树，生成树之间彼此独立。</a:t>
            </a:r>
            <a:endParaRPr lang="en-US" altLang="zh-CN">
              <a:sym typeface="Huawei Sans" panose="020C0503030203020204" pitchFamily="34" charset="0"/>
            </a:endParaRPr>
          </a:p>
          <a:p>
            <a:r>
              <a:rPr lang="zh-CN" altLang="en-US">
                <a:sym typeface="Huawei Sans" panose="020C0503030203020204" pitchFamily="34" charset="0"/>
              </a:rPr>
              <a:t>每棵生成树叫做一个多生成树实例</a:t>
            </a:r>
            <a:r>
              <a:rPr lang="en-US" altLang="zh-CN">
                <a:sym typeface="Huawei Sans" panose="020C0503030203020204" pitchFamily="34" charset="0"/>
              </a:rPr>
              <a:t>MSTI</a:t>
            </a:r>
            <a:r>
              <a:rPr lang="zh-CN" altLang="en-US">
                <a:sym typeface="Huawei Sans" panose="020C0503030203020204" pitchFamily="34" charset="0"/>
              </a:rPr>
              <a:t>（</a:t>
            </a:r>
            <a:r>
              <a:rPr lang="en-US" altLang="zh-CN">
                <a:sym typeface="Huawei Sans" panose="020C0503030203020204" pitchFamily="34" charset="0"/>
              </a:rPr>
              <a:t>Multiple Spanning Tree Instance</a:t>
            </a:r>
            <a:r>
              <a:rPr lang="zh-CN" altLang="en-US">
                <a:sym typeface="Huawei Sans" panose="020C0503030203020204" pitchFamily="34" charset="0"/>
              </a:rPr>
              <a:t>）。</a:t>
            </a:r>
          </a:p>
          <a:p>
            <a:r>
              <a:rPr lang="zh-CN" altLang="en-US">
                <a:sym typeface="Huawei Sans" panose="020C0503030203020204" pitchFamily="34" charset="0"/>
              </a:rPr>
              <a:t>所谓生成树实例就是多个</a:t>
            </a:r>
            <a:r>
              <a:rPr lang="en-US" altLang="zh-CN">
                <a:sym typeface="Huawei Sans" panose="020C0503030203020204" pitchFamily="34" charset="0"/>
              </a:rPr>
              <a:t>VLAN</a:t>
            </a:r>
            <a:r>
              <a:rPr lang="zh-CN" altLang="en-US">
                <a:sym typeface="Huawei Sans" panose="020C0503030203020204" pitchFamily="34" charset="0"/>
              </a:rPr>
              <a:t>的集合所对应的生成树。</a:t>
            </a:r>
          </a:p>
          <a:p>
            <a:r>
              <a:rPr lang="zh-CN" altLang="en-US">
                <a:sym typeface="Huawei Sans" panose="020C0503030203020204" pitchFamily="34" charset="0"/>
              </a:rPr>
              <a:t>通过将多个</a:t>
            </a:r>
            <a:r>
              <a:rPr lang="en-US" altLang="zh-CN">
                <a:sym typeface="Huawei Sans" panose="020C0503030203020204" pitchFamily="34" charset="0"/>
              </a:rPr>
              <a:t>VLAN</a:t>
            </a:r>
            <a:r>
              <a:rPr lang="zh-CN" altLang="en-US">
                <a:sym typeface="Huawei Sans" panose="020C0503030203020204" pitchFamily="34" charset="0"/>
              </a:rPr>
              <a:t>捆绑到一个实例，可以节省通信开销和资源占用率。</a:t>
            </a:r>
          </a:p>
          <a:p>
            <a:r>
              <a:rPr lang="en-US" altLang="zh-CN">
                <a:sym typeface="Huawei Sans" panose="020C0503030203020204" pitchFamily="34" charset="0"/>
              </a:rPr>
              <a:t>MSTP</a:t>
            </a:r>
            <a:r>
              <a:rPr lang="zh-CN" altLang="en-US">
                <a:sym typeface="Huawei Sans" panose="020C0503030203020204" pitchFamily="34" charset="0"/>
              </a:rPr>
              <a:t>各个实例拓扑的计算相互独立，在这些实例上可以实现负载均衡。</a:t>
            </a:r>
          </a:p>
          <a:p>
            <a:r>
              <a:rPr lang="zh-CN" altLang="en-US">
                <a:sym typeface="Huawei Sans" panose="020C0503030203020204" pitchFamily="34" charset="0"/>
              </a:rPr>
              <a:t>可以把多个相同拓扑结构的</a:t>
            </a:r>
            <a:r>
              <a:rPr lang="en-US" altLang="zh-CN">
                <a:sym typeface="Huawei Sans" panose="020C0503030203020204" pitchFamily="34" charset="0"/>
              </a:rPr>
              <a:t>VLAN</a:t>
            </a:r>
            <a:r>
              <a:rPr lang="zh-CN" altLang="en-US">
                <a:sym typeface="Huawei Sans" panose="020C0503030203020204" pitchFamily="34" charset="0"/>
              </a:rPr>
              <a:t>映射到一个实例里，这些</a:t>
            </a:r>
            <a:r>
              <a:rPr lang="en-US" altLang="zh-CN">
                <a:sym typeface="Huawei Sans" panose="020C0503030203020204" pitchFamily="34" charset="0"/>
              </a:rPr>
              <a:t>VLAN</a:t>
            </a:r>
            <a:r>
              <a:rPr lang="zh-CN" altLang="en-US">
                <a:sym typeface="Huawei Sans" panose="020C0503030203020204" pitchFamily="34" charset="0"/>
              </a:rPr>
              <a:t>在接口上的转发状态取决于接口在对应实例的状态。</a:t>
            </a:r>
            <a:endParaRPr lang="en-US" altLang="zh-CN">
              <a:sym typeface="Huawei Sans" panose="020C0503030203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ym typeface="Huawei Sans" panose="020C0503030203020204" pitchFamily="34" charset="0"/>
              </a:rPr>
              <a:t>堆叠与园区网络树形结构组网形态</a:t>
            </a:r>
            <a:endParaRPr lang="zh-CN" altLang="en-US" dirty="0">
              <a:sym typeface="Huawei Sans" panose="020C0503030203020204" pitchFamily="34" charset="0"/>
            </a:endParaRPr>
          </a:p>
        </p:txBody>
      </p:sp>
      <p:cxnSp>
        <p:nvCxnSpPr>
          <p:cNvPr id="80" name="直接连接符 79"/>
          <p:cNvCxnSpPr/>
          <p:nvPr/>
        </p:nvCxnSpPr>
        <p:spPr>
          <a:xfrm flipV="1">
            <a:off x="8770706" y="2736247"/>
            <a:ext cx="0" cy="1587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V="1">
            <a:off x="8838573" y="2736247"/>
            <a:ext cx="0" cy="15875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9" name="组合 88"/>
          <p:cNvGrpSpPr/>
          <p:nvPr/>
        </p:nvGrpSpPr>
        <p:grpSpPr>
          <a:xfrm>
            <a:off x="6567847" y="2506824"/>
            <a:ext cx="4600588" cy="1811692"/>
            <a:chOff x="6444045" y="2388746"/>
            <a:chExt cx="4812522" cy="1811692"/>
          </a:xfrm>
        </p:grpSpPr>
        <p:grpSp>
          <p:nvGrpSpPr>
            <p:cNvPr id="74" name="组合 73"/>
            <p:cNvGrpSpPr/>
            <p:nvPr/>
          </p:nvGrpSpPr>
          <p:grpSpPr>
            <a:xfrm>
              <a:off x="6562709" y="2388746"/>
              <a:ext cx="4693858" cy="1811687"/>
              <a:chOff x="6600056" y="4353447"/>
              <a:chExt cx="1296144" cy="833967"/>
            </a:xfrm>
          </p:grpSpPr>
          <p:cxnSp>
            <p:nvCxnSpPr>
              <p:cNvPr id="75" name="直接连接符 74"/>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7" name="组合 76"/>
            <p:cNvGrpSpPr/>
            <p:nvPr/>
          </p:nvGrpSpPr>
          <p:grpSpPr>
            <a:xfrm>
              <a:off x="6444045" y="2388748"/>
              <a:ext cx="4693855" cy="1811690"/>
              <a:chOff x="6600056" y="4353446"/>
              <a:chExt cx="1296143" cy="833968"/>
            </a:xfrm>
          </p:grpSpPr>
          <p:cxnSp>
            <p:nvCxnSpPr>
              <p:cNvPr id="78" name="直接连接符 77"/>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7248127" y="4353446"/>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3" name="直接连接符 12"/>
          <p:cNvCxnSpPr/>
          <p:nvPr/>
        </p:nvCxnSpPr>
        <p:spPr>
          <a:xfrm>
            <a:off x="2479406" y="2610975"/>
            <a:ext cx="1800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1167146" y="2610974"/>
            <a:ext cx="1312260" cy="17075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flipV="1">
            <a:off x="4279606" y="2610974"/>
            <a:ext cx="1312260" cy="17075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2479406" y="2632091"/>
            <a:ext cx="900100" cy="16864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3374178" y="2610974"/>
            <a:ext cx="905429" cy="17566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1167145" y="2610972"/>
            <a:ext cx="3112460" cy="170753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2479405" y="2632091"/>
            <a:ext cx="3112461" cy="17354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椭圆 83"/>
          <p:cNvSpPr/>
          <p:nvPr/>
        </p:nvSpPr>
        <p:spPr>
          <a:xfrm rot="19480217">
            <a:off x="7635072" y="3246101"/>
            <a:ext cx="165560" cy="33313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椭圆 84"/>
          <p:cNvSpPr/>
          <p:nvPr/>
        </p:nvSpPr>
        <p:spPr>
          <a:xfrm rot="16200000">
            <a:off x="8716226" y="3261780"/>
            <a:ext cx="165560" cy="33313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椭圆 85"/>
          <p:cNvSpPr/>
          <p:nvPr/>
        </p:nvSpPr>
        <p:spPr>
          <a:xfrm rot="13415531">
            <a:off x="9989091" y="3261780"/>
            <a:ext cx="165560" cy="333132"/>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圆角矩形 86"/>
          <p:cNvSpPr/>
          <p:nvPr/>
        </p:nvSpPr>
        <p:spPr>
          <a:xfrm>
            <a:off x="707318" y="1835390"/>
            <a:ext cx="5292218" cy="4473930"/>
          </a:xfrm>
          <a:prstGeom prst="roundRect">
            <a:avLst>
              <a:gd name="adj" fmla="val 1950"/>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圆角矩形 87"/>
          <p:cNvSpPr/>
          <p:nvPr/>
        </p:nvSpPr>
        <p:spPr>
          <a:xfrm>
            <a:off x="6192464" y="1835390"/>
            <a:ext cx="5292218" cy="4473930"/>
          </a:xfrm>
          <a:prstGeom prst="roundRect">
            <a:avLst>
              <a:gd name="adj" fmla="val 89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文本框 90"/>
          <p:cNvSpPr txBox="1"/>
          <p:nvPr/>
        </p:nvSpPr>
        <p:spPr>
          <a:xfrm>
            <a:off x="707318" y="1412776"/>
            <a:ext cx="5292217" cy="373577"/>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b="1">
                <a:solidFill>
                  <a:prstClr val="white"/>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ym typeface="Huawei Sans" panose="020C0503030203020204" pitchFamily="34" charset="0"/>
              </a:rPr>
              <a:t>传统</a:t>
            </a:r>
            <a:r>
              <a:rPr lang="en-US" altLang="zh-CN" dirty="0">
                <a:sym typeface="Huawei Sans" panose="020C0503030203020204" pitchFamily="34" charset="0"/>
              </a:rPr>
              <a:t>STP</a:t>
            </a:r>
            <a:r>
              <a:rPr lang="zh-CN" altLang="en-US" dirty="0">
                <a:sym typeface="Huawei Sans" panose="020C0503030203020204" pitchFamily="34" charset="0"/>
              </a:rPr>
              <a:t>组网</a:t>
            </a:r>
          </a:p>
        </p:txBody>
      </p:sp>
      <p:sp>
        <p:nvSpPr>
          <p:cNvPr id="92" name="文本框 91"/>
          <p:cNvSpPr txBox="1"/>
          <p:nvPr/>
        </p:nvSpPr>
        <p:spPr>
          <a:xfrm>
            <a:off x="6192465" y="1412776"/>
            <a:ext cx="5292217" cy="373577"/>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b="1">
                <a:solidFill>
                  <a:prstClr val="white"/>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ym typeface="Huawei Sans" panose="020C0503030203020204" pitchFamily="34" charset="0"/>
              </a:rPr>
              <a:t>交换机堆叠组网</a:t>
            </a:r>
          </a:p>
        </p:txBody>
      </p:sp>
      <p:sp>
        <p:nvSpPr>
          <p:cNvPr id="93" name="椭圆 92"/>
          <p:cNvSpPr/>
          <p:nvPr/>
        </p:nvSpPr>
        <p:spPr>
          <a:xfrm>
            <a:off x="1772476" y="2034910"/>
            <a:ext cx="3264612" cy="1080120"/>
          </a:xfrm>
          <a:prstGeom prst="ellipse">
            <a:avLst/>
          </a:prstGeom>
          <a:noFill/>
          <a:ln w="19050">
            <a:solidFill>
              <a:srgbClr val="EC706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文本框 93"/>
          <p:cNvSpPr txBox="1"/>
          <p:nvPr/>
        </p:nvSpPr>
        <p:spPr>
          <a:xfrm>
            <a:off x="4689913" y="1961849"/>
            <a:ext cx="543739" cy="307777"/>
          </a:xfrm>
          <a:prstGeom prst="rect">
            <a:avLst/>
          </a:prstGeom>
          <a:noFill/>
        </p:spPr>
        <p:txBody>
          <a:bodyPr wrap="none" rtlCol="0">
            <a:spAutoFit/>
          </a:bodyPr>
          <a:lstStyle/>
          <a:p>
            <a:pPr fontAlgn="auto">
              <a:spcBef>
                <a:spcPts val="0"/>
              </a:spcBef>
              <a:spcAft>
                <a:spcPts val="0"/>
              </a:spcAft>
            </a:pPr>
            <a:r>
              <a:rPr lang="zh-CN" altLang="en-US"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堆叠</a:t>
            </a:r>
          </a:p>
        </p:txBody>
      </p:sp>
      <p:sp>
        <p:nvSpPr>
          <p:cNvPr id="95" name="任意多边形 94"/>
          <p:cNvSpPr/>
          <p:nvPr/>
        </p:nvSpPr>
        <p:spPr>
          <a:xfrm rot="5400000">
            <a:off x="5883407" y="2149561"/>
            <a:ext cx="432053" cy="1091335"/>
          </a:xfrm>
          <a:custGeom>
            <a:avLst/>
            <a:gdLst>
              <a:gd name="connsiteX0" fmla="*/ 0 w 593766"/>
              <a:gd name="connsiteY0" fmla="*/ 1151907 h 1401289"/>
              <a:gd name="connsiteX1" fmla="*/ 356260 w 593766"/>
              <a:gd name="connsiteY1" fmla="*/ 213756 h 1401289"/>
              <a:gd name="connsiteX2" fmla="*/ 225631 w 593766"/>
              <a:gd name="connsiteY2" fmla="*/ 213756 h 1401289"/>
              <a:gd name="connsiteX3" fmla="*/ 522515 w 593766"/>
              <a:gd name="connsiteY3" fmla="*/ 0 h 1401289"/>
              <a:gd name="connsiteX4" fmla="*/ 593766 w 593766"/>
              <a:gd name="connsiteY4" fmla="*/ 320634 h 1401289"/>
              <a:gd name="connsiteX5" fmla="*/ 486889 w 593766"/>
              <a:gd name="connsiteY5" fmla="*/ 249382 h 1401289"/>
              <a:gd name="connsiteX6" fmla="*/ 273133 w 593766"/>
              <a:gd name="connsiteY6" fmla="*/ 1401289 h 1401289"/>
              <a:gd name="connsiteX0-1" fmla="*/ 0 w 638737"/>
              <a:gd name="connsiteY0-2" fmla="*/ 1256838 h 1401289"/>
              <a:gd name="connsiteX1-3" fmla="*/ 401231 w 638737"/>
              <a:gd name="connsiteY1-4" fmla="*/ 213756 h 1401289"/>
              <a:gd name="connsiteX2-5" fmla="*/ 270602 w 638737"/>
              <a:gd name="connsiteY2-6" fmla="*/ 213756 h 1401289"/>
              <a:gd name="connsiteX3-7" fmla="*/ 567486 w 638737"/>
              <a:gd name="connsiteY3-8" fmla="*/ 0 h 1401289"/>
              <a:gd name="connsiteX4-9" fmla="*/ 638737 w 638737"/>
              <a:gd name="connsiteY4-10" fmla="*/ 320634 h 1401289"/>
              <a:gd name="connsiteX5-11" fmla="*/ 531860 w 638737"/>
              <a:gd name="connsiteY5-12" fmla="*/ 249382 h 1401289"/>
              <a:gd name="connsiteX6-13" fmla="*/ 318104 w 638737"/>
              <a:gd name="connsiteY6-14" fmla="*/ 1401289 h 1401289"/>
              <a:gd name="connsiteX0-15" fmla="*/ 0 w 803629"/>
              <a:gd name="connsiteY0-16" fmla="*/ 1736523 h 1736523"/>
              <a:gd name="connsiteX1-17" fmla="*/ 566123 w 803629"/>
              <a:gd name="connsiteY1-18" fmla="*/ 213756 h 1736523"/>
              <a:gd name="connsiteX2-19" fmla="*/ 435494 w 803629"/>
              <a:gd name="connsiteY2-20" fmla="*/ 213756 h 1736523"/>
              <a:gd name="connsiteX3-21" fmla="*/ 732378 w 803629"/>
              <a:gd name="connsiteY3-22" fmla="*/ 0 h 1736523"/>
              <a:gd name="connsiteX4-23" fmla="*/ 803629 w 803629"/>
              <a:gd name="connsiteY4-24" fmla="*/ 320634 h 1736523"/>
              <a:gd name="connsiteX5-25" fmla="*/ 696752 w 803629"/>
              <a:gd name="connsiteY5-26" fmla="*/ 249382 h 1736523"/>
              <a:gd name="connsiteX6-27" fmla="*/ 482996 w 803629"/>
              <a:gd name="connsiteY6-28" fmla="*/ 1401289 h 1736523"/>
              <a:gd name="connsiteX0-29" fmla="*/ 0 w 803629"/>
              <a:gd name="connsiteY0-30" fmla="*/ 1736523 h 1736523"/>
              <a:gd name="connsiteX1-31" fmla="*/ 566123 w 803629"/>
              <a:gd name="connsiteY1-32" fmla="*/ 213756 h 1736523"/>
              <a:gd name="connsiteX2-33" fmla="*/ 435494 w 803629"/>
              <a:gd name="connsiteY2-34" fmla="*/ 213756 h 1736523"/>
              <a:gd name="connsiteX3-35" fmla="*/ 732378 w 803629"/>
              <a:gd name="connsiteY3-36" fmla="*/ 0 h 1736523"/>
              <a:gd name="connsiteX4-37" fmla="*/ 803629 w 803629"/>
              <a:gd name="connsiteY4-38" fmla="*/ 320634 h 1736523"/>
              <a:gd name="connsiteX5-39" fmla="*/ 696752 w 803629"/>
              <a:gd name="connsiteY5-40" fmla="*/ 249382 h 1736523"/>
              <a:gd name="connsiteX6-41" fmla="*/ 482996 w 803629"/>
              <a:gd name="connsiteY6-42" fmla="*/ 1401289 h 1736523"/>
              <a:gd name="connsiteX0-43" fmla="*/ 0 w 803629"/>
              <a:gd name="connsiteY0-44" fmla="*/ 1736523 h 1736523"/>
              <a:gd name="connsiteX1-45" fmla="*/ 566123 w 803629"/>
              <a:gd name="connsiteY1-46" fmla="*/ 213756 h 1736523"/>
              <a:gd name="connsiteX2-47" fmla="*/ 435494 w 803629"/>
              <a:gd name="connsiteY2-48" fmla="*/ 213756 h 1736523"/>
              <a:gd name="connsiteX3-49" fmla="*/ 732378 w 803629"/>
              <a:gd name="connsiteY3-50" fmla="*/ 0 h 1736523"/>
              <a:gd name="connsiteX4-51" fmla="*/ 803629 w 803629"/>
              <a:gd name="connsiteY4-52" fmla="*/ 320634 h 1736523"/>
              <a:gd name="connsiteX5-53" fmla="*/ 696752 w 803629"/>
              <a:gd name="connsiteY5-54" fmla="*/ 249382 h 1736523"/>
              <a:gd name="connsiteX6-55" fmla="*/ 482996 w 803629"/>
              <a:gd name="connsiteY6-56" fmla="*/ 1401289 h 1736523"/>
              <a:gd name="connsiteX0-57" fmla="*/ 0 w 803629"/>
              <a:gd name="connsiteY0-58" fmla="*/ 1736523 h 1736523"/>
              <a:gd name="connsiteX1-59" fmla="*/ 566123 w 803629"/>
              <a:gd name="connsiteY1-60" fmla="*/ 213756 h 1736523"/>
              <a:gd name="connsiteX2-61" fmla="*/ 435494 w 803629"/>
              <a:gd name="connsiteY2-62" fmla="*/ 213756 h 1736523"/>
              <a:gd name="connsiteX3-63" fmla="*/ 732378 w 803629"/>
              <a:gd name="connsiteY3-64" fmla="*/ 0 h 1736523"/>
              <a:gd name="connsiteX4-65" fmla="*/ 803629 w 803629"/>
              <a:gd name="connsiteY4-66" fmla="*/ 320634 h 1736523"/>
              <a:gd name="connsiteX5-67" fmla="*/ 696752 w 803629"/>
              <a:gd name="connsiteY5-68" fmla="*/ 249382 h 1736523"/>
              <a:gd name="connsiteX6-69" fmla="*/ 602917 w 803629"/>
              <a:gd name="connsiteY6-70" fmla="*/ 1401289 h 1736523"/>
              <a:gd name="connsiteX0-71" fmla="*/ 0 w 683708"/>
              <a:gd name="connsiteY0-72" fmla="*/ 1736523 h 1736523"/>
              <a:gd name="connsiteX1-73" fmla="*/ 446202 w 683708"/>
              <a:gd name="connsiteY1-74" fmla="*/ 213756 h 1736523"/>
              <a:gd name="connsiteX2-75" fmla="*/ 315573 w 683708"/>
              <a:gd name="connsiteY2-76" fmla="*/ 213756 h 1736523"/>
              <a:gd name="connsiteX3-77" fmla="*/ 612457 w 683708"/>
              <a:gd name="connsiteY3-78" fmla="*/ 0 h 1736523"/>
              <a:gd name="connsiteX4-79" fmla="*/ 683708 w 683708"/>
              <a:gd name="connsiteY4-80" fmla="*/ 320634 h 1736523"/>
              <a:gd name="connsiteX5-81" fmla="*/ 576831 w 683708"/>
              <a:gd name="connsiteY5-82" fmla="*/ 249382 h 1736523"/>
              <a:gd name="connsiteX6-83" fmla="*/ 482996 w 683708"/>
              <a:gd name="connsiteY6-84" fmla="*/ 1401289 h 1736523"/>
              <a:gd name="connsiteX0-85" fmla="*/ 0 w 683708"/>
              <a:gd name="connsiteY0-86" fmla="*/ 1736523 h 1736523"/>
              <a:gd name="connsiteX1-87" fmla="*/ 446202 w 683708"/>
              <a:gd name="connsiteY1-88" fmla="*/ 213756 h 1736523"/>
              <a:gd name="connsiteX2-89" fmla="*/ 315573 w 683708"/>
              <a:gd name="connsiteY2-90" fmla="*/ 213756 h 1736523"/>
              <a:gd name="connsiteX3-91" fmla="*/ 612457 w 683708"/>
              <a:gd name="connsiteY3-92" fmla="*/ 0 h 1736523"/>
              <a:gd name="connsiteX4-93" fmla="*/ 683708 w 683708"/>
              <a:gd name="connsiteY4-94" fmla="*/ 320634 h 1736523"/>
              <a:gd name="connsiteX5-95" fmla="*/ 576831 w 683708"/>
              <a:gd name="connsiteY5-96" fmla="*/ 249382 h 1736523"/>
              <a:gd name="connsiteX6-97" fmla="*/ 482996 w 683708"/>
              <a:gd name="connsiteY6-98" fmla="*/ 1401289 h 1736523"/>
              <a:gd name="connsiteX0-99" fmla="*/ 0 w 683708"/>
              <a:gd name="connsiteY0-100" fmla="*/ 1736523 h 1736523"/>
              <a:gd name="connsiteX1-101" fmla="*/ 446202 w 683708"/>
              <a:gd name="connsiteY1-102" fmla="*/ 213756 h 1736523"/>
              <a:gd name="connsiteX2-103" fmla="*/ 315573 w 683708"/>
              <a:gd name="connsiteY2-104" fmla="*/ 213756 h 1736523"/>
              <a:gd name="connsiteX3-105" fmla="*/ 612457 w 683708"/>
              <a:gd name="connsiteY3-106" fmla="*/ 0 h 1736523"/>
              <a:gd name="connsiteX4-107" fmla="*/ 683708 w 683708"/>
              <a:gd name="connsiteY4-108" fmla="*/ 320634 h 1736523"/>
              <a:gd name="connsiteX5-109" fmla="*/ 576831 w 683708"/>
              <a:gd name="connsiteY5-110" fmla="*/ 249382 h 1736523"/>
              <a:gd name="connsiteX6-111" fmla="*/ 482996 w 683708"/>
              <a:gd name="connsiteY6-112" fmla="*/ 1401289 h 1736523"/>
              <a:gd name="connsiteX0-113" fmla="*/ 0 w 683708"/>
              <a:gd name="connsiteY0-114" fmla="*/ 1736523 h 1736523"/>
              <a:gd name="connsiteX1-115" fmla="*/ 446202 w 683708"/>
              <a:gd name="connsiteY1-116" fmla="*/ 213756 h 1736523"/>
              <a:gd name="connsiteX2-117" fmla="*/ 315573 w 683708"/>
              <a:gd name="connsiteY2-118" fmla="*/ 213756 h 1736523"/>
              <a:gd name="connsiteX3-119" fmla="*/ 612457 w 683708"/>
              <a:gd name="connsiteY3-120" fmla="*/ 0 h 1736523"/>
              <a:gd name="connsiteX4-121" fmla="*/ 683708 w 683708"/>
              <a:gd name="connsiteY4-122" fmla="*/ 320634 h 1736523"/>
              <a:gd name="connsiteX5-123" fmla="*/ 576831 w 683708"/>
              <a:gd name="connsiteY5-124" fmla="*/ 249382 h 1736523"/>
              <a:gd name="connsiteX6-125" fmla="*/ 482996 w 683708"/>
              <a:gd name="connsiteY6-126" fmla="*/ 1401289 h 1736523"/>
              <a:gd name="connsiteX0-127" fmla="*/ 0 w 683708"/>
              <a:gd name="connsiteY0-128" fmla="*/ 1736523 h 1736523"/>
              <a:gd name="connsiteX1-129" fmla="*/ 446202 w 683708"/>
              <a:gd name="connsiteY1-130" fmla="*/ 213756 h 1736523"/>
              <a:gd name="connsiteX2-131" fmla="*/ 315573 w 683708"/>
              <a:gd name="connsiteY2-132" fmla="*/ 213756 h 1736523"/>
              <a:gd name="connsiteX3-133" fmla="*/ 612457 w 683708"/>
              <a:gd name="connsiteY3-134" fmla="*/ 0 h 1736523"/>
              <a:gd name="connsiteX4-135" fmla="*/ 683708 w 683708"/>
              <a:gd name="connsiteY4-136" fmla="*/ 320634 h 1736523"/>
              <a:gd name="connsiteX5-137" fmla="*/ 576831 w 683708"/>
              <a:gd name="connsiteY5-138" fmla="*/ 249382 h 1736523"/>
              <a:gd name="connsiteX6-139" fmla="*/ 482996 w 683708"/>
              <a:gd name="connsiteY6-140" fmla="*/ 1401289 h 1736523"/>
              <a:gd name="connsiteX0-141" fmla="*/ 0 w 683708"/>
              <a:gd name="connsiteY0-142" fmla="*/ 1736523 h 1736523"/>
              <a:gd name="connsiteX1-143" fmla="*/ 446202 w 683708"/>
              <a:gd name="connsiteY1-144" fmla="*/ 213756 h 1736523"/>
              <a:gd name="connsiteX2-145" fmla="*/ 315573 w 683708"/>
              <a:gd name="connsiteY2-146" fmla="*/ 213756 h 1736523"/>
              <a:gd name="connsiteX3-147" fmla="*/ 612457 w 683708"/>
              <a:gd name="connsiteY3-148" fmla="*/ 0 h 1736523"/>
              <a:gd name="connsiteX4-149" fmla="*/ 683708 w 683708"/>
              <a:gd name="connsiteY4-150" fmla="*/ 320634 h 1736523"/>
              <a:gd name="connsiteX5-151" fmla="*/ 576831 w 683708"/>
              <a:gd name="connsiteY5-152" fmla="*/ 249382 h 1736523"/>
              <a:gd name="connsiteX6-153" fmla="*/ 482996 w 683708"/>
              <a:gd name="connsiteY6-154" fmla="*/ 1401289 h 1736523"/>
              <a:gd name="connsiteX0-155" fmla="*/ 0 w 683708"/>
              <a:gd name="connsiteY0-156" fmla="*/ 1736523 h 1736523"/>
              <a:gd name="connsiteX1-157" fmla="*/ 446202 w 683708"/>
              <a:gd name="connsiteY1-158" fmla="*/ 213756 h 1736523"/>
              <a:gd name="connsiteX2-159" fmla="*/ 315573 w 683708"/>
              <a:gd name="connsiteY2-160" fmla="*/ 213756 h 1736523"/>
              <a:gd name="connsiteX3-161" fmla="*/ 612457 w 683708"/>
              <a:gd name="connsiteY3-162" fmla="*/ 0 h 1736523"/>
              <a:gd name="connsiteX4-163" fmla="*/ 683708 w 683708"/>
              <a:gd name="connsiteY4-164" fmla="*/ 320634 h 1736523"/>
              <a:gd name="connsiteX5-165" fmla="*/ 576831 w 683708"/>
              <a:gd name="connsiteY5-166" fmla="*/ 249382 h 1736523"/>
              <a:gd name="connsiteX6-167" fmla="*/ 490140 w 683708"/>
              <a:gd name="connsiteY6-168" fmla="*/ 1420339 h 1736523"/>
              <a:gd name="connsiteX0-169" fmla="*/ 0 w 683708"/>
              <a:gd name="connsiteY0-170" fmla="*/ 1736523 h 1736523"/>
              <a:gd name="connsiteX1-171" fmla="*/ 446202 w 683708"/>
              <a:gd name="connsiteY1-172" fmla="*/ 213756 h 1736523"/>
              <a:gd name="connsiteX2-173" fmla="*/ 315573 w 683708"/>
              <a:gd name="connsiteY2-174" fmla="*/ 213756 h 1736523"/>
              <a:gd name="connsiteX3-175" fmla="*/ 612457 w 683708"/>
              <a:gd name="connsiteY3-176" fmla="*/ 0 h 1736523"/>
              <a:gd name="connsiteX4-177" fmla="*/ 683708 w 683708"/>
              <a:gd name="connsiteY4-178" fmla="*/ 320634 h 1736523"/>
              <a:gd name="connsiteX5-179" fmla="*/ 576831 w 683708"/>
              <a:gd name="connsiteY5-180" fmla="*/ 249382 h 1736523"/>
              <a:gd name="connsiteX6-181" fmla="*/ 490140 w 683708"/>
              <a:gd name="connsiteY6-182" fmla="*/ 1420339 h 1736523"/>
              <a:gd name="connsiteX0-183" fmla="*/ 0 w 683708"/>
              <a:gd name="connsiteY0-184" fmla="*/ 1726998 h 1726998"/>
              <a:gd name="connsiteX1-185" fmla="*/ 446202 w 683708"/>
              <a:gd name="connsiteY1-186" fmla="*/ 204231 h 1726998"/>
              <a:gd name="connsiteX2-187" fmla="*/ 315573 w 683708"/>
              <a:gd name="connsiteY2-188" fmla="*/ 204231 h 1726998"/>
              <a:gd name="connsiteX3-189" fmla="*/ 602932 w 683708"/>
              <a:gd name="connsiteY3-190" fmla="*/ 0 h 1726998"/>
              <a:gd name="connsiteX4-191" fmla="*/ 683708 w 683708"/>
              <a:gd name="connsiteY4-192" fmla="*/ 311109 h 1726998"/>
              <a:gd name="connsiteX5-193" fmla="*/ 576831 w 683708"/>
              <a:gd name="connsiteY5-194" fmla="*/ 239857 h 1726998"/>
              <a:gd name="connsiteX6-195" fmla="*/ 490140 w 683708"/>
              <a:gd name="connsiteY6-196" fmla="*/ 1410814 h 17269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683708" h="1726998">
                <a:moveTo>
                  <a:pt x="0" y="1726998"/>
                </a:moveTo>
                <a:cubicBezTo>
                  <a:pt x="68786" y="724734"/>
                  <a:pt x="252732" y="483220"/>
                  <a:pt x="446202" y="204231"/>
                </a:cubicBezTo>
                <a:lnTo>
                  <a:pt x="315573" y="204231"/>
                </a:lnTo>
                <a:lnTo>
                  <a:pt x="602932" y="0"/>
                </a:lnTo>
                <a:lnTo>
                  <a:pt x="683708" y="311109"/>
                </a:lnTo>
                <a:lnTo>
                  <a:pt x="576831" y="239857"/>
                </a:lnTo>
                <a:cubicBezTo>
                  <a:pt x="398423" y="673832"/>
                  <a:pt x="369487" y="897399"/>
                  <a:pt x="490140" y="1410814"/>
                </a:cubicBezTo>
              </a:path>
            </a:pathLst>
          </a:custGeom>
          <a:gradFill flip="none" rotWithShape="1">
            <a:gsLst>
              <a:gs pos="14000">
                <a:schemeClr val="bg1">
                  <a:alpha val="0"/>
                </a:schemeClr>
              </a:gs>
              <a:gs pos="64000">
                <a:srgbClr val="FFCC66"/>
              </a:gs>
            </a:gsLst>
            <a:lin ang="16200000" scaled="1"/>
            <a:tileRect/>
          </a:gradFill>
          <a:ln w="12700">
            <a:gradFill flip="none" rotWithShape="1">
              <a:gsLst>
                <a:gs pos="11000">
                  <a:schemeClr val="bg1">
                    <a:alpha val="0"/>
                  </a:schemeClr>
                </a:gs>
                <a:gs pos="81000">
                  <a:srgbClr val="FF6600"/>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2" name="图片 87" descr="汇聚交换机.png"/>
          <p:cNvPicPr>
            <a:picLocks noChangeAspect="1"/>
          </p:cNvPicPr>
          <p:nvPr/>
        </p:nvPicPr>
        <p:blipFill>
          <a:blip r:embed="rId3" cstate="print"/>
          <a:stretch>
            <a:fillRect/>
          </a:stretch>
        </p:blipFill>
        <p:spPr>
          <a:xfrm>
            <a:off x="2189049" y="2351264"/>
            <a:ext cx="540000" cy="441818"/>
          </a:xfrm>
          <a:prstGeom prst="rect">
            <a:avLst/>
          </a:prstGeom>
        </p:spPr>
      </p:pic>
      <p:pic>
        <p:nvPicPr>
          <p:cNvPr id="43" name="图片 87" descr="汇聚交换机.png"/>
          <p:cNvPicPr>
            <a:picLocks noChangeAspect="1"/>
          </p:cNvPicPr>
          <p:nvPr/>
        </p:nvPicPr>
        <p:blipFill>
          <a:blip r:embed="rId3" cstate="print"/>
          <a:stretch>
            <a:fillRect/>
          </a:stretch>
        </p:blipFill>
        <p:spPr>
          <a:xfrm>
            <a:off x="4018363" y="2351264"/>
            <a:ext cx="540000" cy="441818"/>
          </a:xfrm>
          <a:prstGeom prst="rect">
            <a:avLst/>
          </a:prstGeom>
        </p:spPr>
      </p:pic>
      <p:pic>
        <p:nvPicPr>
          <p:cNvPr id="47" name="图片 76" descr="接入交换机.png"/>
          <p:cNvPicPr>
            <a:picLocks noChangeAspect="1"/>
          </p:cNvPicPr>
          <p:nvPr/>
        </p:nvPicPr>
        <p:blipFill>
          <a:blip r:embed="rId4" cstate="print"/>
          <a:stretch>
            <a:fillRect/>
          </a:stretch>
        </p:blipFill>
        <p:spPr>
          <a:xfrm>
            <a:off x="951271" y="4064810"/>
            <a:ext cx="540000" cy="441818"/>
          </a:xfrm>
          <a:prstGeom prst="rect">
            <a:avLst/>
          </a:prstGeom>
        </p:spPr>
      </p:pic>
      <p:pic>
        <p:nvPicPr>
          <p:cNvPr id="48" name="图片 76" descr="接入交换机.png"/>
          <p:cNvPicPr>
            <a:picLocks noChangeAspect="1"/>
          </p:cNvPicPr>
          <p:nvPr/>
        </p:nvPicPr>
        <p:blipFill>
          <a:blip r:embed="rId4" cstate="print"/>
          <a:stretch>
            <a:fillRect/>
          </a:stretch>
        </p:blipFill>
        <p:spPr>
          <a:xfrm>
            <a:off x="3114444" y="4064810"/>
            <a:ext cx="540000" cy="441818"/>
          </a:xfrm>
          <a:prstGeom prst="rect">
            <a:avLst/>
          </a:prstGeom>
        </p:spPr>
      </p:pic>
      <p:pic>
        <p:nvPicPr>
          <p:cNvPr id="50" name="图片 76" descr="接入交换机.png"/>
          <p:cNvPicPr>
            <a:picLocks noChangeAspect="1"/>
          </p:cNvPicPr>
          <p:nvPr/>
        </p:nvPicPr>
        <p:blipFill>
          <a:blip r:embed="rId4" cstate="print"/>
          <a:stretch>
            <a:fillRect/>
          </a:stretch>
        </p:blipFill>
        <p:spPr>
          <a:xfrm>
            <a:off x="5277617" y="4064810"/>
            <a:ext cx="540000" cy="441818"/>
          </a:xfrm>
          <a:prstGeom prst="rect">
            <a:avLst/>
          </a:prstGeom>
        </p:spPr>
      </p:pic>
      <p:pic>
        <p:nvPicPr>
          <p:cNvPr id="60" name="图片 76" descr="接入交换机.png"/>
          <p:cNvPicPr>
            <a:picLocks noChangeAspect="1"/>
          </p:cNvPicPr>
          <p:nvPr/>
        </p:nvPicPr>
        <p:blipFill>
          <a:blip r:embed="rId4" cstate="print"/>
          <a:stretch>
            <a:fillRect/>
          </a:stretch>
        </p:blipFill>
        <p:spPr>
          <a:xfrm>
            <a:off x="6382656" y="4064810"/>
            <a:ext cx="540000" cy="441818"/>
          </a:xfrm>
          <a:prstGeom prst="rect">
            <a:avLst/>
          </a:prstGeom>
        </p:spPr>
      </p:pic>
      <p:pic>
        <p:nvPicPr>
          <p:cNvPr id="61" name="图片 76" descr="接入交换机.png"/>
          <p:cNvPicPr>
            <a:picLocks noChangeAspect="1"/>
          </p:cNvPicPr>
          <p:nvPr/>
        </p:nvPicPr>
        <p:blipFill>
          <a:blip r:embed="rId4" cstate="print"/>
          <a:stretch>
            <a:fillRect/>
          </a:stretch>
        </p:blipFill>
        <p:spPr>
          <a:xfrm>
            <a:off x="8545829" y="4064810"/>
            <a:ext cx="540000" cy="441818"/>
          </a:xfrm>
          <a:prstGeom prst="rect">
            <a:avLst/>
          </a:prstGeom>
        </p:spPr>
      </p:pic>
      <p:pic>
        <p:nvPicPr>
          <p:cNvPr id="62" name="图片 76" descr="接入交换机.png"/>
          <p:cNvPicPr>
            <a:picLocks noChangeAspect="1"/>
          </p:cNvPicPr>
          <p:nvPr/>
        </p:nvPicPr>
        <p:blipFill>
          <a:blip r:embed="rId4" cstate="print"/>
          <a:stretch>
            <a:fillRect/>
          </a:stretch>
        </p:blipFill>
        <p:spPr>
          <a:xfrm>
            <a:off x="10709002" y="4064810"/>
            <a:ext cx="540000" cy="441818"/>
          </a:xfrm>
          <a:prstGeom prst="rect">
            <a:avLst/>
          </a:prstGeom>
        </p:spPr>
      </p:pic>
      <p:pic>
        <p:nvPicPr>
          <p:cNvPr id="64" name="图片 100" descr="汇聚交换机.png"/>
          <p:cNvPicPr>
            <a:picLocks noChangeAspect="1"/>
          </p:cNvPicPr>
          <p:nvPr/>
        </p:nvPicPr>
        <p:blipFill>
          <a:blip r:embed="rId5" cstate="print"/>
          <a:stretch>
            <a:fillRect/>
          </a:stretch>
        </p:blipFill>
        <p:spPr>
          <a:xfrm>
            <a:off x="8534330" y="2351264"/>
            <a:ext cx="540000" cy="441818"/>
          </a:xfrm>
          <a:prstGeom prst="rect">
            <a:avLst/>
          </a:prstGeom>
        </p:spPr>
      </p:pic>
      <p:sp>
        <p:nvSpPr>
          <p:cNvPr id="65" name="文本框 64"/>
          <p:cNvSpPr txBox="1"/>
          <p:nvPr/>
        </p:nvSpPr>
        <p:spPr>
          <a:xfrm>
            <a:off x="707318" y="4666579"/>
            <a:ext cx="5292217" cy="1200329"/>
          </a:xfrm>
          <a:prstGeom prst="rect">
            <a:avLst/>
          </a:prstGeom>
          <a:noFill/>
        </p:spPr>
        <p:txBody>
          <a:bodyPr wrap="square" rtlCol="0">
            <a:spAutoFit/>
          </a:bodyPr>
          <a:lstStyle/>
          <a:p>
            <a:pPr fontAlgn="auto">
              <a:lnSpc>
                <a:spcPct val="150000"/>
              </a:lnSpc>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两台汇聚交换机分别与接入层交换机构成了三角形的二层环路，网络中不得不部署</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，而</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将阻塞网络中的接口，造成链路带宽无法充分利用。</a:t>
            </a:r>
          </a:p>
        </p:txBody>
      </p:sp>
      <p:sp>
        <p:nvSpPr>
          <p:cNvPr id="98" name="文本框 97"/>
          <p:cNvSpPr txBox="1"/>
          <p:nvPr/>
        </p:nvSpPr>
        <p:spPr>
          <a:xfrm>
            <a:off x="1043065" y="2425247"/>
            <a:ext cx="1181734" cy="307777"/>
          </a:xfrm>
          <a:prstGeom prst="rect">
            <a:avLst/>
          </a:prstGeom>
          <a:noFill/>
        </p:spPr>
        <p:txBody>
          <a:bodyPr wrap="non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汇聚交换机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文本框 98"/>
          <p:cNvSpPr txBox="1"/>
          <p:nvPr/>
        </p:nvSpPr>
        <p:spPr>
          <a:xfrm>
            <a:off x="4523008" y="2425247"/>
            <a:ext cx="1194558" cy="307777"/>
          </a:xfrm>
          <a:prstGeom prst="rect">
            <a:avLst/>
          </a:prstGeom>
          <a:noFill/>
        </p:spPr>
        <p:txBody>
          <a:bodyPr wrap="non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汇聚交换机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文本框 99"/>
          <p:cNvSpPr txBox="1"/>
          <p:nvPr/>
        </p:nvSpPr>
        <p:spPr>
          <a:xfrm>
            <a:off x="1783116" y="4129331"/>
            <a:ext cx="1082348" cy="307777"/>
          </a:xfrm>
          <a:prstGeom prst="rect">
            <a:avLst/>
          </a:prstGeom>
          <a:noFill/>
        </p:spPr>
        <p:txBody>
          <a:bodyPr wrap="non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接入交换机</a:t>
            </a:r>
          </a:p>
        </p:txBody>
      </p:sp>
      <p:sp>
        <p:nvSpPr>
          <p:cNvPr id="101" name="文本框 100"/>
          <p:cNvSpPr txBox="1"/>
          <p:nvPr/>
        </p:nvSpPr>
        <p:spPr>
          <a:xfrm>
            <a:off x="3908218" y="4129331"/>
            <a:ext cx="1082348" cy="307777"/>
          </a:xfrm>
          <a:prstGeom prst="rect">
            <a:avLst/>
          </a:prstGeom>
          <a:noFill/>
        </p:spPr>
        <p:txBody>
          <a:bodyPr wrap="none" rtlCol="0">
            <a:spAutoFit/>
          </a:bodyPr>
          <a:lstStyle/>
          <a:p>
            <a:pPr fontAlgn="auto">
              <a:spcBef>
                <a:spcPts val="0"/>
              </a:spcBef>
              <a:spcAft>
                <a:spcPts val="0"/>
              </a:spcAft>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接入交换机</a:t>
            </a:r>
          </a:p>
        </p:txBody>
      </p:sp>
      <p:sp>
        <p:nvSpPr>
          <p:cNvPr id="102" name="文本框 101"/>
          <p:cNvSpPr txBox="1"/>
          <p:nvPr/>
        </p:nvSpPr>
        <p:spPr>
          <a:xfrm>
            <a:off x="7183550" y="4129331"/>
            <a:ext cx="1082348" cy="307777"/>
          </a:xfrm>
          <a:prstGeom prst="rect">
            <a:avLst/>
          </a:prstGeom>
          <a:noFill/>
        </p:spPr>
        <p:txBody>
          <a:bodyPr wrap="non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接入交换机</a:t>
            </a:r>
          </a:p>
        </p:txBody>
      </p:sp>
      <p:sp>
        <p:nvSpPr>
          <p:cNvPr id="103" name="文本框 102"/>
          <p:cNvSpPr txBox="1"/>
          <p:nvPr/>
        </p:nvSpPr>
        <p:spPr>
          <a:xfrm>
            <a:off x="9308652" y="4129331"/>
            <a:ext cx="1082348" cy="307777"/>
          </a:xfrm>
          <a:prstGeom prst="rect">
            <a:avLst/>
          </a:prstGeom>
          <a:noFill/>
        </p:spPr>
        <p:txBody>
          <a:bodyPr wrap="non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接入交换机</a:t>
            </a:r>
          </a:p>
        </p:txBody>
      </p:sp>
      <p:sp>
        <p:nvSpPr>
          <p:cNvPr id="104" name="文本框 103"/>
          <p:cNvSpPr txBox="1"/>
          <p:nvPr/>
        </p:nvSpPr>
        <p:spPr>
          <a:xfrm>
            <a:off x="9154762" y="1962200"/>
            <a:ext cx="2037044" cy="738664"/>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部署了堆叠后的汇聚交换机，形成逻辑意义上的单台设备</a:t>
            </a:r>
          </a:p>
        </p:txBody>
      </p:sp>
      <p:sp>
        <p:nvSpPr>
          <p:cNvPr id="105" name="文本框 104"/>
          <p:cNvSpPr txBox="1"/>
          <p:nvPr/>
        </p:nvSpPr>
        <p:spPr>
          <a:xfrm>
            <a:off x="6192463" y="4666579"/>
            <a:ext cx="5292217" cy="1569660"/>
          </a:xfrm>
          <a:prstGeom prst="rect">
            <a:avLst/>
          </a:prstGeom>
          <a:noFill/>
        </p:spPr>
        <p:txBody>
          <a:bodyPr wrap="square" rtlCol="0">
            <a:spAutoFit/>
          </a:bodyPr>
          <a:lstStyle/>
          <a:p>
            <a:pPr fontAlgn="auto">
              <a:lnSpc>
                <a:spcPct val="150000"/>
              </a:lnSpc>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汇聚交换机部署堆叠，形成逻辑意义上的单台设备，从而简化网络拓扑，此外，通过在汇聚交换机与接入交换机之间部署链路聚合，可将拓扑进一步简化为“树形结构”，消除二层环路，同时充分提高链路带宽利用率</a:t>
            </a:r>
          </a:p>
        </p:txBody>
      </p:sp>
      <p:grpSp>
        <p:nvGrpSpPr>
          <p:cNvPr id="56" name="组合 28"/>
          <p:cNvGrpSpPr>
            <a:grpSpLocks noChangeAspect="1"/>
          </p:cNvGrpSpPr>
          <p:nvPr/>
        </p:nvGrpSpPr>
        <p:grpSpPr>
          <a:xfrm>
            <a:off x="1306455" y="3965033"/>
            <a:ext cx="288969" cy="288969"/>
            <a:chOff x="5076056" y="3356992"/>
            <a:chExt cx="436268" cy="436268"/>
          </a:xfrm>
        </p:grpSpPr>
        <p:sp>
          <p:nvSpPr>
            <p:cNvPr id="57"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00000"/>
                </a:lnSpc>
                <a:spcBef>
                  <a:spcPct val="0"/>
                </a:spcBef>
                <a:spcAft>
                  <a:spcPct val="0"/>
                </a:spcAft>
                <a:buClrTx/>
                <a:buSzTx/>
                <a:buFontTx/>
                <a:buNone/>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9" name="组合 28"/>
          <p:cNvGrpSpPr>
            <a:grpSpLocks noChangeAspect="1"/>
          </p:cNvGrpSpPr>
          <p:nvPr/>
        </p:nvGrpSpPr>
        <p:grpSpPr>
          <a:xfrm>
            <a:off x="3356017" y="3934590"/>
            <a:ext cx="288969" cy="288969"/>
            <a:chOff x="5076056" y="3356992"/>
            <a:chExt cx="436268" cy="436268"/>
          </a:xfrm>
        </p:grpSpPr>
        <p:sp>
          <p:nvSpPr>
            <p:cNvPr id="63"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00000"/>
                </a:lnSpc>
                <a:spcBef>
                  <a:spcPct val="0"/>
                </a:spcBef>
                <a:spcAft>
                  <a:spcPct val="0"/>
                </a:spcAft>
                <a:buClrTx/>
                <a:buSzTx/>
                <a:buFontTx/>
                <a:buNone/>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9" name="组合 28"/>
          <p:cNvGrpSpPr>
            <a:grpSpLocks noChangeAspect="1"/>
          </p:cNvGrpSpPr>
          <p:nvPr/>
        </p:nvGrpSpPr>
        <p:grpSpPr>
          <a:xfrm>
            <a:off x="5219853" y="3876195"/>
            <a:ext cx="288969" cy="288969"/>
            <a:chOff x="5076056" y="3356992"/>
            <a:chExt cx="436268" cy="436268"/>
          </a:xfrm>
        </p:grpSpPr>
        <p:sp>
          <p:nvSpPr>
            <p:cNvPr id="70"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784225" rtl="0" eaLnBrk="0" fontAlgn="base" latinLnBrk="0" hangingPunct="0">
                <a:lnSpc>
                  <a:spcPct val="100000"/>
                </a:lnSpc>
                <a:spcBef>
                  <a:spcPct val="0"/>
                </a:spcBef>
                <a:spcAft>
                  <a:spcPct val="0"/>
                </a:spcAft>
                <a:buClrTx/>
                <a:buSzTx/>
                <a:buFontTx/>
                <a:buNone/>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9" name="Straight Connector 39"/>
          <p:cNvCxnSpPr/>
          <p:nvPr/>
        </p:nvCxnSpPr>
        <p:spPr bwMode="auto">
          <a:xfrm>
            <a:off x="2899988" y="4438291"/>
            <a:ext cx="0" cy="652417"/>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 name="标题 1"/>
          <p:cNvSpPr>
            <a:spLocks noGrp="1"/>
          </p:cNvSpPr>
          <p:nvPr>
            <p:ph type="title"/>
          </p:nvPr>
        </p:nvSpPr>
        <p:spPr/>
        <p:txBody>
          <a:bodyPr/>
          <a:lstStyle/>
          <a:p>
            <a:r>
              <a:rPr lang="en-US" altLang="zh-CN">
                <a:sym typeface="Huawei Sans" panose="020C0503030203020204" pitchFamily="34" charset="0"/>
              </a:rPr>
              <a:t>Smart Link</a:t>
            </a:r>
            <a:endParaRPr lang="zh-CN" altLang="en-US" dirty="0">
              <a:sym typeface="Huawei Sans" panose="020C0503030203020204" pitchFamily="34" charset="0"/>
            </a:endParaRPr>
          </a:p>
        </p:txBody>
      </p:sp>
      <p:sp>
        <p:nvSpPr>
          <p:cNvPr id="66" name="内容占位符 2"/>
          <p:cNvSpPr txBox="1"/>
          <p:nvPr/>
        </p:nvSpPr>
        <p:spPr>
          <a:xfrm>
            <a:off x="5649143" y="2200287"/>
            <a:ext cx="5816109" cy="2862322"/>
          </a:xfrm>
          <a:prstGeom prst="rect">
            <a:avLst/>
          </a:prstGeom>
        </p:spPr>
        <p:txBody>
          <a:bodyPr vert="horz" wrap="square" lIns="91440" tIns="45720" rIns="91440" bIns="45720" rtlCol="0">
            <a:spAutoFit/>
          </a:bodyPr>
          <a:lstStyle>
            <a:lvl1pPr marL="228600" indent="-228600" algn="l" defTabSz="914400" rtl="0" eaLnBrk="1" latinLnBrk="0" hangingPunct="1">
              <a:lnSpc>
                <a:spcPts val="24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ts val="24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ts val="24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ts val="24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ts val="24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50000"/>
              <a:buFont typeface="Wingdings" panose="05000000000000000000" pitchFamily="2" charset="2"/>
              <a:buChar char="l"/>
              <a:defRPr/>
            </a:pPr>
            <a:r>
              <a:rPr kumimoji="0" lang="en-US" altLang="zh-CN" sz="16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Smart Link</a:t>
            </a:r>
            <a:r>
              <a:rPr kumimoji="0" lang="zh-CN" altLang="en-US" sz="16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是一种为双上行组网量身定做的解决方案：</a:t>
            </a:r>
          </a:p>
          <a:p>
            <a:pPr marR="0" lvl="1" algn="l" defTabSz="914400" rtl="0" eaLnBrk="1" fontAlgn="auto" latinLnBrk="0" hangingPunct="1">
              <a:lnSpc>
                <a:spcPts val="2400"/>
              </a:lnSpc>
              <a:spcBef>
                <a:spcPts val="0"/>
              </a:spcBef>
              <a:spcAft>
                <a:spcPts val="600"/>
              </a:spcAft>
              <a:buClrTx/>
              <a:buSzTx/>
              <a:buFont typeface="Huawei Sans" panose="020C0503030203020204" pitchFamily="34" charset="0"/>
              <a:buChar char="▫"/>
              <a:defRPr/>
            </a:pPr>
            <a:r>
              <a:rPr kumimoji="0" lang="zh-CN" altLang="en-US" sz="16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在双向行的设备上部署，当网络正常时，两条上行链路中，一条处于活跃状态，而另一条则处于备份状态（不承载业务流量）。如此一来二层环路就此打破。</a:t>
            </a:r>
          </a:p>
          <a:p>
            <a:pPr marR="0" lvl="1" algn="l" defTabSz="914400" rtl="0" eaLnBrk="1" fontAlgn="auto" latinLnBrk="0" hangingPunct="1">
              <a:lnSpc>
                <a:spcPts val="2400"/>
              </a:lnSpc>
              <a:spcBef>
                <a:spcPts val="0"/>
              </a:spcBef>
              <a:spcAft>
                <a:spcPts val="600"/>
              </a:spcAft>
              <a:buClrTx/>
              <a:buSzTx/>
              <a:buFont typeface="Huawei Sans" panose="020C0503030203020204" pitchFamily="34" charset="0"/>
              <a:buChar char="▫"/>
              <a:defRPr/>
            </a:pPr>
            <a:r>
              <a:rPr kumimoji="0" lang="zh-CN" altLang="en-US" sz="16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当主用链路发生故障后，流量会在毫秒级的时间内迅速切换到备用链路上，保证了数据的正常转发。</a:t>
            </a:r>
          </a:p>
          <a:p>
            <a:pPr marR="0" lvl="1" algn="l" defTabSz="914400" rtl="0" eaLnBrk="1" fontAlgn="auto" latinLnBrk="0" hangingPunct="1">
              <a:lnSpc>
                <a:spcPts val="2400"/>
              </a:lnSpc>
              <a:spcBef>
                <a:spcPts val="0"/>
              </a:spcBef>
              <a:spcAft>
                <a:spcPts val="600"/>
              </a:spcAft>
              <a:buClrTx/>
              <a:buSzTx/>
              <a:buFont typeface="Huawei Sans" panose="020C0503030203020204" pitchFamily="34" charset="0"/>
              <a:buChar char="▫"/>
              <a:defRPr/>
            </a:pPr>
            <a:r>
              <a:rPr kumimoji="0" lang="en-US" altLang="zh-CN" sz="16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Smart Link</a:t>
            </a:r>
            <a:r>
              <a:rPr kumimoji="0" lang="zh-CN" altLang="en-US" sz="16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配置简单，便于用户操作。</a:t>
            </a:r>
          </a:p>
          <a:p>
            <a:pPr marR="0" lvl="1" algn="l" defTabSz="914400" rtl="0" eaLnBrk="1" fontAlgn="auto" latinLnBrk="0" hangingPunct="1">
              <a:lnSpc>
                <a:spcPts val="2400"/>
              </a:lnSpc>
              <a:spcBef>
                <a:spcPts val="0"/>
              </a:spcBef>
              <a:spcAft>
                <a:spcPts val="600"/>
              </a:spcAft>
              <a:buClrTx/>
              <a:buSzTx/>
              <a:buFont typeface="Huawei Sans" panose="020C0503030203020204" pitchFamily="34" charset="0"/>
              <a:buChar char="▫"/>
              <a:defRPr/>
            </a:pPr>
            <a:r>
              <a:rPr kumimoji="0" lang="zh-CN" altLang="en-US" sz="1600" b="0" i="0" u="none" strike="noStrike" kern="1200" cap="none" spc="0" normalizeH="0" baseline="0" noProof="0" dirty="0">
                <a:ln>
                  <a:noFill/>
                </a:ln>
                <a:solidFill>
                  <a:sysClr val="windowText" lastClr="0000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无需协议报文交互，收敛速度及可靠性大大提升。</a:t>
            </a:r>
          </a:p>
        </p:txBody>
      </p:sp>
      <p:grpSp>
        <p:nvGrpSpPr>
          <p:cNvPr id="248" name="Group 34"/>
          <p:cNvGrpSpPr/>
          <p:nvPr/>
        </p:nvGrpSpPr>
        <p:grpSpPr>
          <a:xfrm>
            <a:off x="1509974" y="3119737"/>
            <a:ext cx="2832027" cy="1244363"/>
            <a:chOff x="3491880" y="3112525"/>
            <a:chExt cx="2520280" cy="1416564"/>
          </a:xfrm>
        </p:grpSpPr>
        <p:cxnSp>
          <p:nvCxnSpPr>
            <p:cNvPr id="249" name="直接连接符 487"/>
            <p:cNvCxnSpPr/>
            <p:nvPr/>
          </p:nvCxnSpPr>
          <p:spPr bwMode="auto">
            <a:xfrm>
              <a:off x="3491880" y="3112525"/>
              <a:ext cx="1260140" cy="141656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50" name="直接连接符 487"/>
            <p:cNvCxnSpPr/>
            <p:nvPr/>
          </p:nvCxnSpPr>
          <p:spPr bwMode="auto">
            <a:xfrm flipH="1">
              <a:off x="4752020" y="3112525"/>
              <a:ext cx="1260140" cy="1416564"/>
            </a:xfrm>
            <a:prstGeom prst="line">
              <a:avLst/>
            </a:prstGeom>
            <a:solidFill>
              <a:schemeClr val="accent1"/>
            </a:solidFill>
            <a:ln w="19050" cap="flat" cmpd="sng" algn="ctr">
              <a:solidFill>
                <a:schemeClr val="tx1"/>
              </a:solidFill>
              <a:prstDash val="sysDash"/>
              <a:round/>
              <a:headEnd type="none" w="med" len="med"/>
              <a:tailEnd type="none" w="med" len="med"/>
            </a:ln>
            <a:effectLst/>
          </p:spPr>
        </p:cxnSp>
      </p:grpSp>
      <p:cxnSp>
        <p:nvCxnSpPr>
          <p:cNvPr id="252" name="Straight Connector 38"/>
          <p:cNvCxnSpPr/>
          <p:nvPr/>
        </p:nvCxnSpPr>
        <p:spPr bwMode="auto">
          <a:xfrm>
            <a:off x="1421621" y="1933430"/>
            <a:ext cx="0" cy="115579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53" name="Straight Connector 39"/>
          <p:cNvCxnSpPr/>
          <p:nvPr/>
        </p:nvCxnSpPr>
        <p:spPr bwMode="auto">
          <a:xfrm>
            <a:off x="4431575" y="1933430"/>
            <a:ext cx="0" cy="1155797"/>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54" name="TextBox 40"/>
          <p:cNvSpPr txBox="1"/>
          <p:nvPr/>
        </p:nvSpPr>
        <p:spPr>
          <a:xfrm>
            <a:off x="2066545" y="4594821"/>
            <a:ext cx="574196"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55" name="Straight Connector 41"/>
          <p:cNvCxnSpPr/>
          <p:nvPr/>
        </p:nvCxnSpPr>
        <p:spPr bwMode="auto">
          <a:xfrm flipH="1">
            <a:off x="1400324" y="1966564"/>
            <a:ext cx="3078741" cy="0"/>
          </a:xfrm>
          <a:prstGeom prst="line">
            <a:avLst/>
          </a:prstGeom>
          <a:solidFill>
            <a:schemeClr val="accent1"/>
          </a:solidFill>
          <a:ln w="19050" cap="flat" cmpd="sng" algn="ctr">
            <a:solidFill>
              <a:schemeClr val="tx1"/>
            </a:solidFill>
            <a:prstDash val="sysDot"/>
            <a:round/>
            <a:headEnd type="none" w="med" len="med"/>
            <a:tailEnd type="none" w="med" len="med"/>
          </a:ln>
          <a:effectLst/>
        </p:spPr>
      </p:cxnSp>
      <p:sp>
        <p:nvSpPr>
          <p:cNvPr id="256" name="TextBox 42"/>
          <p:cNvSpPr txBox="1"/>
          <p:nvPr/>
        </p:nvSpPr>
        <p:spPr>
          <a:xfrm>
            <a:off x="549149" y="1812676"/>
            <a:ext cx="617478" cy="338554"/>
          </a:xfrm>
          <a:prstGeom prst="rect">
            <a:avLst/>
          </a:prstGeom>
          <a:noFill/>
        </p:spPr>
        <p:txBody>
          <a:bodyPr wrap="none" rtlCol="0">
            <a:spAutoFit/>
          </a:bodyPr>
          <a:lstStyle/>
          <a:p>
            <a:pPr algn="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FW1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7" name="TextBox 43"/>
          <p:cNvSpPr txBox="1"/>
          <p:nvPr/>
        </p:nvSpPr>
        <p:spPr>
          <a:xfrm>
            <a:off x="4689833" y="1812676"/>
            <a:ext cx="617477"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FW2</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12" name="Straight Connector 221"/>
          <p:cNvCxnSpPr/>
          <p:nvPr/>
        </p:nvCxnSpPr>
        <p:spPr bwMode="auto">
          <a:xfrm flipH="1">
            <a:off x="1413154" y="3089590"/>
            <a:ext cx="301842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413" name="TextBox 222"/>
          <p:cNvSpPr txBox="1"/>
          <p:nvPr/>
        </p:nvSpPr>
        <p:spPr>
          <a:xfrm>
            <a:off x="537929" y="2935702"/>
            <a:ext cx="628698" cy="338554"/>
          </a:xfrm>
          <a:prstGeom prst="rect">
            <a:avLst/>
          </a:prstGeom>
          <a:noFill/>
        </p:spPr>
        <p:txBody>
          <a:bodyPr wrap="none" rtlCol="0">
            <a:spAutoFit/>
          </a:bodyPr>
          <a:lstStyle/>
          <a:p>
            <a:pPr algn="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4" name="TextBox 223"/>
          <p:cNvSpPr txBox="1"/>
          <p:nvPr/>
        </p:nvSpPr>
        <p:spPr>
          <a:xfrm>
            <a:off x="4689833" y="2935702"/>
            <a:ext cx="628698" cy="338554"/>
          </a:xfrm>
          <a:prstGeom prst="rect">
            <a:avLst/>
          </a:prstGeom>
          <a:noFill/>
        </p:spPr>
        <p:txBody>
          <a:bodyPr wrap="none" rtlCol="0">
            <a:spAutoFit/>
          </a:bodyPr>
          <a:lstStyle/>
          <a:p>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6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7" name="矩形 46"/>
          <p:cNvSpPr/>
          <p:nvPr/>
        </p:nvSpPr>
        <p:spPr>
          <a:xfrm>
            <a:off x="2512092" y="3190387"/>
            <a:ext cx="862737" cy="323165"/>
          </a:xfrm>
          <a:prstGeom prst="rect">
            <a:avLst/>
          </a:prstGeom>
        </p:spPr>
        <p:txBody>
          <a:bodyPr wrap="none">
            <a:spAutoFit/>
          </a:bodyPr>
          <a:lstStyle/>
          <a:p>
            <a:pPr algn="ctr"/>
            <a:r>
              <a:rPr lang="en-US" altLang="zh-CN" sz="15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NO STP</a:t>
            </a:r>
          </a:p>
        </p:txBody>
      </p:sp>
      <p:sp>
        <p:nvSpPr>
          <p:cNvPr id="418" name="Oval 227"/>
          <p:cNvSpPr/>
          <p:nvPr/>
        </p:nvSpPr>
        <p:spPr>
          <a:xfrm>
            <a:off x="1780404" y="3613064"/>
            <a:ext cx="2326112" cy="218185"/>
          </a:xfrm>
          <a:prstGeom prst="ellipse">
            <a:avLst/>
          </a:prstGeom>
          <a:noFill/>
          <a:ln w="1905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0" name="矩形 46"/>
          <p:cNvSpPr/>
          <p:nvPr/>
        </p:nvSpPr>
        <p:spPr>
          <a:xfrm>
            <a:off x="1362757" y="3941207"/>
            <a:ext cx="1215397" cy="553998"/>
          </a:xfrm>
          <a:prstGeom prst="rect">
            <a:avLst/>
          </a:prstGeom>
        </p:spPr>
        <p:txBody>
          <a:bodyPr wrap="none">
            <a:spAutoFit/>
          </a:bodyPr>
          <a:lstStyle/>
          <a:p>
            <a:pPr algn="r"/>
            <a:r>
              <a:rPr lang="en-US" altLang="zh-CN" sz="15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Port1</a:t>
            </a:r>
          </a:p>
          <a:p>
            <a:pPr algn="r"/>
            <a:r>
              <a:rPr lang="en-US" altLang="zh-CN" sz="15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Master Port</a:t>
            </a:r>
          </a:p>
        </p:txBody>
      </p:sp>
      <p:sp>
        <p:nvSpPr>
          <p:cNvPr id="421" name="矩形 46"/>
          <p:cNvSpPr/>
          <p:nvPr/>
        </p:nvSpPr>
        <p:spPr>
          <a:xfrm>
            <a:off x="3261149" y="3941207"/>
            <a:ext cx="1072730" cy="553998"/>
          </a:xfrm>
          <a:prstGeom prst="rect">
            <a:avLst/>
          </a:prstGeom>
        </p:spPr>
        <p:txBody>
          <a:bodyPr wrap="none">
            <a:spAutoFit/>
          </a:bodyPr>
          <a:lstStyle/>
          <a:p>
            <a:r>
              <a:rPr lang="en-US" altLang="zh-CN" sz="15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Port2</a:t>
            </a:r>
          </a:p>
          <a:p>
            <a:r>
              <a:rPr lang="en-US" altLang="zh-CN" sz="15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Slave Port</a:t>
            </a:r>
          </a:p>
        </p:txBody>
      </p:sp>
      <p:sp>
        <p:nvSpPr>
          <p:cNvPr id="422" name="矩形 46"/>
          <p:cNvSpPr/>
          <p:nvPr/>
        </p:nvSpPr>
        <p:spPr>
          <a:xfrm>
            <a:off x="1105136" y="5924309"/>
            <a:ext cx="1422184"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Smart Link Group</a:t>
            </a:r>
          </a:p>
        </p:txBody>
      </p:sp>
      <p:sp>
        <p:nvSpPr>
          <p:cNvPr id="423" name="Oval 230"/>
          <p:cNvSpPr/>
          <p:nvPr/>
        </p:nvSpPr>
        <p:spPr>
          <a:xfrm>
            <a:off x="778627" y="6007062"/>
            <a:ext cx="331199" cy="111492"/>
          </a:xfrm>
          <a:prstGeom prst="ellipse">
            <a:avLst/>
          </a:prstGeom>
          <a:noFill/>
          <a:ln w="1905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4" name="Oval 235"/>
          <p:cNvSpPr>
            <a:spLocks noChangeAspect="1"/>
          </p:cNvSpPr>
          <p:nvPr/>
        </p:nvSpPr>
        <p:spPr>
          <a:xfrm>
            <a:off x="3990454" y="5999845"/>
            <a:ext cx="125926" cy="125926"/>
          </a:xfrm>
          <a:prstGeom prst="ellipse">
            <a:avLst/>
          </a:prstGeom>
          <a:solidFill>
            <a:srgbClr val="EC7061"/>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5" name="矩形 46"/>
          <p:cNvSpPr/>
          <p:nvPr/>
        </p:nvSpPr>
        <p:spPr>
          <a:xfrm>
            <a:off x="4161575" y="5924309"/>
            <a:ext cx="1082348"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Active Status</a:t>
            </a:r>
          </a:p>
        </p:txBody>
      </p:sp>
      <p:pic>
        <p:nvPicPr>
          <p:cNvPr id="43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8418" y="1745655"/>
            <a:ext cx="540000" cy="441818"/>
          </a:xfrm>
          <a:prstGeom prst="rect">
            <a:avLst/>
          </a:prstGeom>
        </p:spPr>
      </p:pic>
      <p:pic>
        <p:nvPicPr>
          <p:cNvPr id="431"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61575" y="1745655"/>
            <a:ext cx="540000" cy="441818"/>
          </a:xfrm>
          <a:prstGeom prst="rect">
            <a:avLst/>
          </a:prstGeom>
        </p:spPr>
      </p:pic>
      <p:pic>
        <p:nvPicPr>
          <p:cNvPr id="432" name="图片 86" descr="核心交换机.png"/>
          <p:cNvPicPr>
            <a:picLocks noChangeAspect="1"/>
          </p:cNvPicPr>
          <p:nvPr/>
        </p:nvPicPr>
        <p:blipFill>
          <a:blip r:embed="rId4" cstate="print"/>
          <a:stretch>
            <a:fillRect/>
          </a:stretch>
        </p:blipFill>
        <p:spPr>
          <a:xfrm>
            <a:off x="1166627" y="2868681"/>
            <a:ext cx="540000" cy="441818"/>
          </a:xfrm>
          <a:prstGeom prst="rect">
            <a:avLst/>
          </a:prstGeom>
        </p:spPr>
      </p:pic>
      <p:pic>
        <p:nvPicPr>
          <p:cNvPr id="433" name="图片 86" descr="核心交换机.png"/>
          <p:cNvPicPr>
            <a:picLocks noChangeAspect="1"/>
          </p:cNvPicPr>
          <p:nvPr/>
        </p:nvPicPr>
        <p:blipFill>
          <a:blip r:embed="rId4" cstate="print"/>
          <a:stretch>
            <a:fillRect/>
          </a:stretch>
        </p:blipFill>
        <p:spPr>
          <a:xfrm>
            <a:off x="4161575" y="2868681"/>
            <a:ext cx="540000" cy="441818"/>
          </a:xfrm>
          <a:prstGeom prst="rect">
            <a:avLst/>
          </a:prstGeom>
        </p:spPr>
      </p:pic>
      <p:pic>
        <p:nvPicPr>
          <p:cNvPr id="434" name="图片 76" descr="接入交换机.png"/>
          <p:cNvPicPr>
            <a:picLocks noChangeAspect="1"/>
          </p:cNvPicPr>
          <p:nvPr/>
        </p:nvPicPr>
        <p:blipFill>
          <a:blip r:embed="rId5" cstate="print"/>
          <a:stretch>
            <a:fillRect/>
          </a:stretch>
        </p:blipFill>
        <p:spPr>
          <a:xfrm>
            <a:off x="2629988" y="4187428"/>
            <a:ext cx="540000" cy="441818"/>
          </a:xfrm>
          <a:prstGeom prst="rect">
            <a:avLst/>
          </a:prstGeom>
        </p:spPr>
      </p:pic>
      <p:pic>
        <p:nvPicPr>
          <p:cNvPr id="435" name="图片 11" descr="开放网络-蓝.png"/>
          <p:cNvPicPr>
            <a:picLocks noChangeAspect="1"/>
          </p:cNvPicPr>
          <p:nvPr/>
        </p:nvPicPr>
        <p:blipFill>
          <a:blip r:embed="rId6" cstate="print"/>
          <a:stretch>
            <a:fillRect/>
          </a:stretch>
        </p:blipFill>
        <p:spPr>
          <a:xfrm>
            <a:off x="2630381" y="5042234"/>
            <a:ext cx="539607" cy="415381"/>
          </a:xfrm>
          <a:prstGeom prst="rect">
            <a:avLst/>
          </a:prstGeom>
        </p:spPr>
      </p:pic>
      <p:sp>
        <p:nvSpPr>
          <p:cNvPr id="440" name="Oval 233"/>
          <p:cNvSpPr>
            <a:spLocks noChangeAspect="1"/>
          </p:cNvSpPr>
          <p:nvPr/>
        </p:nvSpPr>
        <p:spPr>
          <a:xfrm>
            <a:off x="2603707" y="4087812"/>
            <a:ext cx="223087" cy="223087"/>
          </a:xfrm>
          <a:prstGeom prst="ellipse">
            <a:avLst/>
          </a:prstGeom>
          <a:solidFill>
            <a:srgbClr val="EC7061"/>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ym typeface="Huawei Sans" panose="020C0503030203020204" pitchFamily="34" charset="0"/>
              </a:rPr>
              <a:t>（单选）以下关于</a:t>
            </a:r>
            <a:r>
              <a:rPr lang="en-US" altLang="zh-CN">
                <a:sym typeface="Huawei Sans" panose="020C0503030203020204" pitchFamily="34" charset="0"/>
              </a:rPr>
              <a:t>STP</a:t>
            </a:r>
            <a:r>
              <a:rPr lang="zh-CN" altLang="en-US">
                <a:sym typeface="Huawei Sans" panose="020C0503030203020204" pitchFamily="34" charset="0"/>
              </a:rPr>
              <a:t>接口状态的说法，错误的是（  ）。</a:t>
            </a:r>
          </a:p>
          <a:p>
            <a:pPr lvl="1">
              <a:buFont typeface="+mj-lt"/>
              <a:buAutoNum type="alphaUcPeriod"/>
            </a:pPr>
            <a:r>
              <a:rPr lang="zh-CN" altLang="en-US">
                <a:sym typeface="Huawei Sans" panose="020C0503030203020204" pitchFamily="34" charset="0"/>
              </a:rPr>
              <a:t>被阻塞的接口不会侦听，也不发送</a:t>
            </a:r>
            <a:r>
              <a:rPr lang="en-US" altLang="zh-CN">
                <a:sym typeface="Huawei Sans" panose="020C0503030203020204" pitchFamily="34" charset="0"/>
              </a:rPr>
              <a:t>BPDU</a:t>
            </a:r>
            <a:r>
              <a:rPr lang="zh-CN" altLang="en-US">
                <a:sym typeface="Huawei Sans" panose="020C0503030203020204" pitchFamily="34" charset="0"/>
              </a:rPr>
              <a:t>。</a:t>
            </a:r>
          </a:p>
          <a:p>
            <a:pPr lvl="1">
              <a:buFont typeface="+mj-lt"/>
              <a:buAutoNum type="alphaUcPeriod"/>
            </a:pPr>
            <a:r>
              <a:rPr lang="zh-CN" altLang="en-US">
                <a:sym typeface="Huawei Sans" panose="020C0503030203020204" pitchFamily="34" charset="0"/>
              </a:rPr>
              <a:t>处于</a:t>
            </a:r>
            <a:r>
              <a:rPr lang="en-US" altLang="zh-CN">
                <a:sym typeface="Huawei Sans" panose="020C0503030203020204" pitchFamily="34" charset="0"/>
              </a:rPr>
              <a:t>Learning</a:t>
            </a:r>
            <a:r>
              <a:rPr lang="zh-CN" altLang="en-US">
                <a:sym typeface="Huawei Sans" panose="020C0503030203020204" pitchFamily="34" charset="0"/>
              </a:rPr>
              <a:t>状态的接口会学习</a:t>
            </a:r>
            <a:r>
              <a:rPr lang="en-US" altLang="zh-CN">
                <a:sym typeface="Huawei Sans" panose="020C0503030203020204" pitchFamily="34" charset="0"/>
              </a:rPr>
              <a:t>MAC</a:t>
            </a:r>
            <a:r>
              <a:rPr lang="zh-CN" altLang="en-US">
                <a:sym typeface="Huawei Sans" panose="020C0503030203020204" pitchFamily="34" charset="0"/>
              </a:rPr>
              <a:t>地址，但是不会转发数据。</a:t>
            </a:r>
          </a:p>
          <a:p>
            <a:pPr lvl="1">
              <a:buFont typeface="+mj-lt"/>
              <a:buAutoNum type="alphaUcPeriod"/>
            </a:pPr>
            <a:r>
              <a:rPr lang="zh-CN" altLang="en-US">
                <a:sym typeface="Huawei Sans" panose="020C0503030203020204" pitchFamily="34" charset="0"/>
              </a:rPr>
              <a:t>处于</a:t>
            </a:r>
            <a:r>
              <a:rPr lang="en-US" altLang="zh-CN">
                <a:sym typeface="Huawei Sans" panose="020C0503030203020204" pitchFamily="34" charset="0"/>
              </a:rPr>
              <a:t>Listening</a:t>
            </a:r>
            <a:r>
              <a:rPr lang="zh-CN" altLang="en-US">
                <a:sym typeface="Huawei Sans" panose="020C0503030203020204" pitchFamily="34" charset="0"/>
              </a:rPr>
              <a:t>状态的接口会持续侦听</a:t>
            </a:r>
            <a:r>
              <a:rPr lang="en-US" altLang="zh-CN">
                <a:sym typeface="Huawei Sans" panose="020C0503030203020204" pitchFamily="34" charset="0"/>
              </a:rPr>
              <a:t>BPDU</a:t>
            </a:r>
            <a:r>
              <a:rPr lang="zh-CN" altLang="en-US">
                <a:sym typeface="Huawei Sans" panose="020C0503030203020204" pitchFamily="34" charset="0"/>
              </a:rPr>
              <a:t>。</a:t>
            </a:r>
          </a:p>
          <a:p>
            <a:pPr lvl="1">
              <a:buFont typeface="+mj-lt"/>
              <a:buAutoNum type="alphaUcPeriod"/>
            </a:pPr>
            <a:r>
              <a:rPr lang="zh-CN" altLang="en-US">
                <a:sym typeface="Huawei Sans" panose="020C0503030203020204" pitchFamily="34" charset="0"/>
              </a:rPr>
              <a:t>被阻塞的接口如果一定时间内收不到</a:t>
            </a:r>
            <a:r>
              <a:rPr lang="en-US" altLang="zh-CN">
                <a:sym typeface="Huawei Sans" panose="020C0503030203020204" pitchFamily="34" charset="0"/>
              </a:rPr>
              <a:t>BPDU</a:t>
            </a:r>
            <a:r>
              <a:rPr lang="zh-CN" altLang="en-US">
                <a:sym typeface="Huawei Sans" panose="020C0503030203020204" pitchFamily="34" charset="0"/>
              </a:rPr>
              <a:t>，则会自动切换到</a:t>
            </a:r>
            <a:r>
              <a:rPr lang="en-US" altLang="zh-CN">
                <a:sym typeface="Huawei Sans" panose="020C0503030203020204" pitchFamily="34" charset="0"/>
              </a:rPr>
              <a:t>Listening</a:t>
            </a:r>
            <a:r>
              <a:rPr lang="zh-CN" altLang="en-US">
                <a:sym typeface="Huawei Sans" panose="020C0503030203020204" pitchFamily="34" charset="0"/>
              </a:rPr>
              <a:t>状态。</a:t>
            </a:r>
            <a:endParaRPr lang="zh-CN" altLang="en-US" dirty="0">
              <a:sym typeface="Huawei Sans" panose="020C050303020302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2000">
                <a:sym typeface="Huawei Sans" panose="020C0503030203020204" pitchFamily="34" charset="0"/>
              </a:rPr>
              <a:t>生成树是一个用于局域网中消除环路的协议。运行该协议的设备通过彼此交互信息而发现网络中的环路，并对某些接口进行阻塞以消除环路。由于局域网规模的不断增长，生成树协议已经成为了当前最重要的局域网协议之一。</a:t>
            </a:r>
          </a:p>
          <a:p>
            <a:r>
              <a:rPr lang="zh-CN" altLang="en-US" sz="2000">
                <a:sym typeface="Huawei Sans" panose="020C0503030203020204" pitchFamily="34" charset="0"/>
              </a:rPr>
              <a:t>在以太网交换网中部署生成树协议后，如果网络中出现环路，生成树协议通过拓扑计算，可实现：</a:t>
            </a:r>
          </a:p>
          <a:p>
            <a:pPr lvl="1"/>
            <a:r>
              <a:rPr lang="zh-CN" altLang="en-US" sz="1800">
                <a:sym typeface="Huawei Sans" panose="020C0503030203020204" pitchFamily="34" charset="0"/>
              </a:rPr>
              <a:t>消除环路：通过阻塞冗余链路消除网络中可能存在的网络通信环路。</a:t>
            </a:r>
          </a:p>
          <a:p>
            <a:pPr lvl="1"/>
            <a:r>
              <a:rPr lang="zh-CN" altLang="en-US" sz="1800">
                <a:sym typeface="Huawei Sans" panose="020C0503030203020204" pitchFamily="34" charset="0"/>
              </a:rPr>
              <a:t>链路备份：当前活动的路径发生故障时，激活冗余备份链路，恢复网络连通性。</a:t>
            </a:r>
            <a:endParaRPr lang="en-US" altLang="zh-CN" sz="1800">
              <a:sym typeface="Huawei Sans" panose="020C0503030203020204" pitchFamily="34" charset="0"/>
            </a:endParaRPr>
          </a:p>
          <a:p>
            <a:r>
              <a:rPr lang="en-US" altLang="zh-CN" sz="2000">
                <a:sym typeface="Huawei Sans" panose="020C0503030203020204" pitchFamily="34" charset="0"/>
              </a:rPr>
              <a:t>RSTP</a:t>
            </a:r>
            <a:r>
              <a:rPr lang="zh-CN" altLang="en-US" sz="2000">
                <a:sym typeface="Huawei Sans" panose="020C0503030203020204" pitchFamily="34" charset="0"/>
              </a:rPr>
              <a:t>（</a:t>
            </a:r>
            <a:r>
              <a:rPr lang="en-US" altLang="zh-CN" sz="2000">
                <a:sym typeface="Huawei Sans" panose="020C0503030203020204" pitchFamily="34" charset="0"/>
              </a:rPr>
              <a:t>Rapid Spanning-Tree Protocol</a:t>
            </a:r>
            <a:r>
              <a:rPr lang="zh-CN" altLang="en-US" sz="2000">
                <a:sym typeface="Huawei Sans" panose="020C0503030203020204" pitchFamily="34" charset="0"/>
              </a:rPr>
              <a:t>）作为一种存在已久的协议，已经无法满足现代园区网络的需求，但是了解</a:t>
            </a:r>
            <a:r>
              <a:rPr lang="en-US" altLang="zh-CN" sz="2000">
                <a:sym typeface="Huawei Sans" panose="020C0503030203020204" pitchFamily="34" charset="0"/>
              </a:rPr>
              <a:t>STP</a:t>
            </a:r>
            <a:r>
              <a:rPr lang="zh-CN" altLang="en-US" sz="2000">
                <a:sym typeface="Huawei Sans" panose="020C0503030203020204" pitchFamily="34" charset="0"/>
              </a:rPr>
              <a:t>的工作原理，有助于为进一步熟悉并掌握</a:t>
            </a:r>
            <a:r>
              <a:rPr lang="en-US" altLang="zh-CN" sz="2000">
                <a:sym typeface="Huawei Sans" panose="020C0503030203020204" pitchFamily="34" charset="0"/>
              </a:rPr>
              <a:t>RSTP</a:t>
            </a:r>
            <a:r>
              <a:rPr lang="zh-CN" altLang="en-US" sz="2000">
                <a:sym typeface="Huawei Sans" panose="020C0503030203020204" pitchFamily="34" charset="0"/>
              </a:rPr>
              <a:t>及</a:t>
            </a:r>
            <a:r>
              <a:rPr lang="en-US" altLang="zh-CN" sz="2000">
                <a:sym typeface="Huawei Sans" panose="020C0503030203020204" pitchFamily="34" charset="0"/>
              </a:rPr>
              <a:t>MSTP</a:t>
            </a:r>
            <a:r>
              <a:rPr lang="zh-CN" altLang="en-US" sz="2000">
                <a:sym typeface="Huawei Sans" panose="020C0503030203020204" pitchFamily="34" charset="0"/>
              </a:rPr>
              <a:t>的原理与部署做好铺垫。</a:t>
            </a:r>
            <a:endParaRPr lang="zh-CN" altLang="en-US" sz="2000" dirty="0">
              <a:sym typeface="Huawei Sans" panose="020C050303020302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自定义设计方案">
  <a:themeElements>
    <a:clrScheme name="自定义 1">
      <a:dk1>
        <a:sysClr val="windowText" lastClr="000000"/>
      </a:dk1>
      <a:lt1>
        <a:sysClr val="window" lastClr="FFFFFF"/>
      </a:lt1>
      <a:dk2>
        <a:srgbClr val="F3FBFE"/>
      </a:dk2>
      <a:lt2>
        <a:srgbClr val="BAE6F6"/>
      </a:lt2>
      <a:accent1>
        <a:srgbClr val="1AABE2"/>
      </a:accent1>
      <a:accent2>
        <a:srgbClr val="EC7061"/>
      </a:accent2>
      <a:accent3>
        <a:srgbClr val="8BC9A0"/>
      </a:accent3>
      <a:accent4>
        <a:srgbClr val="BAE6F6"/>
      </a:accent4>
      <a:accent5>
        <a:srgbClr val="F3FBFE"/>
      </a:accent5>
      <a:accent6>
        <a:srgbClr val="FFD17D"/>
      </a:accent6>
      <a:hlink>
        <a:srgbClr val="FFF2CC"/>
      </a:hlink>
      <a:folHlink>
        <a:srgbClr val="7F7F7F"/>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1708</TotalTime>
  <Words>10981</Words>
  <Application>Microsoft Office PowerPoint</Application>
  <PresentationFormat>宽屏</PresentationFormat>
  <Paragraphs>1119</Paragraphs>
  <Slides>60</Slides>
  <Notes>60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60</vt:i4>
      </vt:variant>
    </vt:vector>
  </HeadingPairs>
  <TitlesOfParts>
    <vt:vector size="66" baseType="lpstr">
      <vt:lpstr>Huawei Sans</vt:lpstr>
      <vt:lpstr>微软雅黑</vt:lpstr>
      <vt:lpstr>Arial</vt:lpstr>
      <vt:lpstr>Calibri</vt:lpstr>
      <vt:lpstr>Wingdings</vt:lpstr>
      <vt:lpstr>自定义设计方案</vt:lpstr>
      <vt:lpstr>生成树</vt:lpstr>
      <vt:lpstr>PowerPoint 演示文稿</vt:lpstr>
      <vt:lpstr>PowerPoint 演示文稿</vt:lpstr>
      <vt:lpstr>PowerPoint 演示文稿</vt:lpstr>
      <vt:lpstr>技术背景：二层交换机网络的冗余性与环路</vt:lpstr>
      <vt:lpstr>技术背景：人为错误导致的二层环路</vt:lpstr>
      <vt:lpstr>二层环路带来的问题</vt:lpstr>
      <vt:lpstr>初识生成树协议</vt:lpstr>
      <vt:lpstr>生成树能够动态响应网络拓扑变化调整阻塞接口</vt:lpstr>
      <vt:lpstr>问答：二层及三层环路</vt:lpstr>
      <vt:lpstr>生成树协议在园区网络中的应用位置</vt:lpstr>
      <vt:lpstr>STP概述</vt:lpstr>
      <vt:lpstr>PowerPoint 演示文稿</vt:lpstr>
      <vt:lpstr>STP的基本概念：桥ID</vt:lpstr>
      <vt:lpstr>STP的基本概念：根桥</vt:lpstr>
      <vt:lpstr>STP的基本概念：Cost</vt:lpstr>
      <vt:lpstr>STP的基本概念：Cost计算方法</vt:lpstr>
      <vt:lpstr>STP的基本概念：RPC</vt:lpstr>
      <vt:lpstr>STP的基本概念：Port ID</vt:lpstr>
      <vt:lpstr>STP的基本概念：BPDU</vt:lpstr>
      <vt:lpstr>配置BPDU的报文格式</vt:lpstr>
      <vt:lpstr>配置BPDU的比较原则</vt:lpstr>
      <vt:lpstr>配置BPDU的转发过程</vt:lpstr>
      <vt:lpstr>STP的计算过程 (1)</vt:lpstr>
      <vt:lpstr>STP的计算过程 (2)</vt:lpstr>
      <vt:lpstr>STP的计算过程 (3)</vt:lpstr>
      <vt:lpstr>STP的计算过程 (4)</vt:lpstr>
      <vt:lpstr>思考题1：识别以下拓扑中的根桥及各种接口角色</vt:lpstr>
      <vt:lpstr>思考题2：识别以下拓扑中的根桥及各种接口角色</vt:lpstr>
      <vt:lpstr>思考题3：识别以下拓扑中的根桥及各种接口角色</vt:lpstr>
      <vt:lpstr>STP的接口状态</vt:lpstr>
      <vt:lpstr>STP的接口状态迁移</vt:lpstr>
      <vt:lpstr>拓扑变化 - 根桥故障</vt:lpstr>
      <vt:lpstr>拓扑变化 - 直连链路故障</vt:lpstr>
      <vt:lpstr>拓扑变化 – 非直连链路故障</vt:lpstr>
      <vt:lpstr>拓扑改变导致MAC地址表错误</vt:lpstr>
      <vt:lpstr>拓扑改变导致MAC地址表错误</vt:lpstr>
      <vt:lpstr>PowerPoint 演示文稿</vt:lpstr>
      <vt:lpstr>STP的基础配置命令 (1)</vt:lpstr>
      <vt:lpstr>STP的基础配置命令 (2)</vt:lpstr>
      <vt:lpstr>STP的基础配置命令 (3)</vt:lpstr>
      <vt:lpstr>案例1：STP的基础配置</vt:lpstr>
      <vt:lpstr>案例1：STP的基础配置</vt:lpstr>
      <vt:lpstr>PowerPoint 演示文稿</vt:lpstr>
      <vt:lpstr>STP的不足之处</vt:lpstr>
      <vt:lpstr>RSTP概述</vt:lpstr>
      <vt:lpstr>RSTP对STP的其他改进</vt:lpstr>
      <vt:lpstr>端口角色不同</vt:lpstr>
      <vt:lpstr>边缘端口</vt:lpstr>
      <vt:lpstr>端口状态不同</vt:lpstr>
      <vt:lpstr>PowerPoint 演示文稿</vt:lpstr>
      <vt:lpstr>STP/RSTP的缺陷：所有的VLAN共享一棵生成树</vt:lpstr>
      <vt:lpstr>VBST：基于VLAN的生成树</vt:lpstr>
      <vt:lpstr>MSTP：多生成树</vt:lpstr>
      <vt:lpstr>MSTP概述</vt:lpstr>
      <vt:lpstr>堆叠与园区网络树形结构组网形态</vt:lpstr>
      <vt:lpstr>Smart Link</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自航 赵</cp:lastModifiedBy>
  <cp:revision>241</cp:revision>
  <dcterms:created xsi:type="dcterms:W3CDTF">2018-11-29T10:16:00Z</dcterms:created>
  <dcterms:modified xsi:type="dcterms:W3CDTF">2025-12-21T12:49:03Z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(3)yXtonTUGtae/qonGJJRIZeZdXl0cvYfxtqnaZ0PSNrzgUR4KkbnWLQYMgfmLwCIm3zdBtxpz
dM4+PRtslML7h+5Js5U5A5ImGpr7psbf9/3NYg3D5Q+/8xV8xX5VZGIoGN7ffDcyuAOdToSE
9vVX3T1bySCSfrqpZcUPk0F1FT5079ZGZkCXIamze6DddixoDjyURg6GLfS1SihnywX+sBFJ
F09wAkmIya+KxEvwEK</vt:lpwstr>
  </property>
  <property fmtid="{D5CDD505-2E9C-101B-9397-08002B2CF9AE}" pid="3" name="_2015_ms_pID_7253431">
    <vt:lpwstr>zCn0PCIBazh8VrPG+KYGrxpY1c82IgZ3yd2uC8p73AA7Bj6w2upXvk
QHhvGUueSdYIm+vGY2jUauBUGxbAXQD+jNIqElYR1BOwEV7fXSTpBFJ+WfiLrMuoWUJjmr/T
N2e9gAFA4G3ts02a0lgNLxkQuyv5w+Qm8D7Cectnc9WbT9a4G7RjOjQWR/0Ltk8c1LR1O+8w
bkjArpnx8T7rr/lsYP63goIEyV2m2Uuhl5CY</vt:lpwstr>
  </property>
  <property fmtid="{D5CDD505-2E9C-101B-9397-08002B2CF9AE}" pid="4" name="_2015_ms_pID_7253432">
    <vt:lpwstr>xw==</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1588037752</vt:lpwstr>
  </property>
  <property fmtid="{D5CDD505-2E9C-101B-9397-08002B2CF9AE}" pid="9" name="ContentTypeId">
    <vt:lpwstr>0x01010002C5B4B712841F4C8A7AAEE2CD191271</vt:lpwstr>
  </property>
  <property fmtid="{D5CDD505-2E9C-101B-9397-08002B2CF9AE}" pid="10" name="KSOProductBuildVer">
    <vt:lpwstr>2052-11.1.0.9021</vt:lpwstr>
  </property>
</Properties>
</file>